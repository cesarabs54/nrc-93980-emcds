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1" r:id="rId13"/>
    <p:sldId id="269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45D28-35B6-8042-98E8-A2DB3305423D}" v="6" dt="2024-03-01T21:35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6374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5C25A-EB36-47A0-9FD7-DE8450ACEFF0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C55DB-397F-4AC6-8647-D1E20B065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7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Herramientas de calidad de software</a:t>
            </a:r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MX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Semana 8</a:t>
            </a: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Tecnicas y Herramientas de QA en la Construccion de Software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Estructura de la sesion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350" b="1" dirty="0">
                <a:solidFill>
                  <a:srgbClr val="003366"/>
                </a:solidFill>
                <a:latin typeface="Calibri"/>
              </a:rPr>
              <a:t>1. Pruebas dinamicas:  </a:t>
            </a:r>
            <a:r>
              <a:rPr lang="es-CO" sz="1350" dirty="0">
                <a:solidFill>
                  <a:srgbClr val="444444"/>
                </a:solidFill>
                <a:latin typeface="Calibri"/>
              </a:rPr>
              <a:t>unitarias, integracion, API, UI, regresion, aceptacion, rendimiento, seguridad, mutacion, humo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350" b="1" dirty="0">
                <a:solidFill>
                  <a:srgbClr val="003366"/>
                </a:solidFill>
                <a:latin typeface="Calibri"/>
              </a:rPr>
              <a:t>2. Tecnicas estaticas:  </a:t>
            </a:r>
            <a:r>
              <a:rPr lang="es-CO" sz="1350" dirty="0">
                <a:solidFill>
                  <a:srgbClr val="444444"/>
                </a:solidFill>
                <a:latin typeface="Calibri"/>
              </a:rPr>
              <a:t>analisis estatico, code review, RTF, inspeccion de Fagan, cobertura, linting, dependencias, deuda tecnica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350" b="1" dirty="0">
                <a:solidFill>
                  <a:srgbClr val="003366"/>
                </a:solidFill>
                <a:latin typeface="Calibri"/>
              </a:rPr>
              <a:t>3. Gestion y trazabilidad:  </a:t>
            </a:r>
            <a:r>
              <a:rPr lang="es-CO" sz="1350" dirty="0">
                <a:solidFill>
                  <a:srgbClr val="444444"/>
                </a:solidFill>
                <a:latin typeface="Calibri"/>
              </a:rPr>
              <a:t>ciclo de vida de defectos, trazabilidad, gestion de casos, RCA, tendencias, auditorias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350" b="1" dirty="0">
                <a:solidFill>
                  <a:srgbClr val="003366"/>
                </a:solidFill>
                <a:latin typeface="Calibri"/>
              </a:rPr>
              <a:t>4. QA en CI/CD:  </a:t>
            </a:r>
            <a:r>
              <a:rPr lang="es-CO" sz="1350" dirty="0">
                <a:solidFill>
                  <a:srgbClr val="444444"/>
                </a:solidFill>
                <a:latin typeface="Calibri"/>
              </a:rPr>
              <a:t>integracion continua con quality gates, pruebas continuas, shift-left, IaC testing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350" b="1" dirty="0">
                <a:solidFill>
                  <a:srgbClr val="003366"/>
                </a:solidFill>
                <a:latin typeface="Calibri"/>
              </a:rPr>
              <a:t>Nota clave:  </a:t>
            </a:r>
            <a:r>
              <a:rPr lang="es-CO" sz="1350" dirty="0">
                <a:solidFill>
                  <a:srgbClr val="444444"/>
                </a:solidFill>
                <a:latin typeface="Calibri"/>
              </a:rPr>
              <a:t>la tecnica precede a la herramienta. Primero se decide que hacer; luego, con que automatizarlo.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Pruebas Dinamicas (1/3) | Verificacion en Ejecucion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unitarias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de unidades de codigo de forma aislada, sin dependencias externas.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JUnit 5, TestNG (Java) | NUnit (.NET) | pytest (Python) | Jest (JavaScript)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Confiabilidad | CMMI PA VER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integracion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de la interaccion entre modulos, servicios o capas del sistema.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Spring Boot Test, Testcontainers, REST-assured, WireMock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IEEE Std 829 | ISO/IEC 25010 - Funcionalidad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API / servicios REST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validacion de contratos, comportamiento y respuestas de endpoints REST o SOAP.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Karate Framework, Postman, REST-assured, SoapUI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Adecuacion funcional | IEEE Std 829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funcionales de UI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del comportamiento del sistema desde la interfaz de usuario en navegador.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Selenium WebDriver, Playwright, Cypress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IEEE Std 829 | ISO/IEC 25010 - Usabilidad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Pruebas Dinamicas (2/3) | Regresion, Aceptacion y Rendimiento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regresion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de que cambios nuevos no rompen funcionalidad existente en el sistema.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Selenium (suites de regresion), JUnit, Karate, Cypress en pipeline CI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Confiabilidad | Buenas practicas CI/CD</a:t>
            </a:r>
          </a:p>
          <a:p>
            <a:pPr>
              <a:lnSpc>
                <a:spcPct val="107000"/>
              </a:lnSpc>
              <a:spcAft>
                <a:spcPts val="6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aceptacion con BDD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validacion del comportamiento del sistema contra criterios de negocio en lenguaje Gherkin (Given/When/Then).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Cucumber + Selenium, Karate Framework, FitNesse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Adecuacion funcional | CMMI PA VAL</a:t>
            </a:r>
          </a:p>
          <a:p>
            <a:pPr>
              <a:lnSpc>
                <a:spcPct val="107000"/>
              </a:lnSpc>
              <a:spcAft>
                <a:spcPts val="6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rendimiento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medicion del comportamiento del sistema bajo carga, estres y picos de concurrencia.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Apache JMeter, Gatling, k6, Locust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Eficiencia de desempeno</a:t>
            </a:r>
          </a:p>
          <a:p>
            <a:pPr>
              <a:lnSpc>
                <a:spcPct val="107000"/>
              </a:lnSpc>
              <a:spcAft>
                <a:spcPts val="6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seguridad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deteccion activa de vulnerabilidades en el software construido (SQL injection, XSS, CSRF, etc.).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OWASP ZAP, Burp Suite, Snyk, OWASP Dependency-Check</a:t>
            </a:r>
          </a:p>
          <a:p>
            <a:pPr marL="342900" indent="0">
              <a:lnSpc>
                <a:spcPct val="107000"/>
              </a:lnSpc>
              <a:spcAft>
                <a:spcPts val="7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OWASP Top 10 | ISO/IEC 25010 - Seguridad</a:t>
            </a:r>
          </a:p>
          <a:p>
            <a:pPr>
              <a:lnSpc>
                <a:spcPct val="107000"/>
              </a:lnSpc>
              <a:spcAft>
                <a:spcPts val="6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Pruebas Dinamicas (3/3) | Mutacion y Humo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mutacion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evaluacion de la efectividad de los casos de prueba: se introducen defectos artificiales (mutantes) en el codigo y se verifica que las pruebas los detecten.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PIT (Pitest) para Java, Stryker para JavaScript/TypeScript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Indicador clave: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tasa de mutantes eliminados / total mutantes (objetivo: &gt;80%)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IEEE Std 829 | ISO/IEC 25010 - Confiabilidad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de humo (Smoke Testing)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rapida de que las funciones criticas del sistema operan correctamente tras un despliegue. Es la primera linea de validacion en el pipeline.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Scripts JUnit / Postman / Karate ejecutados en el Commit Stage del pipeline CI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Buenas practicas DevOps | Humble y Farley (2010)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Nota sobre la seleccion de tecnicas dinamicas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Criterio 1: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las pruebas unitarias y de integracion son la base obligatoria; las demas son complementarias segun el tipo de sistema.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Criterio 2: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en entornos CI/CD, todas las pruebas dinamicas deben ejecutarse de forma automatizada en el pipeline (Mascheroni y Irrazabal, 2018).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Criterio 3: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ningun nivel de prueba es suficiente por si solo; se requiere una estrategia en capas (piramide de pruebas).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Tecnicas Estaticas (1/2) | Sin Ejecucion del Software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Analisis estatico de codigo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inspeccion automatizada del codigo fuente para detectar bugs, vulnerabilidades, code smells y antipatrones sin ejecutar el programa.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SonarQube, SpotBugs, PMD, Checkstyle (Java) | ESLint (JS) | Pylint (Python)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Mantenibilidad y Seguridad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Analisis de cobertura de codigo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medicion del porcentaje de codigo fuente ejecutado por el conjunto de pruebas. Detecta zonas sin cobertura.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JaCoCo, Cobertura (Java) | Istanbul/NYC (JS) | SonarQube (integrado)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Referencia: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objetivo minimo recomendado: &gt;80% en codigo critico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ISO/IEC 25010 - Confiabilidad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Linting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deteccion automatica de errores de estilo, sintaxis, convenciones y buenas practicas directamente en el editor o pipeline.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ESLint (JS/TS), Pylint (Python), Checkstyle (Java), RuboCop (Ruby), golangci-lint (Go)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Guias de estilo del lenguaje | ISO/IEC 25010 - Mantenibilidad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Analisis de dependencias y licencias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deteccion de dependencias de terceros con vulnerabilidades conocidas (CVE) u obsoletas en el proyecto.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OWASP Dependency-Check, Snyk, Dependabot (GitHub), Black Duck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OWASP Top 10 | ISO/IEC 25010 - Seguridad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Tecnicas Estaticas (2/2) | Revision Humana y Deuda Tecnica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4049078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Revision de codigo (Code Review)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inspeccion manual del codigo por uno o mas pares antes de integrar al repositorio principal. Detecta defectos logicos y de diseno que el analisis automatico no ve.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GitHub Pull Requests, GitLab Merge Requests, Gerrit, Crucible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IEEE Std 1028 | CMMI PA VER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1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Revision Tecnica Formal (RTF)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evaluacion estructurada de artefactos (codigo, diseno, requisitos) con roles definidos: autor, revisor lider, revisores, moderador. Produce lista formal de defectos.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Listas de verificacion estructuradas, JIRA para seguimiento de hallazgos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IEEE Std 1028 | CMMI PA VER | Marin et al. (2019)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1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Inspeccion de Fagan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variante altamente formal de la RTF con seis fases definidas: planificacion, presentacion, preparacion individual, reunion de inspeccion, retrabajo y seguimiento.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Listas de verificacion formales, metricas de densidad de defectos por fase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IEEE Std 1028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1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200" b="1" dirty="0">
                <a:solidFill>
                  <a:srgbClr val="003366"/>
                </a:solidFill>
                <a:latin typeface="Calibri"/>
              </a:rPr>
              <a:t>Analisis de deuda tecnica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cuantificacion del esfuerzo acumulado de remediacion en el codigo producto de atajos, diseno deficiente o falta de refactoring. Se expresa en tiempo de remediacion.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SonarQube (escala A-E y minutos de remediacion), CodeClimate, Codacy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10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100" dirty="0">
                <a:solidFill>
                  <a:srgbClr val="444444"/>
                </a:solidFill>
                <a:latin typeface="Calibri"/>
              </a:rPr>
              <a:t>ISO/IEC 25010 - Mantenibilidad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Gestion y Trazabilidad del QA (1/2)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Gestion del ciclo de vida de defectos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proceso de registro, clasificacion (severidad/prioridad), asignacion, seguimiento y cierre de defectos desde su deteccion hasta su resolucion verificada.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JIRA, Azure DevOps Boards, Bugzilla, Linear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CMMI PA CAR (Causal Analysis and Resolution) | ISO/IEC 25010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Trazabilidad requisito - prueba - defecto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vinculacion explicita y verificable entre cada requisito funcional, sus casos de prueba asociados y los defectos encontrados. Permite auditar la cobertura de pruebas por requisito.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JIRA + Xray, JIRA + Zephyr Scale, TestRail, qTest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IEEE Std 829 | CMMI PA VER/VAL | ISO/IEC 29110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Gestion de casos de prueba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diseno, organizacion, version y ejecucion controlada de casos de prueba con registro de evidencia de resultados (pass/fail) y tasa de exito historica.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TestRail, Zephyr Scale, Xray, qTest, PractiTest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IEEE Std 829 | ISO/IEC 25040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Gestion y Trazabilidad del QA (2/2)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Analisis de causa raiz (RCA)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identificacion de la causa fundamental de un defecto para implementar acciones correctivas que prevengan su recurrencia, no solo su correccion puntual.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Tecnicas: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Diagrama de Ishikawa (causa-efecto), 5 Porques, analisis de Pareto de defectos por fase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JIRA (seguimiento de acciones), Confluence (documentacion de RCA)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CMMI PA CAR | ISO/IEC 25010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Analisis de tendencias de calidad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seguimiento historico de metricas de calidad (densidad de defectos, cobertura, exito del pipeline) para identificar patrones de mejora o deterioro a lo largo del tiempo.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SonarQube (historico de metricas), JIRA Dashboards, Power BI, Grafana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CMMI PA MA (Medicion y Analisis) | ISO/IEC 25040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Revisiones de adherencia a procesos (QA Audits)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verificacion objetiva de que el equipo sigue los procesos, estandares y metodologias definidos. Detecta desviaciones antes de que generen defectos.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Listas de verificacion por fase, auditorias internas, reportes de conformidad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CMMI PA PPQA (Process and Product Quality Assurance) | ISO 29110 | Marin et al. (2019)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QA en el Pipeline CI/CD | Integracion Continua de Calidad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5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Integracion continua (CI) con quality gates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ejecucion automatica de pruebas y analisis estatico en cada commit. El pipeline falla si el codigo no cumple umbrales definidos (cobertura minima, zero vulnerabilidades criticas, deuda tecnica tolerable).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Jenkins, GitHub Actions, GitLab CI/CD + SonarQube como quality gate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Humble y Farley (2010) | DevOps practices</a:t>
            </a:r>
          </a:p>
          <a:p>
            <a:pPr>
              <a:lnSpc>
                <a:spcPct val="107000"/>
              </a:lnSpc>
              <a:spcAft>
                <a:spcPts val="5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5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Pruebas continuas (Continuous Testing)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ejecucion de pruebas automatizadas como parte integral del deployment pipeline, cubriendo multiples niveles (unitarias, integracion, API, UI), de modo que cada version candidata sea evaluada antes de avanzar de etapa.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JUnit + Karate + Selenium en pipeline | Commit Stage → Acceptance Stage → Performance Stage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Mascheroni y Irrazabal (2018) | ISO/IEC 25010</a:t>
            </a:r>
          </a:p>
          <a:p>
            <a:pPr>
              <a:lnSpc>
                <a:spcPct val="107000"/>
              </a:lnSpc>
              <a:spcAft>
                <a:spcPts val="5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5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Shift-left testing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Descripcion: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desplazamiento de las actividades de prueba hacia las fases mas tempranas del desarrollo. Las pruebas se disenan desde los requisitos, no al final del sprint o del proyecto.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Herramientas: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Pruebas unitarias desde el dia 1 | TDD (Test-Driven Development) | RTF de requisitos</a:t>
            </a:r>
          </a:p>
          <a:p>
            <a:pPr marL="342900" indent="0">
              <a:lnSpc>
                <a:spcPct val="107000"/>
              </a:lnSpc>
              <a:spcAft>
                <a:spcPts val="6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Norma: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ISTQB | ISO/IEC 25010 | Marin et al. (2019)</a:t>
            </a:r>
          </a:p>
          <a:p>
            <a:pPr>
              <a:lnSpc>
                <a:spcPct val="107000"/>
              </a:lnSpc>
              <a:spcAft>
                <a:spcPts val="5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Principio Fundamental: Tecnica vs. Herramienta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210866" cy="3954351"/>
          </a:xfrm>
          <a:prstGeom prst="rect">
            <a:avLst/>
          </a:prstGeom>
        </p:spPr>
        <p:txBody>
          <a:bodyPr wrap="square" anchor="t"/>
          <a:lstStyle/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La distincion que define la competencia profesional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Tecnica: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metodo o enfoque que define QUE se hace y con que objetivo de calidad. Ej: pruebas de mutacion.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Herramienta: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artefacto que automatiza o soporta la tecnica. Ej: Pitest implementa las pruebas de mutacion en Java.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Error comun: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seleccionar SonarQube sin tener claro que se necesita analisis estatico de codigo. La herramienta no define la estrategia.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Regla de seleccion para proyectos reales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Paso 1: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identificar el riesgo o caracteristica de calidad a cubrir (ISO/IEC 25010).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Paso 2: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seleccionar la tecnica que mejor lo aborda (estatica o dinamica, segun la fase del CVDS).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Paso 3: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evaluar herramientas disponibles segun el stack tecnologico, licencia y nivel de integracion con el pipeline.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Paso 4: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medir con metricas concretas si la tecnica implementada reduce el riesgo identificado.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  <a:p>
            <a:pPr marL="0" indent="0">
              <a:lnSpc>
                <a:spcPct val="107000"/>
              </a:lnSpc>
              <a:spcAft>
                <a:spcPts val="80"/>
              </a:spcAft>
              <a:buNone/>
            </a:pPr>
            <a:r>
              <a:rPr lang="es-CO" sz="1450" b="1" dirty="0">
                <a:solidFill>
                  <a:srgbClr val="003366"/>
                </a:solidFill>
                <a:latin typeface="Calibri"/>
              </a:rPr>
              <a:t>Conclusion de la investigacion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Marin et al. (2019):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las organizaciones que concentran el QA solo en pruebas dinamicas (etapas finales) tienen costos de correccion significativamente mayores.</a:t>
            </a:r>
          </a:p>
          <a:p>
            <a:pPr marL="342900" indent="0">
              <a:lnSpc>
                <a:spcPct val="107000"/>
              </a:lnSpc>
              <a:spcAft>
                <a:spcPts val="100"/>
              </a:spcAft>
              <a:buNone/>
            </a:pPr>
            <a:r>
              <a:rPr lang="es-CO" sz="1250" b="1" dirty="0">
                <a:solidFill>
                  <a:srgbClr val="003366"/>
                </a:solidFill>
                <a:latin typeface="Calibri"/>
              </a:rPr>
              <a:t>Solucion:  </a:t>
            </a:r>
            <a:r>
              <a:rPr lang="es-CO" sz="1250" dirty="0">
                <a:solidFill>
                  <a:srgbClr val="444444"/>
                </a:solidFill>
                <a:latin typeface="Calibri"/>
              </a:rPr>
              <a:t>combinar tecnicas estaticas desde fases tempranas con tecnicas dinamicas continuas en el pipeline. No elegir una sola categoria.</a:t>
            </a:r>
          </a:p>
          <a:p>
            <a:pPr>
              <a:lnSpc>
                <a:spcPct val="107000"/>
              </a:lnSpc>
              <a:spcAft>
                <a:spcPts val="120"/>
              </a:spcAft>
              <a:buNone/>
            </a:pPr>
            <a:endParaRPr lang="es-CO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000000"/>
            <a:ext cx="11500000" cy="6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>
                <a:solidFill>
                  <a:srgbClr val="003366"/>
                </a:solidFill>
                <a:latin typeface="Calibri"/>
              </a:rPr>
              <a:t>Conclusiones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350000" cy="3935690"/>
          </a:xfrm>
          <a:prstGeom prst="rect">
            <a:avLst/>
          </a:prstGeom>
        </p:spPr>
        <p:txBody>
          <a:bodyPr wrap="square" anchor="t"/>
          <a:lstStyle/>
          <a:p>
            <a:pPr marL="342900" lvl="0" indent="-342900">
              <a:lnSpc>
                <a:spcPct val="107000"/>
              </a:lnSpc>
              <a:spcAft>
                <a:spcPts val="180"/>
              </a:spcAft>
              <a:buAutoNum type="arabicPeriod"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La tecnica precede a la herramienta. </a:t>
            </a:r>
            <a:r>
              <a:rPr lang="es-CO" sz="1500" dirty="0">
                <a:solidFill>
                  <a:srgbClr val="444444"/>
                </a:solidFill>
                <a:latin typeface="Calibri"/>
              </a:rPr>
              <a:t>Primero se define que caracteristica de calidad se quiere asegurar (ISO/IEC 25010); luego se elige la tecnica; luego la herramienta. Invertir el orden produce selecciones sin criterio.</a:t>
            </a:r>
          </a:p>
          <a:p>
            <a:pPr marL="342900" lvl="0" indent="-342900">
              <a:lnSpc>
                <a:spcPct val="107000"/>
              </a:lnSpc>
              <a:spcAft>
                <a:spcPts val="180"/>
              </a:spcAft>
              <a:buAutoNum type="arabicPeriod"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Ninguna categoria es suficiente por si sola. </a:t>
            </a:r>
            <a:r>
              <a:rPr lang="es-CO" sz="1500" dirty="0">
                <a:solidFill>
                  <a:srgbClr val="444444"/>
                </a:solidFill>
                <a:latin typeface="Calibri"/>
              </a:rPr>
              <a:t>Las pruebas dinamicas sin tecnicas estaticas tienen costos de correccion significativamente mas altos. Las organizaciones que lo hacen bien combinan ambas categorias desde las fases tempranas (Marin et al., 2019).</a:t>
            </a:r>
          </a:p>
          <a:p>
            <a:pPr marL="342900" lvl="0" indent="-342900">
              <a:lnSpc>
                <a:spcPct val="107000"/>
              </a:lnSpc>
              <a:spcAft>
                <a:spcPts val="180"/>
              </a:spcAft>
              <a:buAutoNum type="arabicPeriod"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El pipeline CI/CD es el orquestador del QA moderno. </a:t>
            </a:r>
            <a:r>
              <a:rPr lang="es-CO" sz="1500" dirty="0">
                <a:solidFill>
                  <a:srgbClr val="444444"/>
                </a:solidFill>
                <a:latin typeface="Calibri"/>
              </a:rPr>
              <a:t>Quality gates en SonarQube, pruebas continuas y shift-left testing integran el QA en el flujo de entrega continua, haciendo que la calidad sea una condicion de avance, no una actividad final (Mascheroni y Irrazabal, 2018).</a:t>
            </a:r>
          </a:p>
          <a:p>
            <a:pPr marL="342900" lvl="0" indent="-342900">
              <a:lnSpc>
                <a:spcPct val="107000"/>
              </a:lnSpc>
              <a:spcAft>
                <a:spcPts val="180"/>
              </a:spcAft>
              <a:buAutoNum type="arabicPeriod"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La trazabilidad es evidencia de madurez del proceso. </a:t>
            </a:r>
            <a:r>
              <a:rPr lang="es-CO" sz="1500" dirty="0">
                <a:solidFill>
                  <a:srgbClr val="444444"/>
                </a:solidFill>
                <a:latin typeface="Calibri"/>
              </a:rPr>
              <a:t>Vincular cada requisito con sus casos de prueba y defectos asociados (JIRA + Xray) permite auditar la cobertura real de calidad, cumplir con CMMI y responder con evidencia ante el cliente o los auditores.</a:t>
            </a:r>
          </a:p>
          <a:p>
            <a:pPr marL="342900" lvl="0" indent="-342900">
              <a:lnSpc>
                <a:spcPct val="107000"/>
              </a:lnSpc>
              <a:spcAft>
                <a:spcPts val="180"/>
              </a:spcAft>
              <a:buAutoNum type="arabicPeriod"/>
            </a:pPr>
            <a:r>
              <a:rPr lang="es-CO" sz="1500" b="1" dirty="0">
                <a:solidFill>
                  <a:srgbClr val="003366"/>
                </a:solidFill>
                <a:latin typeface="Calibri"/>
              </a:rPr>
              <a:t>Medir sin actuar no mejora la calidad. </a:t>
            </a:r>
            <a:r>
              <a:rPr lang="es-CO" sz="1500" dirty="0">
                <a:solidFill>
                  <a:srgbClr val="444444"/>
                </a:solidFill>
                <a:latin typeface="Calibri"/>
              </a:rPr>
              <a:t>Las metricas (densidad de defectos, cobertura, exito del pipeline, deuda tecnica) tienen valor unicamente cuando desencadenan acciones correctivas documentadas y verificadas. El ciclo PDCA aplicado a QA cierra ese ciclo.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Estándares y métricas de calidad en el desarrollo de software</a:t>
            </a:r>
          </a:p>
          <a:p>
            <a:r>
              <a:rPr lang="es-CO" sz="2800" b="1">
                <a:solidFill>
                  <a:srgbClr val="7BEEFD"/>
                </a:solidFill>
                <a:latin typeface="Century Gothic" panose="020B0502020202020204" pitchFamily="34" charset="0"/>
              </a:rPr>
              <a:t>Herramientas </a:t>
            </a:r>
            <a:r>
              <a:rPr lang="es-CO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de calidad de software</a:t>
            </a:r>
            <a:endParaRPr lang="es-MX" sz="2800" b="1" dirty="0">
              <a:solidFill>
                <a:srgbClr val="7BEEFD"/>
              </a:solidFill>
              <a:latin typeface="Century Gothic" panose="020B0502020202020204" pitchFamily="34" charset="0"/>
            </a:endParaRP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2333</Words>
  <Application>Microsoft Office PowerPoint</Application>
  <PresentationFormat>Panorámica</PresentationFormat>
  <Paragraphs>176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Tema de Office</vt:lpstr>
      <vt:lpstr>Presentación de PowerPoint</vt:lpstr>
      <vt:lpstr>Tecnicas y Herramientas de QA en la Construccion de Software</vt:lpstr>
      <vt:lpstr>Pruebas Dinamicas (1/3) | Verificacion en Ejecucion</vt:lpstr>
      <vt:lpstr>Pruebas Dinamicas (2/3) | Regresion, Aceptacion y Rendimiento</vt:lpstr>
      <vt:lpstr>Pruebas Dinamicas (3/3) | Mutacion y Humo</vt:lpstr>
      <vt:lpstr>Tecnicas Estaticas (1/2) | Sin Ejecucion del Software</vt:lpstr>
      <vt:lpstr>Tecnicas Estaticas (2/2) | Revision Humana y Deuda Tecnica</vt:lpstr>
      <vt:lpstr>Gestion y Trazabilidad del QA (1/2)</vt:lpstr>
      <vt:lpstr>Gestion y Trazabilidad del QA (2/2)</vt:lpstr>
      <vt:lpstr>QA en el Pipeline CI/CD | Integracion Continua de Calidad</vt:lpstr>
      <vt:lpstr>Principio Fundamental: Tecnica vs. Herramienta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51</cp:revision>
  <dcterms:created xsi:type="dcterms:W3CDTF">2024-01-22T15:06:30Z</dcterms:created>
  <dcterms:modified xsi:type="dcterms:W3CDTF">2026-06-27T20:33:32Z</dcterms:modified>
</cp:coreProperties>
</file>