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portada. Recordar a los estudiantes que esta semana conecta los marcos conceptuales (CMMI, ISO 25010) con herramientas y prácticas concretas de 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Énfasis: QA no es solo testing. Es el conjunto de actividades planificadas y sistemáticas que dan confianza. Citar a Marin et al. (2019): las organizaciones invierten casi todo en pruebas pero descuidan la detección temprana, lo que eleva el costo de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marco PDCA (Marin et al., 2019) es el eje integrador. Verificación y Validación no son actividades aisladas: son parte de un sistema de mejora continua. Fundamental explicar: sin V antes de V, el estudiante puede validar un producto que está mal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las técnicas estáticas detectan defectos más cerca de donde se introducen, reduciendo el costo de corrección. La investigación de Marin et al. (2019) muestra que la mayoría de organizaciones solo aplican pruebas (dinámicas), ignorando las estáticas. En CI/CD, las pruebas continuas son el elemento articulador (Mascheroni &amp; Irrazábal,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Importante: las herramientas no reemplazan al criterio técnico. Saber elegir la herramienta correcta para cada técnica es la competencia clave. Enlazar con la diapositiva anterior: SonarQube → técnicas estáticas; Selenium/JUnit → dinámicas; JIRA → gestión de todo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conexión con CMMI: el proceso de análisis cuantitativo (QPM, CAR) usa estas métricas para tomar decisiones de mejora. En el contexto de Entrega Continua (Mascheroni &amp; Irrazábal, 2018), la tasa de éxito del pipeline CI es crítica porque cada falla bloquea el flujo de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conecta directamente con el artículo de Mascheroni &amp; Irrazábal (2018). En CD, las pruebas continuas no son opcionales: son la única forma de garantizar que cada versión candidata es desplegable. El deployment pipeline es el mecanismo que organiza las etapas de calidad.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de evaluación sugeridos: diagnóstico fundamentado (25%), completitud y viabilidad del plan V&amp;V (25%), trazabilidad de acciones correctivas hacia CMMI/ISO (30%), reflexión crítica con uso de bibliografía (20%). Esta actividad exige integrar el contenido de las semanas anteriores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a los estudiantes que las normas ISO/IEC 25010 e IEEE 829 son los marcos de referencia obligatorios del curso. Pino, García &amp; Piattini son los autores colombo-españoles de referencia en mejora de procesos para organizaciones pequeñas, muy relevante para el contexto nacional.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Retomar la pregunta generadora: ¿En qué fase de su organización/proyecto actual se están introduciendo más defectos? ¿Qué técnica de las vistas esta semana permitiría detectarlos más temprano? Esto conecta la sesión con la actividad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E"/>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E2761"/>
          </a:solidFill>
          <a:ln/>
        </p:spPr>
      </p:sp>
      <p:sp>
        <p:nvSpPr>
          <p:cNvPr id="3" name="Shape 1"/>
          <p:cNvSpPr/>
          <p:nvPr/>
        </p:nvSpPr>
        <p:spPr>
          <a:xfrm>
            <a:off x="6583680" y="2011680"/>
            <a:ext cx="2560320" cy="54864"/>
          </a:xfrm>
          <a:prstGeom prst="rect">
            <a:avLst/>
          </a:prstGeom>
          <a:solidFill>
            <a:srgbClr val="F59E0B"/>
          </a:solidFill>
          <a:ln/>
        </p:spPr>
      </p:sp>
      <p:sp>
        <p:nvSpPr>
          <p:cNvPr id="4" name="Text 2"/>
          <p:cNvSpPr/>
          <p:nvPr/>
        </p:nvSpPr>
        <p:spPr>
          <a:xfrm>
            <a:off x="457200" y="457200"/>
            <a:ext cx="5943600" cy="457200"/>
          </a:xfrm>
          <a:prstGeom prst="rect">
            <a:avLst/>
          </a:prstGeom>
          <a:noFill/>
          <a:ln/>
        </p:spPr>
        <p:txBody>
          <a:bodyPr wrap="square" rtlCol="0" anchor="ctr"/>
          <a:lstStyle/>
          <a:p>
            <a:pPr indent="0" marL="0">
              <a:buNone/>
            </a:pPr>
            <a:r>
              <a:rPr lang="en-US" sz="1200" b="1" spc="400" kern="0" dirty="0">
                <a:solidFill>
                  <a:srgbClr val="F59E0B"/>
                </a:solidFill>
                <a:latin typeface="Calibri" pitchFamily="34" charset="0"/>
                <a:ea typeface="Calibri" pitchFamily="34" charset="-122"/>
                <a:cs typeface="Calibri" pitchFamily="34" charset="-120"/>
              </a:rPr>
              <a:t>SEMANA 8</a:t>
            </a:r>
            <a:endParaRPr lang="en-US" sz="1200" dirty="0"/>
          </a:p>
        </p:txBody>
      </p:sp>
      <p:sp>
        <p:nvSpPr>
          <p:cNvPr id="5" name="Text 3"/>
          <p:cNvSpPr/>
          <p:nvPr/>
        </p:nvSpPr>
        <p:spPr>
          <a:xfrm>
            <a:off x="457200" y="914400"/>
            <a:ext cx="5943600" cy="201168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Herramientas de</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Calidad de Software</a:t>
            </a:r>
            <a:endParaRPr lang="en-US" sz="3600" dirty="0"/>
          </a:p>
        </p:txBody>
      </p:sp>
      <p:sp>
        <p:nvSpPr>
          <p:cNvPr id="6" name="Text 4"/>
          <p:cNvSpPr/>
          <p:nvPr/>
        </p:nvSpPr>
        <p:spPr>
          <a:xfrm>
            <a:off x="457200" y="3017520"/>
            <a:ext cx="5943600" cy="45720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Estándares y Métricas de Calidad en el Desarrollo de Software</a:t>
            </a:r>
            <a:endParaRPr lang="en-US" sz="1300" dirty="0"/>
          </a:p>
        </p:txBody>
      </p:sp>
      <p:sp>
        <p:nvSpPr>
          <p:cNvPr id="7" name="Text 5"/>
          <p:cNvSpPr/>
          <p:nvPr/>
        </p:nvSpPr>
        <p:spPr>
          <a:xfrm>
            <a:off x="457200" y="3520440"/>
            <a:ext cx="5943600" cy="3657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Especialización en Desarrollo de Software · UNIMINUTO</a:t>
            </a:r>
            <a:endParaRPr lang="en-US" sz="1100" dirty="0"/>
          </a:p>
        </p:txBody>
      </p:sp>
      <p:sp>
        <p:nvSpPr>
          <p:cNvPr id="8" name="Text 6"/>
          <p:cNvSpPr/>
          <p:nvPr/>
        </p:nvSpPr>
        <p:spPr>
          <a:xfrm>
            <a:off x="6720840" y="502920"/>
            <a:ext cx="2286000" cy="320040"/>
          </a:xfrm>
          <a:prstGeom prst="rect">
            <a:avLst/>
          </a:prstGeom>
          <a:noFill/>
          <a:ln/>
        </p:spPr>
        <p:txBody>
          <a:bodyPr wrap="square" rtlCol="0" anchor="ctr"/>
          <a:lstStyle/>
          <a:p>
            <a:pPr indent="0" marL="0">
              <a:buNone/>
            </a:pPr>
            <a:r>
              <a:rPr lang="en-US" sz="900" b="1" spc="200" kern="0" dirty="0">
                <a:solidFill>
                  <a:srgbClr val="F59E0B"/>
                </a:solidFill>
                <a:latin typeface="Calibri" pitchFamily="34" charset="0"/>
                <a:ea typeface="Calibri" pitchFamily="34" charset="-122"/>
                <a:cs typeface="Calibri" pitchFamily="34" charset="-120"/>
              </a:rPr>
              <a:t>COMPETENCIAS</a:t>
            </a:r>
            <a:endParaRPr lang="en-US" sz="900" dirty="0"/>
          </a:p>
        </p:txBody>
      </p:sp>
      <p:sp>
        <p:nvSpPr>
          <p:cNvPr id="9" name="Text 7"/>
          <p:cNvSpPr/>
          <p:nvPr/>
        </p:nvSpPr>
        <p:spPr>
          <a:xfrm>
            <a:off x="6720840" y="1005840"/>
            <a:ext cx="2286000" cy="82296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  </a:t>
            </a:r>
            <a:pPr indent="0" marL="0">
              <a:buNone/>
            </a:pPr>
            <a:r>
              <a:rPr lang="en-US" sz="1000" dirty="0">
                <a:solidFill>
                  <a:srgbClr val="CADCFC"/>
                </a:solidFill>
                <a:latin typeface="Calibri" pitchFamily="34" charset="0"/>
                <a:ea typeface="Calibri" pitchFamily="34" charset="-122"/>
                <a:cs typeface="Calibri" pitchFamily="34" charset="-120"/>
              </a:rPr>
              <a:t>Implementar QA en el ciclo de vida</a:t>
            </a:r>
            <a:endParaRPr lang="en-US" sz="1000" dirty="0"/>
          </a:p>
        </p:txBody>
      </p:sp>
      <p:sp>
        <p:nvSpPr>
          <p:cNvPr id="10" name="Text 8"/>
          <p:cNvSpPr/>
          <p:nvPr/>
        </p:nvSpPr>
        <p:spPr>
          <a:xfrm>
            <a:off x="6720840" y="2011680"/>
            <a:ext cx="2286000" cy="82296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  </a:t>
            </a:r>
            <a:pPr indent="0" marL="0">
              <a:buNone/>
            </a:pPr>
            <a:r>
              <a:rPr lang="en-US" sz="1000" dirty="0">
                <a:solidFill>
                  <a:srgbClr val="CADCFC"/>
                </a:solidFill>
                <a:latin typeface="Calibri" pitchFamily="34" charset="0"/>
                <a:ea typeface="Calibri" pitchFamily="34" charset="-122"/>
                <a:cs typeface="Calibri" pitchFamily="34" charset="-120"/>
              </a:rPr>
              <a:t>Aplicar técnicas de verificación y validación</a:t>
            </a:r>
            <a:endParaRPr lang="en-US" sz="1000" dirty="0"/>
          </a:p>
        </p:txBody>
      </p:sp>
      <p:sp>
        <p:nvSpPr>
          <p:cNvPr id="11" name="Text 9"/>
          <p:cNvSpPr/>
          <p:nvPr/>
        </p:nvSpPr>
        <p:spPr>
          <a:xfrm>
            <a:off x="6720840" y="3017520"/>
            <a:ext cx="2286000" cy="82296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  </a:t>
            </a:r>
            <a:pPr indent="0" marL="0">
              <a:buNone/>
            </a:pPr>
            <a:r>
              <a:rPr lang="en-US" sz="1000" dirty="0">
                <a:solidFill>
                  <a:srgbClr val="CADCFC"/>
                </a:solidFill>
                <a:latin typeface="Calibri" pitchFamily="34" charset="0"/>
                <a:ea typeface="Calibri" pitchFamily="34" charset="-122"/>
                <a:cs typeface="Calibri" pitchFamily="34" charset="-120"/>
              </a:rPr>
              <a:t>Medir el proceso y tomar acciones correctivas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Mapa de Contenido – Semana 8</a:t>
            </a:r>
            <a:endParaRPr lang="en-US" sz="1800" dirty="0"/>
          </a:p>
        </p:txBody>
      </p:sp>
      <p:sp>
        <p:nvSpPr>
          <p:cNvPr id="4" name="Shape 2"/>
          <p:cNvSpPr/>
          <p:nvPr/>
        </p:nvSpPr>
        <p:spPr>
          <a:xfrm>
            <a:off x="365760" y="822960"/>
            <a:ext cx="4297680" cy="1188720"/>
          </a:xfrm>
          <a:prstGeom prst="roundRect">
            <a:avLst>
              <a:gd name="adj" fmla="val 7692"/>
            </a:avLst>
          </a:prstGeom>
          <a:solidFill>
            <a:srgbClr val="F0F4FF"/>
          </a:solidFill>
          <a:ln/>
          <a:effectLst>
            <a:outerShdw sx="100000" sy="100000" kx="0" ky="0" algn="bl" rotWithShape="0" blurRad="101600" dist="25400" dir="2700000">
              <a:srgbClr val="000000">
                <a:alpha val="12000"/>
              </a:srgbClr>
            </a:outerShdw>
          </a:effectLst>
        </p:spPr>
      </p:sp>
      <p:sp>
        <p:nvSpPr>
          <p:cNvPr id="5" name="Text 3"/>
          <p:cNvSpPr/>
          <p:nvPr/>
        </p:nvSpPr>
        <p:spPr>
          <a:xfrm>
            <a:off x="502920" y="960120"/>
            <a:ext cx="640080" cy="64008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188720" y="914400"/>
            <a:ext cx="329184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QA: Concepto e Importancia</a:t>
            </a:r>
            <a:endParaRPr lang="en-US" sz="1300" dirty="0"/>
          </a:p>
        </p:txBody>
      </p:sp>
      <p:sp>
        <p:nvSpPr>
          <p:cNvPr id="7" name="Text 5"/>
          <p:cNvSpPr/>
          <p:nvPr/>
        </p:nvSpPr>
        <p:spPr>
          <a:xfrm>
            <a:off x="1188720" y="1371600"/>
            <a:ext cx="329184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Definición, objetivos, rol en el CVDS</a:t>
            </a:r>
            <a:endParaRPr lang="en-US" sz="1000" dirty="0"/>
          </a:p>
        </p:txBody>
      </p:sp>
      <p:sp>
        <p:nvSpPr>
          <p:cNvPr id="8" name="Shape 6"/>
          <p:cNvSpPr/>
          <p:nvPr/>
        </p:nvSpPr>
        <p:spPr>
          <a:xfrm>
            <a:off x="4846320" y="822960"/>
            <a:ext cx="4297680" cy="1188720"/>
          </a:xfrm>
          <a:prstGeom prst="roundRect">
            <a:avLst>
              <a:gd name="adj" fmla="val 7692"/>
            </a:avLst>
          </a:prstGeom>
          <a:solidFill>
            <a:srgbClr val="F0F4FF"/>
          </a:solidFill>
          <a:ln/>
          <a:effectLst>
            <a:outerShdw sx="100000" sy="100000" kx="0" ky="0" algn="bl" rotWithShape="0" blurRad="101600" dist="25400" dir="2700000">
              <a:srgbClr val="000000">
                <a:alpha val="12000"/>
              </a:srgbClr>
            </a:outerShdw>
          </a:effectLst>
        </p:spPr>
      </p:sp>
      <p:sp>
        <p:nvSpPr>
          <p:cNvPr id="9" name="Text 7"/>
          <p:cNvSpPr/>
          <p:nvPr/>
        </p:nvSpPr>
        <p:spPr>
          <a:xfrm>
            <a:off x="4983480" y="960120"/>
            <a:ext cx="640080" cy="64008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5669280" y="914400"/>
            <a:ext cx="329184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Verificación y Validación</a:t>
            </a:r>
            <a:endParaRPr lang="en-US" sz="1300" dirty="0"/>
          </a:p>
        </p:txBody>
      </p:sp>
      <p:sp>
        <p:nvSpPr>
          <p:cNvPr id="11" name="Text 9"/>
          <p:cNvSpPr/>
          <p:nvPr/>
        </p:nvSpPr>
        <p:spPr>
          <a:xfrm>
            <a:off x="5669280" y="1371600"/>
            <a:ext cx="329184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Diferencias clave y marco V&amp;V</a:t>
            </a:r>
            <a:endParaRPr lang="en-US" sz="1000" dirty="0"/>
          </a:p>
        </p:txBody>
      </p:sp>
      <p:sp>
        <p:nvSpPr>
          <p:cNvPr id="12" name="Shape 10"/>
          <p:cNvSpPr/>
          <p:nvPr/>
        </p:nvSpPr>
        <p:spPr>
          <a:xfrm>
            <a:off x="365760" y="2194560"/>
            <a:ext cx="4297680" cy="1188720"/>
          </a:xfrm>
          <a:prstGeom prst="roundRect">
            <a:avLst>
              <a:gd name="adj" fmla="val 7692"/>
            </a:avLst>
          </a:prstGeom>
          <a:solidFill>
            <a:srgbClr val="F0F4FF"/>
          </a:solidFill>
          <a:ln/>
          <a:effectLst>
            <a:outerShdw sx="100000" sy="100000" kx="0" ky="0" algn="bl" rotWithShape="0" blurRad="101600" dist="25400" dir="2700000">
              <a:srgbClr val="000000">
                <a:alpha val="12000"/>
              </a:srgbClr>
            </a:outerShdw>
          </a:effectLst>
        </p:spPr>
      </p:sp>
      <p:sp>
        <p:nvSpPr>
          <p:cNvPr id="13" name="Text 11"/>
          <p:cNvSpPr/>
          <p:nvPr/>
        </p:nvSpPr>
        <p:spPr>
          <a:xfrm>
            <a:off x="502920" y="2331720"/>
            <a:ext cx="640080" cy="64008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188720" y="2286000"/>
            <a:ext cx="329184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Técnicas de QA</a:t>
            </a:r>
            <a:endParaRPr lang="en-US" sz="1300" dirty="0"/>
          </a:p>
        </p:txBody>
      </p:sp>
      <p:sp>
        <p:nvSpPr>
          <p:cNvPr id="15" name="Text 13"/>
          <p:cNvSpPr/>
          <p:nvPr/>
        </p:nvSpPr>
        <p:spPr>
          <a:xfrm>
            <a:off x="1188720" y="2743200"/>
            <a:ext cx="329184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Revisiones, inspecciones, pruebas estáticas/dinámicas</a:t>
            </a:r>
            <a:endParaRPr lang="en-US" sz="1000" dirty="0"/>
          </a:p>
        </p:txBody>
      </p:sp>
      <p:sp>
        <p:nvSpPr>
          <p:cNvPr id="16" name="Shape 14"/>
          <p:cNvSpPr/>
          <p:nvPr/>
        </p:nvSpPr>
        <p:spPr>
          <a:xfrm>
            <a:off x="4846320" y="2194560"/>
            <a:ext cx="4297680" cy="1188720"/>
          </a:xfrm>
          <a:prstGeom prst="roundRect">
            <a:avLst>
              <a:gd name="adj" fmla="val 7692"/>
            </a:avLst>
          </a:prstGeom>
          <a:solidFill>
            <a:srgbClr val="F0F4FF"/>
          </a:solidFill>
          <a:ln/>
          <a:effectLst>
            <a:outerShdw sx="100000" sy="100000" kx="0" ky="0" algn="bl" rotWithShape="0" blurRad="101600" dist="25400" dir="2700000">
              <a:srgbClr val="000000">
                <a:alpha val="12000"/>
              </a:srgbClr>
            </a:outerShdw>
          </a:effectLst>
        </p:spPr>
      </p:sp>
      <p:sp>
        <p:nvSpPr>
          <p:cNvPr id="17" name="Text 15"/>
          <p:cNvSpPr/>
          <p:nvPr/>
        </p:nvSpPr>
        <p:spPr>
          <a:xfrm>
            <a:off x="4983480" y="2331720"/>
            <a:ext cx="640080" cy="64008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5669280" y="2286000"/>
            <a:ext cx="329184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Herramientas Concretas</a:t>
            </a:r>
            <a:endParaRPr lang="en-US" sz="1300" dirty="0"/>
          </a:p>
        </p:txBody>
      </p:sp>
      <p:sp>
        <p:nvSpPr>
          <p:cNvPr id="19" name="Text 17"/>
          <p:cNvSpPr/>
          <p:nvPr/>
        </p:nvSpPr>
        <p:spPr>
          <a:xfrm>
            <a:off x="5669280" y="2743200"/>
            <a:ext cx="329184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SonarQube, Selenium, JUnit, JIRA</a:t>
            </a:r>
            <a:endParaRPr lang="en-US" sz="1000" dirty="0"/>
          </a:p>
        </p:txBody>
      </p:sp>
      <p:sp>
        <p:nvSpPr>
          <p:cNvPr id="20" name="Shape 18"/>
          <p:cNvSpPr/>
          <p:nvPr/>
        </p:nvSpPr>
        <p:spPr>
          <a:xfrm>
            <a:off x="365760" y="3566160"/>
            <a:ext cx="4297680" cy="1188720"/>
          </a:xfrm>
          <a:prstGeom prst="roundRect">
            <a:avLst>
              <a:gd name="adj" fmla="val 7692"/>
            </a:avLst>
          </a:prstGeom>
          <a:solidFill>
            <a:srgbClr val="F0F4FF"/>
          </a:solidFill>
          <a:ln/>
          <a:effectLst>
            <a:outerShdw sx="100000" sy="100000" kx="0" ky="0" algn="bl" rotWithShape="0" blurRad="101600" dist="25400" dir="2700000">
              <a:srgbClr val="000000">
                <a:alpha val="12000"/>
              </a:srgbClr>
            </a:outerShdw>
          </a:effectLst>
        </p:spPr>
      </p:sp>
      <p:sp>
        <p:nvSpPr>
          <p:cNvPr id="21" name="Text 19"/>
          <p:cNvSpPr/>
          <p:nvPr/>
        </p:nvSpPr>
        <p:spPr>
          <a:xfrm>
            <a:off x="502920" y="3703320"/>
            <a:ext cx="640080" cy="64008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05</a:t>
            </a:r>
            <a:endParaRPr lang="en-US" sz="2200" dirty="0"/>
          </a:p>
        </p:txBody>
      </p:sp>
      <p:sp>
        <p:nvSpPr>
          <p:cNvPr id="22" name="Text 20"/>
          <p:cNvSpPr/>
          <p:nvPr/>
        </p:nvSpPr>
        <p:spPr>
          <a:xfrm>
            <a:off x="1188720" y="3657600"/>
            <a:ext cx="329184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Métricas de Calidad</a:t>
            </a:r>
            <a:endParaRPr lang="en-US" sz="1300" dirty="0"/>
          </a:p>
        </p:txBody>
      </p:sp>
      <p:sp>
        <p:nvSpPr>
          <p:cNvPr id="23" name="Text 21"/>
          <p:cNvSpPr/>
          <p:nvPr/>
        </p:nvSpPr>
        <p:spPr>
          <a:xfrm>
            <a:off x="1188720" y="4114800"/>
            <a:ext cx="329184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Interpretación y acciones correctivas</a:t>
            </a:r>
            <a:endParaRPr lang="en-US" sz="1000" dirty="0"/>
          </a:p>
        </p:txBody>
      </p:sp>
      <p:sp>
        <p:nvSpPr>
          <p:cNvPr id="24" name="Shape 22"/>
          <p:cNvSpPr/>
          <p:nvPr/>
        </p:nvSpPr>
        <p:spPr>
          <a:xfrm>
            <a:off x="4846320" y="3566160"/>
            <a:ext cx="4297680" cy="1188720"/>
          </a:xfrm>
          <a:prstGeom prst="roundRect">
            <a:avLst>
              <a:gd name="adj" fmla="val 7692"/>
            </a:avLst>
          </a:prstGeom>
          <a:solidFill>
            <a:srgbClr val="F0F4FF"/>
          </a:solidFill>
          <a:ln/>
          <a:effectLst>
            <a:outerShdw sx="100000" sy="100000" kx="0" ky="0" algn="bl" rotWithShape="0" blurRad="101600" dist="25400" dir="2700000">
              <a:srgbClr val="000000">
                <a:alpha val="12000"/>
              </a:srgbClr>
            </a:outerShdw>
          </a:effectLst>
        </p:spPr>
      </p:sp>
      <p:sp>
        <p:nvSpPr>
          <p:cNvPr id="25" name="Text 23"/>
          <p:cNvSpPr/>
          <p:nvPr/>
        </p:nvSpPr>
        <p:spPr>
          <a:xfrm>
            <a:off x="4983480" y="3703320"/>
            <a:ext cx="640080" cy="64008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06</a:t>
            </a:r>
            <a:endParaRPr lang="en-US" sz="2200" dirty="0"/>
          </a:p>
        </p:txBody>
      </p:sp>
      <p:sp>
        <p:nvSpPr>
          <p:cNvPr id="26" name="Text 24"/>
          <p:cNvSpPr/>
          <p:nvPr/>
        </p:nvSpPr>
        <p:spPr>
          <a:xfrm>
            <a:off x="5669280" y="3657600"/>
            <a:ext cx="3291840" cy="45720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Actividad Práctica</a:t>
            </a:r>
            <a:endParaRPr lang="en-US" sz="1300" dirty="0"/>
          </a:p>
        </p:txBody>
      </p:sp>
      <p:sp>
        <p:nvSpPr>
          <p:cNvPr id="27" name="Text 25"/>
          <p:cNvSpPr/>
          <p:nvPr/>
        </p:nvSpPr>
        <p:spPr>
          <a:xfrm>
            <a:off x="5669280" y="4114800"/>
            <a:ext cx="329184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Análisis integrador de caso real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01 · Aseguramiento de la Calidad de Software (QA)</a:t>
            </a:r>
            <a:endParaRPr lang="en-US" sz="1600" dirty="0"/>
          </a:p>
        </p:txBody>
      </p:sp>
      <p:sp>
        <p:nvSpPr>
          <p:cNvPr id="4" name="Shape 2"/>
          <p:cNvSpPr/>
          <p:nvPr/>
        </p:nvSpPr>
        <p:spPr>
          <a:xfrm>
            <a:off x="320040" y="777240"/>
            <a:ext cx="8503920" cy="1005840"/>
          </a:xfrm>
          <a:prstGeom prst="roundRect">
            <a:avLst>
              <a:gd name="adj" fmla="val 9091"/>
            </a:avLst>
          </a:prstGeom>
          <a:solidFill>
            <a:srgbClr val="0F1A3E"/>
          </a:solidFill>
          <a:ln/>
          <a:effectLst>
            <a:outerShdw sx="100000" sy="100000" kx="0" ky="0" algn="bl" rotWithShape="0" blurRad="101600" dist="25400" dir="2700000">
              <a:srgbClr val="000000">
                <a:alpha val="12000"/>
              </a:srgbClr>
            </a:outerShdw>
          </a:effectLst>
        </p:spPr>
      </p:sp>
      <p:sp>
        <p:nvSpPr>
          <p:cNvPr id="5" name="Text 3"/>
          <p:cNvSpPr/>
          <p:nvPr/>
        </p:nvSpPr>
        <p:spPr>
          <a:xfrm>
            <a:off x="502920" y="822960"/>
            <a:ext cx="8138160" cy="868680"/>
          </a:xfrm>
          <a:prstGeom prst="rect">
            <a:avLst/>
          </a:prstGeom>
          <a:noFill/>
          <a:ln/>
        </p:spPr>
        <p:txBody>
          <a:bodyPr wrap="square" rtlCol="0" anchor="ctr"/>
          <a:lstStyle/>
          <a:p>
            <a:pPr indent="0" marL="0">
              <a:buNone/>
            </a:pPr>
            <a:r>
              <a:rPr lang="en-US" sz="1100" b="1" i="1" dirty="0">
                <a:solidFill>
                  <a:srgbClr val="F59E0B"/>
                </a:solidFill>
                <a:latin typeface="Calibri" pitchFamily="34" charset="0"/>
                <a:ea typeface="Calibri" pitchFamily="34" charset="-122"/>
                <a:cs typeface="Calibri" pitchFamily="34" charset="-120"/>
              </a:rPr>
              <a:t>ISO 9000:2000 — </a:t>
            </a:r>
            <a:pPr indent="0" marL="0">
              <a:buNone/>
            </a:pPr>
            <a:r>
              <a:rPr lang="en-US" sz="1100" i="1" dirty="0">
                <a:solidFill>
                  <a:srgbClr val="FFFFFF"/>
                </a:solidFill>
                <a:latin typeface="Calibri" pitchFamily="34" charset="0"/>
                <a:ea typeface="Calibri" pitchFamily="34" charset="-122"/>
                <a:cs typeface="Calibri" pitchFamily="34" charset="-120"/>
              </a:rPr>
              <a:t>«El grado en el que un conjunto de características inherentes cumple con los requisitos» (necesidad o expectativa establecida, generalmente implícita u obligatoria).</a:t>
            </a:r>
            <a:endParaRPr lang="en-US" sz="1100" dirty="0"/>
          </a:p>
        </p:txBody>
      </p:sp>
      <p:sp>
        <p:nvSpPr>
          <p:cNvPr id="6" name="Shape 4"/>
          <p:cNvSpPr/>
          <p:nvPr/>
        </p:nvSpPr>
        <p:spPr>
          <a:xfrm>
            <a:off x="320040" y="1920240"/>
            <a:ext cx="4114800" cy="26517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7" name="Text 5"/>
          <p:cNvSpPr/>
          <p:nvPr/>
        </p:nvSpPr>
        <p:spPr>
          <a:xfrm>
            <a:off x="457200" y="1965960"/>
            <a:ext cx="384048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¿Qué es QA?</a:t>
            </a:r>
            <a:endParaRPr lang="en-US" sz="1300" dirty="0"/>
          </a:p>
        </p:txBody>
      </p:sp>
      <p:sp>
        <p:nvSpPr>
          <p:cNvPr id="8" name="Text 6"/>
          <p:cNvSpPr/>
          <p:nvPr/>
        </p:nvSpPr>
        <p:spPr>
          <a:xfrm>
            <a:off x="457200" y="2423160"/>
            <a:ext cx="3840480" cy="2057400"/>
          </a:xfrm>
          <a:prstGeom prst="rect">
            <a:avLst/>
          </a:prstGeom>
          <a:noFill/>
          <a:ln/>
        </p:spPr>
        <p:txBody>
          <a:bodyPr wrap="square" rtlCol="0" anchor="ctr"/>
          <a:lstStyle/>
          <a:p>
            <a:pPr indent="0" marL="0">
              <a:spcAft>
                <a:spcPts val="500"/>
              </a:spcAft>
              <a:buNone/>
            </a:pPr>
            <a:r>
              <a:rPr lang="en-US" sz="1050" dirty="0">
                <a:solidFill>
                  <a:srgbClr val="2D2D2D"/>
                </a:solidFill>
                <a:latin typeface="Calibri" pitchFamily="34" charset="0"/>
                <a:ea typeface="Calibri" pitchFamily="34" charset="-122"/>
                <a:cs typeface="Calibri" pitchFamily="34" charset="-120"/>
              </a:rPr>
              <a:t>▸  Conjunto planificado de actividades para dar confianza en que el producto cumple los requisitos de calidad</a:t>
            </a:r>
            <a:endParaRPr lang="en-US" sz="1050" dirty="0"/>
          </a:p>
          <a:p>
            <a:pPr indent="0" marL="0">
              <a:spcAft>
                <a:spcPts val="500"/>
              </a:spcAft>
              <a:buNone/>
            </a:pPr>
            <a:r>
              <a:rPr lang="en-US" sz="1050" dirty="0">
                <a:solidFill>
                  <a:srgbClr val="2D2D2D"/>
                </a:solidFill>
                <a:latin typeface="Calibri" pitchFamily="34" charset="0"/>
                <a:ea typeface="Calibri" pitchFamily="34" charset="-122"/>
                <a:cs typeface="Calibri" pitchFamily="34" charset="-120"/>
              </a:rPr>
              <a:t>▸  Orientado a la prevención de defectos, no solo a su detección (Marin et al., 2019)</a:t>
            </a:r>
            <a:endParaRPr lang="en-US" sz="1050" dirty="0"/>
          </a:p>
          <a:p>
            <a:pPr indent="0" marL="0">
              <a:spcAft>
                <a:spcPts val="500"/>
              </a:spcAft>
              <a:buNone/>
            </a:pPr>
            <a:r>
              <a:rPr lang="en-US" sz="1050" dirty="0">
                <a:solidFill>
                  <a:srgbClr val="2D2D2D"/>
                </a:solidFill>
                <a:latin typeface="Calibri" pitchFamily="34" charset="0"/>
                <a:ea typeface="Calibri" pitchFamily="34" charset="-122"/>
                <a:cs typeface="Calibri" pitchFamily="34" charset="-120"/>
              </a:rPr>
              <a:t>▸  Abarca procesos, estándares y métricas a lo largo de todo el CVDS</a:t>
            </a:r>
            <a:endParaRPr lang="en-US" sz="1050" dirty="0"/>
          </a:p>
          <a:p>
            <a:pPr indent="0" marL="0">
              <a:spcAft>
                <a:spcPts val="500"/>
              </a:spcAft>
              <a:buNone/>
            </a:pPr>
            <a:r>
              <a:rPr lang="en-US" sz="1050" dirty="0">
                <a:solidFill>
                  <a:srgbClr val="2D2D2D"/>
                </a:solidFill>
                <a:latin typeface="Calibri" pitchFamily="34" charset="0"/>
                <a:ea typeface="Calibri" pitchFamily="34" charset="-122"/>
                <a:cs typeface="Calibri" pitchFamily="34" charset="-120"/>
              </a:rPr>
              <a:t>▸  Diferente del control de calidad (QC): QA es proactivo, QC es reactivo</a:t>
            </a:r>
            <a:endParaRPr lang="en-US" sz="1050" dirty="0"/>
          </a:p>
        </p:txBody>
      </p:sp>
      <p:sp>
        <p:nvSpPr>
          <p:cNvPr id="9" name="Shape 7"/>
          <p:cNvSpPr/>
          <p:nvPr/>
        </p:nvSpPr>
        <p:spPr>
          <a:xfrm>
            <a:off x="4709160" y="1920240"/>
            <a:ext cx="4114800" cy="26517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10" name="Text 8"/>
          <p:cNvSpPr/>
          <p:nvPr/>
        </p:nvSpPr>
        <p:spPr>
          <a:xfrm>
            <a:off x="4846320" y="1965960"/>
            <a:ext cx="384048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Importancia Estratégica</a:t>
            </a:r>
            <a:endParaRPr lang="en-US" sz="1300" dirty="0"/>
          </a:p>
        </p:txBody>
      </p:sp>
      <p:sp>
        <p:nvSpPr>
          <p:cNvPr id="11" name="Text 9"/>
          <p:cNvSpPr/>
          <p:nvPr/>
        </p:nvSpPr>
        <p:spPr>
          <a:xfrm>
            <a:off x="4846320" y="2423160"/>
            <a:ext cx="1828800" cy="914400"/>
          </a:xfrm>
          <a:prstGeom prst="rect">
            <a:avLst/>
          </a:prstGeom>
          <a:noFill/>
          <a:ln/>
        </p:spPr>
        <p:txBody>
          <a:bodyPr wrap="square" rtlCol="0" anchor="ctr"/>
          <a:lstStyle/>
          <a:p>
            <a:pPr algn="ctr" indent="0" marL="0">
              <a:buNone/>
            </a:pPr>
            <a:r>
              <a:rPr lang="en-US" sz="4200" b="1" dirty="0">
                <a:solidFill>
                  <a:srgbClr val="3B82F6"/>
                </a:solidFill>
                <a:latin typeface="Calibri" pitchFamily="34" charset="0"/>
                <a:ea typeface="Calibri" pitchFamily="34" charset="-122"/>
                <a:cs typeface="Calibri" pitchFamily="34" charset="-120"/>
              </a:rPr>
              <a:t>50%</a:t>
            </a:r>
            <a:endParaRPr lang="en-US" sz="4200" dirty="0"/>
          </a:p>
        </p:txBody>
      </p:sp>
      <p:sp>
        <p:nvSpPr>
          <p:cNvPr id="12" name="Text 10"/>
          <p:cNvSpPr/>
          <p:nvPr/>
        </p:nvSpPr>
        <p:spPr>
          <a:xfrm>
            <a:off x="4846320" y="3337560"/>
            <a:ext cx="1828800" cy="100584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de defectos se</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introducen en</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requisitos</a:t>
            </a:r>
            <a:endParaRPr lang="en-US" sz="900" dirty="0"/>
          </a:p>
        </p:txBody>
      </p:sp>
      <p:sp>
        <p:nvSpPr>
          <p:cNvPr id="13" name="Text 11"/>
          <p:cNvSpPr/>
          <p:nvPr/>
        </p:nvSpPr>
        <p:spPr>
          <a:xfrm>
            <a:off x="6812280" y="2423160"/>
            <a:ext cx="1645920" cy="914400"/>
          </a:xfrm>
          <a:prstGeom prst="rect">
            <a:avLst/>
          </a:prstGeom>
          <a:noFill/>
          <a:ln/>
        </p:spPr>
        <p:txBody>
          <a:bodyPr wrap="square" rtlCol="0" anchor="ctr"/>
          <a:lstStyle/>
          <a:p>
            <a:pPr algn="ctr" indent="0" marL="0">
              <a:buNone/>
            </a:pPr>
            <a:r>
              <a:rPr lang="en-US" sz="4200" b="1" dirty="0">
                <a:solidFill>
                  <a:srgbClr val="F59E0B"/>
                </a:solidFill>
                <a:latin typeface="Calibri" pitchFamily="34" charset="0"/>
                <a:ea typeface="Calibri" pitchFamily="34" charset="-122"/>
                <a:cs typeface="Calibri" pitchFamily="34" charset="-120"/>
              </a:rPr>
              <a:t>30%</a:t>
            </a:r>
            <a:endParaRPr lang="en-US" sz="4200" dirty="0"/>
          </a:p>
        </p:txBody>
      </p:sp>
      <p:sp>
        <p:nvSpPr>
          <p:cNvPr id="14" name="Text 12"/>
          <p:cNvSpPr/>
          <p:nvPr/>
        </p:nvSpPr>
        <p:spPr>
          <a:xfrm>
            <a:off x="6812280" y="3337560"/>
            <a:ext cx="1645920" cy="100584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en diseño</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(Standish Group,</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cit. Marin 2019)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02 · Marco de Verificación y Validación</a:t>
            </a:r>
            <a:endParaRPr lang="en-US" sz="1600" dirty="0"/>
          </a:p>
        </p:txBody>
      </p:sp>
      <p:sp>
        <p:nvSpPr>
          <p:cNvPr id="4" name="Shape 2"/>
          <p:cNvSpPr/>
          <p:nvPr/>
        </p:nvSpPr>
        <p:spPr>
          <a:xfrm>
            <a:off x="320040" y="777240"/>
            <a:ext cx="4114800" cy="2377440"/>
          </a:xfrm>
          <a:prstGeom prst="roundRect">
            <a:avLst>
              <a:gd name="adj" fmla="val 3846"/>
            </a:avLst>
          </a:prstGeom>
          <a:solidFill>
            <a:srgbClr val="EBF5FF"/>
          </a:solidFill>
          <a:ln/>
          <a:effectLst>
            <a:outerShdw sx="100000" sy="100000" kx="0" ky="0" algn="bl" rotWithShape="0" blurRad="101600" dist="25400" dir="2700000">
              <a:srgbClr val="000000">
                <a:alpha val="12000"/>
              </a:srgbClr>
            </a:outerShdw>
          </a:effectLst>
        </p:spPr>
      </p:sp>
      <p:sp>
        <p:nvSpPr>
          <p:cNvPr id="5" name="Shape 3"/>
          <p:cNvSpPr/>
          <p:nvPr/>
        </p:nvSpPr>
        <p:spPr>
          <a:xfrm>
            <a:off x="320040" y="777240"/>
            <a:ext cx="4114800" cy="502920"/>
          </a:xfrm>
          <a:prstGeom prst="rect">
            <a:avLst>
              <a:gd name="adj" fmla="val 18182"/>
            </a:avLst>
          </a:prstGeom>
          <a:solidFill>
            <a:srgbClr val="3B82F6"/>
          </a:solidFill>
          <a:ln/>
          <a:effectLst>
            <a:outerShdw sx="100000" sy="100000" kx="0" ky="0" algn="bl" rotWithShape="0" blurRad="101600" dist="25400" dir="2700000">
              <a:srgbClr val="000000">
                <a:alpha val="12000"/>
              </a:srgbClr>
            </a:outerShdw>
          </a:effectLst>
        </p:spPr>
      </p:sp>
      <p:sp>
        <p:nvSpPr>
          <p:cNvPr id="6" name="Text 4"/>
          <p:cNvSpPr/>
          <p:nvPr/>
        </p:nvSpPr>
        <p:spPr>
          <a:xfrm>
            <a:off x="457200" y="795528"/>
            <a:ext cx="3840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VERIFICACIÓN</a:t>
            </a:r>
            <a:endParaRPr lang="en-US" sz="1400" dirty="0"/>
          </a:p>
        </p:txBody>
      </p:sp>
      <p:sp>
        <p:nvSpPr>
          <p:cNvPr id="7" name="Text 5"/>
          <p:cNvSpPr/>
          <p:nvPr/>
        </p:nvSpPr>
        <p:spPr>
          <a:xfrm>
            <a:off x="457200" y="1371600"/>
            <a:ext cx="3840480" cy="1691640"/>
          </a:xfrm>
          <a:prstGeom prst="rect">
            <a:avLst/>
          </a:prstGeom>
          <a:noFill/>
          <a:ln/>
        </p:spPr>
        <p:txBody>
          <a:bodyPr wrap="square" rtlCol="0" anchor="ctr"/>
          <a:lstStyle/>
          <a:p>
            <a:pPr indent="0" marL="0">
              <a:buNone/>
            </a:pPr>
            <a:r>
              <a:rPr lang="en-US" sz="1050" b="1" i="1" dirty="0">
                <a:solidFill>
                  <a:srgbClr val="2D2D2D"/>
                </a:solidFill>
                <a:latin typeface="Calibri" pitchFamily="34" charset="0"/>
                <a:ea typeface="Calibri" pitchFamily="34" charset="-122"/>
                <a:cs typeface="Calibri" pitchFamily="34" charset="-120"/>
              </a:rPr>
              <a:t>¿Estamos construyendo el producto correctamente?
</a:t>
            </a:r>
            <a:pPr indent="0" marL="0">
              <a:buNone/>
            </a:pPr>
            <a:r>
              <a:rPr lang="en-US" sz="1050" dirty="0">
                <a:solidFill>
                  <a:srgbClr val="2D2D2D"/>
                </a:solidFill>
                <a:latin typeface="Calibri" pitchFamily="34" charset="0"/>
                <a:ea typeface="Calibri" pitchFamily="34" charset="-122"/>
                <a:cs typeface="Calibri" pitchFamily="34" charset="-120"/>
              </a:rPr>
              <a:t>
▸  Evalúa productos de trabajo (documentos, código, diseños)
</a:t>
            </a:r>
            <a:pPr indent="0" marL="0">
              <a:buNone/>
            </a:pPr>
            <a:r>
              <a:rPr lang="en-US" sz="1050" dirty="0">
                <a:solidFill>
                  <a:srgbClr val="2D2D2D"/>
                </a:solidFill>
                <a:latin typeface="Calibri" pitchFamily="34" charset="0"/>
                <a:ea typeface="Calibri" pitchFamily="34" charset="-122"/>
                <a:cs typeface="Calibri" pitchFamily="34" charset="-120"/>
              </a:rPr>
              <a:t>▸  Compara contra especificaciones y estándares
</a:t>
            </a:r>
            <a:pPr indent="0" marL="0">
              <a:buNone/>
            </a:pPr>
            <a:r>
              <a:rPr lang="en-US" sz="1050" dirty="0">
                <a:solidFill>
                  <a:srgbClr val="2D2D2D"/>
                </a:solidFill>
                <a:latin typeface="Calibri" pitchFamily="34" charset="0"/>
                <a:ea typeface="Calibri" pitchFamily="34" charset="-122"/>
                <a:cs typeface="Calibri" pitchFamily="34" charset="-120"/>
              </a:rPr>
              <a:t>▸  Técnicas: revisiones, inspecciones, auditorías
</a:t>
            </a:r>
            <a:pPr indent="0" marL="0">
              <a:buNone/>
            </a:pPr>
            <a:r>
              <a:rPr lang="en-US" sz="1050" dirty="0">
                <a:solidFill>
                  <a:srgbClr val="2D2D2D"/>
                </a:solidFill>
                <a:latin typeface="Calibri" pitchFamily="34" charset="0"/>
                <a:ea typeface="Calibri" pitchFamily="34" charset="-122"/>
                <a:cs typeface="Calibri" pitchFamily="34" charset="-120"/>
              </a:rPr>
              <a:t>▸  Se puede realizar sin ejecutar el software</a:t>
            </a:r>
            <a:endParaRPr lang="en-US" sz="1050" dirty="0"/>
          </a:p>
        </p:txBody>
      </p:sp>
      <p:sp>
        <p:nvSpPr>
          <p:cNvPr id="8" name="Shape 6"/>
          <p:cNvSpPr/>
          <p:nvPr/>
        </p:nvSpPr>
        <p:spPr>
          <a:xfrm>
            <a:off x="4709160" y="777240"/>
            <a:ext cx="4114800" cy="2377440"/>
          </a:xfrm>
          <a:prstGeom prst="roundRect">
            <a:avLst>
              <a:gd name="adj" fmla="val 3846"/>
            </a:avLst>
          </a:prstGeom>
          <a:solidFill>
            <a:srgbClr val="FFF8EB"/>
          </a:solidFill>
          <a:ln/>
          <a:effectLst>
            <a:outerShdw sx="100000" sy="100000" kx="0" ky="0" algn="bl" rotWithShape="0" blurRad="101600" dist="25400" dir="2700000">
              <a:srgbClr val="000000">
                <a:alpha val="12000"/>
              </a:srgbClr>
            </a:outerShdw>
          </a:effectLst>
        </p:spPr>
      </p:sp>
      <p:sp>
        <p:nvSpPr>
          <p:cNvPr id="9" name="Shape 7"/>
          <p:cNvSpPr/>
          <p:nvPr/>
        </p:nvSpPr>
        <p:spPr>
          <a:xfrm>
            <a:off x="4709160" y="777240"/>
            <a:ext cx="4114800" cy="502920"/>
          </a:xfrm>
          <a:prstGeom prst="rect">
            <a:avLst>
              <a:gd name="adj" fmla="val 18182"/>
            </a:avLst>
          </a:prstGeom>
          <a:solidFill>
            <a:srgbClr val="F59E0B"/>
          </a:solidFill>
          <a:ln/>
          <a:effectLst>
            <a:outerShdw sx="100000" sy="100000" kx="0" ky="0" algn="bl" rotWithShape="0" blurRad="101600" dist="25400" dir="2700000">
              <a:srgbClr val="000000">
                <a:alpha val="12000"/>
              </a:srgbClr>
            </a:outerShdw>
          </a:effectLst>
        </p:spPr>
      </p:sp>
      <p:sp>
        <p:nvSpPr>
          <p:cNvPr id="10" name="Text 8"/>
          <p:cNvSpPr/>
          <p:nvPr/>
        </p:nvSpPr>
        <p:spPr>
          <a:xfrm>
            <a:off x="4846320" y="795528"/>
            <a:ext cx="3840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VALIDACIÓN</a:t>
            </a:r>
            <a:endParaRPr lang="en-US" sz="1400" dirty="0"/>
          </a:p>
        </p:txBody>
      </p:sp>
      <p:sp>
        <p:nvSpPr>
          <p:cNvPr id="11" name="Text 9"/>
          <p:cNvSpPr/>
          <p:nvPr/>
        </p:nvSpPr>
        <p:spPr>
          <a:xfrm>
            <a:off x="4846320" y="1371600"/>
            <a:ext cx="3840480" cy="1691640"/>
          </a:xfrm>
          <a:prstGeom prst="rect">
            <a:avLst/>
          </a:prstGeom>
          <a:noFill/>
          <a:ln/>
        </p:spPr>
        <p:txBody>
          <a:bodyPr wrap="square" rtlCol="0" anchor="ctr"/>
          <a:lstStyle/>
          <a:p>
            <a:pPr indent="0" marL="0">
              <a:buNone/>
            </a:pPr>
            <a:r>
              <a:rPr lang="en-US" sz="1050" b="1" i="1" dirty="0">
                <a:solidFill>
                  <a:srgbClr val="2D2D2D"/>
                </a:solidFill>
                <a:latin typeface="Calibri" pitchFamily="34" charset="0"/>
                <a:ea typeface="Calibri" pitchFamily="34" charset="-122"/>
                <a:cs typeface="Calibri" pitchFamily="34" charset="-120"/>
              </a:rPr>
              <a:t>¿Estamos construyendo el producto correcto?
</a:t>
            </a:r>
            <a:pPr indent="0" marL="0">
              <a:buNone/>
            </a:pPr>
            <a:r>
              <a:rPr lang="en-US" sz="1050" dirty="0">
                <a:solidFill>
                  <a:srgbClr val="2D2D2D"/>
                </a:solidFill>
                <a:latin typeface="Calibri" pitchFamily="34" charset="0"/>
                <a:ea typeface="Calibri" pitchFamily="34" charset="-122"/>
                <a:cs typeface="Calibri" pitchFamily="34" charset="-120"/>
              </a:rPr>
              <a:t>
▸  Evalúa el producto con respecto a las necesidades del usuario
</a:t>
            </a:r>
            <a:pPr indent="0" marL="0">
              <a:buNone/>
            </a:pPr>
            <a:r>
              <a:rPr lang="en-US" sz="1050" dirty="0">
                <a:solidFill>
                  <a:srgbClr val="2D2D2D"/>
                </a:solidFill>
                <a:latin typeface="Calibri" pitchFamily="34" charset="0"/>
                <a:ea typeface="Calibri" pitchFamily="34" charset="-122"/>
                <a:cs typeface="Calibri" pitchFamily="34" charset="-120"/>
              </a:rPr>
              <a:t>▸  Requiere participación del cliente y un tercero objetivo
</a:t>
            </a:r>
            <a:pPr indent="0" marL="0">
              <a:buNone/>
            </a:pPr>
            <a:r>
              <a:rPr lang="en-US" sz="1050" dirty="0">
                <a:solidFill>
                  <a:srgbClr val="2D2D2D"/>
                </a:solidFill>
                <a:latin typeface="Calibri" pitchFamily="34" charset="0"/>
                <a:ea typeface="Calibri" pitchFamily="34" charset="-122"/>
                <a:cs typeface="Calibri" pitchFamily="34" charset="-120"/>
              </a:rPr>
              <a:t>▸  Técnicas: pruebas de aceptación, prototipos, demos
</a:t>
            </a:r>
            <a:pPr indent="0" marL="0">
              <a:buNone/>
            </a:pPr>
            <a:r>
              <a:rPr lang="en-US" sz="1050" dirty="0">
                <a:solidFill>
                  <a:srgbClr val="2D2D2D"/>
                </a:solidFill>
                <a:latin typeface="Calibri" pitchFamily="34" charset="0"/>
                <a:ea typeface="Calibri" pitchFamily="34" charset="-122"/>
                <a:cs typeface="Calibri" pitchFamily="34" charset="-120"/>
              </a:rPr>
              <a:t>▸  Generalmente implica ejecución del software</a:t>
            </a:r>
            <a:endParaRPr lang="en-US" sz="1050" dirty="0"/>
          </a:p>
        </p:txBody>
      </p:sp>
      <p:sp>
        <p:nvSpPr>
          <p:cNvPr id="12" name="Shape 10"/>
          <p:cNvSpPr/>
          <p:nvPr/>
        </p:nvSpPr>
        <p:spPr>
          <a:xfrm>
            <a:off x="320040" y="3291840"/>
            <a:ext cx="8503920" cy="1554480"/>
          </a:xfrm>
          <a:prstGeom prst="roundRect">
            <a:avLst>
              <a:gd name="adj" fmla="val 5882"/>
            </a:avLst>
          </a:prstGeom>
          <a:solidFill>
            <a:srgbClr val="F0F4FF"/>
          </a:solidFill>
          <a:ln/>
          <a:effectLst>
            <a:outerShdw sx="100000" sy="100000" kx="0" ky="0" algn="bl" rotWithShape="0" blurRad="101600" dist="25400" dir="2700000">
              <a:srgbClr val="000000">
                <a:alpha val="12000"/>
              </a:srgbClr>
            </a:outerShdw>
          </a:effectLst>
        </p:spPr>
      </p:sp>
      <p:sp>
        <p:nvSpPr>
          <p:cNvPr id="13" name="Text 11"/>
          <p:cNvSpPr/>
          <p:nvPr/>
        </p:nvSpPr>
        <p:spPr>
          <a:xfrm>
            <a:off x="502920" y="3337560"/>
            <a:ext cx="822960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Marco integrador: Ciclo PDCA (Shewhart/Deming) aplicado a V&amp;V</a:t>
            </a:r>
            <a:endParaRPr lang="en-US" sz="1200" dirty="0"/>
          </a:p>
        </p:txBody>
      </p:sp>
      <p:sp>
        <p:nvSpPr>
          <p:cNvPr id="14" name="Shape 12"/>
          <p:cNvSpPr/>
          <p:nvPr/>
        </p:nvSpPr>
        <p:spPr>
          <a:xfrm>
            <a:off x="502920" y="3767328"/>
            <a:ext cx="1920240" cy="960120"/>
          </a:xfrm>
          <a:prstGeom prst="roundRect">
            <a:avLst>
              <a:gd name="adj" fmla="val 7619"/>
            </a:avLst>
          </a:prstGeom>
          <a:solidFill>
            <a:srgbClr val="3B82F6"/>
          </a:solidFill>
          <a:ln/>
        </p:spPr>
      </p:sp>
      <p:sp>
        <p:nvSpPr>
          <p:cNvPr id="15" name="Text 13"/>
          <p:cNvSpPr/>
          <p:nvPr/>
        </p:nvSpPr>
        <p:spPr>
          <a:xfrm>
            <a:off x="502920" y="3785616"/>
            <a:ext cx="19202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PLAN</a:t>
            </a:r>
            <a:endParaRPr lang="en-US" sz="1100" dirty="0"/>
          </a:p>
        </p:txBody>
      </p:sp>
      <p:sp>
        <p:nvSpPr>
          <p:cNvPr id="16" name="Text 14"/>
          <p:cNvSpPr/>
          <p:nvPr/>
        </p:nvSpPr>
        <p:spPr>
          <a:xfrm>
            <a:off x="502920" y="4114800"/>
            <a:ext cx="1920240" cy="5943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Planificar actividades de V&amp;V según cronograma del proyecto</a:t>
            </a:r>
            <a:endParaRPr lang="en-US" sz="850" dirty="0"/>
          </a:p>
        </p:txBody>
      </p:sp>
      <p:sp>
        <p:nvSpPr>
          <p:cNvPr id="17" name="Text 15"/>
          <p:cNvSpPr/>
          <p:nvPr/>
        </p:nvSpPr>
        <p:spPr>
          <a:xfrm>
            <a:off x="2423160" y="4023360"/>
            <a:ext cx="182880" cy="27432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2606040" y="3767328"/>
            <a:ext cx="1920240" cy="960120"/>
          </a:xfrm>
          <a:prstGeom prst="roundRect">
            <a:avLst>
              <a:gd name="adj" fmla="val 7619"/>
            </a:avLst>
          </a:prstGeom>
          <a:solidFill>
            <a:srgbClr val="10B981"/>
          </a:solidFill>
          <a:ln/>
        </p:spPr>
      </p:sp>
      <p:sp>
        <p:nvSpPr>
          <p:cNvPr id="19" name="Text 17"/>
          <p:cNvSpPr/>
          <p:nvPr/>
        </p:nvSpPr>
        <p:spPr>
          <a:xfrm>
            <a:off x="2606040" y="3785616"/>
            <a:ext cx="19202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a:t>
            </a:r>
            <a:endParaRPr lang="en-US" sz="1100" dirty="0"/>
          </a:p>
        </p:txBody>
      </p:sp>
      <p:sp>
        <p:nvSpPr>
          <p:cNvPr id="20" name="Text 18"/>
          <p:cNvSpPr/>
          <p:nvPr/>
        </p:nvSpPr>
        <p:spPr>
          <a:xfrm>
            <a:off x="2606040" y="4114800"/>
            <a:ext cx="1920240" cy="5943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Ejecutar revisiones, pruebas e inspecciones programadas</a:t>
            </a:r>
            <a:endParaRPr lang="en-US" sz="850" dirty="0"/>
          </a:p>
        </p:txBody>
      </p:sp>
      <p:sp>
        <p:nvSpPr>
          <p:cNvPr id="21" name="Text 19"/>
          <p:cNvSpPr/>
          <p:nvPr/>
        </p:nvSpPr>
        <p:spPr>
          <a:xfrm>
            <a:off x="4526280" y="4023360"/>
            <a:ext cx="182880" cy="27432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4709160" y="3767328"/>
            <a:ext cx="1920240" cy="960120"/>
          </a:xfrm>
          <a:prstGeom prst="roundRect">
            <a:avLst>
              <a:gd name="adj" fmla="val 7619"/>
            </a:avLst>
          </a:prstGeom>
          <a:solidFill>
            <a:srgbClr val="F59E0B"/>
          </a:solidFill>
          <a:ln/>
        </p:spPr>
      </p:sp>
      <p:sp>
        <p:nvSpPr>
          <p:cNvPr id="23" name="Text 21"/>
          <p:cNvSpPr/>
          <p:nvPr/>
        </p:nvSpPr>
        <p:spPr>
          <a:xfrm>
            <a:off x="4709160" y="3785616"/>
            <a:ext cx="19202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24" name="Text 22"/>
          <p:cNvSpPr/>
          <p:nvPr/>
        </p:nvSpPr>
        <p:spPr>
          <a:xfrm>
            <a:off x="4709160" y="4114800"/>
            <a:ext cx="1920240" cy="5943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Analizar incidencias: defectos introducidos vs. detectados por fase</a:t>
            </a:r>
            <a:endParaRPr lang="en-US" sz="850" dirty="0"/>
          </a:p>
        </p:txBody>
      </p:sp>
      <p:sp>
        <p:nvSpPr>
          <p:cNvPr id="25" name="Text 23"/>
          <p:cNvSpPr/>
          <p:nvPr/>
        </p:nvSpPr>
        <p:spPr>
          <a:xfrm>
            <a:off x="6629400" y="4023360"/>
            <a:ext cx="182880" cy="27432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6812280" y="3767328"/>
            <a:ext cx="1920240" cy="960120"/>
          </a:xfrm>
          <a:prstGeom prst="roundRect">
            <a:avLst>
              <a:gd name="adj" fmla="val 7619"/>
            </a:avLst>
          </a:prstGeom>
          <a:solidFill>
            <a:srgbClr val="EF4444"/>
          </a:solidFill>
          <a:ln/>
        </p:spPr>
      </p:sp>
      <p:sp>
        <p:nvSpPr>
          <p:cNvPr id="27" name="Text 25"/>
          <p:cNvSpPr/>
          <p:nvPr/>
        </p:nvSpPr>
        <p:spPr>
          <a:xfrm>
            <a:off x="6812280" y="3785616"/>
            <a:ext cx="19202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a:t>
            </a:r>
            <a:endParaRPr lang="en-US" sz="1100" dirty="0"/>
          </a:p>
        </p:txBody>
      </p:sp>
      <p:sp>
        <p:nvSpPr>
          <p:cNvPr id="28" name="Text 26"/>
          <p:cNvSpPr/>
          <p:nvPr/>
        </p:nvSpPr>
        <p:spPr>
          <a:xfrm>
            <a:off x="6812280" y="4114800"/>
            <a:ext cx="1920240" cy="5943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Aplicar mejoras: lecciones aprendidas, acciones correctivas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03 · Técnicas Principales de QA</a:t>
            </a:r>
            <a:endParaRPr lang="en-US" sz="1600" dirty="0"/>
          </a:p>
        </p:txBody>
      </p:sp>
      <p:sp>
        <p:nvSpPr>
          <p:cNvPr id="4" name="Shape 2"/>
          <p:cNvSpPr/>
          <p:nvPr/>
        </p:nvSpPr>
        <p:spPr>
          <a:xfrm>
            <a:off x="320040" y="777240"/>
            <a:ext cx="4023360" cy="411480"/>
          </a:xfrm>
          <a:prstGeom prst="rect">
            <a:avLst/>
          </a:prstGeom>
          <a:solidFill>
            <a:srgbClr val="1E2761"/>
          </a:solidFill>
          <a:ln/>
        </p:spPr>
      </p:sp>
      <p:sp>
        <p:nvSpPr>
          <p:cNvPr id="5" name="Text 3"/>
          <p:cNvSpPr/>
          <p:nvPr/>
        </p:nvSpPr>
        <p:spPr>
          <a:xfrm>
            <a:off x="320040" y="777240"/>
            <a:ext cx="402336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TÉCNICAS ESTÁTICAS</a:t>
            </a:r>
            <a:endParaRPr lang="en-US" sz="1200" dirty="0"/>
          </a:p>
        </p:txBody>
      </p:sp>
      <p:sp>
        <p:nvSpPr>
          <p:cNvPr id="6" name="Shape 4"/>
          <p:cNvSpPr/>
          <p:nvPr/>
        </p:nvSpPr>
        <p:spPr>
          <a:xfrm>
            <a:off x="4572000" y="777240"/>
            <a:ext cx="4114800" cy="411480"/>
          </a:xfrm>
          <a:prstGeom prst="rect">
            <a:avLst/>
          </a:prstGeom>
          <a:solidFill>
            <a:srgbClr val="3B82F6"/>
          </a:solidFill>
          <a:ln/>
        </p:spPr>
      </p:sp>
      <p:sp>
        <p:nvSpPr>
          <p:cNvPr id="7" name="Text 5"/>
          <p:cNvSpPr/>
          <p:nvPr/>
        </p:nvSpPr>
        <p:spPr>
          <a:xfrm>
            <a:off x="4572000" y="777240"/>
            <a:ext cx="41148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TÉCNICAS DINÁMICAS</a:t>
            </a:r>
            <a:endParaRPr lang="en-US" sz="1200" dirty="0"/>
          </a:p>
        </p:txBody>
      </p:sp>
      <p:sp>
        <p:nvSpPr>
          <p:cNvPr id="8" name="Text 6"/>
          <p:cNvSpPr/>
          <p:nvPr/>
        </p:nvSpPr>
        <p:spPr>
          <a:xfrm>
            <a:off x="320040" y="1207008"/>
            <a:ext cx="4023360" cy="274320"/>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No requieren ejecución del software</a:t>
            </a:r>
            <a:endParaRPr lang="en-US" sz="900" dirty="0"/>
          </a:p>
        </p:txBody>
      </p:sp>
      <p:sp>
        <p:nvSpPr>
          <p:cNvPr id="9" name="Text 7"/>
          <p:cNvSpPr/>
          <p:nvPr/>
        </p:nvSpPr>
        <p:spPr>
          <a:xfrm>
            <a:off x="4572000" y="1207008"/>
            <a:ext cx="4114800" cy="274320"/>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Requieren ejecución del software</a:t>
            </a:r>
            <a:endParaRPr lang="en-US" sz="900" dirty="0"/>
          </a:p>
        </p:txBody>
      </p:sp>
      <p:sp>
        <p:nvSpPr>
          <p:cNvPr id="10" name="Shape 8"/>
          <p:cNvSpPr/>
          <p:nvPr/>
        </p:nvSpPr>
        <p:spPr>
          <a:xfrm>
            <a:off x="320040" y="1536192"/>
            <a:ext cx="4023360" cy="777240"/>
          </a:xfrm>
          <a:prstGeom prst="roundRect">
            <a:avLst>
              <a:gd name="adj" fmla="val 11765"/>
            </a:avLst>
          </a:prstGeom>
          <a:solidFill>
            <a:srgbClr val="FFFFFF"/>
          </a:solidFill>
          <a:ln/>
          <a:effectLst>
            <a:outerShdw sx="100000" sy="100000" kx="0" ky="0" algn="bl" rotWithShape="0" blurRad="101600" dist="25400" dir="2700000">
              <a:srgbClr val="000000">
                <a:alpha val="12000"/>
              </a:srgbClr>
            </a:outerShdw>
          </a:effectLst>
        </p:spPr>
      </p:sp>
      <p:sp>
        <p:nvSpPr>
          <p:cNvPr id="11" name="Text 9"/>
          <p:cNvSpPr/>
          <p:nvPr/>
        </p:nvSpPr>
        <p:spPr>
          <a:xfrm>
            <a:off x="457200" y="1581912"/>
            <a:ext cx="3749040" cy="27432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Revisiones de adherencia</a:t>
            </a:r>
            <a:endParaRPr lang="en-US" sz="1050" dirty="0"/>
          </a:p>
        </p:txBody>
      </p:sp>
      <p:sp>
        <p:nvSpPr>
          <p:cNvPr id="12" name="Text 10"/>
          <p:cNvSpPr/>
          <p:nvPr/>
        </p:nvSpPr>
        <p:spPr>
          <a:xfrm>
            <a:off x="457200" y="1837944"/>
            <a:ext cx="374904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Verifican cumplimiento de procesos y productos de trabajo según metodología institucionalizada (Marin et al., 2019)</a:t>
            </a:r>
            <a:endParaRPr lang="en-US" sz="900" dirty="0"/>
          </a:p>
        </p:txBody>
      </p:sp>
      <p:sp>
        <p:nvSpPr>
          <p:cNvPr id="13" name="Shape 11"/>
          <p:cNvSpPr/>
          <p:nvPr/>
        </p:nvSpPr>
        <p:spPr>
          <a:xfrm>
            <a:off x="320040" y="2377440"/>
            <a:ext cx="4023360" cy="777240"/>
          </a:xfrm>
          <a:prstGeom prst="roundRect">
            <a:avLst>
              <a:gd name="adj" fmla="val 11765"/>
            </a:avLst>
          </a:prstGeom>
          <a:solidFill>
            <a:srgbClr val="F0F4FF"/>
          </a:solidFill>
          <a:ln/>
          <a:effectLst>
            <a:outerShdw sx="100000" sy="100000" kx="0" ky="0" algn="bl" rotWithShape="0" blurRad="101600" dist="25400" dir="2700000">
              <a:srgbClr val="000000">
                <a:alpha val="12000"/>
              </a:srgbClr>
            </a:outerShdw>
          </a:effectLst>
        </p:spPr>
      </p:sp>
      <p:sp>
        <p:nvSpPr>
          <p:cNvPr id="14" name="Text 12"/>
          <p:cNvSpPr/>
          <p:nvPr/>
        </p:nvSpPr>
        <p:spPr>
          <a:xfrm>
            <a:off x="457200" y="2423160"/>
            <a:ext cx="3749040" cy="27432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Revisiones Técnicas Formales (RTF)</a:t>
            </a:r>
            <a:endParaRPr lang="en-US" sz="1050" dirty="0"/>
          </a:p>
        </p:txBody>
      </p:sp>
      <p:sp>
        <p:nvSpPr>
          <p:cNvPr id="15" name="Text 13"/>
          <p:cNvSpPr/>
          <p:nvPr/>
        </p:nvSpPr>
        <p:spPr>
          <a:xfrm>
            <a:off x="457200" y="2679192"/>
            <a:ext cx="374904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Evaluación técnica de artefactos: requisitos, arquitectura, diseño. El Standish Group indica que el 50% de defectos se introducen en requisitos</a:t>
            </a:r>
            <a:endParaRPr lang="en-US" sz="900" dirty="0"/>
          </a:p>
        </p:txBody>
      </p:sp>
      <p:sp>
        <p:nvSpPr>
          <p:cNvPr id="16" name="Shape 14"/>
          <p:cNvSpPr/>
          <p:nvPr/>
        </p:nvSpPr>
        <p:spPr>
          <a:xfrm>
            <a:off x="320040" y="3218688"/>
            <a:ext cx="4023360" cy="777240"/>
          </a:xfrm>
          <a:prstGeom prst="roundRect">
            <a:avLst>
              <a:gd name="adj" fmla="val 11765"/>
            </a:avLst>
          </a:prstGeom>
          <a:solidFill>
            <a:srgbClr val="FFFFFF"/>
          </a:solidFill>
          <a:ln/>
          <a:effectLst>
            <a:outerShdw sx="100000" sy="100000" kx="0" ky="0" algn="bl" rotWithShape="0" blurRad="101600" dist="25400" dir="2700000">
              <a:srgbClr val="000000">
                <a:alpha val="12000"/>
              </a:srgbClr>
            </a:outerShdw>
          </a:effectLst>
        </p:spPr>
      </p:sp>
      <p:sp>
        <p:nvSpPr>
          <p:cNvPr id="17" name="Text 15"/>
          <p:cNvSpPr/>
          <p:nvPr/>
        </p:nvSpPr>
        <p:spPr>
          <a:xfrm>
            <a:off x="457200" y="3264408"/>
            <a:ext cx="3749040" cy="27432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Revisiones de código (code review)</a:t>
            </a:r>
            <a:endParaRPr lang="en-US" sz="1050" dirty="0"/>
          </a:p>
        </p:txBody>
      </p:sp>
      <p:sp>
        <p:nvSpPr>
          <p:cNvPr id="18" name="Text 16"/>
          <p:cNvSpPr/>
          <p:nvPr/>
        </p:nvSpPr>
        <p:spPr>
          <a:xfrm>
            <a:off x="457200" y="3520440"/>
            <a:ext cx="374904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Análisis estático del código fuente para detectar defectos cercanos a su introducción</a:t>
            </a:r>
            <a:endParaRPr lang="en-US" sz="900" dirty="0"/>
          </a:p>
        </p:txBody>
      </p:sp>
      <p:sp>
        <p:nvSpPr>
          <p:cNvPr id="19" name="Shape 17"/>
          <p:cNvSpPr/>
          <p:nvPr/>
        </p:nvSpPr>
        <p:spPr>
          <a:xfrm>
            <a:off x="320040" y="4059936"/>
            <a:ext cx="4023360" cy="777240"/>
          </a:xfrm>
          <a:prstGeom prst="roundRect">
            <a:avLst>
              <a:gd name="adj" fmla="val 11765"/>
            </a:avLst>
          </a:prstGeom>
          <a:solidFill>
            <a:srgbClr val="F0F4FF"/>
          </a:solidFill>
          <a:ln/>
          <a:effectLst>
            <a:outerShdw sx="100000" sy="100000" kx="0" ky="0" algn="bl" rotWithShape="0" blurRad="101600" dist="25400" dir="2700000">
              <a:srgbClr val="000000">
                <a:alpha val="12000"/>
              </a:srgbClr>
            </a:outerShdw>
          </a:effectLst>
        </p:spPr>
      </p:sp>
      <p:sp>
        <p:nvSpPr>
          <p:cNvPr id="20" name="Text 18"/>
          <p:cNvSpPr/>
          <p:nvPr/>
        </p:nvSpPr>
        <p:spPr>
          <a:xfrm>
            <a:off x="457200" y="4105656"/>
            <a:ext cx="3749040" cy="27432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Listas de verificación</a:t>
            </a:r>
            <a:endParaRPr lang="en-US" sz="1050" dirty="0"/>
          </a:p>
        </p:txBody>
      </p:sp>
      <p:sp>
        <p:nvSpPr>
          <p:cNvPr id="21" name="Text 19"/>
          <p:cNvSpPr/>
          <p:nvPr/>
        </p:nvSpPr>
        <p:spPr>
          <a:xfrm>
            <a:off x="457200" y="4361688"/>
            <a:ext cx="374904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Checklists estructuradas para revisión sistemática de productos de trabajo</a:t>
            </a:r>
            <a:endParaRPr lang="en-US" sz="900" dirty="0"/>
          </a:p>
        </p:txBody>
      </p:sp>
      <p:sp>
        <p:nvSpPr>
          <p:cNvPr id="22" name="Shape 20"/>
          <p:cNvSpPr/>
          <p:nvPr/>
        </p:nvSpPr>
        <p:spPr>
          <a:xfrm>
            <a:off x="4572000" y="1536192"/>
            <a:ext cx="4114800" cy="777240"/>
          </a:xfrm>
          <a:prstGeom prst="roundRect">
            <a:avLst>
              <a:gd name="adj" fmla="val 11765"/>
            </a:avLst>
          </a:prstGeom>
          <a:solidFill>
            <a:srgbClr val="FFFFFF"/>
          </a:solidFill>
          <a:ln/>
          <a:effectLst>
            <a:outerShdw sx="100000" sy="100000" kx="0" ky="0" algn="bl" rotWithShape="0" blurRad="101600" dist="25400" dir="2700000">
              <a:srgbClr val="000000">
                <a:alpha val="12000"/>
              </a:srgbClr>
            </a:outerShdw>
          </a:effectLst>
        </p:spPr>
      </p:sp>
      <p:sp>
        <p:nvSpPr>
          <p:cNvPr id="23" name="Text 21"/>
          <p:cNvSpPr/>
          <p:nvPr/>
        </p:nvSpPr>
        <p:spPr>
          <a:xfrm>
            <a:off x="4709160" y="1581912"/>
            <a:ext cx="3840480" cy="274320"/>
          </a:xfrm>
          <a:prstGeom prst="rect">
            <a:avLst/>
          </a:prstGeom>
          <a:noFill/>
          <a:ln/>
        </p:spPr>
        <p:txBody>
          <a:bodyPr wrap="square"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Pruebas unitarias</a:t>
            </a:r>
            <a:endParaRPr lang="en-US" sz="1050" dirty="0"/>
          </a:p>
        </p:txBody>
      </p:sp>
      <p:sp>
        <p:nvSpPr>
          <p:cNvPr id="24" name="Text 22"/>
          <p:cNvSpPr/>
          <p:nvPr/>
        </p:nvSpPr>
        <p:spPr>
          <a:xfrm>
            <a:off x="4709160" y="1837944"/>
            <a:ext cx="384048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Validan unidades individuales de código de forma aislada (JUnit, TestNG)</a:t>
            </a:r>
            <a:endParaRPr lang="en-US" sz="900" dirty="0"/>
          </a:p>
        </p:txBody>
      </p:sp>
      <p:sp>
        <p:nvSpPr>
          <p:cNvPr id="25" name="Shape 23"/>
          <p:cNvSpPr/>
          <p:nvPr/>
        </p:nvSpPr>
        <p:spPr>
          <a:xfrm>
            <a:off x="4572000" y="2377440"/>
            <a:ext cx="4114800" cy="777240"/>
          </a:xfrm>
          <a:prstGeom prst="roundRect">
            <a:avLst>
              <a:gd name="adj" fmla="val 11765"/>
            </a:avLst>
          </a:prstGeom>
          <a:solidFill>
            <a:srgbClr val="EBF5FF"/>
          </a:solidFill>
          <a:ln/>
          <a:effectLst>
            <a:outerShdw sx="100000" sy="100000" kx="0" ky="0" algn="bl" rotWithShape="0" blurRad="101600" dist="25400" dir="2700000">
              <a:srgbClr val="000000">
                <a:alpha val="12000"/>
              </a:srgbClr>
            </a:outerShdw>
          </a:effectLst>
        </p:spPr>
      </p:sp>
      <p:sp>
        <p:nvSpPr>
          <p:cNvPr id="26" name="Text 24"/>
          <p:cNvSpPr/>
          <p:nvPr/>
        </p:nvSpPr>
        <p:spPr>
          <a:xfrm>
            <a:off x="4709160" y="2423160"/>
            <a:ext cx="3840480" cy="274320"/>
          </a:xfrm>
          <a:prstGeom prst="rect">
            <a:avLst/>
          </a:prstGeom>
          <a:noFill/>
          <a:ln/>
        </p:spPr>
        <p:txBody>
          <a:bodyPr wrap="square"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Pruebas de integración</a:t>
            </a:r>
            <a:endParaRPr lang="en-US" sz="1050" dirty="0"/>
          </a:p>
        </p:txBody>
      </p:sp>
      <p:sp>
        <p:nvSpPr>
          <p:cNvPr id="27" name="Text 25"/>
          <p:cNvSpPr/>
          <p:nvPr/>
        </p:nvSpPr>
        <p:spPr>
          <a:xfrm>
            <a:off x="4709160" y="2679192"/>
            <a:ext cx="384048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Verifican la interacción entre módulos. Clave en entornos CI/CD (Mascheroni &amp; Irrazábal, 2018)</a:t>
            </a:r>
            <a:endParaRPr lang="en-US" sz="900" dirty="0"/>
          </a:p>
        </p:txBody>
      </p:sp>
      <p:sp>
        <p:nvSpPr>
          <p:cNvPr id="28" name="Shape 26"/>
          <p:cNvSpPr/>
          <p:nvPr/>
        </p:nvSpPr>
        <p:spPr>
          <a:xfrm>
            <a:off x="4572000" y="3218688"/>
            <a:ext cx="4114800" cy="777240"/>
          </a:xfrm>
          <a:prstGeom prst="roundRect">
            <a:avLst>
              <a:gd name="adj" fmla="val 11765"/>
            </a:avLst>
          </a:prstGeom>
          <a:solidFill>
            <a:srgbClr val="FFFFFF"/>
          </a:solidFill>
          <a:ln/>
          <a:effectLst>
            <a:outerShdw sx="100000" sy="100000" kx="0" ky="0" algn="bl" rotWithShape="0" blurRad="101600" dist="25400" dir="2700000">
              <a:srgbClr val="000000">
                <a:alpha val="12000"/>
              </a:srgbClr>
            </a:outerShdw>
          </a:effectLst>
        </p:spPr>
      </p:sp>
      <p:sp>
        <p:nvSpPr>
          <p:cNvPr id="29" name="Text 27"/>
          <p:cNvSpPr/>
          <p:nvPr/>
        </p:nvSpPr>
        <p:spPr>
          <a:xfrm>
            <a:off x="4709160" y="3264408"/>
            <a:ext cx="3840480" cy="274320"/>
          </a:xfrm>
          <a:prstGeom prst="rect">
            <a:avLst/>
          </a:prstGeom>
          <a:noFill/>
          <a:ln/>
        </p:spPr>
        <p:txBody>
          <a:bodyPr wrap="square"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Pruebas funcionales / sistema</a:t>
            </a:r>
            <a:endParaRPr lang="en-US" sz="1050" dirty="0"/>
          </a:p>
        </p:txBody>
      </p:sp>
      <p:sp>
        <p:nvSpPr>
          <p:cNvPr id="30" name="Text 28"/>
          <p:cNvSpPr/>
          <p:nvPr/>
        </p:nvSpPr>
        <p:spPr>
          <a:xfrm>
            <a:off x="4709160" y="3520440"/>
            <a:ext cx="384048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Verifican comportamiento del sistema completo contra los requisitos</a:t>
            </a:r>
            <a:endParaRPr lang="en-US" sz="900" dirty="0"/>
          </a:p>
        </p:txBody>
      </p:sp>
      <p:sp>
        <p:nvSpPr>
          <p:cNvPr id="31" name="Shape 29"/>
          <p:cNvSpPr/>
          <p:nvPr/>
        </p:nvSpPr>
        <p:spPr>
          <a:xfrm>
            <a:off x="4572000" y="4059936"/>
            <a:ext cx="4114800" cy="777240"/>
          </a:xfrm>
          <a:prstGeom prst="roundRect">
            <a:avLst>
              <a:gd name="adj" fmla="val 11765"/>
            </a:avLst>
          </a:prstGeom>
          <a:solidFill>
            <a:srgbClr val="EBF5FF"/>
          </a:solidFill>
          <a:ln/>
          <a:effectLst>
            <a:outerShdw sx="100000" sy="100000" kx="0" ky="0" algn="bl" rotWithShape="0" blurRad="101600" dist="25400" dir="2700000">
              <a:srgbClr val="000000">
                <a:alpha val="12000"/>
              </a:srgbClr>
            </a:outerShdw>
          </a:effectLst>
        </p:spPr>
      </p:sp>
      <p:sp>
        <p:nvSpPr>
          <p:cNvPr id="32" name="Text 30"/>
          <p:cNvSpPr/>
          <p:nvPr/>
        </p:nvSpPr>
        <p:spPr>
          <a:xfrm>
            <a:off x="4709160" y="4105656"/>
            <a:ext cx="3840480" cy="274320"/>
          </a:xfrm>
          <a:prstGeom prst="rect">
            <a:avLst/>
          </a:prstGeom>
          <a:noFill/>
          <a:ln/>
        </p:spPr>
        <p:txBody>
          <a:bodyPr wrap="square"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Pruebas de aceptación</a:t>
            </a:r>
            <a:endParaRPr lang="en-US" sz="1050" dirty="0"/>
          </a:p>
        </p:txBody>
      </p:sp>
      <p:sp>
        <p:nvSpPr>
          <p:cNvPr id="33" name="Text 31"/>
          <p:cNvSpPr/>
          <p:nvPr/>
        </p:nvSpPr>
        <p:spPr>
          <a:xfrm>
            <a:off x="4709160" y="4361688"/>
            <a:ext cx="3840480" cy="43891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Validación con el cliente. Principio: deben participar cliente, equipo y un tercero objetivo (Marin et al., 2019)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04 · Herramientas de QA: Descripción y Casos de Uso</a:t>
            </a:r>
            <a:endParaRPr lang="en-US" sz="1500" dirty="0"/>
          </a:p>
        </p:txBody>
      </p:sp>
      <p:sp>
        <p:nvSpPr>
          <p:cNvPr id="4" name="Shape 2"/>
          <p:cNvSpPr/>
          <p:nvPr/>
        </p:nvSpPr>
        <p:spPr>
          <a:xfrm>
            <a:off x="274320" y="777240"/>
            <a:ext cx="4297680" cy="2011680"/>
          </a:xfrm>
          <a:prstGeom prst="roundRect">
            <a:avLst>
              <a:gd name="adj" fmla="val 4545"/>
            </a:avLst>
          </a:prstGeom>
          <a:solidFill>
            <a:srgbClr val="FFFFFF"/>
          </a:solidFill>
          <a:ln/>
          <a:effectLst>
            <a:outerShdw sx="100000" sy="100000" kx="0" ky="0" algn="bl" rotWithShape="0" blurRad="101600" dist="25400" dir="2700000">
              <a:srgbClr val="000000">
                <a:alpha val="12000"/>
              </a:srgbClr>
            </a:outerShdw>
          </a:effectLst>
        </p:spPr>
      </p:sp>
      <p:sp>
        <p:nvSpPr>
          <p:cNvPr id="5" name="Shape 3"/>
          <p:cNvSpPr/>
          <p:nvPr/>
        </p:nvSpPr>
        <p:spPr>
          <a:xfrm>
            <a:off x="274320" y="777240"/>
            <a:ext cx="4297680" cy="411480"/>
          </a:xfrm>
          <a:prstGeom prst="roundRect">
            <a:avLst>
              <a:gd name="adj" fmla="val 22222"/>
            </a:avLst>
          </a:prstGeom>
          <a:solidFill>
            <a:srgbClr val="1E2761"/>
          </a:solidFill>
          <a:ln/>
          <a:effectLst>
            <a:outerShdw sx="100000" sy="100000" kx="0" ky="0" algn="bl" rotWithShape="0" blurRad="101600" dist="25400" dir="2700000">
              <a:srgbClr val="000000">
                <a:alpha val="12000"/>
              </a:srgbClr>
            </a:outerShdw>
          </a:effectLst>
        </p:spPr>
      </p:sp>
      <p:sp>
        <p:nvSpPr>
          <p:cNvPr id="6" name="Text 4"/>
          <p:cNvSpPr/>
          <p:nvPr/>
        </p:nvSpPr>
        <p:spPr>
          <a:xfrm>
            <a:off x="365760" y="786384"/>
            <a:ext cx="4114800" cy="39319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Análisis Estático / Calidad de Código</a:t>
            </a:r>
            <a:endParaRPr lang="en-US" sz="900" dirty="0"/>
          </a:p>
        </p:txBody>
      </p:sp>
      <p:sp>
        <p:nvSpPr>
          <p:cNvPr id="7" name="Text 5"/>
          <p:cNvSpPr/>
          <p:nvPr/>
        </p:nvSpPr>
        <p:spPr>
          <a:xfrm>
            <a:off x="384048" y="1252728"/>
            <a:ext cx="4023360" cy="347472"/>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SonarQube</a:t>
            </a:r>
            <a:endParaRPr lang="en-US" sz="1500" dirty="0"/>
          </a:p>
        </p:txBody>
      </p:sp>
      <p:sp>
        <p:nvSpPr>
          <p:cNvPr id="8" name="Text 6"/>
          <p:cNvSpPr/>
          <p:nvPr/>
        </p:nvSpPr>
        <p:spPr>
          <a:xfrm>
            <a:off x="384048" y="1581912"/>
            <a:ext cx="4023360" cy="62179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Plataforma de inspección continua de código. Detecta bugs, vulnerabilidades, code smells y mide deuda técnica. Se integra con CI/CD pipelines.</a:t>
            </a:r>
            <a:endParaRPr lang="en-US" sz="900" dirty="0"/>
          </a:p>
        </p:txBody>
      </p:sp>
      <p:sp>
        <p:nvSpPr>
          <p:cNvPr id="9" name="Text 7"/>
          <p:cNvSpPr/>
          <p:nvPr/>
        </p:nvSpPr>
        <p:spPr>
          <a:xfrm>
            <a:off x="384048" y="2221992"/>
            <a:ext cx="4023360" cy="502920"/>
          </a:xfrm>
          <a:prstGeom prst="rect">
            <a:avLst/>
          </a:prstGeom>
          <a:noFill/>
          <a:ln/>
        </p:spPr>
        <p:txBody>
          <a:bodyPr wrap="square" rtlCol="0" anchor="ctr"/>
          <a:lstStyle/>
          <a:p>
            <a:pPr indent="0" marL="0">
              <a:buNone/>
            </a:pPr>
            <a:r>
              <a:rPr lang="en-US" sz="850" b="1" dirty="0">
                <a:solidFill>
                  <a:srgbClr val="1E2761"/>
                </a:solidFill>
                <a:latin typeface="Calibri" pitchFamily="34" charset="0"/>
                <a:ea typeface="Calibri" pitchFamily="34" charset="-122"/>
                <a:cs typeface="Calibri" pitchFamily="34" charset="-120"/>
              </a:rPr>
              <a:t>Caso de uso: </a:t>
            </a:r>
            <a:pPr indent="0" marL="0">
              <a:buNone/>
            </a:pPr>
            <a:r>
              <a:rPr lang="en-US" sz="850" dirty="0">
                <a:solidFill>
                  <a:srgbClr val="64748B"/>
                </a:solidFill>
                <a:latin typeface="Calibri" pitchFamily="34" charset="0"/>
                <a:ea typeface="Calibri" pitchFamily="34" charset="-122"/>
                <a:cs typeface="Calibri" pitchFamily="34" charset="-120"/>
              </a:rPr>
              <a:t>Revisión de código en cada commit; métricas de mantenibilidad y seguridad alineadas con ISO/IEC 25010 (confiabilidad, mantenibilidad).</a:t>
            </a:r>
            <a:endParaRPr lang="en-US" sz="850" dirty="0"/>
          </a:p>
        </p:txBody>
      </p:sp>
      <p:sp>
        <p:nvSpPr>
          <p:cNvPr id="10" name="Shape 8"/>
          <p:cNvSpPr/>
          <p:nvPr/>
        </p:nvSpPr>
        <p:spPr>
          <a:xfrm>
            <a:off x="4754880" y="777240"/>
            <a:ext cx="4297680" cy="2011680"/>
          </a:xfrm>
          <a:prstGeom prst="roundRect">
            <a:avLst>
              <a:gd name="adj" fmla="val 4545"/>
            </a:avLst>
          </a:prstGeom>
          <a:solidFill>
            <a:srgbClr val="FFFFFF"/>
          </a:solidFill>
          <a:ln/>
          <a:effectLst>
            <a:outerShdw sx="100000" sy="100000" kx="0" ky="0" algn="bl" rotWithShape="0" blurRad="101600" dist="25400" dir="2700000">
              <a:srgbClr val="000000">
                <a:alpha val="12000"/>
              </a:srgbClr>
            </a:outerShdw>
          </a:effectLst>
        </p:spPr>
      </p:sp>
      <p:sp>
        <p:nvSpPr>
          <p:cNvPr id="11" name="Shape 9"/>
          <p:cNvSpPr/>
          <p:nvPr/>
        </p:nvSpPr>
        <p:spPr>
          <a:xfrm>
            <a:off x="4754880" y="777240"/>
            <a:ext cx="4297680" cy="411480"/>
          </a:xfrm>
          <a:prstGeom prst="roundRect">
            <a:avLst>
              <a:gd name="adj" fmla="val 22222"/>
            </a:avLst>
          </a:prstGeom>
          <a:solidFill>
            <a:srgbClr val="10B981"/>
          </a:solidFill>
          <a:ln/>
          <a:effectLst>
            <a:outerShdw sx="100000" sy="100000" kx="0" ky="0" algn="bl" rotWithShape="0" blurRad="101600" dist="25400" dir="2700000">
              <a:srgbClr val="000000">
                <a:alpha val="12000"/>
              </a:srgbClr>
            </a:outerShdw>
          </a:effectLst>
        </p:spPr>
      </p:sp>
      <p:sp>
        <p:nvSpPr>
          <p:cNvPr id="12" name="Text 10"/>
          <p:cNvSpPr/>
          <p:nvPr/>
        </p:nvSpPr>
        <p:spPr>
          <a:xfrm>
            <a:off x="4846320" y="786384"/>
            <a:ext cx="4114800" cy="39319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Pruebas Dinámicas / UI Automatizadas</a:t>
            </a:r>
            <a:endParaRPr lang="en-US" sz="900" dirty="0"/>
          </a:p>
        </p:txBody>
      </p:sp>
      <p:sp>
        <p:nvSpPr>
          <p:cNvPr id="13" name="Text 11"/>
          <p:cNvSpPr/>
          <p:nvPr/>
        </p:nvSpPr>
        <p:spPr>
          <a:xfrm>
            <a:off x="4864608" y="1252728"/>
            <a:ext cx="4023360" cy="347472"/>
          </a:xfrm>
          <a:prstGeom prst="rect">
            <a:avLst/>
          </a:prstGeom>
          <a:noFill/>
          <a:ln/>
        </p:spPr>
        <p:txBody>
          <a:bodyPr wrap="square"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Selenium WebDriver</a:t>
            </a:r>
            <a:endParaRPr lang="en-US" sz="1500" dirty="0"/>
          </a:p>
        </p:txBody>
      </p:sp>
      <p:sp>
        <p:nvSpPr>
          <p:cNvPr id="14" name="Text 12"/>
          <p:cNvSpPr/>
          <p:nvPr/>
        </p:nvSpPr>
        <p:spPr>
          <a:xfrm>
            <a:off x="4864608" y="1581912"/>
            <a:ext cx="4023360" cy="62179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Framework de automatización de pruebas de interfaz web. Permite simular interacciones del usuario en múltiples navegadores y SO.</a:t>
            </a:r>
            <a:endParaRPr lang="en-US" sz="900" dirty="0"/>
          </a:p>
        </p:txBody>
      </p:sp>
      <p:sp>
        <p:nvSpPr>
          <p:cNvPr id="15" name="Text 13"/>
          <p:cNvSpPr/>
          <p:nvPr/>
        </p:nvSpPr>
        <p:spPr>
          <a:xfrm>
            <a:off x="4864608" y="2221992"/>
            <a:ext cx="4023360" cy="502920"/>
          </a:xfrm>
          <a:prstGeom prst="rect">
            <a:avLst/>
          </a:prstGeom>
          <a:noFill/>
          <a:ln/>
        </p:spPr>
        <p:txBody>
          <a:bodyPr wrap="square" rtlCol="0" anchor="ctr"/>
          <a:lstStyle/>
          <a:p>
            <a:pPr indent="0" marL="0">
              <a:buNone/>
            </a:pPr>
            <a:r>
              <a:rPr lang="en-US" sz="850" b="1" dirty="0">
                <a:solidFill>
                  <a:srgbClr val="10B981"/>
                </a:solidFill>
                <a:latin typeface="Calibri" pitchFamily="34" charset="0"/>
                <a:ea typeface="Calibri" pitchFamily="34" charset="-122"/>
                <a:cs typeface="Calibri" pitchFamily="34" charset="-120"/>
              </a:rPr>
              <a:t>Caso de uso: </a:t>
            </a:r>
            <a:pPr indent="0" marL="0">
              <a:buNone/>
            </a:pPr>
            <a:r>
              <a:rPr lang="en-US" sz="850" dirty="0">
                <a:solidFill>
                  <a:srgbClr val="64748B"/>
                </a:solidFill>
                <a:latin typeface="Calibri" pitchFamily="34" charset="0"/>
                <a:ea typeface="Calibri" pitchFamily="34" charset="-122"/>
                <a:cs typeface="Calibri" pitchFamily="34" charset="-120"/>
              </a:rPr>
              <a:t>Pruebas de regresión funcional y de sistema. En entornos de Entrega Continua permite verificar el deployment pipeline (Mascheroni &amp; Irrazábal, 2018).</a:t>
            </a:r>
            <a:endParaRPr lang="en-US" sz="850" dirty="0"/>
          </a:p>
        </p:txBody>
      </p:sp>
      <p:sp>
        <p:nvSpPr>
          <p:cNvPr id="16" name="Shape 14"/>
          <p:cNvSpPr/>
          <p:nvPr/>
        </p:nvSpPr>
        <p:spPr>
          <a:xfrm>
            <a:off x="274320" y="2926080"/>
            <a:ext cx="4297680" cy="2011680"/>
          </a:xfrm>
          <a:prstGeom prst="roundRect">
            <a:avLst>
              <a:gd name="adj" fmla="val 4545"/>
            </a:avLst>
          </a:prstGeom>
          <a:solidFill>
            <a:srgbClr val="FFFFFF"/>
          </a:solidFill>
          <a:ln/>
          <a:effectLst>
            <a:outerShdw sx="100000" sy="100000" kx="0" ky="0" algn="bl" rotWithShape="0" blurRad="101600" dist="25400" dir="2700000">
              <a:srgbClr val="000000">
                <a:alpha val="12000"/>
              </a:srgbClr>
            </a:outerShdw>
          </a:effectLst>
        </p:spPr>
      </p:sp>
      <p:sp>
        <p:nvSpPr>
          <p:cNvPr id="17" name="Shape 15"/>
          <p:cNvSpPr/>
          <p:nvPr/>
        </p:nvSpPr>
        <p:spPr>
          <a:xfrm>
            <a:off x="274320" y="2926080"/>
            <a:ext cx="4297680" cy="411480"/>
          </a:xfrm>
          <a:prstGeom prst="roundRect">
            <a:avLst>
              <a:gd name="adj" fmla="val 22222"/>
            </a:avLst>
          </a:prstGeom>
          <a:solidFill>
            <a:srgbClr val="3B82F6"/>
          </a:solidFill>
          <a:ln/>
          <a:effectLst>
            <a:outerShdw sx="100000" sy="100000" kx="0" ky="0" algn="bl" rotWithShape="0" blurRad="101600" dist="25400" dir="2700000">
              <a:srgbClr val="000000">
                <a:alpha val="12000"/>
              </a:srgbClr>
            </a:outerShdw>
          </a:effectLst>
        </p:spPr>
      </p:sp>
      <p:sp>
        <p:nvSpPr>
          <p:cNvPr id="18" name="Text 16"/>
          <p:cNvSpPr/>
          <p:nvPr/>
        </p:nvSpPr>
        <p:spPr>
          <a:xfrm>
            <a:off x="365760" y="2935224"/>
            <a:ext cx="4114800" cy="39319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Pruebas Unitarias (Java)</a:t>
            </a:r>
            <a:endParaRPr lang="en-US" sz="900" dirty="0"/>
          </a:p>
        </p:txBody>
      </p:sp>
      <p:sp>
        <p:nvSpPr>
          <p:cNvPr id="19" name="Text 17"/>
          <p:cNvSpPr/>
          <p:nvPr/>
        </p:nvSpPr>
        <p:spPr>
          <a:xfrm>
            <a:off x="384048" y="3401568"/>
            <a:ext cx="4023360" cy="347472"/>
          </a:xfrm>
          <a:prstGeom prst="rect">
            <a:avLst/>
          </a:prstGeom>
          <a:noFill/>
          <a:ln/>
        </p:spPr>
        <p:txBody>
          <a:bodyPr wrap="square"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JUnit / TestNG</a:t>
            </a:r>
            <a:endParaRPr lang="en-US" sz="1500" dirty="0"/>
          </a:p>
        </p:txBody>
      </p:sp>
      <p:sp>
        <p:nvSpPr>
          <p:cNvPr id="20" name="Text 18"/>
          <p:cNvSpPr/>
          <p:nvPr/>
        </p:nvSpPr>
        <p:spPr>
          <a:xfrm>
            <a:off x="384048" y="3730752"/>
            <a:ext cx="4023360" cy="62179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Frameworks xUnit para pruebas unitarias en Java. JUnit 5 ofrece extensiones potentes; TestNG permite agrupación y paralelismo avanzado.</a:t>
            </a:r>
            <a:endParaRPr lang="en-US" sz="900" dirty="0"/>
          </a:p>
        </p:txBody>
      </p:sp>
      <p:sp>
        <p:nvSpPr>
          <p:cNvPr id="21" name="Text 19"/>
          <p:cNvSpPr/>
          <p:nvPr/>
        </p:nvSpPr>
        <p:spPr>
          <a:xfrm>
            <a:off x="384048" y="4370832"/>
            <a:ext cx="4023360" cy="502920"/>
          </a:xfrm>
          <a:prstGeom prst="rect">
            <a:avLst/>
          </a:prstGeom>
          <a:noFill/>
          <a:ln/>
        </p:spPr>
        <p:txBody>
          <a:bodyPr wrap="square" rtlCol="0" anchor="ctr"/>
          <a:lstStyle/>
          <a:p>
            <a:pPr indent="0" marL="0">
              <a:buNone/>
            </a:pPr>
            <a:r>
              <a:rPr lang="en-US" sz="850" b="1" dirty="0">
                <a:solidFill>
                  <a:srgbClr val="3B82F6"/>
                </a:solidFill>
                <a:latin typeface="Calibri" pitchFamily="34" charset="0"/>
                <a:ea typeface="Calibri" pitchFamily="34" charset="-122"/>
                <a:cs typeface="Calibri" pitchFamily="34" charset="-120"/>
              </a:rPr>
              <a:t>Caso de uso: </a:t>
            </a:r>
            <a:pPr indent="0" marL="0">
              <a:buNone/>
            </a:pPr>
            <a:r>
              <a:rPr lang="en-US" sz="850" dirty="0">
                <a:solidFill>
                  <a:srgbClr val="64748B"/>
                </a:solidFill>
                <a:latin typeface="Calibri" pitchFamily="34" charset="0"/>
                <a:ea typeface="Calibri" pitchFamily="34" charset="-122"/>
                <a:cs typeface="Calibri" pitchFamily="34" charset="-120"/>
              </a:rPr>
              <a:t>Base del pipeline de CI: pruebas unitarias como primera etapa. Integra con Maven/Gradle y plataformas CI (Jenkins, GitHub Actions).</a:t>
            </a:r>
            <a:endParaRPr lang="en-US" sz="850" dirty="0"/>
          </a:p>
        </p:txBody>
      </p:sp>
      <p:sp>
        <p:nvSpPr>
          <p:cNvPr id="22" name="Shape 20"/>
          <p:cNvSpPr/>
          <p:nvPr/>
        </p:nvSpPr>
        <p:spPr>
          <a:xfrm>
            <a:off x="4754880" y="2926080"/>
            <a:ext cx="4297680" cy="2011680"/>
          </a:xfrm>
          <a:prstGeom prst="roundRect">
            <a:avLst>
              <a:gd name="adj" fmla="val 4545"/>
            </a:avLst>
          </a:prstGeom>
          <a:solidFill>
            <a:srgbClr val="FFFFFF"/>
          </a:solidFill>
          <a:ln/>
          <a:effectLst>
            <a:outerShdw sx="100000" sy="100000" kx="0" ky="0" algn="bl" rotWithShape="0" blurRad="101600" dist="25400" dir="2700000">
              <a:srgbClr val="000000">
                <a:alpha val="12000"/>
              </a:srgbClr>
            </a:outerShdw>
          </a:effectLst>
        </p:spPr>
      </p:sp>
      <p:sp>
        <p:nvSpPr>
          <p:cNvPr id="23" name="Shape 21"/>
          <p:cNvSpPr/>
          <p:nvPr/>
        </p:nvSpPr>
        <p:spPr>
          <a:xfrm>
            <a:off x="4754880" y="2926080"/>
            <a:ext cx="4297680" cy="411480"/>
          </a:xfrm>
          <a:prstGeom prst="roundRect">
            <a:avLst>
              <a:gd name="adj" fmla="val 22222"/>
            </a:avLst>
          </a:prstGeom>
          <a:solidFill>
            <a:srgbClr val="F59E0B"/>
          </a:solidFill>
          <a:ln/>
          <a:effectLst>
            <a:outerShdw sx="100000" sy="100000" kx="0" ky="0" algn="bl" rotWithShape="0" blurRad="101600" dist="25400" dir="2700000">
              <a:srgbClr val="000000">
                <a:alpha val="12000"/>
              </a:srgbClr>
            </a:outerShdw>
          </a:effectLst>
        </p:spPr>
      </p:sp>
      <p:sp>
        <p:nvSpPr>
          <p:cNvPr id="24" name="Text 22"/>
          <p:cNvSpPr/>
          <p:nvPr/>
        </p:nvSpPr>
        <p:spPr>
          <a:xfrm>
            <a:off x="4846320" y="2935224"/>
            <a:ext cx="4114800" cy="39319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Gestión de Defectos y Trazabilidad</a:t>
            </a:r>
            <a:endParaRPr lang="en-US" sz="900" dirty="0"/>
          </a:p>
        </p:txBody>
      </p:sp>
      <p:sp>
        <p:nvSpPr>
          <p:cNvPr id="25" name="Text 23"/>
          <p:cNvSpPr/>
          <p:nvPr/>
        </p:nvSpPr>
        <p:spPr>
          <a:xfrm>
            <a:off x="4864608" y="3401568"/>
            <a:ext cx="4023360" cy="347472"/>
          </a:xfrm>
          <a:prstGeom prst="rect">
            <a:avLst/>
          </a:prstGeom>
          <a:noFill/>
          <a:ln/>
        </p:spPr>
        <p:txBody>
          <a:bodyPr wrap="square"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JIRA + Zephyr / Xray</a:t>
            </a:r>
            <a:endParaRPr lang="en-US" sz="1500" dirty="0"/>
          </a:p>
        </p:txBody>
      </p:sp>
      <p:sp>
        <p:nvSpPr>
          <p:cNvPr id="26" name="Text 24"/>
          <p:cNvSpPr/>
          <p:nvPr/>
        </p:nvSpPr>
        <p:spPr>
          <a:xfrm>
            <a:off x="4864608" y="3730752"/>
            <a:ext cx="4023360" cy="62179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JIRA gestiona el ciclo de vida de defectos y user stories. Los plugins Zephyr/Xray añaden gestión de casos de prueba y trazabilidad requisito–prueba–defecto.</a:t>
            </a:r>
            <a:endParaRPr lang="en-US" sz="900" dirty="0"/>
          </a:p>
        </p:txBody>
      </p:sp>
      <p:sp>
        <p:nvSpPr>
          <p:cNvPr id="27" name="Text 25"/>
          <p:cNvSpPr/>
          <p:nvPr/>
        </p:nvSpPr>
        <p:spPr>
          <a:xfrm>
            <a:off x="4864608" y="4370832"/>
            <a:ext cx="4023360" cy="502920"/>
          </a:xfrm>
          <a:prstGeom prst="rect">
            <a:avLst/>
          </a:prstGeom>
          <a:noFill/>
          <a:ln/>
        </p:spPr>
        <p:txBody>
          <a:bodyPr wrap="square"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Caso de uso: </a:t>
            </a:r>
            <a:pPr indent="0" marL="0">
              <a:buNone/>
            </a:pPr>
            <a:r>
              <a:rPr lang="en-US" sz="850" dirty="0">
                <a:solidFill>
                  <a:srgbClr val="64748B"/>
                </a:solidFill>
                <a:latin typeface="Calibri" pitchFamily="34" charset="0"/>
                <a:ea typeface="Calibri" pitchFamily="34" charset="-122"/>
                <a:cs typeface="Calibri" pitchFamily="34" charset="-120"/>
              </a:rPr>
              <a:t>Centraliza el registro de defectos, su clasificación por fase de introducción y seguimiento de acciones correctivas. Soporta auditorías CMMI y reportes de tendencias.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05 · Métricas de Calidad: Medición e Interpretación</a:t>
            </a:r>
            <a:endParaRPr lang="en-US" sz="1500" dirty="0"/>
          </a:p>
        </p:txBody>
      </p:sp>
      <p:sp>
        <p:nvSpPr>
          <p:cNvPr id="4" name="Text 2"/>
          <p:cNvSpPr/>
          <p:nvPr/>
        </p:nvSpPr>
        <p:spPr>
          <a:xfrm>
            <a:off x="320040" y="731520"/>
            <a:ext cx="8503920" cy="274320"/>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Alineadas con ISO/IEC 25010 (características de calidad del producto)</a:t>
            </a:r>
            <a:endParaRPr lang="en-US" sz="1050" dirty="0"/>
          </a:p>
        </p:txBody>
      </p:sp>
      <p:sp>
        <p:nvSpPr>
          <p:cNvPr id="5" name="Shape 3"/>
          <p:cNvSpPr/>
          <p:nvPr/>
        </p:nvSpPr>
        <p:spPr>
          <a:xfrm>
            <a:off x="228600" y="1078992"/>
            <a:ext cx="1874520" cy="347472"/>
          </a:xfrm>
          <a:prstGeom prst="rect">
            <a:avLst/>
          </a:prstGeom>
          <a:solidFill>
            <a:srgbClr val="1E2761"/>
          </a:solidFill>
          <a:ln/>
        </p:spPr>
      </p:sp>
      <p:sp>
        <p:nvSpPr>
          <p:cNvPr id="6" name="Text 4"/>
          <p:cNvSpPr/>
          <p:nvPr/>
        </p:nvSpPr>
        <p:spPr>
          <a:xfrm>
            <a:off x="274320" y="1078992"/>
            <a:ext cx="1828800"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Métrica</a:t>
            </a:r>
            <a:endParaRPr lang="en-US" sz="900" dirty="0"/>
          </a:p>
        </p:txBody>
      </p:sp>
      <p:sp>
        <p:nvSpPr>
          <p:cNvPr id="7" name="Shape 5"/>
          <p:cNvSpPr/>
          <p:nvPr/>
        </p:nvSpPr>
        <p:spPr>
          <a:xfrm>
            <a:off x="2148840" y="1078992"/>
            <a:ext cx="1965960" cy="347472"/>
          </a:xfrm>
          <a:prstGeom prst="rect">
            <a:avLst/>
          </a:prstGeom>
          <a:solidFill>
            <a:srgbClr val="1E2761"/>
          </a:solidFill>
          <a:ln/>
        </p:spPr>
      </p:sp>
      <p:sp>
        <p:nvSpPr>
          <p:cNvPr id="8" name="Text 6"/>
          <p:cNvSpPr/>
          <p:nvPr/>
        </p:nvSpPr>
        <p:spPr>
          <a:xfrm>
            <a:off x="2194560" y="1078992"/>
            <a:ext cx="1920240"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Fórmula / Referencia</a:t>
            </a:r>
            <a:endParaRPr lang="en-US" sz="900" dirty="0"/>
          </a:p>
        </p:txBody>
      </p:sp>
      <p:sp>
        <p:nvSpPr>
          <p:cNvPr id="9" name="Shape 7"/>
          <p:cNvSpPr/>
          <p:nvPr/>
        </p:nvSpPr>
        <p:spPr>
          <a:xfrm>
            <a:off x="4160520" y="1078992"/>
            <a:ext cx="2514600" cy="347472"/>
          </a:xfrm>
          <a:prstGeom prst="rect">
            <a:avLst/>
          </a:prstGeom>
          <a:solidFill>
            <a:srgbClr val="1E2761"/>
          </a:solidFill>
          <a:ln/>
        </p:spPr>
      </p:sp>
      <p:sp>
        <p:nvSpPr>
          <p:cNvPr id="10" name="Text 8"/>
          <p:cNvSpPr/>
          <p:nvPr/>
        </p:nvSpPr>
        <p:spPr>
          <a:xfrm>
            <a:off x="4206240" y="1078992"/>
            <a:ext cx="2468880"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Interpretación</a:t>
            </a:r>
            <a:endParaRPr lang="en-US" sz="900" dirty="0"/>
          </a:p>
        </p:txBody>
      </p:sp>
      <p:sp>
        <p:nvSpPr>
          <p:cNvPr id="11" name="Shape 9"/>
          <p:cNvSpPr/>
          <p:nvPr/>
        </p:nvSpPr>
        <p:spPr>
          <a:xfrm>
            <a:off x="6720840" y="1078992"/>
            <a:ext cx="2423160" cy="347472"/>
          </a:xfrm>
          <a:prstGeom prst="rect">
            <a:avLst/>
          </a:prstGeom>
          <a:solidFill>
            <a:srgbClr val="1E2761"/>
          </a:solidFill>
          <a:ln/>
        </p:spPr>
      </p:sp>
      <p:sp>
        <p:nvSpPr>
          <p:cNvPr id="12" name="Text 10"/>
          <p:cNvSpPr/>
          <p:nvPr/>
        </p:nvSpPr>
        <p:spPr>
          <a:xfrm>
            <a:off x="6766560" y="1078992"/>
            <a:ext cx="2377440"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Acción si se deteriora</a:t>
            </a:r>
            <a:endParaRPr lang="en-US" sz="900" dirty="0"/>
          </a:p>
        </p:txBody>
      </p:sp>
      <p:sp>
        <p:nvSpPr>
          <p:cNvPr id="13" name="Shape 11"/>
          <p:cNvSpPr/>
          <p:nvPr/>
        </p:nvSpPr>
        <p:spPr>
          <a:xfrm>
            <a:off x="228600" y="1444752"/>
            <a:ext cx="1874520" cy="566928"/>
          </a:xfrm>
          <a:prstGeom prst="rect">
            <a:avLst/>
          </a:prstGeom>
          <a:solidFill>
            <a:srgbClr val="FFFFFF"/>
          </a:solidFill>
          <a:ln/>
        </p:spPr>
      </p:sp>
      <p:sp>
        <p:nvSpPr>
          <p:cNvPr id="14" name="Text 12"/>
          <p:cNvSpPr/>
          <p:nvPr/>
        </p:nvSpPr>
        <p:spPr>
          <a:xfrm>
            <a:off x="292608" y="1472184"/>
            <a:ext cx="1783080" cy="502920"/>
          </a:xfrm>
          <a:prstGeom prst="rect">
            <a:avLst/>
          </a:prstGeom>
          <a:noFill/>
          <a:ln/>
        </p:spPr>
        <p:txBody>
          <a:bodyPr wrap="square" rtlCol="0" anchor="t"/>
          <a:lstStyle/>
          <a:p>
            <a:pPr indent="0" marL="0">
              <a:buNone/>
            </a:pPr>
            <a:r>
              <a:rPr lang="en-US" sz="950" b="1" dirty="0">
                <a:solidFill>
                  <a:srgbClr val="1E2761"/>
                </a:solidFill>
                <a:latin typeface="Calibri" pitchFamily="34" charset="0"/>
                <a:ea typeface="Calibri" pitchFamily="34" charset="-122"/>
                <a:cs typeface="Calibri" pitchFamily="34" charset="-120"/>
              </a:rPr>
              <a:t>Densidad de defectos</a:t>
            </a:r>
            <a:endParaRPr lang="en-US" sz="950" dirty="0"/>
          </a:p>
        </p:txBody>
      </p:sp>
      <p:sp>
        <p:nvSpPr>
          <p:cNvPr id="15" name="Shape 13"/>
          <p:cNvSpPr/>
          <p:nvPr/>
        </p:nvSpPr>
        <p:spPr>
          <a:xfrm>
            <a:off x="2148840" y="1444752"/>
            <a:ext cx="1965960" cy="566928"/>
          </a:xfrm>
          <a:prstGeom prst="rect">
            <a:avLst/>
          </a:prstGeom>
          <a:solidFill>
            <a:srgbClr val="FFFFFF"/>
          </a:solidFill>
          <a:ln/>
        </p:spPr>
      </p:sp>
      <p:sp>
        <p:nvSpPr>
          <p:cNvPr id="16" name="Text 14"/>
          <p:cNvSpPr/>
          <p:nvPr/>
        </p:nvSpPr>
        <p:spPr>
          <a:xfrm>
            <a:off x="2212848" y="1472184"/>
            <a:ext cx="18745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Defectos / KLOC (miles de líneas)</a:t>
            </a:r>
            <a:endParaRPr lang="en-US" sz="850" dirty="0"/>
          </a:p>
        </p:txBody>
      </p:sp>
      <p:sp>
        <p:nvSpPr>
          <p:cNvPr id="17" name="Shape 15"/>
          <p:cNvSpPr/>
          <p:nvPr/>
        </p:nvSpPr>
        <p:spPr>
          <a:xfrm>
            <a:off x="4160520" y="1444752"/>
            <a:ext cx="2514600" cy="566928"/>
          </a:xfrm>
          <a:prstGeom prst="rect">
            <a:avLst/>
          </a:prstGeom>
          <a:solidFill>
            <a:srgbClr val="FFFFFF"/>
          </a:solidFill>
          <a:ln/>
        </p:spPr>
      </p:sp>
      <p:sp>
        <p:nvSpPr>
          <p:cNvPr id="18" name="Text 16"/>
          <p:cNvSpPr/>
          <p:nvPr/>
        </p:nvSpPr>
        <p:spPr>
          <a:xfrm>
            <a:off x="4224528" y="1472184"/>
            <a:ext cx="242316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&lt; 1–5 defectos/KLOC = aceptable según dominio</a:t>
            </a:r>
            <a:endParaRPr lang="en-US" sz="850" dirty="0"/>
          </a:p>
        </p:txBody>
      </p:sp>
      <p:sp>
        <p:nvSpPr>
          <p:cNvPr id="19" name="Shape 17"/>
          <p:cNvSpPr/>
          <p:nvPr/>
        </p:nvSpPr>
        <p:spPr>
          <a:xfrm>
            <a:off x="6720840" y="1444752"/>
            <a:ext cx="2423160" cy="566928"/>
          </a:xfrm>
          <a:prstGeom prst="rect">
            <a:avLst/>
          </a:prstGeom>
          <a:solidFill>
            <a:srgbClr val="FFFFFF"/>
          </a:solidFill>
          <a:ln/>
        </p:spPr>
      </p:sp>
      <p:sp>
        <p:nvSpPr>
          <p:cNvPr id="20" name="Text 18"/>
          <p:cNvSpPr/>
          <p:nvPr/>
        </p:nvSpPr>
        <p:spPr>
          <a:xfrm>
            <a:off x="6784848" y="1472184"/>
            <a:ext cx="23317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Revisión de código; análisis de causa raíz (CMMI CAR)</a:t>
            </a:r>
            <a:endParaRPr lang="en-US" sz="850" dirty="0"/>
          </a:p>
        </p:txBody>
      </p:sp>
      <p:sp>
        <p:nvSpPr>
          <p:cNvPr id="21" name="Shape 19"/>
          <p:cNvSpPr/>
          <p:nvPr/>
        </p:nvSpPr>
        <p:spPr>
          <a:xfrm>
            <a:off x="228600" y="2039112"/>
            <a:ext cx="1874520" cy="566928"/>
          </a:xfrm>
          <a:prstGeom prst="rect">
            <a:avLst/>
          </a:prstGeom>
          <a:solidFill>
            <a:srgbClr val="F0F4FF"/>
          </a:solidFill>
          <a:ln/>
        </p:spPr>
      </p:sp>
      <p:sp>
        <p:nvSpPr>
          <p:cNvPr id="22" name="Text 20"/>
          <p:cNvSpPr/>
          <p:nvPr/>
        </p:nvSpPr>
        <p:spPr>
          <a:xfrm>
            <a:off x="292608" y="2066544"/>
            <a:ext cx="1783080" cy="502920"/>
          </a:xfrm>
          <a:prstGeom prst="rect">
            <a:avLst/>
          </a:prstGeom>
          <a:noFill/>
          <a:ln/>
        </p:spPr>
        <p:txBody>
          <a:bodyPr wrap="square" rtlCol="0" anchor="t"/>
          <a:lstStyle/>
          <a:p>
            <a:pPr indent="0" marL="0">
              <a:buNone/>
            </a:pPr>
            <a:r>
              <a:rPr lang="en-US" sz="950" b="1" dirty="0">
                <a:solidFill>
                  <a:srgbClr val="1E2761"/>
                </a:solidFill>
                <a:latin typeface="Calibri" pitchFamily="34" charset="0"/>
                <a:ea typeface="Calibri" pitchFamily="34" charset="-122"/>
                <a:cs typeface="Calibri" pitchFamily="34" charset="-120"/>
              </a:rPr>
              <a:t>Cobertura de pruebas</a:t>
            </a:r>
            <a:endParaRPr lang="en-US" sz="950" dirty="0"/>
          </a:p>
        </p:txBody>
      </p:sp>
      <p:sp>
        <p:nvSpPr>
          <p:cNvPr id="23" name="Shape 21"/>
          <p:cNvSpPr/>
          <p:nvPr/>
        </p:nvSpPr>
        <p:spPr>
          <a:xfrm>
            <a:off x="2148840" y="2039112"/>
            <a:ext cx="1965960" cy="566928"/>
          </a:xfrm>
          <a:prstGeom prst="rect">
            <a:avLst/>
          </a:prstGeom>
          <a:solidFill>
            <a:srgbClr val="F0F4FF"/>
          </a:solidFill>
          <a:ln/>
        </p:spPr>
      </p:sp>
      <p:sp>
        <p:nvSpPr>
          <p:cNvPr id="24" name="Text 22"/>
          <p:cNvSpPr/>
          <p:nvPr/>
        </p:nvSpPr>
        <p:spPr>
          <a:xfrm>
            <a:off x="2212848" y="2066544"/>
            <a:ext cx="18745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Líneas cubiertas / Total líneas × 100</a:t>
            </a:r>
            <a:endParaRPr lang="en-US" sz="850" dirty="0"/>
          </a:p>
        </p:txBody>
      </p:sp>
      <p:sp>
        <p:nvSpPr>
          <p:cNvPr id="25" name="Shape 23"/>
          <p:cNvSpPr/>
          <p:nvPr/>
        </p:nvSpPr>
        <p:spPr>
          <a:xfrm>
            <a:off x="4160520" y="2039112"/>
            <a:ext cx="2514600" cy="566928"/>
          </a:xfrm>
          <a:prstGeom prst="rect">
            <a:avLst/>
          </a:prstGeom>
          <a:solidFill>
            <a:srgbClr val="F0F4FF"/>
          </a:solidFill>
          <a:ln/>
        </p:spPr>
      </p:sp>
      <p:sp>
        <p:nvSpPr>
          <p:cNvPr id="26" name="Text 24"/>
          <p:cNvSpPr/>
          <p:nvPr/>
        </p:nvSpPr>
        <p:spPr>
          <a:xfrm>
            <a:off x="4224528" y="2066544"/>
            <a:ext cx="242316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&gt; 80% recomendado para código crítico</a:t>
            </a:r>
            <a:endParaRPr lang="en-US" sz="850" dirty="0"/>
          </a:p>
        </p:txBody>
      </p:sp>
      <p:sp>
        <p:nvSpPr>
          <p:cNvPr id="27" name="Shape 25"/>
          <p:cNvSpPr/>
          <p:nvPr/>
        </p:nvSpPr>
        <p:spPr>
          <a:xfrm>
            <a:off x="6720840" y="2039112"/>
            <a:ext cx="2423160" cy="566928"/>
          </a:xfrm>
          <a:prstGeom prst="rect">
            <a:avLst/>
          </a:prstGeom>
          <a:solidFill>
            <a:srgbClr val="F0F4FF"/>
          </a:solidFill>
          <a:ln/>
        </p:spPr>
      </p:sp>
      <p:sp>
        <p:nvSpPr>
          <p:cNvPr id="28" name="Text 26"/>
          <p:cNvSpPr/>
          <p:nvPr/>
        </p:nvSpPr>
        <p:spPr>
          <a:xfrm>
            <a:off x="6784848" y="2066544"/>
            <a:ext cx="23317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Ampliar casos de prueba; refactorizar código no testeable</a:t>
            </a:r>
            <a:endParaRPr lang="en-US" sz="850" dirty="0"/>
          </a:p>
        </p:txBody>
      </p:sp>
      <p:sp>
        <p:nvSpPr>
          <p:cNvPr id="29" name="Shape 27"/>
          <p:cNvSpPr/>
          <p:nvPr/>
        </p:nvSpPr>
        <p:spPr>
          <a:xfrm>
            <a:off x="228600" y="2633472"/>
            <a:ext cx="1874520" cy="566928"/>
          </a:xfrm>
          <a:prstGeom prst="rect">
            <a:avLst/>
          </a:prstGeom>
          <a:solidFill>
            <a:srgbClr val="FFFFFF"/>
          </a:solidFill>
          <a:ln/>
        </p:spPr>
      </p:sp>
      <p:sp>
        <p:nvSpPr>
          <p:cNvPr id="30" name="Text 28"/>
          <p:cNvSpPr/>
          <p:nvPr/>
        </p:nvSpPr>
        <p:spPr>
          <a:xfrm>
            <a:off x="292608" y="2660904"/>
            <a:ext cx="1783080" cy="502920"/>
          </a:xfrm>
          <a:prstGeom prst="rect">
            <a:avLst/>
          </a:prstGeom>
          <a:noFill/>
          <a:ln/>
        </p:spPr>
        <p:txBody>
          <a:bodyPr wrap="square" rtlCol="0" anchor="t"/>
          <a:lstStyle/>
          <a:p>
            <a:pPr indent="0" marL="0">
              <a:buNone/>
            </a:pPr>
            <a:r>
              <a:rPr lang="en-US" sz="950" b="1" dirty="0">
                <a:solidFill>
                  <a:srgbClr val="1E2761"/>
                </a:solidFill>
                <a:latin typeface="Calibri" pitchFamily="34" charset="0"/>
                <a:ea typeface="Calibri" pitchFamily="34" charset="-122"/>
                <a:cs typeface="Calibri" pitchFamily="34" charset="-120"/>
              </a:rPr>
              <a:t>Tasa de inyección de defectos por fase</a:t>
            </a:r>
            <a:endParaRPr lang="en-US" sz="950" dirty="0"/>
          </a:p>
        </p:txBody>
      </p:sp>
      <p:sp>
        <p:nvSpPr>
          <p:cNvPr id="31" name="Shape 29"/>
          <p:cNvSpPr/>
          <p:nvPr/>
        </p:nvSpPr>
        <p:spPr>
          <a:xfrm>
            <a:off x="2148840" y="2633472"/>
            <a:ext cx="1965960" cy="566928"/>
          </a:xfrm>
          <a:prstGeom prst="rect">
            <a:avLst/>
          </a:prstGeom>
          <a:solidFill>
            <a:srgbClr val="FFFFFF"/>
          </a:solidFill>
          <a:ln/>
        </p:spPr>
      </p:sp>
      <p:sp>
        <p:nvSpPr>
          <p:cNvPr id="32" name="Text 30"/>
          <p:cNvSpPr/>
          <p:nvPr/>
        </p:nvSpPr>
        <p:spPr>
          <a:xfrm>
            <a:off x="2212848" y="2660904"/>
            <a:ext cx="18745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Defectos introducidos en fase X / Total</a:t>
            </a:r>
            <a:endParaRPr lang="en-US" sz="850" dirty="0"/>
          </a:p>
        </p:txBody>
      </p:sp>
      <p:sp>
        <p:nvSpPr>
          <p:cNvPr id="33" name="Shape 31"/>
          <p:cNvSpPr/>
          <p:nvPr/>
        </p:nvSpPr>
        <p:spPr>
          <a:xfrm>
            <a:off x="4160520" y="2633472"/>
            <a:ext cx="2514600" cy="566928"/>
          </a:xfrm>
          <a:prstGeom prst="rect">
            <a:avLst/>
          </a:prstGeom>
          <a:solidFill>
            <a:srgbClr val="FFFFFF"/>
          </a:solidFill>
          <a:ln/>
        </p:spPr>
      </p:sp>
      <p:sp>
        <p:nvSpPr>
          <p:cNvPr id="34" name="Text 32"/>
          <p:cNvSpPr/>
          <p:nvPr/>
        </p:nvSpPr>
        <p:spPr>
          <a:xfrm>
            <a:off x="4224528" y="2660904"/>
            <a:ext cx="242316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Identifica fases problemáticas (Marin 2019: 50% en req.)</a:t>
            </a:r>
            <a:endParaRPr lang="en-US" sz="850" dirty="0"/>
          </a:p>
        </p:txBody>
      </p:sp>
      <p:sp>
        <p:nvSpPr>
          <p:cNvPr id="35" name="Shape 33"/>
          <p:cNvSpPr/>
          <p:nvPr/>
        </p:nvSpPr>
        <p:spPr>
          <a:xfrm>
            <a:off x="6720840" y="2633472"/>
            <a:ext cx="2423160" cy="566928"/>
          </a:xfrm>
          <a:prstGeom prst="rect">
            <a:avLst/>
          </a:prstGeom>
          <a:solidFill>
            <a:srgbClr val="FFFFFF"/>
          </a:solidFill>
          <a:ln/>
        </p:spPr>
      </p:sp>
      <p:sp>
        <p:nvSpPr>
          <p:cNvPr id="36" name="Text 34"/>
          <p:cNvSpPr/>
          <p:nvPr/>
        </p:nvSpPr>
        <p:spPr>
          <a:xfrm>
            <a:off x="6784848" y="2660904"/>
            <a:ext cx="23317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Añadir RTF o revisiones de adherencia en esa fase</a:t>
            </a:r>
            <a:endParaRPr lang="en-US" sz="850" dirty="0"/>
          </a:p>
        </p:txBody>
      </p:sp>
      <p:sp>
        <p:nvSpPr>
          <p:cNvPr id="37" name="Shape 35"/>
          <p:cNvSpPr/>
          <p:nvPr/>
        </p:nvSpPr>
        <p:spPr>
          <a:xfrm>
            <a:off x="228600" y="3227832"/>
            <a:ext cx="1874520" cy="566928"/>
          </a:xfrm>
          <a:prstGeom prst="rect">
            <a:avLst/>
          </a:prstGeom>
          <a:solidFill>
            <a:srgbClr val="F0F4FF"/>
          </a:solidFill>
          <a:ln/>
        </p:spPr>
      </p:sp>
      <p:sp>
        <p:nvSpPr>
          <p:cNvPr id="38" name="Text 36"/>
          <p:cNvSpPr/>
          <p:nvPr/>
        </p:nvSpPr>
        <p:spPr>
          <a:xfrm>
            <a:off x="292608" y="3255264"/>
            <a:ext cx="1783080" cy="502920"/>
          </a:xfrm>
          <a:prstGeom prst="rect">
            <a:avLst/>
          </a:prstGeom>
          <a:noFill/>
          <a:ln/>
        </p:spPr>
        <p:txBody>
          <a:bodyPr wrap="square" rtlCol="0" anchor="t"/>
          <a:lstStyle/>
          <a:p>
            <a:pPr indent="0" marL="0">
              <a:buNone/>
            </a:pPr>
            <a:r>
              <a:rPr lang="en-US" sz="950" b="1" dirty="0">
                <a:solidFill>
                  <a:srgbClr val="1E2761"/>
                </a:solidFill>
                <a:latin typeface="Calibri" pitchFamily="34" charset="0"/>
                <a:ea typeface="Calibri" pitchFamily="34" charset="-122"/>
                <a:cs typeface="Calibri" pitchFamily="34" charset="-120"/>
              </a:rPr>
              <a:t>Tiempo de detección de defectos</a:t>
            </a:r>
            <a:endParaRPr lang="en-US" sz="950" dirty="0"/>
          </a:p>
        </p:txBody>
      </p:sp>
      <p:sp>
        <p:nvSpPr>
          <p:cNvPr id="39" name="Shape 37"/>
          <p:cNvSpPr/>
          <p:nvPr/>
        </p:nvSpPr>
        <p:spPr>
          <a:xfrm>
            <a:off x="2148840" y="3227832"/>
            <a:ext cx="1965960" cy="566928"/>
          </a:xfrm>
          <a:prstGeom prst="rect">
            <a:avLst/>
          </a:prstGeom>
          <a:solidFill>
            <a:srgbClr val="F0F4FF"/>
          </a:solidFill>
          <a:ln/>
        </p:spPr>
      </p:sp>
      <p:sp>
        <p:nvSpPr>
          <p:cNvPr id="40" name="Text 38"/>
          <p:cNvSpPr/>
          <p:nvPr/>
        </p:nvSpPr>
        <p:spPr>
          <a:xfrm>
            <a:off x="2212848" y="3255264"/>
            <a:ext cx="18745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Fase detección − Fase introducción</a:t>
            </a:r>
            <a:endParaRPr lang="en-US" sz="850" dirty="0"/>
          </a:p>
        </p:txBody>
      </p:sp>
      <p:sp>
        <p:nvSpPr>
          <p:cNvPr id="41" name="Shape 39"/>
          <p:cNvSpPr/>
          <p:nvPr/>
        </p:nvSpPr>
        <p:spPr>
          <a:xfrm>
            <a:off x="4160520" y="3227832"/>
            <a:ext cx="2514600" cy="566928"/>
          </a:xfrm>
          <a:prstGeom prst="rect">
            <a:avLst/>
          </a:prstGeom>
          <a:solidFill>
            <a:srgbClr val="F0F4FF"/>
          </a:solidFill>
          <a:ln/>
        </p:spPr>
      </p:sp>
      <p:sp>
        <p:nvSpPr>
          <p:cNvPr id="42" name="Text 40"/>
          <p:cNvSpPr/>
          <p:nvPr/>
        </p:nvSpPr>
        <p:spPr>
          <a:xfrm>
            <a:off x="4224528" y="3255264"/>
            <a:ext cx="242316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Menor tiempo = menor costo de corrección</a:t>
            </a:r>
            <a:endParaRPr lang="en-US" sz="850" dirty="0"/>
          </a:p>
        </p:txBody>
      </p:sp>
      <p:sp>
        <p:nvSpPr>
          <p:cNvPr id="43" name="Shape 41"/>
          <p:cNvSpPr/>
          <p:nvPr/>
        </p:nvSpPr>
        <p:spPr>
          <a:xfrm>
            <a:off x="6720840" y="3227832"/>
            <a:ext cx="2423160" cy="566928"/>
          </a:xfrm>
          <a:prstGeom prst="rect">
            <a:avLst/>
          </a:prstGeom>
          <a:solidFill>
            <a:srgbClr val="F0F4FF"/>
          </a:solidFill>
          <a:ln/>
        </p:spPr>
      </p:sp>
      <p:sp>
        <p:nvSpPr>
          <p:cNvPr id="44" name="Text 42"/>
          <p:cNvSpPr/>
          <p:nvPr/>
        </p:nvSpPr>
        <p:spPr>
          <a:xfrm>
            <a:off x="6784848" y="3255264"/>
            <a:ext cx="23317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Desplazar actividades QA hacia la izquierda (shift-left)</a:t>
            </a:r>
            <a:endParaRPr lang="en-US" sz="850" dirty="0"/>
          </a:p>
        </p:txBody>
      </p:sp>
      <p:sp>
        <p:nvSpPr>
          <p:cNvPr id="45" name="Shape 43"/>
          <p:cNvSpPr/>
          <p:nvPr/>
        </p:nvSpPr>
        <p:spPr>
          <a:xfrm>
            <a:off x="228600" y="3822192"/>
            <a:ext cx="1874520" cy="566928"/>
          </a:xfrm>
          <a:prstGeom prst="rect">
            <a:avLst/>
          </a:prstGeom>
          <a:solidFill>
            <a:srgbClr val="FFFFFF"/>
          </a:solidFill>
          <a:ln/>
        </p:spPr>
      </p:sp>
      <p:sp>
        <p:nvSpPr>
          <p:cNvPr id="46" name="Text 44"/>
          <p:cNvSpPr/>
          <p:nvPr/>
        </p:nvSpPr>
        <p:spPr>
          <a:xfrm>
            <a:off x="292608" y="3849624"/>
            <a:ext cx="1783080" cy="502920"/>
          </a:xfrm>
          <a:prstGeom prst="rect">
            <a:avLst/>
          </a:prstGeom>
          <a:noFill/>
          <a:ln/>
        </p:spPr>
        <p:txBody>
          <a:bodyPr wrap="square" rtlCol="0" anchor="t"/>
          <a:lstStyle/>
          <a:p>
            <a:pPr indent="0" marL="0">
              <a:buNone/>
            </a:pPr>
            <a:r>
              <a:rPr lang="en-US" sz="950" b="1" dirty="0">
                <a:solidFill>
                  <a:srgbClr val="1E2761"/>
                </a:solidFill>
                <a:latin typeface="Calibri" pitchFamily="34" charset="0"/>
                <a:ea typeface="Calibri" pitchFamily="34" charset="-122"/>
                <a:cs typeface="Calibri" pitchFamily="34" charset="-120"/>
              </a:rPr>
              <a:t>Tasa de éxito del pipeline CI</a:t>
            </a:r>
            <a:endParaRPr lang="en-US" sz="950" dirty="0"/>
          </a:p>
        </p:txBody>
      </p:sp>
      <p:sp>
        <p:nvSpPr>
          <p:cNvPr id="47" name="Shape 45"/>
          <p:cNvSpPr/>
          <p:nvPr/>
        </p:nvSpPr>
        <p:spPr>
          <a:xfrm>
            <a:off x="2148840" y="3822192"/>
            <a:ext cx="1965960" cy="566928"/>
          </a:xfrm>
          <a:prstGeom prst="rect">
            <a:avLst/>
          </a:prstGeom>
          <a:solidFill>
            <a:srgbClr val="FFFFFF"/>
          </a:solidFill>
          <a:ln/>
        </p:spPr>
      </p:sp>
      <p:sp>
        <p:nvSpPr>
          <p:cNvPr id="48" name="Text 46"/>
          <p:cNvSpPr/>
          <p:nvPr/>
        </p:nvSpPr>
        <p:spPr>
          <a:xfrm>
            <a:off x="2212848" y="3849624"/>
            <a:ext cx="18745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Builds exitosos / Total builds × 100</a:t>
            </a:r>
            <a:endParaRPr lang="en-US" sz="850" dirty="0"/>
          </a:p>
        </p:txBody>
      </p:sp>
      <p:sp>
        <p:nvSpPr>
          <p:cNvPr id="49" name="Shape 47"/>
          <p:cNvSpPr/>
          <p:nvPr/>
        </p:nvSpPr>
        <p:spPr>
          <a:xfrm>
            <a:off x="4160520" y="3822192"/>
            <a:ext cx="2514600" cy="566928"/>
          </a:xfrm>
          <a:prstGeom prst="rect">
            <a:avLst/>
          </a:prstGeom>
          <a:solidFill>
            <a:srgbClr val="FFFFFF"/>
          </a:solidFill>
          <a:ln/>
        </p:spPr>
      </p:sp>
      <p:sp>
        <p:nvSpPr>
          <p:cNvPr id="50" name="Text 48"/>
          <p:cNvSpPr/>
          <p:nvPr/>
        </p:nvSpPr>
        <p:spPr>
          <a:xfrm>
            <a:off x="4224528" y="3849624"/>
            <a:ext cx="242316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&lt; 70% indica inestabilidad en el pipeline</a:t>
            </a:r>
            <a:endParaRPr lang="en-US" sz="850" dirty="0"/>
          </a:p>
        </p:txBody>
      </p:sp>
      <p:sp>
        <p:nvSpPr>
          <p:cNvPr id="51" name="Shape 49"/>
          <p:cNvSpPr/>
          <p:nvPr/>
        </p:nvSpPr>
        <p:spPr>
          <a:xfrm>
            <a:off x="6720840" y="3822192"/>
            <a:ext cx="2423160" cy="566928"/>
          </a:xfrm>
          <a:prstGeom prst="rect">
            <a:avLst/>
          </a:prstGeom>
          <a:solidFill>
            <a:srgbClr val="FFFFFF"/>
          </a:solidFill>
          <a:ln/>
        </p:spPr>
      </p:sp>
      <p:sp>
        <p:nvSpPr>
          <p:cNvPr id="52" name="Text 50"/>
          <p:cNvSpPr/>
          <p:nvPr/>
        </p:nvSpPr>
        <p:spPr>
          <a:xfrm>
            <a:off x="6784848" y="3849624"/>
            <a:ext cx="23317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Revisar pruebas frágiles; priorizar resolución de builds rotos</a:t>
            </a:r>
            <a:endParaRPr lang="en-US" sz="850" dirty="0"/>
          </a:p>
        </p:txBody>
      </p:sp>
      <p:sp>
        <p:nvSpPr>
          <p:cNvPr id="53" name="Shape 51"/>
          <p:cNvSpPr/>
          <p:nvPr/>
        </p:nvSpPr>
        <p:spPr>
          <a:xfrm>
            <a:off x="228600" y="4416552"/>
            <a:ext cx="1874520" cy="566928"/>
          </a:xfrm>
          <a:prstGeom prst="rect">
            <a:avLst/>
          </a:prstGeom>
          <a:solidFill>
            <a:srgbClr val="F0F4FF"/>
          </a:solidFill>
          <a:ln/>
        </p:spPr>
      </p:sp>
      <p:sp>
        <p:nvSpPr>
          <p:cNvPr id="54" name="Text 52"/>
          <p:cNvSpPr/>
          <p:nvPr/>
        </p:nvSpPr>
        <p:spPr>
          <a:xfrm>
            <a:off x="292608" y="4443984"/>
            <a:ext cx="1783080" cy="502920"/>
          </a:xfrm>
          <a:prstGeom prst="rect">
            <a:avLst/>
          </a:prstGeom>
          <a:noFill/>
          <a:ln/>
        </p:spPr>
        <p:txBody>
          <a:bodyPr wrap="square" rtlCol="0" anchor="t"/>
          <a:lstStyle/>
          <a:p>
            <a:pPr indent="0" marL="0">
              <a:buNone/>
            </a:pPr>
            <a:r>
              <a:rPr lang="en-US" sz="950" b="1" dirty="0">
                <a:solidFill>
                  <a:srgbClr val="1E2761"/>
                </a:solidFill>
                <a:latin typeface="Calibri" pitchFamily="34" charset="0"/>
                <a:ea typeface="Calibri" pitchFamily="34" charset="-122"/>
                <a:cs typeface="Calibri" pitchFamily="34" charset="-120"/>
              </a:rPr>
              <a:t>Deuda técnica (SonarQube)</a:t>
            </a:r>
            <a:endParaRPr lang="en-US" sz="950" dirty="0"/>
          </a:p>
        </p:txBody>
      </p:sp>
      <p:sp>
        <p:nvSpPr>
          <p:cNvPr id="55" name="Shape 53"/>
          <p:cNvSpPr/>
          <p:nvPr/>
        </p:nvSpPr>
        <p:spPr>
          <a:xfrm>
            <a:off x="2148840" y="4416552"/>
            <a:ext cx="1965960" cy="566928"/>
          </a:xfrm>
          <a:prstGeom prst="rect">
            <a:avLst/>
          </a:prstGeom>
          <a:solidFill>
            <a:srgbClr val="F0F4FF"/>
          </a:solidFill>
          <a:ln/>
        </p:spPr>
      </p:sp>
      <p:sp>
        <p:nvSpPr>
          <p:cNvPr id="56" name="Text 54"/>
          <p:cNvSpPr/>
          <p:nvPr/>
        </p:nvSpPr>
        <p:spPr>
          <a:xfrm>
            <a:off x="2212848" y="4443984"/>
            <a:ext cx="18745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Minutos estimados de remediación</a:t>
            </a:r>
            <a:endParaRPr lang="en-US" sz="850" dirty="0"/>
          </a:p>
        </p:txBody>
      </p:sp>
      <p:sp>
        <p:nvSpPr>
          <p:cNvPr id="57" name="Shape 55"/>
          <p:cNvSpPr/>
          <p:nvPr/>
        </p:nvSpPr>
        <p:spPr>
          <a:xfrm>
            <a:off x="4160520" y="4416552"/>
            <a:ext cx="2514600" cy="566928"/>
          </a:xfrm>
          <a:prstGeom prst="rect">
            <a:avLst/>
          </a:prstGeom>
          <a:solidFill>
            <a:srgbClr val="F0F4FF"/>
          </a:solidFill>
          <a:ln/>
        </p:spPr>
      </p:sp>
      <p:sp>
        <p:nvSpPr>
          <p:cNvPr id="58" name="Text 56"/>
          <p:cNvSpPr/>
          <p:nvPr/>
        </p:nvSpPr>
        <p:spPr>
          <a:xfrm>
            <a:off x="4224528" y="4443984"/>
            <a:ext cx="242316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Escala A–E; A = mínima deuda</a:t>
            </a:r>
            <a:endParaRPr lang="en-US" sz="850" dirty="0"/>
          </a:p>
        </p:txBody>
      </p:sp>
      <p:sp>
        <p:nvSpPr>
          <p:cNvPr id="59" name="Shape 57"/>
          <p:cNvSpPr/>
          <p:nvPr/>
        </p:nvSpPr>
        <p:spPr>
          <a:xfrm>
            <a:off x="6720840" y="4416552"/>
            <a:ext cx="2423160" cy="566928"/>
          </a:xfrm>
          <a:prstGeom prst="rect">
            <a:avLst/>
          </a:prstGeom>
          <a:solidFill>
            <a:srgbClr val="F0F4FF"/>
          </a:solidFill>
          <a:ln/>
        </p:spPr>
      </p:sp>
      <p:sp>
        <p:nvSpPr>
          <p:cNvPr id="60" name="Text 58"/>
          <p:cNvSpPr/>
          <p:nvPr/>
        </p:nvSpPr>
        <p:spPr>
          <a:xfrm>
            <a:off x="6784848" y="4443984"/>
            <a:ext cx="2331720" cy="502920"/>
          </a:xfrm>
          <a:prstGeom prst="rect">
            <a:avLst/>
          </a:prstGeom>
          <a:noFill/>
          <a:ln/>
        </p:spPr>
        <p:txBody>
          <a:bodyPr wrap="square" rtlCol="0" anchor="t"/>
          <a:lstStyle/>
          <a:p>
            <a:pPr indent="0" marL="0">
              <a:buNone/>
            </a:pPr>
            <a:r>
              <a:rPr lang="en-US" sz="850" dirty="0">
                <a:solidFill>
                  <a:srgbClr val="2D2D2D"/>
                </a:solidFill>
                <a:latin typeface="Calibri" pitchFamily="34" charset="0"/>
                <a:ea typeface="Calibri" pitchFamily="34" charset="-122"/>
                <a:cs typeface="Calibri" pitchFamily="34" charset="-120"/>
              </a:rPr>
              <a:t>Planificar sprints de remediación; fijar umbrales de calidad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QA en Entornos de Integración y Entrega Continua</a:t>
            </a:r>
            <a:endParaRPr lang="en-US" sz="1500" dirty="0"/>
          </a:p>
        </p:txBody>
      </p:sp>
      <p:sp>
        <p:nvSpPr>
          <p:cNvPr id="4" name="Shape 2"/>
          <p:cNvSpPr/>
          <p:nvPr/>
        </p:nvSpPr>
        <p:spPr>
          <a:xfrm>
            <a:off x="274320" y="749808"/>
            <a:ext cx="8595360" cy="1188720"/>
          </a:xfrm>
          <a:prstGeom prst="roundRect">
            <a:avLst>
              <a:gd name="adj" fmla="val 7692"/>
            </a:avLst>
          </a:prstGeom>
          <a:solidFill>
            <a:srgbClr val="0F1A3E"/>
          </a:solidFill>
          <a:ln/>
          <a:effectLst>
            <a:outerShdw sx="100000" sy="100000" kx="0" ky="0" algn="bl" rotWithShape="0" blurRad="101600" dist="25400" dir="2700000">
              <a:srgbClr val="000000">
                <a:alpha val="12000"/>
              </a:srgbClr>
            </a:outerShdw>
          </a:effectLst>
        </p:spPr>
      </p:sp>
      <p:sp>
        <p:nvSpPr>
          <p:cNvPr id="5" name="Text 3"/>
          <p:cNvSpPr/>
          <p:nvPr/>
        </p:nvSpPr>
        <p:spPr>
          <a:xfrm>
            <a:off x="457200" y="777240"/>
            <a:ext cx="8229600" cy="32004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Deployment Pipeline (Humble &amp; Farley, 2010 — cit. Mascheroni &amp; Irrazábal, 2018)</a:t>
            </a:r>
            <a:endParaRPr lang="en-US" sz="1000" dirty="0"/>
          </a:p>
        </p:txBody>
      </p:sp>
      <p:sp>
        <p:nvSpPr>
          <p:cNvPr id="6" name="Shape 4"/>
          <p:cNvSpPr/>
          <p:nvPr/>
        </p:nvSpPr>
        <p:spPr>
          <a:xfrm>
            <a:off x="457200" y="1115568"/>
            <a:ext cx="1920240" cy="713232"/>
          </a:xfrm>
          <a:prstGeom prst="roundRect">
            <a:avLst>
              <a:gd name="adj" fmla="val 10256"/>
            </a:avLst>
          </a:prstGeom>
          <a:solidFill>
            <a:srgbClr val="3B82F6"/>
          </a:solidFill>
          <a:ln/>
        </p:spPr>
      </p:sp>
      <p:sp>
        <p:nvSpPr>
          <p:cNvPr id="7" name="Text 5"/>
          <p:cNvSpPr/>
          <p:nvPr/>
        </p:nvSpPr>
        <p:spPr>
          <a:xfrm>
            <a:off x="457200" y="1133856"/>
            <a:ext cx="192024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Commit Stage</a:t>
            </a:r>
            <a:endParaRPr lang="en-US" sz="950" dirty="0"/>
          </a:p>
        </p:txBody>
      </p:sp>
      <p:sp>
        <p:nvSpPr>
          <p:cNvPr id="8" name="Text 6"/>
          <p:cNvSpPr/>
          <p:nvPr/>
        </p:nvSpPr>
        <p:spPr>
          <a:xfrm>
            <a:off x="457200" y="1481328"/>
            <a:ext cx="1920240" cy="320040"/>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JUnit</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SonarQube</a:t>
            </a:r>
            <a:endParaRPr lang="en-US" sz="800" dirty="0"/>
          </a:p>
        </p:txBody>
      </p:sp>
      <p:sp>
        <p:nvSpPr>
          <p:cNvPr id="9" name="Text 7"/>
          <p:cNvSpPr/>
          <p:nvPr/>
        </p:nvSpPr>
        <p:spPr>
          <a:xfrm>
            <a:off x="2377440" y="1307592"/>
            <a:ext cx="182880" cy="274320"/>
          </a:xfrm>
          <a:prstGeom prst="rect">
            <a:avLst/>
          </a:prstGeom>
          <a:noFill/>
          <a:ln/>
        </p:spPr>
        <p:txBody>
          <a:bodyPr wrap="square" rtlCol="0" anchor="ctr"/>
          <a:lstStyle/>
          <a:p>
            <a:pPr algn="ctr" indent="0" marL="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560320" y="1115568"/>
            <a:ext cx="1920240" cy="713232"/>
          </a:xfrm>
          <a:prstGeom prst="roundRect">
            <a:avLst>
              <a:gd name="adj" fmla="val 10256"/>
            </a:avLst>
          </a:prstGeom>
          <a:solidFill>
            <a:srgbClr val="10B981"/>
          </a:solidFill>
          <a:ln/>
        </p:spPr>
      </p:sp>
      <p:sp>
        <p:nvSpPr>
          <p:cNvPr id="11" name="Text 9"/>
          <p:cNvSpPr/>
          <p:nvPr/>
        </p:nvSpPr>
        <p:spPr>
          <a:xfrm>
            <a:off x="2560320" y="1133856"/>
            <a:ext cx="192024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Acceptance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Stage</a:t>
            </a:r>
            <a:endParaRPr lang="en-US" sz="950" dirty="0"/>
          </a:p>
        </p:txBody>
      </p:sp>
      <p:sp>
        <p:nvSpPr>
          <p:cNvPr id="12" name="Text 10"/>
          <p:cNvSpPr/>
          <p:nvPr/>
        </p:nvSpPr>
        <p:spPr>
          <a:xfrm>
            <a:off x="2560320" y="1481328"/>
            <a:ext cx="1920240" cy="320040"/>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Selenium</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API Tests</a:t>
            </a:r>
            <a:endParaRPr lang="en-US" sz="800" dirty="0"/>
          </a:p>
        </p:txBody>
      </p:sp>
      <p:sp>
        <p:nvSpPr>
          <p:cNvPr id="13" name="Text 11"/>
          <p:cNvSpPr/>
          <p:nvPr/>
        </p:nvSpPr>
        <p:spPr>
          <a:xfrm>
            <a:off x="4480560" y="1307592"/>
            <a:ext cx="182880" cy="274320"/>
          </a:xfrm>
          <a:prstGeom prst="rect">
            <a:avLst/>
          </a:prstGeom>
          <a:noFill/>
          <a:ln/>
        </p:spPr>
        <p:txBody>
          <a:bodyPr wrap="square" rtlCol="0" anchor="ctr"/>
          <a:lstStyle/>
          <a:p>
            <a:pPr algn="ctr" indent="0" marL="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4663440" y="1115568"/>
            <a:ext cx="1920240" cy="713232"/>
          </a:xfrm>
          <a:prstGeom prst="roundRect">
            <a:avLst>
              <a:gd name="adj" fmla="val 10256"/>
            </a:avLst>
          </a:prstGeom>
          <a:solidFill>
            <a:srgbClr val="F59E0B"/>
          </a:solidFill>
          <a:ln/>
        </p:spPr>
      </p:sp>
      <p:sp>
        <p:nvSpPr>
          <p:cNvPr id="15" name="Text 13"/>
          <p:cNvSpPr/>
          <p:nvPr/>
        </p:nvSpPr>
        <p:spPr>
          <a:xfrm>
            <a:off x="4663440" y="1133856"/>
            <a:ext cx="192024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Performance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Stage</a:t>
            </a:r>
            <a:endParaRPr lang="en-US" sz="950" dirty="0"/>
          </a:p>
        </p:txBody>
      </p:sp>
      <p:sp>
        <p:nvSpPr>
          <p:cNvPr id="16" name="Text 14"/>
          <p:cNvSpPr/>
          <p:nvPr/>
        </p:nvSpPr>
        <p:spPr>
          <a:xfrm>
            <a:off x="4663440" y="1481328"/>
            <a:ext cx="1920240" cy="320040"/>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JMeter</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Gatling</a:t>
            </a:r>
            <a:endParaRPr lang="en-US" sz="800" dirty="0"/>
          </a:p>
        </p:txBody>
      </p:sp>
      <p:sp>
        <p:nvSpPr>
          <p:cNvPr id="17" name="Text 15"/>
          <p:cNvSpPr/>
          <p:nvPr/>
        </p:nvSpPr>
        <p:spPr>
          <a:xfrm>
            <a:off x="6583680" y="1307592"/>
            <a:ext cx="182880" cy="274320"/>
          </a:xfrm>
          <a:prstGeom prst="rect">
            <a:avLst/>
          </a:prstGeom>
          <a:noFill/>
          <a:ln/>
        </p:spPr>
        <p:txBody>
          <a:bodyPr wrap="square" rtlCol="0" anchor="ctr"/>
          <a:lstStyle/>
          <a:p>
            <a:pPr algn="ctr" indent="0" marL="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766560" y="1115568"/>
            <a:ext cx="1920240" cy="713232"/>
          </a:xfrm>
          <a:prstGeom prst="roundRect">
            <a:avLst>
              <a:gd name="adj" fmla="val 10256"/>
            </a:avLst>
          </a:prstGeom>
          <a:solidFill>
            <a:srgbClr val="EF4444"/>
          </a:solidFill>
          <a:ln/>
        </p:spPr>
      </p:sp>
      <p:sp>
        <p:nvSpPr>
          <p:cNvPr id="19" name="Text 17"/>
          <p:cNvSpPr/>
          <p:nvPr/>
        </p:nvSpPr>
        <p:spPr>
          <a:xfrm>
            <a:off x="6766560" y="1133856"/>
            <a:ext cx="192024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Exploratory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Stage</a:t>
            </a:r>
            <a:endParaRPr lang="en-US" sz="950" dirty="0"/>
          </a:p>
        </p:txBody>
      </p:sp>
      <p:sp>
        <p:nvSpPr>
          <p:cNvPr id="20" name="Text 18"/>
          <p:cNvSpPr/>
          <p:nvPr/>
        </p:nvSpPr>
        <p:spPr>
          <a:xfrm>
            <a:off x="6766560" y="1481328"/>
            <a:ext cx="1920240" cy="320040"/>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Manual QA</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Risk-based</a:t>
            </a:r>
            <a:endParaRPr lang="en-US" sz="800" dirty="0"/>
          </a:p>
        </p:txBody>
      </p:sp>
      <p:sp>
        <p:nvSpPr>
          <p:cNvPr id="21" name="Text 19"/>
          <p:cNvSpPr/>
          <p:nvPr/>
        </p:nvSpPr>
        <p:spPr>
          <a:xfrm>
            <a:off x="320040" y="2029968"/>
            <a:ext cx="8503920" cy="32004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Principales desafíos de calidad en CD (Mascheroni &amp; Irrazábal, 2018):</a:t>
            </a:r>
            <a:endParaRPr lang="en-US" sz="1100" dirty="0"/>
          </a:p>
        </p:txBody>
      </p:sp>
      <p:sp>
        <p:nvSpPr>
          <p:cNvPr id="22" name="Shape 20"/>
          <p:cNvSpPr/>
          <p:nvPr/>
        </p:nvSpPr>
        <p:spPr>
          <a:xfrm>
            <a:off x="320040" y="2423160"/>
            <a:ext cx="4297680" cy="731520"/>
          </a:xfrm>
          <a:prstGeom prst="roundRect">
            <a:avLst>
              <a:gd name="adj" fmla="val 12500"/>
            </a:avLst>
          </a:prstGeom>
          <a:solidFill>
            <a:srgbClr val="FFF3F3"/>
          </a:solidFill>
          <a:ln/>
          <a:effectLst>
            <a:outerShdw sx="100000" sy="100000" kx="0" ky="0" algn="bl" rotWithShape="0" blurRad="101600" dist="25400" dir="2700000">
              <a:srgbClr val="000000">
                <a:alpha val="12000"/>
              </a:srgbClr>
            </a:outerShdw>
          </a:effectLst>
        </p:spPr>
      </p:sp>
      <p:sp>
        <p:nvSpPr>
          <p:cNvPr id="23" name="Text 21"/>
          <p:cNvSpPr/>
          <p:nvPr/>
        </p:nvSpPr>
        <p:spPr>
          <a:xfrm>
            <a:off x="429768" y="2478024"/>
            <a:ext cx="4023360" cy="274320"/>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 </a:t>
            </a:r>
            <a:pPr indent="0" marL="0">
              <a:buNone/>
            </a:pPr>
            <a:r>
              <a:rPr lang="en-US" sz="950" b="1" dirty="0">
                <a:solidFill>
                  <a:srgbClr val="1E2761"/>
                </a:solidFill>
                <a:latin typeface="Calibri" pitchFamily="34" charset="0"/>
                <a:ea typeface="Calibri" pitchFamily="34" charset="-122"/>
                <a:cs typeface="Calibri" pitchFamily="34" charset="-120"/>
              </a:rPr>
              <a:t>Pruebas lentas bloquean el pipeline</a:t>
            </a:r>
            <a:endParaRPr lang="en-US" sz="950" dirty="0"/>
          </a:p>
        </p:txBody>
      </p:sp>
      <p:sp>
        <p:nvSpPr>
          <p:cNvPr id="24" name="Text 22"/>
          <p:cNvSpPr/>
          <p:nvPr/>
        </p:nvSpPr>
        <p:spPr>
          <a:xfrm>
            <a:off x="429768" y="2770632"/>
            <a:ext cx="4023360" cy="329184"/>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 </a:t>
            </a:r>
            <a:pPr indent="0" marL="0">
              <a:buNone/>
            </a:pPr>
            <a:r>
              <a:rPr lang="en-US" sz="900" dirty="0">
                <a:solidFill>
                  <a:srgbClr val="64748B"/>
                </a:solidFill>
                <a:latin typeface="Calibri" pitchFamily="34" charset="0"/>
                <a:ea typeface="Calibri" pitchFamily="34" charset="-122"/>
                <a:cs typeface="Calibri" pitchFamily="34" charset="-120"/>
              </a:rPr>
              <a:t>Paralelizar; priorizar pruebas rápidas en commit stage</a:t>
            </a:r>
            <a:endParaRPr lang="en-US" sz="900" dirty="0"/>
          </a:p>
        </p:txBody>
      </p:sp>
      <p:sp>
        <p:nvSpPr>
          <p:cNvPr id="25" name="Shape 23"/>
          <p:cNvSpPr/>
          <p:nvPr/>
        </p:nvSpPr>
        <p:spPr>
          <a:xfrm>
            <a:off x="4800600" y="2423160"/>
            <a:ext cx="4297680" cy="731520"/>
          </a:xfrm>
          <a:prstGeom prst="roundRect">
            <a:avLst>
              <a:gd name="adj" fmla="val 12500"/>
            </a:avLst>
          </a:prstGeom>
          <a:solidFill>
            <a:srgbClr val="F0FFF4"/>
          </a:solidFill>
          <a:ln/>
          <a:effectLst>
            <a:outerShdw sx="100000" sy="100000" kx="0" ky="0" algn="bl" rotWithShape="0" blurRad="101600" dist="25400" dir="2700000">
              <a:srgbClr val="000000">
                <a:alpha val="12000"/>
              </a:srgbClr>
            </a:outerShdw>
          </a:effectLst>
        </p:spPr>
      </p:sp>
      <p:sp>
        <p:nvSpPr>
          <p:cNvPr id="26" name="Text 24"/>
          <p:cNvSpPr/>
          <p:nvPr/>
        </p:nvSpPr>
        <p:spPr>
          <a:xfrm>
            <a:off x="4910328" y="2478024"/>
            <a:ext cx="4023360" cy="274320"/>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 </a:t>
            </a:r>
            <a:pPr indent="0" marL="0">
              <a:buNone/>
            </a:pPr>
            <a:r>
              <a:rPr lang="en-US" sz="950" b="1" dirty="0">
                <a:solidFill>
                  <a:srgbClr val="1E2761"/>
                </a:solidFill>
                <a:latin typeface="Calibri" pitchFamily="34" charset="0"/>
                <a:ea typeface="Calibri" pitchFamily="34" charset="-122"/>
                <a:cs typeface="Calibri" pitchFamily="34" charset="-120"/>
              </a:rPr>
              <a:t>Pruebas frágiles (flaky tests)</a:t>
            </a:r>
            <a:endParaRPr lang="en-US" sz="950" dirty="0"/>
          </a:p>
        </p:txBody>
      </p:sp>
      <p:sp>
        <p:nvSpPr>
          <p:cNvPr id="27" name="Text 25"/>
          <p:cNvSpPr/>
          <p:nvPr/>
        </p:nvSpPr>
        <p:spPr>
          <a:xfrm>
            <a:off x="4910328" y="2770632"/>
            <a:ext cx="4023360" cy="329184"/>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 </a:t>
            </a:r>
            <a:pPr indent="0" marL="0">
              <a:buNone/>
            </a:pPr>
            <a:r>
              <a:rPr lang="en-US" sz="900" dirty="0">
                <a:solidFill>
                  <a:srgbClr val="64748B"/>
                </a:solidFill>
                <a:latin typeface="Calibri" pitchFamily="34" charset="0"/>
                <a:ea typeface="Calibri" pitchFamily="34" charset="-122"/>
                <a:cs typeface="Calibri" pitchFamily="34" charset="-120"/>
              </a:rPr>
              <a:t>Refactorizar; aplicar retry policies; monitorear fallas recurrentes</a:t>
            </a:r>
            <a:endParaRPr lang="en-US" sz="900" dirty="0"/>
          </a:p>
        </p:txBody>
      </p:sp>
      <p:sp>
        <p:nvSpPr>
          <p:cNvPr id="28" name="Shape 26"/>
          <p:cNvSpPr/>
          <p:nvPr/>
        </p:nvSpPr>
        <p:spPr>
          <a:xfrm>
            <a:off x="320040" y="3227832"/>
            <a:ext cx="4297680" cy="731520"/>
          </a:xfrm>
          <a:prstGeom prst="roundRect">
            <a:avLst>
              <a:gd name="adj" fmla="val 12500"/>
            </a:avLst>
          </a:prstGeom>
          <a:solidFill>
            <a:srgbClr val="FFF3F3"/>
          </a:solidFill>
          <a:ln/>
          <a:effectLst>
            <a:outerShdw sx="100000" sy="100000" kx="0" ky="0" algn="bl" rotWithShape="0" blurRad="101600" dist="25400" dir="2700000">
              <a:srgbClr val="000000">
                <a:alpha val="12000"/>
              </a:srgbClr>
            </a:outerShdw>
          </a:effectLst>
        </p:spPr>
      </p:sp>
      <p:sp>
        <p:nvSpPr>
          <p:cNvPr id="29" name="Text 27"/>
          <p:cNvSpPr/>
          <p:nvPr/>
        </p:nvSpPr>
        <p:spPr>
          <a:xfrm>
            <a:off x="429768" y="3282696"/>
            <a:ext cx="4023360" cy="274320"/>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 </a:t>
            </a:r>
            <a:pPr indent="0" marL="0">
              <a:buNone/>
            </a:pPr>
            <a:r>
              <a:rPr lang="en-US" sz="950" b="1" dirty="0">
                <a:solidFill>
                  <a:srgbClr val="1E2761"/>
                </a:solidFill>
                <a:latin typeface="Calibri" pitchFamily="34" charset="0"/>
                <a:ea typeface="Calibri" pitchFamily="34" charset="-122"/>
                <a:cs typeface="Calibri" pitchFamily="34" charset="-120"/>
              </a:rPr>
              <a:t>Bajo nivel de automatización</a:t>
            </a:r>
            <a:endParaRPr lang="en-US" sz="950" dirty="0"/>
          </a:p>
        </p:txBody>
      </p:sp>
      <p:sp>
        <p:nvSpPr>
          <p:cNvPr id="30" name="Text 28"/>
          <p:cNvSpPr/>
          <p:nvPr/>
        </p:nvSpPr>
        <p:spPr>
          <a:xfrm>
            <a:off x="429768" y="3575304"/>
            <a:ext cx="4023360" cy="329184"/>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 </a:t>
            </a:r>
            <a:pPr indent="0" marL="0">
              <a:buNone/>
            </a:pPr>
            <a:r>
              <a:rPr lang="en-US" sz="900" dirty="0">
                <a:solidFill>
                  <a:srgbClr val="64748B"/>
                </a:solidFill>
                <a:latin typeface="Calibri" pitchFamily="34" charset="0"/>
                <a:ea typeface="Calibri" pitchFamily="34" charset="-122"/>
                <a:cs typeface="Calibri" pitchFamily="34" charset="-120"/>
              </a:rPr>
              <a:t>Definir objetivos de cobertura por sprint; capacitar al equipo</a:t>
            </a:r>
            <a:endParaRPr lang="en-US" sz="900" dirty="0"/>
          </a:p>
        </p:txBody>
      </p:sp>
      <p:sp>
        <p:nvSpPr>
          <p:cNvPr id="31" name="Shape 29"/>
          <p:cNvSpPr/>
          <p:nvPr/>
        </p:nvSpPr>
        <p:spPr>
          <a:xfrm>
            <a:off x="4800600" y="3227832"/>
            <a:ext cx="4297680" cy="731520"/>
          </a:xfrm>
          <a:prstGeom prst="roundRect">
            <a:avLst>
              <a:gd name="adj" fmla="val 12500"/>
            </a:avLst>
          </a:prstGeom>
          <a:solidFill>
            <a:srgbClr val="F0FFF4"/>
          </a:solidFill>
          <a:ln/>
          <a:effectLst>
            <a:outerShdw sx="100000" sy="100000" kx="0" ky="0" algn="bl" rotWithShape="0" blurRad="101600" dist="25400" dir="2700000">
              <a:srgbClr val="000000">
                <a:alpha val="12000"/>
              </a:srgbClr>
            </a:outerShdw>
          </a:effectLst>
        </p:spPr>
      </p:sp>
      <p:sp>
        <p:nvSpPr>
          <p:cNvPr id="32" name="Text 30"/>
          <p:cNvSpPr/>
          <p:nvPr/>
        </p:nvSpPr>
        <p:spPr>
          <a:xfrm>
            <a:off x="4910328" y="3282696"/>
            <a:ext cx="4023360" cy="274320"/>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 </a:t>
            </a:r>
            <a:pPr indent="0" marL="0">
              <a:buNone/>
            </a:pPr>
            <a:r>
              <a:rPr lang="en-US" sz="950" b="1" dirty="0">
                <a:solidFill>
                  <a:srgbClr val="1E2761"/>
                </a:solidFill>
                <a:latin typeface="Calibri" pitchFamily="34" charset="0"/>
                <a:ea typeface="Calibri" pitchFamily="34" charset="-122"/>
                <a:cs typeface="Calibri" pitchFamily="34" charset="-120"/>
              </a:rPr>
              <a:t>Deuda técnica acumulada</a:t>
            </a:r>
            <a:endParaRPr lang="en-US" sz="950" dirty="0"/>
          </a:p>
        </p:txBody>
      </p:sp>
      <p:sp>
        <p:nvSpPr>
          <p:cNvPr id="33" name="Text 31"/>
          <p:cNvSpPr/>
          <p:nvPr/>
        </p:nvSpPr>
        <p:spPr>
          <a:xfrm>
            <a:off x="4910328" y="3575304"/>
            <a:ext cx="4023360" cy="329184"/>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 </a:t>
            </a:r>
            <a:pPr indent="0" marL="0">
              <a:buNone/>
            </a:pPr>
            <a:r>
              <a:rPr lang="en-US" sz="900" dirty="0">
                <a:solidFill>
                  <a:srgbClr val="64748B"/>
                </a:solidFill>
                <a:latin typeface="Calibri" pitchFamily="34" charset="0"/>
                <a:ea typeface="Calibri" pitchFamily="34" charset="-122"/>
                <a:cs typeface="Calibri" pitchFamily="34" charset="-120"/>
              </a:rPr>
              <a:t>Integrar SonarQube como quality gate; fijar umbrales mínimos</a:t>
            </a:r>
            <a:endParaRPr lang="en-US" sz="900" dirty="0"/>
          </a:p>
        </p:txBody>
      </p:sp>
      <p:sp>
        <p:nvSpPr>
          <p:cNvPr id="34" name="Shape 32"/>
          <p:cNvSpPr/>
          <p:nvPr/>
        </p:nvSpPr>
        <p:spPr>
          <a:xfrm>
            <a:off x="320040" y="4032504"/>
            <a:ext cx="4297680" cy="731520"/>
          </a:xfrm>
          <a:prstGeom prst="roundRect">
            <a:avLst>
              <a:gd name="adj" fmla="val 12500"/>
            </a:avLst>
          </a:prstGeom>
          <a:solidFill>
            <a:srgbClr val="FFF3F3"/>
          </a:solidFill>
          <a:ln/>
          <a:effectLst>
            <a:outerShdw sx="100000" sy="100000" kx="0" ky="0" algn="bl" rotWithShape="0" blurRad="101600" dist="25400" dir="2700000">
              <a:srgbClr val="000000">
                <a:alpha val="12000"/>
              </a:srgbClr>
            </a:outerShdw>
          </a:effectLst>
        </p:spPr>
      </p:sp>
      <p:sp>
        <p:nvSpPr>
          <p:cNvPr id="35" name="Text 33"/>
          <p:cNvSpPr/>
          <p:nvPr/>
        </p:nvSpPr>
        <p:spPr>
          <a:xfrm>
            <a:off x="429768" y="4087368"/>
            <a:ext cx="4023360" cy="274320"/>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 </a:t>
            </a:r>
            <a:pPr indent="0" marL="0">
              <a:buNone/>
            </a:pPr>
            <a:r>
              <a:rPr lang="en-US" sz="950" b="1" dirty="0">
                <a:solidFill>
                  <a:srgbClr val="1E2761"/>
                </a:solidFill>
                <a:latin typeface="Calibri" pitchFamily="34" charset="0"/>
                <a:ea typeface="Calibri" pitchFamily="34" charset="-122"/>
                <a:cs typeface="Calibri" pitchFamily="34" charset="-120"/>
              </a:rPr>
              <a:t>Falta de trazabilidad requisito–prueba</a:t>
            </a:r>
            <a:endParaRPr lang="en-US" sz="950" dirty="0"/>
          </a:p>
        </p:txBody>
      </p:sp>
      <p:sp>
        <p:nvSpPr>
          <p:cNvPr id="36" name="Text 34"/>
          <p:cNvSpPr/>
          <p:nvPr/>
        </p:nvSpPr>
        <p:spPr>
          <a:xfrm>
            <a:off x="429768" y="4379976"/>
            <a:ext cx="4023360" cy="329184"/>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 </a:t>
            </a:r>
            <a:pPr indent="0" marL="0">
              <a:buNone/>
            </a:pPr>
            <a:r>
              <a:rPr lang="en-US" sz="900" dirty="0">
                <a:solidFill>
                  <a:srgbClr val="64748B"/>
                </a:solidFill>
                <a:latin typeface="Calibri" pitchFamily="34" charset="0"/>
                <a:ea typeface="Calibri" pitchFamily="34" charset="-122"/>
                <a:cs typeface="Calibri" pitchFamily="34" charset="-120"/>
              </a:rPr>
              <a:t>Usar JIRA/Xray: vincular cada caso de prueba con el RF asociado</a:t>
            </a:r>
            <a:endParaRPr lang="en-US" sz="900" dirty="0"/>
          </a:p>
        </p:txBody>
      </p:sp>
      <p:sp>
        <p:nvSpPr>
          <p:cNvPr id="37" name="Shape 35"/>
          <p:cNvSpPr/>
          <p:nvPr/>
        </p:nvSpPr>
        <p:spPr>
          <a:xfrm>
            <a:off x="4800600" y="4032504"/>
            <a:ext cx="4297680" cy="731520"/>
          </a:xfrm>
          <a:prstGeom prst="roundRect">
            <a:avLst>
              <a:gd name="adj" fmla="val 12500"/>
            </a:avLst>
          </a:prstGeom>
          <a:solidFill>
            <a:srgbClr val="F0FFF4"/>
          </a:solidFill>
          <a:ln/>
          <a:effectLst>
            <a:outerShdw sx="100000" sy="100000" kx="0" ky="0" algn="bl" rotWithShape="0" blurRad="101600" dist="25400" dir="2700000">
              <a:srgbClr val="000000">
                <a:alpha val="12000"/>
              </a:srgbClr>
            </a:outerShdw>
          </a:effectLst>
        </p:spPr>
      </p:sp>
      <p:sp>
        <p:nvSpPr>
          <p:cNvPr id="38" name="Text 36"/>
          <p:cNvSpPr/>
          <p:nvPr/>
        </p:nvSpPr>
        <p:spPr>
          <a:xfrm>
            <a:off x="4910328" y="4087368"/>
            <a:ext cx="4023360" cy="274320"/>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 </a:t>
            </a:r>
            <a:pPr indent="0" marL="0">
              <a:buNone/>
            </a:pPr>
            <a:r>
              <a:rPr lang="en-US" sz="950" b="1" dirty="0">
                <a:solidFill>
                  <a:srgbClr val="1E2761"/>
                </a:solidFill>
                <a:latin typeface="Calibri" pitchFamily="34" charset="0"/>
                <a:ea typeface="Calibri" pitchFamily="34" charset="-122"/>
                <a:cs typeface="Calibri" pitchFamily="34" charset="-120"/>
              </a:rPr>
              <a:t>Pruebas solo en etapas finales</a:t>
            </a:r>
            <a:endParaRPr lang="en-US" sz="950" dirty="0"/>
          </a:p>
        </p:txBody>
      </p:sp>
      <p:sp>
        <p:nvSpPr>
          <p:cNvPr id="39" name="Text 37"/>
          <p:cNvSpPr/>
          <p:nvPr/>
        </p:nvSpPr>
        <p:spPr>
          <a:xfrm>
            <a:off x="4910328" y="4379976"/>
            <a:ext cx="4023360" cy="329184"/>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 </a:t>
            </a:r>
            <a:pPr indent="0" marL="0">
              <a:buNone/>
            </a:pPr>
            <a:r>
              <a:rPr lang="en-US" sz="900" dirty="0">
                <a:solidFill>
                  <a:srgbClr val="64748B"/>
                </a:solidFill>
                <a:latin typeface="Calibri" pitchFamily="34" charset="0"/>
                <a:ea typeface="Calibri" pitchFamily="34" charset="-122"/>
                <a:cs typeface="Calibri" pitchFamily="34" charset="-120"/>
              </a:rPr>
              <a:t>Shift-left testing: incorporar revisiones técnicas desde requisitos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06 · Actividad Práctica – Análisis Integrador de Calidad</a:t>
            </a:r>
            <a:endParaRPr lang="en-US" sz="1500" dirty="0"/>
          </a:p>
        </p:txBody>
      </p:sp>
      <p:sp>
        <p:nvSpPr>
          <p:cNvPr id="4" name="Shape 2"/>
          <p:cNvSpPr/>
          <p:nvPr/>
        </p:nvSpPr>
        <p:spPr>
          <a:xfrm>
            <a:off x="274320" y="749808"/>
            <a:ext cx="8595360" cy="777240"/>
          </a:xfrm>
          <a:prstGeom prst="roundRect">
            <a:avLst>
              <a:gd name="adj" fmla="val 11765"/>
            </a:avLst>
          </a:prstGeom>
          <a:solidFill>
            <a:srgbClr val="0F1A3E"/>
          </a:solidFill>
          <a:ln/>
          <a:effectLst>
            <a:outerShdw sx="100000" sy="100000" kx="0" ky="0" algn="bl" rotWithShape="0" blurRad="101600" dist="25400" dir="2700000">
              <a:srgbClr val="000000">
                <a:alpha val="12000"/>
              </a:srgbClr>
            </a:outerShdw>
          </a:effectLst>
        </p:spPr>
      </p:sp>
      <p:sp>
        <p:nvSpPr>
          <p:cNvPr id="5" name="Text 3"/>
          <p:cNvSpPr/>
          <p:nvPr/>
        </p:nvSpPr>
        <p:spPr>
          <a:xfrm>
            <a:off x="457200" y="804672"/>
            <a:ext cx="8229600" cy="68580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Contexto: </a:t>
            </a:r>
            <a:pPr indent="0" marL="0">
              <a:buNone/>
            </a:pPr>
            <a:r>
              <a:rPr lang="en-US" sz="1000" dirty="0">
                <a:solidFill>
                  <a:srgbClr val="FFFFFF"/>
                </a:solidFill>
                <a:latin typeface="Calibri" pitchFamily="34" charset="0"/>
                <a:ea typeface="Calibri" pitchFamily="34" charset="-122"/>
                <a:cs typeface="Calibri" pitchFamily="34" charset="-120"/>
              </a:rPr>
              <a:t>DataFlow Solutions ha desplegado su sistema de gestión de datos con pipeline CI/CD usando Jenkins. El equipo de QA reporta: densidad de defectos = 8.3/KLOC, cobertura de pruebas = 47%, tasa de éxito del pipeline = 63%. SonarQube asigna calificación C (deuda técnica de 12 días).</a:t>
            </a:r>
            <a:endParaRPr lang="en-US" sz="1000" dirty="0"/>
          </a:p>
        </p:txBody>
      </p:sp>
      <p:sp>
        <p:nvSpPr>
          <p:cNvPr id="6" name="Text 4"/>
          <p:cNvSpPr/>
          <p:nvPr/>
        </p:nvSpPr>
        <p:spPr>
          <a:xfrm>
            <a:off x="320040" y="1645920"/>
            <a:ext cx="8503920" cy="3200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Consigna (trabajo individual o en duplas — entrega en 5 días hábiles):</a:t>
            </a:r>
            <a:endParaRPr lang="en-US" sz="1150" dirty="0"/>
          </a:p>
        </p:txBody>
      </p:sp>
      <p:sp>
        <p:nvSpPr>
          <p:cNvPr id="7" name="Shape 5"/>
          <p:cNvSpPr/>
          <p:nvPr/>
        </p:nvSpPr>
        <p:spPr>
          <a:xfrm>
            <a:off x="274320" y="2029968"/>
            <a:ext cx="4297680" cy="1280160"/>
          </a:xfrm>
          <a:prstGeom prst="roundRect">
            <a:avLst>
              <a:gd name="adj" fmla="val 7143"/>
            </a:avLst>
          </a:prstGeom>
          <a:solidFill>
            <a:srgbClr val="FFFFFF"/>
          </a:solidFill>
          <a:ln/>
          <a:effectLst>
            <a:outerShdw sx="100000" sy="100000" kx="0" ky="0" algn="bl" rotWithShape="0" blurRad="101600" dist="25400" dir="2700000">
              <a:srgbClr val="000000">
                <a:alpha val="12000"/>
              </a:srgbClr>
            </a:outerShdw>
          </a:effectLst>
        </p:spPr>
      </p:sp>
      <p:sp>
        <p:nvSpPr>
          <p:cNvPr id="8" name="Shape 6"/>
          <p:cNvSpPr/>
          <p:nvPr/>
        </p:nvSpPr>
        <p:spPr>
          <a:xfrm>
            <a:off x="274320" y="2029968"/>
            <a:ext cx="4297680" cy="365760"/>
          </a:xfrm>
          <a:prstGeom prst="roundRect">
            <a:avLst>
              <a:gd name="adj" fmla="val 25000"/>
            </a:avLst>
          </a:prstGeom>
          <a:solidFill>
            <a:srgbClr val="3B82F6"/>
          </a:solidFill>
          <a:ln/>
          <a:effectLst>
            <a:outerShdw sx="100000" sy="100000" kx="0" ky="0" algn="bl" rotWithShape="0" blurRad="101600" dist="25400" dir="2700000">
              <a:srgbClr val="000000">
                <a:alpha val="12000"/>
              </a:srgbClr>
            </a:outerShdw>
          </a:effectLst>
        </p:spPr>
      </p:sp>
      <p:sp>
        <p:nvSpPr>
          <p:cNvPr id="9" name="Text 7"/>
          <p:cNvSpPr/>
          <p:nvPr/>
        </p:nvSpPr>
        <p:spPr>
          <a:xfrm>
            <a:off x="365760" y="2039112"/>
            <a:ext cx="411480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1. Diagnóstico de métricas</a:t>
            </a:r>
            <a:endParaRPr lang="en-US" sz="1050" dirty="0"/>
          </a:p>
        </p:txBody>
      </p:sp>
      <p:sp>
        <p:nvSpPr>
          <p:cNvPr id="10" name="Text 8"/>
          <p:cNvSpPr/>
          <p:nvPr/>
        </p:nvSpPr>
        <p:spPr>
          <a:xfrm>
            <a:off x="384048" y="2450592"/>
            <a:ext cx="4078224" cy="80467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Para cada métrica reportada, indique si está dentro de los rangos aceptables, el nivel de riesgo que representa y su posible causa raíz. Fundamente con al menos una referencia técnica (Pressman, IEEE, ISO 25010).</a:t>
            </a:r>
            <a:endParaRPr lang="en-US" sz="900" dirty="0"/>
          </a:p>
        </p:txBody>
      </p:sp>
      <p:sp>
        <p:nvSpPr>
          <p:cNvPr id="11" name="Shape 9"/>
          <p:cNvSpPr/>
          <p:nvPr/>
        </p:nvSpPr>
        <p:spPr>
          <a:xfrm>
            <a:off x="4754880" y="2029968"/>
            <a:ext cx="4297680" cy="1280160"/>
          </a:xfrm>
          <a:prstGeom prst="roundRect">
            <a:avLst>
              <a:gd name="adj" fmla="val 7143"/>
            </a:avLst>
          </a:prstGeom>
          <a:solidFill>
            <a:srgbClr val="FFFFFF"/>
          </a:solidFill>
          <a:ln/>
          <a:effectLst>
            <a:outerShdw sx="100000" sy="100000" kx="0" ky="0" algn="bl" rotWithShape="0" blurRad="101600" dist="25400" dir="2700000">
              <a:srgbClr val="000000">
                <a:alpha val="12000"/>
              </a:srgbClr>
            </a:outerShdw>
          </a:effectLst>
        </p:spPr>
      </p:sp>
      <p:sp>
        <p:nvSpPr>
          <p:cNvPr id="12" name="Shape 10"/>
          <p:cNvSpPr/>
          <p:nvPr/>
        </p:nvSpPr>
        <p:spPr>
          <a:xfrm>
            <a:off x="4754880" y="2029968"/>
            <a:ext cx="4297680" cy="365760"/>
          </a:xfrm>
          <a:prstGeom prst="roundRect">
            <a:avLst>
              <a:gd name="adj" fmla="val 25000"/>
            </a:avLst>
          </a:prstGeom>
          <a:solidFill>
            <a:srgbClr val="10B981"/>
          </a:solidFill>
          <a:ln/>
          <a:effectLst>
            <a:outerShdw sx="100000" sy="100000" kx="0" ky="0" algn="bl" rotWithShape="0" blurRad="101600" dist="25400" dir="2700000">
              <a:srgbClr val="000000">
                <a:alpha val="12000"/>
              </a:srgbClr>
            </a:outerShdw>
          </a:effectLst>
        </p:spPr>
      </p:sp>
      <p:sp>
        <p:nvSpPr>
          <p:cNvPr id="13" name="Text 11"/>
          <p:cNvSpPr/>
          <p:nvPr/>
        </p:nvSpPr>
        <p:spPr>
          <a:xfrm>
            <a:off x="4846320" y="2039112"/>
            <a:ext cx="411480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2. Plan de actividades V&amp;V</a:t>
            </a:r>
            <a:endParaRPr lang="en-US" sz="1050" dirty="0"/>
          </a:p>
        </p:txBody>
      </p:sp>
      <p:sp>
        <p:nvSpPr>
          <p:cNvPr id="14" name="Text 12"/>
          <p:cNvSpPr/>
          <p:nvPr/>
        </p:nvSpPr>
        <p:spPr>
          <a:xfrm>
            <a:off x="4864608" y="2450592"/>
            <a:ext cx="4078224" cy="80467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Proponga un conjunto de actividades de verificación y validación priorizadas para los próximos dos sprints. Indique para cada actividad: técnica, herramienta, responsable y producto de trabajo esperado. Use la estructura PDCA como marco.</a:t>
            </a:r>
            <a:endParaRPr lang="en-US" sz="900" dirty="0"/>
          </a:p>
        </p:txBody>
      </p:sp>
      <p:sp>
        <p:nvSpPr>
          <p:cNvPr id="15" name="Shape 13"/>
          <p:cNvSpPr/>
          <p:nvPr/>
        </p:nvSpPr>
        <p:spPr>
          <a:xfrm>
            <a:off x="274320" y="3401568"/>
            <a:ext cx="4297680" cy="1280160"/>
          </a:xfrm>
          <a:prstGeom prst="roundRect">
            <a:avLst>
              <a:gd name="adj" fmla="val 7143"/>
            </a:avLst>
          </a:prstGeom>
          <a:solidFill>
            <a:srgbClr val="FFFFFF"/>
          </a:solidFill>
          <a:ln/>
          <a:effectLst>
            <a:outerShdw sx="100000" sy="100000" kx="0" ky="0" algn="bl" rotWithShape="0" blurRad="101600" dist="25400" dir="2700000">
              <a:srgbClr val="000000">
                <a:alpha val="12000"/>
              </a:srgbClr>
            </a:outerShdw>
          </a:effectLst>
        </p:spPr>
      </p:sp>
      <p:sp>
        <p:nvSpPr>
          <p:cNvPr id="16" name="Shape 14"/>
          <p:cNvSpPr/>
          <p:nvPr/>
        </p:nvSpPr>
        <p:spPr>
          <a:xfrm>
            <a:off x="274320" y="3401568"/>
            <a:ext cx="4297680" cy="365760"/>
          </a:xfrm>
          <a:prstGeom prst="roundRect">
            <a:avLst>
              <a:gd name="adj" fmla="val 25000"/>
            </a:avLst>
          </a:prstGeom>
          <a:solidFill>
            <a:srgbClr val="F59E0B"/>
          </a:solidFill>
          <a:ln/>
          <a:effectLst>
            <a:outerShdw sx="100000" sy="100000" kx="0" ky="0" algn="bl" rotWithShape="0" blurRad="101600" dist="25400" dir="2700000">
              <a:srgbClr val="000000">
                <a:alpha val="12000"/>
              </a:srgbClr>
            </a:outerShdw>
          </a:effectLst>
        </p:spPr>
      </p:sp>
      <p:sp>
        <p:nvSpPr>
          <p:cNvPr id="17" name="Text 15"/>
          <p:cNvSpPr/>
          <p:nvPr/>
        </p:nvSpPr>
        <p:spPr>
          <a:xfrm>
            <a:off x="365760" y="3410712"/>
            <a:ext cx="411480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3. Acciones correctivas con trazabilidad</a:t>
            </a:r>
            <a:endParaRPr lang="en-US" sz="1050" dirty="0"/>
          </a:p>
        </p:txBody>
      </p:sp>
      <p:sp>
        <p:nvSpPr>
          <p:cNvPr id="18" name="Text 16"/>
          <p:cNvSpPr/>
          <p:nvPr/>
        </p:nvSpPr>
        <p:spPr>
          <a:xfrm>
            <a:off x="384048" y="3822192"/>
            <a:ext cx="4078224" cy="80467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Diseñe un cuadro de acciones correctivas siguiendo el esquema: métrica deteriorada → causa raíz → acción correctiva → indicador de éxito. Conecte al menos una acción con prácticas CMMI nivel 2 o 3.</a:t>
            </a:r>
            <a:endParaRPr lang="en-US" sz="900" dirty="0"/>
          </a:p>
        </p:txBody>
      </p:sp>
      <p:sp>
        <p:nvSpPr>
          <p:cNvPr id="19" name="Shape 17"/>
          <p:cNvSpPr/>
          <p:nvPr/>
        </p:nvSpPr>
        <p:spPr>
          <a:xfrm>
            <a:off x="4754880" y="3401568"/>
            <a:ext cx="4297680" cy="1280160"/>
          </a:xfrm>
          <a:prstGeom prst="roundRect">
            <a:avLst>
              <a:gd name="adj" fmla="val 7143"/>
            </a:avLst>
          </a:prstGeom>
          <a:solidFill>
            <a:srgbClr val="FFFFFF"/>
          </a:solidFill>
          <a:ln/>
          <a:effectLst>
            <a:outerShdw sx="100000" sy="100000" kx="0" ky="0" algn="bl" rotWithShape="0" blurRad="101600" dist="25400" dir="2700000">
              <a:srgbClr val="000000">
                <a:alpha val="12000"/>
              </a:srgbClr>
            </a:outerShdw>
          </a:effectLst>
        </p:spPr>
      </p:sp>
      <p:sp>
        <p:nvSpPr>
          <p:cNvPr id="20" name="Shape 18"/>
          <p:cNvSpPr/>
          <p:nvPr/>
        </p:nvSpPr>
        <p:spPr>
          <a:xfrm>
            <a:off x="4754880" y="3401568"/>
            <a:ext cx="4297680" cy="365760"/>
          </a:xfrm>
          <a:prstGeom prst="roundRect">
            <a:avLst>
              <a:gd name="adj" fmla="val 25000"/>
            </a:avLst>
          </a:prstGeom>
          <a:solidFill>
            <a:srgbClr val="1E2761"/>
          </a:solidFill>
          <a:ln/>
          <a:effectLst>
            <a:outerShdw sx="100000" sy="100000" kx="0" ky="0" algn="bl" rotWithShape="0" blurRad="101600" dist="25400" dir="2700000">
              <a:srgbClr val="000000">
                <a:alpha val="12000"/>
              </a:srgbClr>
            </a:outerShdw>
          </a:effectLst>
        </p:spPr>
      </p:sp>
      <p:sp>
        <p:nvSpPr>
          <p:cNvPr id="21" name="Text 19"/>
          <p:cNvSpPr/>
          <p:nvPr/>
        </p:nvSpPr>
        <p:spPr>
          <a:xfrm>
            <a:off x="4846320" y="3410712"/>
            <a:ext cx="411480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4. Reflexión crítica</a:t>
            </a:r>
            <a:endParaRPr lang="en-US" sz="1050" dirty="0"/>
          </a:p>
        </p:txBody>
      </p:sp>
      <p:sp>
        <p:nvSpPr>
          <p:cNvPr id="22" name="Text 20"/>
          <p:cNvSpPr/>
          <p:nvPr/>
        </p:nvSpPr>
        <p:spPr>
          <a:xfrm>
            <a:off x="4864608" y="3822192"/>
            <a:ext cx="4078224" cy="804672"/>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¿Qué limitaciones tiene el equipo de DataFlow Solutions al concentrar el QA solo en el pipeline CI/CD? Fundamente retomando las ideas de Marin et al. (2019) sobre detección temprana de defectos.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p:spPr>
      </p:sp>
      <p:sp>
        <p:nvSpPr>
          <p:cNvPr id="3" name="Text 1"/>
          <p:cNvSpPr/>
          <p:nvPr/>
        </p:nvSpPr>
        <p:spPr>
          <a:xfrm>
            <a:off x="457200" y="0"/>
            <a:ext cx="82296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07 · Recursos de Referencia y Lectura Recomendada</a:t>
            </a:r>
            <a:endParaRPr lang="en-US" sz="1500" dirty="0"/>
          </a:p>
        </p:txBody>
      </p:sp>
      <p:sp>
        <p:nvSpPr>
          <p:cNvPr id="4" name="Shape 2"/>
          <p:cNvSpPr/>
          <p:nvPr/>
        </p:nvSpPr>
        <p:spPr>
          <a:xfrm>
            <a:off x="274320" y="749808"/>
            <a:ext cx="4206240" cy="2057400"/>
          </a:xfrm>
          <a:prstGeom prst="roundRect">
            <a:avLst>
              <a:gd name="adj" fmla="val 4444"/>
            </a:avLst>
          </a:prstGeom>
          <a:solidFill>
            <a:srgbClr val="EBF5FF"/>
          </a:solidFill>
          <a:ln/>
          <a:effectLst>
            <a:outerShdw sx="100000" sy="100000" kx="0" ky="0" algn="bl" rotWithShape="0" blurRad="101600" dist="25400" dir="2700000">
              <a:srgbClr val="000000">
                <a:alpha val="12000"/>
              </a:srgbClr>
            </a:outerShdw>
          </a:effectLst>
        </p:spPr>
      </p:sp>
      <p:sp>
        <p:nvSpPr>
          <p:cNvPr id="5" name="Text 3"/>
          <p:cNvSpPr/>
          <p:nvPr/>
        </p:nvSpPr>
        <p:spPr>
          <a:xfrm>
            <a:off x="411480" y="795528"/>
            <a:ext cx="393192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Normas y Estándares</a:t>
            </a:r>
            <a:endParaRPr lang="en-US" sz="1200" dirty="0"/>
          </a:p>
        </p:txBody>
      </p:sp>
      <p:sp>
        <p:nvSpPr>
          <p:cNvPr id="6" name="Text 4"/>
          <p:cNvSpPr/>
          <p:nvPr/>
        </p:nvSpPr>
        <p:spPr>
          <a:xfrm>
            <a:off x="411480" y="1161288"/>
            <a:ext cx="3931920" cy="246888"/>
          </a:xfrm>
          <a:prstGeom prst="rect">
            <a:avLst/>
          </a:prstGeom>
          <a:noFill/>
          <a:ln/>
        </p:spPr>
        <p:txBody>
          <a:bodyPr wrap="square"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 </a:t>
            </a:r>
            <a:pPr indent="0" marL="0">
              <a:buNone/>
            </a:pPr>
            <a:r>
              <a:rPr lang="en-US" sz="900" dirty="0">
                <a:solidFill>
                  <a:srgbClr val="2D2D2D"/>
                </a:solidFill>
                <a:latin typeface="Calibri" pitchFamily="34" charset="0"/>
                <a:ea typeface="Calibri" pitchFamily="34" charset="-122"/>
                <a:cs typeface="Calibri" pitchFamily="34" charset="-120"/>
              </a:rPr>
              <a:t>ISO/IEC 25010:2011 — Modelo de calidad del producto de software (SQuaRE)</a:t>
            </a:r>
            <a:endParaRPr lang="en-US" sz="900" dirty="0"/>
          </a:p>
        </p:txBody>
      </p:sp>
      <p:sp>
        <p:nvSpPr>
          <p:cNvPr id="7" name="Text 5"/>
          <p:cNvSpPr/>
          <p:nvPr/>
        </p:nvSpPr>
        <p:spPr>
          <a:xfrm>
            <a:off x="411480" y="1417320"/>
            <a:ext cx="3931920" cy="246888"/>
          </a:xfrm>
          <a:prstGeom prst="rect">
            <a:avLst/>
          </a:prstGeom>
          <a:noFill/>
          <a:ln/>
        </p:spPr>
        <p:txBody>
          <a:bodyPr wrap="square"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 </a:t>
            </a:r>
            <a:pPr indent="0" marL="0">
              <a:buNone/>
            </a:pPr>
            <a:r>
              <a:rPr lang="en-US" sz="900" dirty="0">
                <a:solidFill>
                  <a:srgbClr val="2D2D2D"/>
                </a:solidFill>
                <a:latin typeface="Calibri" pitchFamily="34" charset="0"/>
                <a:ea typeface="Calibri" pitchFamily="34" charset="-122"/>
                <a:cs typeface="Calibri" pitchFamily="34" charset="-120"/>
              </a:rPr>
              <a:t>ISO/IEC 25040 — Proceso de evaluación de la calidad</a:t>
            </a:r>
            <a:endParaRPr lang="en-US" sz="900" dirty="0"/>
          </a:p>
        </p:txBody>
      </p:sp>
      <p:sp>
        <p:nvSpPr>
          <p:cNvPr id="8" name="Text 6"/>
          <p:cNvSpPr/>
          <p:nvPr/>
        </p:nvSpPr>
        <p:spPr>
          <a:xfrm>
            <a:off x="411480" y="1673352"/>
            <a:ext cx="3931920" cy="246888"/>
          </a:xfrm>
          <a:prstGeom prst="rect">
            <a:avLst/>
          </a:prstGeom>
          <a:noFill/>
          <a:ln/>
        </p:spPr>
        <p:txBody>
          <a:bodyPr wrap="square"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 </a:t>
            </a:r>
            <a:pPr indent="0" marL="0">
              <a:buNone/>
            </a:pPr>
            <a:r>
              <a:rPr lang="en-US" sz="900" dirty="0">
                <a:solidFill>
                  <a:srgbClr val="2D2D2D"/>
                </a:solidFill>
                <a:latin typeface="Calibri" pitchFamily="34" charset="0"/>
                <a:ea typeface="Calibri" pitchFamily="34" charset="-122"/>
                <a:cs typeface="Calibri" pitchFamily="34" charset="-120"/>
              </a:rPr>
              <a:t>IEEE Std 829 — Documentación de pruebas de software</a:t>
            </a:r>
            <a:endParaRPr lang="en-US" sz="900" dirty="0"/>
          </a:p>
        </p:txBody>
      </p:sp>
      <p:sp>
        <p:nvSpPr>
          <p:cNvPr id="9" name="Text 7"/>
          <p:cNvSpPr/>
          <p:nvPr/>
        </p:nvSpPr>
        <p:spPr>
          <a:xfrm>
            <a:off x="411480" y="1929384"/>
            <a:ext cx="3931920" cy="246888"/>
          </a:xfrm>
          <a:prstGeom prst="rect">
            <a:avLst/>
          </a:prstGeom>
          <a:noFill/>
          <a:ln/>
        </p:spPr>
        <p:txBody>
          <a:bodyPr wrap="square"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 </a:t>
            </a:r>
            <a:pPr indent="0" marL="0">
              <a:buNone/>
            </a:pPr>
            <a:r>
              <a:rPr lang="en-US" sz="900" dirty="0">
                <a:solidFill>
                  <a:srgbClr val="2D2D2D"/>
                </a:solidFill>
                <a:latin typeface="Calibri" pitchFamily="34" charset="0"/>
                <a:ea typeface="Calibri" pitchFamily="34" charset="-122"/>
                <a:cs typeface="Calibri" pitchFamily="34" charset="-120"/>
              </a:rPr>
              <a:t>IEEE Std 1028 — Revisiones e inspecciones del software</a:t>
            </a:r>
            <a:endParaRPr lang="en-US" sz="900" dirty="0"/>
          </a:p>
        </p:txBody>
      </p:sp>
      <p:sp>
        <p:nvSpPr>
          <p:cNvPr id="10" name="Text 8"/>
          <p:cNvSpPr/>
          <p:nvPr/>
        </p:nvSpPr>
        <p:spPr>
          <a:xfrm>
            <a:off x="411480" y="2185416"/>
            <a:ext cx="3931920" cy="246888"/>
          </a:xfrm>
          <a:prstGeom prst="rect">
            <a:avLst/>
          </a:prstGeom>
          <a:noFill/>
          <a:ln/>
        </p:spPr>
        <p:txBody>
          <a:bodyPr wrap="square"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 </a:t>
            </a:r>
            <a:pPr indent="0" marL="0">
              <a:buNone/>
            </a:pPr>
            <a:r>
              <a:rPr lang="en-US" sz="900" dirty="0">
                <a:solidFill>
                  <a:srgbClr val="2D2D2D"/>
                </a:solidFill>
                <a:latin typeface="Calibri" pitchFamily="34" charset="0"/>
                <a:ea typeface="Calibri" pitchFamily="34" charset="-122"/>
                <a:cs typeface="Calibri" pitchFamily="34" charset="-120"/>
              </a:rPr>
              <a:t>CMMI-DEV v2.0 — PA: VER, VAL, MA, CAR (Verificación, Validación, Medición, Análisis Causal)</a:t>
            </a:r>
            <a:endParaRPr lang="en-US" sz="900" dirty="0"/>
          </a:p>
        </p:txBody>
      </p:sp>
      <p:sp>
        <p:nvSpPr>
          <p:cNvPr id="11" name="Text 9"/>
          <p:cNvSpPr/>
          <p:nvPr/>
        </p:nvSpPr>
        <p:spPr>
          <a:xfrm>
            <a:off x="411480" y="2441448"/>
            <a:ext cx="3931920" cy="246888"/>
          </a:xfrm>
          <a:prstGeom prst="rect">
            <a:avLst/>
          </a:prstGeom>
          <a:noFill/>
          <a:ln/>
        </p:spPr>
        <p:txBody>
          <a:bodyPr wrap="square"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 </a:t>
            </a:r>
            <a:pPr indent="0" marL="0">
              <a:buNone/>
            </a:pPr>
            <a:r>
              <a:rPr lang="en-US" sz="900" dirty="0">
                <a:solidFill>
                  <a:srgbClr val="2D2D2D"/>
                </a:solidFill>
                <a:latin typeface="Calibri" pitchFamily="34" charset="0"/>
                <a:ea typeface="Calibri" pitchFamily="34" charset="-122"/>
                <a:cs typeface="Calibri" pitchFamily="34" charset="-120"/>
              </a:rPr>
              <a:t>ISO 29110 — Perfiles de ciclo de vida para VSE (PYME desarrolladoras)</a:t>
            </a:r>
            <a:endParaRPr lang="en-US" sz="900" dirty="0"/>
          </a:p>
        </p:txBody>
      </p:sp>
      <p:sp>
        <p:nvSpPr>
          <p:cNvPr id="12" name="Shape 10"/>
          <p:cNvSpPr/>
          <p:nvPr/>
        </p:nvSpPr>
        <p:spPr>
          <a:xfrm>
            <a:off x="4663440" y="749808"/>
            <a:ext cx="4206240" cy="2057400"/>
          </a:xfrm>
          <a:prstGeom prst="roundRect">
            <a:avLst>
              <a:gd name="adj" fmla="val 4444"/>
            </a:avLst>
          </a:prstGeom>
          <a:solidFill>
            <a:srgbClr val="FFF8EB"/>
          </a:solidFill>
          <a:ln/>
          <a:effectLst>
            <a:outerShdw sx="100000" sy="100000" kx="0" ky="0" algn="bl" rotWithShape="0" blurRad="101600" dist="25400" dir="2700000">
              <a:srgbClr val="000000">
                <a:alpha val="12000"/>
              </a:srgbClr>
            </a:outerShdw>
          </a:effectLst>
        </p:spPr>
      </p:sp>
      <p:sp>
        <p:nvSpPr>
          <p:cNvPr id="13" name="Text 11"/>
          <p:cNvSpPr/>
          <p:nvPr/>
        </p:nvSpPr>
        <p:spPr>
          <a:xfrm>
            <a:off x="4800600" y="795528"/>
            <a:ext cx="393192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Literatura Académica</a:t>
            </a:r>
            <a:endParaRPr lang="en-US" sz="1200" dirty="0"/>
          </a:p>
        </p:txBody>
      </p:sp>
      <p:sp>
        <p:nvSpPr>
          <p:cNvPr id="14" name="Text 12"/>
          <p:cNvSpPr/>
          <p:nvPr/>
        </p:nvSpPr>
        <p:spPr>
          <a:xfrm>
            <a:off x="4800600" y="1161288"/>
            <a:ext cx="3931920" cy="310896"/>
          </a:xfrm>
          <a:prstGeom prst="rect">
            <a:avLst/>
          </a:prstGeom>
          <a:noFill/>
          <a:ln/>
        </p:spPr>
        <p:txBody>
          <a:bodyPr wrap="square"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[1] </a:t>
            </a:r>
            <a:pPr indent="0" marL="0">
              <a:buNone/>
            </a:pPr>
            <a:r>
              <a:rPr lang="en-US" sz="850" dirty="0">
                <a:solidFill>
                  <a:srgbClr val="2D2D2D"/>
                </a:solidFill>
                <a:latin typeface="Calibri" pitchFamily="34" charset="0"/>
                <a:ea typeface="Calibri" pitchFamily="34" charset="-122"/>
                <a:cs typeface="Calibri" pitchFamily="34" charset="-120"/>
              </a:rPr>
              <a:t>Mascheroni, M. A. &amp; Irrazábal, E. (2018). Problemas que afectan a la calidad de software en Entrega Continua y Pruebas Continuas. XXIV CACIC.</a:t>
            </a:r>
            <a:endParaRPr lang="en-US" sz="850" dirty="0"/>
          </a:p>
        </p:txBody>
      </p:sp>
      <p:sp>
        <p:nvSpPr>
          <p:cNvPr id="15" name="Text 13"/>
          <p:cNvSpPr/>
          <p:nvPr/>
        </p:nvSpPr>
        <p:spPr>
          <a:xfrm>
            <a:off x="4800600" y="1504188"/>
            <a:ext cx="3931920" cy="310896"/>
          </a:xfrm>
          <a:prstGeom prst="rect">
            <a:avLst/>
          </a:prstGeom>
          <a:noFill/>
          <a:ln/>
        </p:spPr>
        <p:txBody>
          <a:bodyPr wrap="square"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[2] </a:t>
            </a:r>
            <a:pPr indent="0" marL="0">
              <a:buNone/>
            </a:pPr>
            <a:r>
              <a:rPr lang="en-US" sz="850" dirty="0">
                <a:solidFill>
                  <a:srgbClr val="2D2D2D"/>
                </a:solidFill>
                <a:latin typeface="Calibri" pitchFamily="34" charset="0"/>
                <a:ea typeface="Calibri" pitchFamily="34" charset="-122"/>
                <a:cs typeface="Calibri" pitchFamily="34" charset="-120"/>
              </a:rPr>
              <a:t>Marin Diaz, A., Trujillo Casañola, Y. &amp; Buedo Hidalgo, D. (2019). Apuntes para gestionar actividades de calidad en proyectos de desarrollo de software. Ingeniare, 27(2), 319–327.</a:t>
            </a:r>
            <a:endParaRPr lang="en-US" sz="850" dirty="0"/>
          </a:p>
        </p:txBody>
      </p:sp>
      <p:sp>
        <p:nvSpPr>
          <p:cNvPr id="16" name="Text 14"/>
          <p:cNvSpPr/>
          <p:nvPr/>
        </p:nvSpPr>
        <p:spPr>
          <a:xfrm>
            <a:off x="4800600" y="1847088"/>
            <a:ext cx="3931920" cy="310896"/>
          </a:xfrm>
          <a:prstGeom prst="rect">
            <a:avLst/>
          </a:prstGeom>
          <a:noFill/>
          <a:ln/>
        </p:spPr>
        <p:txBody>
          <a:bodyPr wrap="square"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[3] </a:t>
            </a:r>
            <a:pPr indent="0" marL="0">
              <a:buNone/>
            </a:pPr>
            <a:r>
              <a:rPr lang="en-US" sz="850" dirty="0">
                <a:solidFill>
                  <a:srgbClr val="2D2D2D"/>
                </a:solidFill>
                <a:latin typeface="Calibri" pitchFamily="34" charset="0"/>
                <a:ea typeface="Calibri" pitchFamily="34" charset="-122"/>
                <a:cs typeface="Calibri" pitchFamily="34" charset="-120"/>
              </a:rPr>
              <a:t>Pressman, R. S. &amp; Maxim, B. R. (2021). Ingeniería del Software: Un Enfoque Práctico. 9ª ed. McGraw-Hill.</a:t>
            </a:r>
            <a:endParaRPr lang="en-US" sz="850" dirty="0"/>
          </a:p>
        </p:txBody>
      </p:sp>
      <p:sp>
        <p:nvSpPr>
          <p:cNvPr id="17" name="Text 15"/>
          <p:cNvSpPr/>
          <p:nvPr/>
        </p:nvSpPr>
        <p:spPr>
          <a:xfrm>
            <a:off x="4800600" y="2189988"/>
            <a:ext cx="3931920" cy="310896"/>
          </a:xfrm>
          <a:prstGeom prst="rect">
            <a:avLst/>
          </a:prstGeom>
          <a:noFill/>
          <a:ln/>
        </p:spPr>
        <p:txBody>
          <a:bodyPr wrap="square"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[4] </a:t>
            </a:r>
            <a:pPr indent="0" marL="0">
              <a:buNone/>
            </a:pPr>
            <a:r>
              <a:rPr lang="en-US" sz="850" dirty="0">
                <a:solidFill>
                  <a:srgbClr val="2D2D2D"/>
                </a:solidFill>
                <a:latin typeface="Calibri" pitchFamily="34" charset="0"/>
                <a:ea typeface="Calibri" pitchFamily="34" charset="-122"/>
                <a:cs typeface="Calibri" pitchFamily="34" charset="-120"/>
              </a:rPr>
              <a:t>Humble, J. &amp; Farley, D. (2010). Continuous Delivery. Addison-Wesley.</a:t>
            </a:r>
            <a:endParaRPr lang="en-US" sz="850" dirty="0"/>
          </a:p>
        </p:txBody>
      </p:sp>
      <p:sp>
        <p:nvSpPr>
          <p:cNvPr id="18" name="Text 16"/>
          <p:cNvSpPr/>
          <p:nvPr/>
        </p:nvSpPr>
        <p:spPr>
          <a:xfrm>
            <a:off x="4800600" y="2532888"/>
            <a:ext cx="3931920" cy="310896"/>
          </a:xfrm>
          <a:prstGeom prst="rect">
            <a:avLst/>
          </a:prstGeom>
          <a:noFill/>
          <a:ln/>
        </p:spPr>
        <p:txBody>
          <a:bodyPr wrap="square"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[5] </a:t>
            </a:r>
            <a:pPr indent="0" marL="0">
              <a:buNone/>
            </a:pPr>
            <a:r>
              <a:rPr lang="en-US" sz="850" dirty="0">
                <a:solidFill>
                  <a:srgbClr val="2D2D2D"/>
                </a:solidFill>
                <a:latin typeface="Calibri" pitchFamily="34" charset="0"/>
                <a:ea typeface="Calibri" pitchFamily="34" charset="-122"/>
                <a:cs typeface="Calibri" pitchFamily="34" charset="-120"/>
              </a:rPr>
              <a:t>Pino, F. J., García, F. &amp; Piattini, M. (2009). Key processes to start SPI in small companies. ACM SAC.</a:t>
            </a:r>
            <a:endParaRPr lang="en-US" sz="850" dirty="0"/>
          </a:p>
        </p:txBody>
      </p:sp>
      <p:sp>
        <p:nvSpPr>
          <p:cNvPr id="19" name="Shape 17"/>
          <p:cNvSpPr/>
          <p:nvPr/>
        </p:nvSpPr>
        <p:spPr>
          <a:xfrm>
            <a:off x="274320" y="2944368"/>
            <a:ext cx="8595360" cy="914400"/>
          </a:xfrm>
          <a:prstGeom prst="roundRect">
            <a:avLst>
              <a:gd name="adj" fmla="val 10000"/>
            </a:avLst>
          </a:prstGeom>
          <a:solidFill>
            <a:srgbClr val="F0F4FF"/>
          </a:solidFill>
          <a:ln/>
          <a:effectLst>
            <a:outerShdw sx="100000" sy="100000" kx="0" ky="0" algn="bl" rotWithShape="0" blurRad="101600" dist="25400" dir="2700000">
              <a:srgbClr val="000000">
                <a:alpha val="12000"/>
              </a:srgbClr>
            </a:outerShdw>
          </a:effectLst>
        </p:spPr>
      </p:sp>
      <p:sp>
        <p:nvSpPr>
          <p:cNvPr id="20" name="Text 18"/>
          <p:cNvSpPr/>
          <p:nvPr/>
        </p:nvSpPr>
        <p:spPr>
          <a:xfrm>
            <a:off x="457200" y="2990088"/>
            <a:ext cx="8229600" cy="301752"/>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Documentación de Herramientas</a:t>
            </a:r>
            <a:endParaRPr lang="en-US" sz="1100" dirty="0"/>
          </a:p>
        </p:txBody>
      </p:sp>
      <p:sp>
        <p:nvSpPr>
          <p:cNvPr id="21" name="Shape 19"/>
          <p:cNvSpPr/>
          <p:nvPr/>
        </p:nvSpPr>
        <p:spPr>
          <a:xfrm>
            <a:off x="457200" y="3337560"/>
            <a:ext cx="2011680" cy="438912"/>
          </a:xfrm>
          <a:prstGeom prst="roundRect">
            <a:avLst>
              <a:gd name="adj" fmla="val 16667"/>
            </a:avLst>
          </a:prstGeom>
          <a:solidFill>
            <a:srgbClr val="1E2761"/>
          </a:solidFill>
          <a:ln/>
        </p:spPr>
      </p:sp>
      <p:sp>
        <p:nvSpPr>
          <p:cNvPr id="22" name="Text 20"/>
          <p:cNvSpPr/>
          <p:nvPr/>
        </p:nvSpPr>
        <p:spPr>
          <a:xfrm>
            <a:off x="457200" y="3355848"/>
            <a:ext cx="2011680"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SonarQube
</a:t>
            </a:r>
            <a:pPr algn="ctr" indent="0" marL="0">
              <a:buNone/>
            </a:pPr>
            <a:r>
              <a:rPr lang="en-US" sz="850" dirty="0">
                <a:solidFill>
                  <a:srgbClr val="CADCFC"/>
                </a:solidFill>
                <a:latin typeface="Calibri" pitchFamily="34" charset="0"/>
                <a:ea typeface="Calibri" pitchFamily="34" charset="-122"/>
                <a:cs typeface="Calibri" pitchFamily="34" charset="-120"/>
              </a:rPr>
              <a:t>docs.sonarsource.com</a:t>
            </a:r>
            <a:endParaRPr lang="en-US" sz="1000" dirty="0"/>
          </a:p>
        </p:txBody>
      </p:sp>
      <p:sp>
        <p:nvSpPr>
          <p:cNvPr id="23" name="Shape 21"/>
          <p:cNvSpPr/>
          <p:nvPr/>
        </p:nvSpPr>
        <p:spPr>
          <a:xfrm>
            <a:off x="2633472" y="3337560"/>
            <a:ext cx="2011680" cy="438912"/>
          </a:xfrm>
          <a:prstGeom prst="roundRect">
            <a:avLst>
              <a:gd name="adj" fmla="val 16667"/>
            </a:avLst>
          </a:prstGeom>
          <a:solidFill>
            <a:srgbClr val="1E2761"/>
          </a:solidFill>
          <a:ln/>
        </p:spPr>
      </p:sp>
      <p:sp>
        <p:nvSpPr>
          <p:cNvPr id="24" name="Text 22"/>
          <p:cNvSpPr/>
          <p:nvPr/>
        </p:nvSpPr>
        <p:spPr>
          <a:xfrm>
            <a:off x="2633472" y="3355848"/>
            <a:ext cx="2011680"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Selenium
</a:t>
            </a:r>
            <a:pPr algn="ctr" indent="0" marL="0">
              <a:buNone/>
            </a:pPr>
            <a:r>
              <a:rPr lang="en-US" sz="850" dirty="0">
                <a:solidFill>
                  <a:srgbClr val="CADCFC"/>
                </a:solidFill>
                <a:latin typeface="Calibri" pitchFamily="34" charset="0"/>
                <a:ea typeface="Calibri" pitchFamily="34" charset="-122"/>
                <a:cs typeface="Calibri" pitchFamily="34" charset="-120"/>
              </a:rPr>
              <a:t>selenium.dev/documentation</a:t>
            </a:r>
            <a:endParaRPr lang="en-US" sz="1000" dirty="0"/>
          </a:p>
        </p:txBody>
      </p:sp>
      <p:sp>
        <p:nvSpPr>
          <p:cNvPr id="25" name="Shape 23"/>
          <p:cNvSpPr/>
          <p:nvPr/>
        </p:nvSpPr>
        <p:spPr>
          <a:xfrm>
            <a:off x="4809744" y="3337560"/>
            <a:ext cx="2011680" cy="438912"/>
          </a:xfrm>
          <a:prstGeom prst="roundRect">
            <a:avLst>
              <a:gd name="adj" fmla="val 16667"/>
            </a:avLst>
          </a:prstGeom>
          <a:solidFill>
            <a:srgbClr val="1E2761"/>
          </a:solidFill>
          <a:ln/>
        </p:spPr>
      </p:sp>
      <p:sp>
        <p:nvSpPr>
          <p:cNvPr id="26" name="Text 24"/>
          <p:cNvSpPr/>
          <p:nvPr/>
        </p:nvSpPr>
        <p:spPr>
          <a:xfrm>
            <a:off x="4809744" y="3355848"/>
            <a:ext cx="2011680"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JUnit 5
</a:t>
            </a:r>
            <a:pPr algn="ctr" indent="0" marL="0">
              <a:buNone/>
            </a:pPr>
            <a:r>
              <a:rPr lang="en-US" sz="850" dirty="0">
                <a:solidFill>
                  <a:srgbClr val="CADCFC"/>
                </a:solidFill>
                <a:latin typeface="Calibri" pitchFamily="34" charset="0"/>
                <a:ea typeface="Calibri" pitchFamily="34" charset="-122"/>
                <a:cs typeface="Calibri" pitchFamily="34" charset="-120"/>
              </a:rPr>
              <a:t>junit.org/junit5/docs</a:t>
            </a:r>
            <a:endParaRPr lang="en-US" sz="1000" dirty="0"/>
          </a:p>
        </p:txBody>
      </p:sp>
      <p:sp>
        <p:nvSpPr>
          <p:cNvPr id="27" name="Shape 25"/>
          <p:cNvSpPr/>
          <p:nvPr/>
        </p:nvSpPr>
        <p:spPr>
          <a:xfrm>
            <a:off x="6986016" y="3337560"/>
            <a:ext cx="2011680" cy="438912"/>
          </a:xfrm>
          <a:prstGeom prst="roundRect">
            <a:avLst>
              <a:gd name="adj" fmla="val 16667"/>
            </a:avLst>
          </a:prstGeom>
          <a:solidFill>
            <a:srgbClr val="1E2761"/>
          </a:solidFill>
          <a:ln/>
        </p:spPr>
      </p:sp>
      <p:sp>
        <p:nvSpPr>
          <p:cNvPr id="28" name="Text 26"/>
          <p:cNvSpPr/>
          <p:nvPr/>
        </p:nvSpPr>
        <p:spPr>
          <a:xfrm>
            <a:off x="6986016" y="3355848"/>
            <a:ext cx="2011680"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JIRA / Xray
</a:t>
            </a:r>
            <a:pPr algn="ctr" indent="0" marL="0">
              <a:buNone/>
            </a:pPr>
            <a:r>
              <a:rPr lang="en-US" sz="850" dirty="0">
                <a:solidFill>
                  <a:srgbClr val="CADCFC"/>
                </a:solidFill>
                <a:latin typeface="Calibri" pitchFamily="34" charset="0"/>
                <a:ea typeface="Calibri" pitchFamily="34" charset="-122"/>
                <a:cs typeface="Calibri" pitchFamily="34" charset="-120"/>
              </a:rPr>
              <a:t>docs.getxray.app</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3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Síntesis de la Semana</a:t>
            </a:r>
            <a:endParaRPr lang="en-US" sz="2800" dirty="0"/>
          </a:p>
        </p:txBody>
      </p:sp>
      <p:sp>
        <p:nvSpPr>
          <p:cNvPr id="3" name="Shape 1"/>
          <p:cNvSpPr/>
          <p:nvPr/>
        </p:nvSpPr>
        <p:spPr>
          <a:xfrm>
            <a:off x="457200" y="868680"/>
            <a:ext cx="8229600" cy="36576"/>
          </a:xfrm>
          <a:prstGeom prst="rect">
            <a:avLst/>
          </a:prstGeom>
          <a:solidFill>
            <a:srgbClr val="F59E0B"/>
          </a:solidFill>
          <a:ln/>
        </p:spPr>
      </p:sp>
      <p:sp>
        <p:nvSpPr>
          <p:cNvPr id="4" name="Shape 2"/>
          <p:cNvSpPr/>
          <p:nvPr/>
        </p:nvSpPr>
        <p:spPr>
          <a:xfrm>
            <a:off x="365760" y="1005840"/>
            <a:ext cx="4343400" cy="1188720"/>
          </a:xfrm>
          <a:prstGeom prst="roundRect">
            <a:avLst>
              <a:gd name="adj" fmla="val 7692"/>
            </a:avLst>
          </a:prstGeom>
          <a:solidFill>
            <a:srgbClr val="000000"/>
          </a:solidFill>
          <a:ln/>
          <a:effectLst>
            <a:outerShdw sx="100000" sy="100000" kx="0" ky="0" algn="bl" rotWithShape="0" blurRad="101600" dist="25400" dir="2700000">
              <a:srgbClr val="000000">
                <a:alpha val="12000"/>
              </a:srgbClr>
            </a:outerShdw>
          </a:effectLst>
        </p:spPr>
      </p:sp>
      <p:sp>
        <p:nvSpPr>
          <p:cNvPr id="5" name="Shape 3"/>
          <p:cNvSpPr/>
          <p:nvPr/>
        </p:nvSpPr>
        <p:spPr>
          <a:xfrm>
            <a:off x="365760" y="1005840"/>
            <a:ext cx="4343400" cy="1188720"/>
          </a:xfrm>
          <a:prstGeom prst="roundRect">
            <a:avLst>
              <a:gd name="adj" fmla="val 7692"/>
            </a:avLst>
          </a:prstGeom>
          <a:solidFill>
            <a:srgbClr val="FFFFFF">
              <a:alpha val="8000"/>
            </a:srgbClr>
          </a:solidFill>
          <a:ln/>
          <a:effectLst>
            <a:outerShdw sx="100000" sy="100000" kx="0" ky="0" algn="bl" rotWithShape="0" blurRad="101600" dist="25400" dir="2700000">
              <a:srgbClr val="000000">
                <a:alpha val="12000"/>
              </a:srgbClr>
            </a:outerShdw>
          </a:effectLst>
        </p:spPr>
      </p:sp>
      <p:sp>
        <p:nvSpPr>
          <p:cNvPr id="6" name="Text 4"/>
          <p:cNvSpPr/>
          <p:nvPr/>
        </p:nvSpPr>
        <p:spPr>
          <a:xfrm>
            <a:off x="457200" y="1097280"/>
            <a:ext cx="594360" cy="59436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1097280" y="1097280"/>
            <a:ext cx="3520440" cy="1005840"/>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QA es una función estratégica y preventiva, no solo testing tardío. La calidad se gestiona desde los requisitos.</a:t>
            </a:r>
            <a:endParaRPr lang="en-US" sz="950" dirty="0"/>
          </a:p>
        </p:txBody>
      </p:sp>
      <p:sp>
        <p:nvSpPr>
          <p:cNvPr id="8" name="Shape 6"/>
          <p:cNvSpPr/>
          <p:nvPr/>
        </p:nvSpPr>
        <p:spPr>
          <a:xfrm>
            <a:off x="4892040" y="1005840"/>
            <a:ext cx="4343400" cy="1188720"/>
          </a:xfrm>
          <a:prstGeom prst="roundRect">
            <a:avLst>
              <a:gd name="adj" fmla="val 7692"/>
            </a:avLst>
          </a:prstGeom>
          <a:solidFill>
            <a:srgbClr val="000000"/>
          </a:solidFill>
          <a:ln/>
          <a:effectLst>
            <a:outerShdw sx="100000" sy="100000" kx="0" ky="0" algn="bl" rotWithShape="0" blurRad="101600" dist="25400" dir="2700000">
              <a:srgbClr val="000000">
                <a:alpha val="12000"/>
              </a:srgbClr>
            </a:outerShdw>
          </a:effectLst>
        </p:spPr>
      </p:sp>
      <p:sp>
        <p:nvSpPr>
          <p:cNvPr id="9" name="Shape 7"/>
          <p:cNvSpPr/>
          <p:nvPr/>
        </p:nvSpPr>
        <p:spPr>
          <a:xfrm>
            <a:off x="4892040" y="1005840"/>
            <a:ext cx="4343400" cy="1188720"/>
          </a:xfrm>
          <a:prstGeom prst="roundRect">
            <a:avLst>
              <a:gd name="adj" fmla="val 7692"/>
            </a:avLst>
          </a:prstGeom>
          <a:solidFill>
            <a:srgbClr val="FFFFFF">
              <a:alpha val="8000"/>
            </a:srgbClr>
          </a:solidFill>
          <a:ln/>
          <a:effectLst>
            <a:outerShdw sx="100000" sy="100000" kx="0" ky="0" algn="bl" rotWithShape="0" blurRad="101600" dist="25400" dir="2700000">
              <a:srgbClr val="000000">
                <a:alpha val="12000"/>
              </a:srgbClr>
            </a:outerShdw>
          </a:effectLst>
        </p:spPr>
      </p:sp>
      <p:sp>
        <p:nvSpPr>
          <p:cNvPr id="10" name="Text 8"/>
          <p:cNvSpPr/>
          <p:nvPr/>
        </p:nvSpPr>
        <p:spPr>
          <a:xfrm>
            <a:off x="4983480" y="1097280"/>
            <a:ext cx="594360" cy="59436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02</a:t>
            </a:r>
            <a:endParaRPr lang="en-US" sz="2000" dirty="0"/>
          </a:p>
        </p:txBody>
      </p:sp>
      <p:sp>
        <p:nvSpPr>
          <p:cNvPr id="11" name="Text 9"/>
          <p:cNvSpPr/>
          <p:nvPr/>
        </p:nvSpPr>
        <p:spPr>
          <a:xfrm>
            <a:off x="5623560" y="1097280"/>
            <a:ext cx="3520440" cy="1005840"/>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Verificación y Validación son complementarias. V&amp;V sin PDCA produce datos sin mejora continua.</a:t>
            </a:r>
            <a:endParaRPr lang="en-US" sz="950" dirty="0"/>
          </a:p>
        </p:txBody>
      </p:sp>
      <p:sp>
        <p:nvSpPr>
          <p:cNvPr id="12" name="Shape 10"/>
          <p:cNvSpPr/>
          <p:nvPr/>
        </p:nvSpPr>
        <p:spPr>
          <a:xfrm>
            <a:off x="365760" y="2304288"/>
            <a:ext cx="4343400" cy="1188720"/>
          </a:xfrm>
          <a:prstGeom prst="roundRect">
            <a:avLst>
              <a:gd name="adj" fmla="val 7692"/>
            </a:avLst>
          </a:prstGeom>
          <a:solidFill>
            <a:srgbClr val="000000"/>
          </a:solidFill>
          <a:ln/>
          <a:effectLst>
            <a:outerShdw sx="100000" sy="100000" kx="0" ky="0" algn="bl" rotWithShape="0" blurRad="101600" dist="25400" dir="2700000">
              <a:srgbClr val="000000">
                <a:alpha val="12000"/>
              </a:srgbClr>
            </a:outerShdw>
          </a:effectLst>
        </p:spPr>
      </p:sp>
      <p:sp>
        <p:nvSpPr>
          <p:cNvPr id="13" name="Shape 11"/>
          <p:cNvSpPr/>
          <p:nvPr/>
        </p:nvSpPr>
        <p:spPr>
          <a:xfrm>
            <a:off x="365760" y="2304288"/>
            <a:ext cx="4343400" cy="1188720"/>
          </a:xfrm>
          <a:prstGeom prst="roundRect">
            <a:avLst>
              <a:gd name="adj" fmla="val 7692"/>
            </a:avLst>
          </a:prstGeom>
          <a:solidFill>
            <a:srgbClr val="FFFFFF">
              <a:alpha val="8000"/>
            </a:srgbClr>
          </a:solidFill>
          <a:ln/>
          <a:effectLst>
            <a:outerShdw sx="100000" sy="100000" kx="0" ky="0" algn="bl" rotWithShape="0" blurRad="101600" dist="25400" dir="2700000">
              <a:srgbClr val="000000">
                <a:alpha val="12000"/>
              </a:srgbClr>
            </a:outerShdw>
          </a:effectLst>
        </p:spPr>
      </p:sp>
      <p:sp>
        <p:nvSpPr>
          <p:cNvPr id="14" name="Text 12"/>
          <p:cNvSpPr/>
          <p:nvPr/>
        </p:nvSpPr>
        <p:spPr>
          <a:xfrm>
            <a:off x="457200" y="2395728"/>
            <a:ext cx="594360" cy="59436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03</a:t>
            </a:r>
            <a:endParaRPr lang="en-US" sz="2000" dirty="0"/>
          </a:p>
        </p:txBody>
      </p:sp>
      <p:sp>
        <p:nvSpPr>
          <p:cNvPr id="15" name="Text 13"/>
          <p:cNvSpPr/>
          <p:nvPr/>
        </p:nvSpPr>
        <p:spPr>
          <a:xfrm>
            <a:off x="1097280" y="2395728"/>
            <a:ext cx="3520440" cy="1005840"/>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Las técnicas estáticas (RTF, revisiones de código) reducen el costo de corrección al detectar defectos en su fase de introducción.</a:t>
            </a:r>
            <a:endParaRPr lang="en-US" sz="950" dirty="0"/>
          </a:p>
        </p:txBody>
      </p:sp>
      <p:sp>
        <p:nvSpPr>
          <p:cNvPr id="16" name="Shape 14"/>
          <p:cNvSpPr/>
          <p:nvPr/>
        </p:nvSpPr>
        <p:spPr>
          <a:xfrm>
            <a:off x="4892040" y="2304288"/>
            <a:ext cx="4343400" cy="1188720"/>
          </a:xfrm>
          <a:prstGeom prst="roundRect">
            <a:avLst>
              <a:gd name="adj" fmla="val 7692"/>
            </a:avLst>
          </a:prstGeom>
          <a:solidFill>
            <a:srgbClr val="000000"/>
          </a:solidFill>
          <a:ln/>
          <a:effectLst>
            <a:outerShdw sx="100000" sy="100000" kx="0" ky="0" algn="bl" rotWithShape="0" blurRad="101600" dist="25400" dir="2700000">
              <a:srgbClr val="000000">
                <a:alpha val="12000"/>
              </a:srgbClr>
            </a:outerShdw>
          </a:effectLst>
        </p:spPr>
      </p:sp>
      <p:sp>
        <p:nvSpPr>
          <p:cNvPr id="17" name="Shape 15"/>
          <p:cNvSpPr/>
          <p:nvPr/>
        </p:nvSpPr>
        <p:spPr>
          <a:xfrm>
            <a:off x="4892040" y="2304288"/>
            <a:ext cx="4343400" cy="1188720"/>
          </a:xfrm>
          <a:prstGeom prst="roundRect">
            <a:avLst>
              <a:gd name="adj" fmla="val 7692"/>
            </a:avLst>
          </a:prstGeom>
          <a:solidFill>
            <a:srgbClr val="FFFFFF">
              <a:alpha val="8000"/>
            </a:srgbClr>
          </a:solidFill>
          <a:ln/>
          <a:effectLst>
            <a:outerShdw sx="100000" sy="100000" kx="0" ky="0" algn="bl" rotWithShape="0" blurRad="101600" dist="25400" dir="2700000">
              <a:srgbClr val="000000">
                <a:alpha val="12000"/>
              </a:srgbClr>
            </a:outerShdw>
          </a:effectLst>
        </p:spPr>
      </p:sp>
      <p:sp>
        <p:nvSpPr>
          <p:cNvPr id="18" name="Text 16"/>
          <p:cNvSpPr/>
          <p:nvPr/>
        </p:nvSpPr>
        <p:spPr>
          <a:xfrm>
            <a:off x="4983480" y="2395728"/>
            <a:ext cx="594360" cy="59436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04</a:t>
            </a:r>
            <a:endParaRPr lang="en-US" sz="2000" dirty="0"/>
          </a:p>
        </p:txBody>
      </p:sp>
      <p:sp>
        <p:nvSpPr>
          <p:cNvPr id="19" name="Text 17"/>
          <p:cNvSpPr/>
          <p:nvPr/>
        </p:nvSpPr>
        <p:spPr>
          <a:xfrm>
            <a:off x="5623560" y="2395728"/>
            <a:ext cx="3520440" cy="1005840"/>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Las herramientas (SonarQube, Selenium, JUnit, JIRA) son implementaciones de las técnicas —no sustituyen el criterio técnico del profesional.</a:t>
            </a:r>
            <a:endParaRPr lang="en-US" sz="950" dirty="0"/>
          </a:p>
        </p:txBody>
      </p:sp>
      <p:sp>
        <p:nvSpPr>
          <p:cNvPr id="20" name="Shape 18"/>
          <p:cNvSpPr/>
          <p:nvPr/>
        </p:nvSpPr>
        <p:spPr>
          <a:xfrm>
            <a:off x="365760" y="3602736"/>
            <a:ext cx="4343400" cy="1188720"/>
          </a:xfrm>
          <a:prstGeom prst="roundRect">
            <a:avLst>
              <a:gd name="adj" fmla="val 7692"/>
            </a:avLst>
          </a:prstGeom>
          <a:solidFill>
            <a:srgbClr val="000000"/>
          </a:solidFill>
          <a:ln/>
          <a:effectLst>
            <a:outerShdw sx="100000" sy="100000" kx="0" ky="0" algn="bl" rotWithShape="0" blurRad="101600" dist="25400" dir="2700000">
              <a:srgbClr val="000000">
                <a:alpha val="12000"/>
              </a:srgbClr>
            </a:outerShdw>
          </a:effectLst>
        </p:spPr>
      </p:sp>
      <p:sp>
        <p:nvSpPr>
          <p:cNvPr id="21" name="Shape 19"/>
          <p:cNvSpPr/>
          <p:nvPr/>
        </p:nvSpPr>
        <p:spPr>
          <a:xfrm>
            <a:off x="365760" y="3602736"/>
            <a:ext cx="4343400" cy="1188720"/>
          </a:xfrm>
          <a:prstGeom prst="roundRect">
            <a:avLst>
              <a:gd name="adj" fmla="val 7692"/>
            </a:avLst>
          </a:prstGeom>
          <a:solidFill>
            <a:srgbClr val="FFFFFF">
              <a:alpha val="8000"/>
            </a:srgbClr>
          </a:solidFill>
          <a:ln/>
          <a:effectLst>
            <a:outerShdw sx="100000" sy="100000" kx="0" ky="0" algn="bl" rotWithShape="0" blurRad="101600" dist="25400" dir="2700000">
              <a:srgbClr val="000000">
                <a:alpha val="12000"/>
              </a:srgbClr>
            </a:outerShdw>
          </a:effectLst>
        </p:spPr>
      </p:sp>
      <p:sp>
        <p:nvSpPr>
          <p:cNvPr id="22" name="Text 20"/>
          <p:cNvSpPr/>
          <p:nvPr/>
        </p:nvSpPr>
        <p:spPr>
          <a:xfrm>
            <a:off x="457200" y="3694176"/>
            <a:ext cx="594360" cy="59436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05</a:t>
            </a:r>
            <a:endParaRPr lang="en-US" sz="2000" dirty="0"/>
          </a:p>
        </p:txBody>
      </p:sp>
      <p:sp>
        <p:nvSpPr>
          <p:cNvPr id="23" name="Text 21"/>
          <p:cNvSpPr/>
          <p:nvPr/>
        </p:nvSpPr>
        <p:spPr>
          <a:xfrm>
            <a:off x="1097280" y="3694176"/>
            <a:ext cx="3520440" cy="1005840"/>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En entornos CI/CD, las pruebas continuas son el mecanismo de QA central. La tasa de éxito del pipeline es la métrica de salud del proceso.</a:t>
            </a:r>
            <a:endParaRPr lang="en-US" sz="950" dirty="0"/>
          </a:p>
        </p:txBody>
      </p:sp>
      <p:sp>
        <p:nvSpPr>
          <p:cNvPr id="24" name="Shape 22"/>
          <p:cNvSpPr/>
          <p:nvPr/>
        </p:nvSpPr>
        <p:spPr>
          <a:xfrm>
            <a:off x="4892040" y="3602736"/>
            <a:ext cx="4343400" cy="1188720"/>
          </a:xfrm>
          <a:prstGeom prst="roundRect">
            <a:avLst>
              <a:gd name="adj" fmla="val 7692"/>
            </a:avLst>
          </a:prstGeom>
          <a:solidFill>
            <a:srgbClr val="000000"/>
          </a:solidFill>
          <a:ln/>
          <a:effectLst>
            <a:outerShdw sx="100000" sy="100000" kx="0" ky="0" algn="bl" rotWithShape="0" blurRad="101600" dist="25400" dir="2700000">
              <a:srgbClr val="000000">
                <a:alpha val="12000"/>
              </a:srgbClr>
            </a:outerShdw>
          </a:effectLst>
        </p:spPr>
      </p:sp>
      <p:sp>
        <p:nvSpPr>
          <p:cNvPr id="25" name="Shape 23"/>
          <p:cNvSpPr/>
          <p:nvPr/>
        </p:nvSpPr>
        <p:spPr>
          <a:xfrm>
            <a:off x="4892040" y="3602736"/>
            <a:ext cx="4343400" cy="1188720"/>
          </a:xfrm>
          <a:prstGeom prst="roundRect">
            <a:avLst>
              <a:gd name="adj" fmla="val 7692"/>
            </a:avLst>
          </a:prstGeom>
          <a:solidFill>
            <a:srgbClr val="FFFFFF">
              <a:alpha val="8000"/>
            </a:srgbClr>
          </a:solidFill>
          <a:ln/>
          <a:effectLst>
            <a:outerShdw sx="100000" sy="100000" kx="0" ky="0" algn="bl" rotWithShape="0" blurRad="101600" dist="25400" dir="2700000">
              <a:srgbClr val="000000">
                <a:alpha val="12000"/>
              </a:srgbClr>
            </a:outerShdw>
          </a:effectLst>
        </p:spPr>
      </p:sp>
      <p:sp>
        <p:nvSpPr>
          <p:cNvPr id="26" name="Text 24"/>
          <p:cNvSpPr/>
          <p:nvPr/>
        </p:nvSpPr>
        <p:spPr>
          <a:xfrm>
            <a:off x="4983480" y="3694176"/>
            <a:ext cx="594360" cy="59436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06</a:t>
            </a:r>
            <a:endParaRPr lang="en-US" sz="2000" dirty="0"/>
          </a:p>
        </p:txBody>
      </p:sp>
      <p:sp>
        <p:nvSpPr>
          <p:cNvPr id="27" name="Text 25"/>
          <p:cNvSpPr/>
          <p:nvPr/>
        </p:nvSpPr>
        <p:spPr>
          <a:xfrm>
            <a:off x="5623560" y="3694176"/>
            <a:ext cx="3520440" cy="1005840"/>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Medir sin actuar no mejora la calidad. Las métricas tienen valor solo cuando desencadenan acciones correctivas fundamentadas.</a:t>
            </a:r>
            <a:endParaRPr lang="en-US" sz="950" dirty="0"/>
          </a:p>
        </p:txBody>
      </p:sp>
      <p:sp>
        <p:nvSpPr>
          <p:cNvPr id="28" name="Text 26"/>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Estándares y Métricas de Calidad en el Desarrollo de Software · UNIMINUTO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Herramientas de Calidad de Software – Semana 8</dc:title>
  <dc:subject>PptxGenJS Presentation</dc:subject>
  <dc:creator>Cátedra Estándares y Métricas de Calidad</dc:creator>
  <cp:lastModifiedBy>Cátedra Estándares y Métricas de Calidad</cp:lastModifiedBy>
  <cp:revision>1</cp:revision>
  <dcterms:created xsi:type="dcterms:W3CDTF">2026-06-27T16:13:55Z</dcterms:created>
  <dcterms:modified xsi:type="dcterms:W3CDTF">2026-06-27T16:13:55Z</dcterms:modified>
</cp:coreProperties>
</file>