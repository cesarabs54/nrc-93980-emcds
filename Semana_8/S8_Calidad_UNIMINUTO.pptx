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68" r:id="rId4"/>
    <p:sldId id="269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EEFD"/>
    <a:srgbClr val="B8F6FE"/>
    <a:srgbClr val="FFFFFF"/>
    <a:srgbClr val="007A37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145D28-35B6-8042-98E8-A2DB3305423D}" v="6" dt="2024-03-01T21:35:48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6374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5C25A-EB36-47A0-9FD7-DE8450ACEFF0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C55DB-397F-4AC6-8647-D1E20B065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371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D72862-1FC3-85DE-E7F9-11D463592D43}"/>
              </a:ext>
            </a:extLst>
          </p:cNvPr>
          <p:cNvSpPr txBox="1"/>
          <p:nvPr/>
        </p:nvSpPr>
        <p:spPr>
          <a:xfrm>
            <a:off x="218734" y="3166762"/>
            <a:ext cx="1096713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Herramientas de calidad de software</a:t>
            </a:r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MX" sz="2800" b="1" dirty="0">
                <a:solidFill>
                  <a:srgbClr val="7BEEFD"/>
                </a:solidFill>
                <a:latin typeface="Century Gothic" panose="020B0502020202020204" pitchFamily="34" charset="0"/>
              </a:rPr>
              <a:t>Semana 8</a:t>
            </a:r>
          </a:p>
          <a:p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04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Contenido de la Semana 8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300"/>
              </a:spcAft>
              <a:buNone/>
            </a:pPr>
            <a:r>
              <a:rPr lang="es-CO" sz="1800" b="1" dirty="0">
                <a:solidFill>
                  <a:srgbClr val="003366"/>
                </a:solidFill>
                <a:latin typeface="Calibri"/>
              </a:rPr>
              <a:t>01  QA: Concepto e Importancia</a:t>
            </a:r>
          </a:p>
          <a:p>
            <a:pPr marL="342900" lvl="0" indent="0">
              <a:lnSpc>
                <a:spcPct val="107000"/>
              </a:lnSpc>
              <a:spcAft>
                <a:spcPts val="50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Definicion, objetivos, rol en el ciclo de vida del software</a:t>
            </a:r>
          </a:p>
          <a:p>
            <a:pPr marL="0" lvl="0" indent="0">
              <a:lnSpc>
                <a:spcPct val="107000"/>
              </a:lnSpc>
              <a:spcAft>
                <a:spcPts val="300"/>
              </a:spcAft>
              <a:buNone/>
            </a:pPr>
            <a:r>
              <a:rPr lang="es-CO" sz="1800" b="1" dirty="0">
                <a:solidFill>
                  <a:srgbClr val="003366"/>
                </a:solidFill>
                <a:latin typeface="Calibri"/>
              </a:rPr>
              <a:t>02  Marco de Verificacion y Validacion (V&amp;V)</a:t>
            </a:r>
          </a:p>
          <a:p>
            <a:pPr marL="342900" lvl="0" indent="0">
              <a:lnSpc>
                <a:spcPct val="107000"/>
              </a:lnSpc>
              <a:spcAft>
                <a:spcPts val="50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Diferencias clave y ciclo PDCA integrador</a:t>
            </a:r>
          </a:p>
          <a:p>
            <a:pPr marL="0" lvl="0" indent="0">
              <a:lnSpc>
                <a:spcPct val="107000"/>
              </a:lnSpc>
              <a:spcAft>
                <a:spcPts val="300"/>
              </a:spcAft>
              <a:buNone/>
            </a:pPr>
            <a:r>
              <a:rPr lang="es-CO" sz="1800" b="1" dirty="0">
                <a:solidFill>
                  <a:srgbClr val="003366"/>
                </a:solidFill>
                <a:latin typeface="Calibri"/>
              </a:rPr>
              <a:t>03  Tecnicas Principales de QA</a:t>
            </a:r>
          </a:p>
          <a:p>
            <a:pPr marL="342900" lvl="0" indent="0">
              <a:lnSpc>
                <a:spcPct val="107000"/>
              </a:lnSpc>
              <a:spcAft>
                <a:spcPts val="50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Revisiones, inspecciones, pruebas estaticas y dinamicas</a:t>
            </a:r>
          </a:p>
          <a:p>
            <a:pPr marL="0" lvl="0" indent="0">
              <a:lnSpc>
                <a:spcPct val="107000"/>
              </a:lnSpc>
              <a:spcAft>
                <a:spcPts val="300"/>
              </a:spcAft>
              <a:buNone/>
            </a:pPr>
            <a:r>
              <a:rPr lang="es-CO" sz="1800" b="1" dirty="0">
                <a:solidFill>
                  <a:srgbClr val="003366"/>
                </a:solidFill>
                <a:latin typeface="Calibri"/>
              </a:rPr>
              <a:t>04  Herramientas Concretas de QA</a:t>
            </a:r>
          </a:p>
          <a:p>
            <a:pPr marL="342900" lvl="0" indent="0">
              <a:lnSpc>
                <a:spcPct val="107000"/>
              </a:lnSpc>
              <a:spcAft>
                <a:spcPts val="50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SonarQube, Selenium, JUnit, JIRA: descripcion y casos de uso</a:t>
            </a:r>
          </a:p>
          <a:p>
            <a:pPr marL="0" lvl="0" indent="0">
              <a:lnSpc>
                <a:spcPct val="107000"/>
              </a:lnSpc>
              <a:spcAft>
                <a:spcPts val="300"/>
              </a:spcAft>
              <a:buNone/>
            </a:pPr>
            <a:r>
              <a:rPr lang="es-CO" sz="1800" b="1" dirty="0">
                <a:solidFill>
                  <a:srgbClr val="003366"/>
                </a:solidFill>
                <a:latin typeface="Calibri"/>
              </a:rPr>
              <a:t>05  Metricas de Calidad e Interpretacion</a:t>
            </a:r>
          </a:p>
          <a:p>
            <a:pPr marL="342900" lvl="0" indent="0">
              <a:lnSpc>
                <a:spcPct val="107000"/>
              </a:lnSpc>
              <a:spcAft>
                <a:spcPts val="50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Medicion, interpretacion y acciones correctivas (ISO/IEC 25010)</a:t>
            </a:r>
          </a:p>
          <a:p>
            <a:pPr marL="0" lvl="0" indent="0">
              <a:lnSpc>
                <a:spcPct val="107000"/>
              </a:lnSpc>
              <a:spcAft>
                <a:spcPts val="300"/>
              </a:spcAft>
              <a:buNone/>
            </a:pPr>
            <a:r>
              <a:rPr lang="es-CO" sz="1800" b="1" dirty="0">
                <a:solidFill>
                  <a:srgbClr val="003366"/>
                </a:solidFill>
                <a:latin typeface="Calibri"/>
              </a:rPr>
              <a:t>06  QA en CI/CD | 07  Actividad Practica | 08  Referencias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000000"/>
            <a:ext cx="11500000" cy="6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>
                <a:solidFill>
                  <a:srgbClr val="003366"/>
                </a:solidFill>
                <a:latin typeface="Calibri"/>
              </a:rPr>
              <a:t>Conclusiones - Sintesis de la Semana 8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350000" cy="3935690"/>
          </a:xfrm>
          <a:prstGeom prst="rect">
            <a:avLst/>
          </a:prstGeom>
        </p:spPr>
        <p:txBody>
          <a:bodyPr wrap="square" anchor="ctr"/>
          <a:lstStyle/>
          <a:p>
            <a:pPr marL="342900" lvl="0" indent="-342900">
              <a:lnSpc>
                <a:spcPct val="107000"/>
              </a:lnSpc>
              <a:spcAft>
                <a:spcPts val="200"/>
              </a:spcAft>
              <a:buAutoNum type="arabicPeriod"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 xml:space="preserve">QA es una funcion estrategica y preventiva, no solo testing tardio. </a:t>
            </a:r>
            <a:r>
              <a:rPr lang="es-CO" sz="1600" dirty="0">
                <a:solidFill>
                  <a:srgbClr val="444444"/>
                </a:solidFill>
                <a:latin typeface="Calibri"/>
              </a:rPr>
              <a:t>La calidad se gestiona desde los requisitos, a lo largo de todo el ciclo de vida del software.</a:t>
            </a: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AutoNum type="arabicPeriod"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 xml:space="preserve">Verificacion y Validacion son complementarias. </a:t>
            </a:r>
            <a:r>
              <a:rPr lang="es-CO" sz="1600" dirty="0">
                <a:solidFill>
                  <a:srgbClr val="444444"/>
                </a:solidFill>
                <a:latin typeface="Calibri"/>
              </a:rPr>
              <a:t>V&amp;V sin el ciclo PDCA produce datos sin mejora continua. Ambas actividades deben integrarse sistematicamente.</a:t>
            </a: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AutoNum type="arabicPeriod"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 xml:space="preserve">Las tecnicas estaticas (RTF, revisiones de codigo) reducen el costo de correccion </a:t>
            </a:r>
            <a:r>
              <a:rPr lang="es-CO" sz="1600" dirty="0">
                <a:solidFill>
                  <a:srgbClr val="444444"/>
                </a:solidFill>
                <a:latin typeface="Calibri"/>
              </a:rPr>
              <a:t>al detectar defectos en la fase donde se introducen. La mayoría de organizaciones las ignora (Marin et al., 2019).</a:t>
            </a: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AutoNum type="arabicPeriod"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 xml:space="preserve">Las herramientas (SonarQube, Selenium, JUnit, JIRA) son implementaciones de las tecnicas, </a:t>
            </a:r>
            <a:r>
              <a:rPr lang="es-CO" sz="1600" dirty="0">
                <a:solidFill>
                  <a:srgbClr val="444444"/>
                </a:solidFill>
                <a:latin typeface="Calibri"/>
              </a:rPr>
              <a:t>no sustituyen el criterio tecnico del profesional. Saber elegir es la competencia clave.</a:t>
            </a: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AutoNum type="arabicPeriod"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 xml:space="preserve">En entornos CI/CD, las pruebas continuas son el mecanismo central de QA. </a:t>
            </a:r>
            <a:r>
              <a:rPr lang="es-CO" sz="1600" dirty="0">
                <a:solidFill>
                  <a:srgbClr val="444444"/>
                </a:solidFill>
                <a:latin typeface="Calibri"/>
              </a:rPr>
              <a:t>La tasa de exito del pipeline CI es la metrica de salud del proceso (Mascheroni y Irrazabal, 2018).</a:t>
            </a: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AutoNum type="arabicPeriod"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 xml:space="preserve">Medir sin actuar no mejora la calidad. </a:t>
            </a:r>
            <a:r>
              <a:rPr lang="es-CO" sz="1600" dirty="0">
                <a:solidFill>
                  <a:srgbClr val="444444"/>
                </a:solidFill>
                <a:latin typeface="Calibri"/>
              </a:rPr>
              <a:t>Las metricas tienen valor solo cuando desencadenan acciones correctivas fundamentadas, conectadas con CMMI (MA, CAR) e ISO/IEC 25010.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D72862-1FC3-85DE-E7F9-11D463592D43}"/>
              </a:ext>
            </a:extLst>
          </p:cNvPr>
          <p:cNvSpPr txBox="1"/>
          <p:nvPr/>
        </p:nvSpPr>
        <p:spPr>
          <a:xfrm>
            <a:off x="218734" y="3166762"/>
            <a:ext cx="10967131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Estándares y métricas de calidad en el desarrollo de software</a:t>
            </a:r>
          </a:p>
          <a:p>
            <a:r>
              <a:rPr lang="es-CO" sz="2800" b="1">
                <a:solidFill>
                  <a:srgbClr val="7BEEFD"/>
                </a:solidFill>
                <a:latin typeface="Century Gothic" panose="020B0502020202020204" pitchFamily="34" charset="0"/>
              </a:rPr>
              <a:t xml:space="preserve">Herramientas </a:t>
            </a:r>
            <a:r>
              <a:rPr lang="es-CO" sz="2800" b="1" dirty="0">
                <a:solidFill>
                  <a:srgbClr val="7BEEFD"/>
                </a:solidFill>
                <a:latin typeface="Century Gothic" panose="020B0502020202020204" pitchFamily="34" charset="0"/>
              </a:rPr>
              <a:t>de calidad de software</a:t>
            </a:r>
            <a:endParaRPr lang="es-MX" sz="2800" b="1" dirty="0">
              <a:solidFill>
                <a:srgbClr val="7BEEFD"/>
              </a:solidFill>
              <a:latin typeface="Century Gothic" panose="020B0502020202020204" pitchFamily="34" charset="0"/>
            </a:endParaRPr>
          </a:p>
          <a:p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04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01 | Aseguramiento de la Calidad de Software (QA)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200"/>
              </a:spcAft>
              <a:buNone/>
            </a:pPr>
            <a:r>
              <a:rPr lang="es-CO" sz="1500" b="1" i="1" dirty="0">
                <a:solidFill>
                  <a:srgbClr val="003366"/>
                </a:solidFill>
                <a:latin typeface="Calibri"/>
              </a:rPr>
              <a:t>ISO 9000:2000: “El grado en el que un conjunto de caracteristicas inherentes cumple con los requisitos (necesidad o expectativa establecida, generalmente implicita u obligatoria).”</a:t>
            </a:r>
          </a:p>
          <a:p>
            <a:pPr>
              <a:lnSpc>
                <a:spcPct val="107000"/>
              </a:lnSpc>
              <a:spcAft>
                <a:spcPts val="300"/>
              </a:spcAft>
              <a:buNone/>
            </a:pPr>
            <a:endParaRPr lang="es-CO" sz="1400" dirty="0"/>
          </a:p>
          <a:p>
            <a:pPr marL="0" indent="0">
              <a:lnSpc>
                <a:spcPct val="107000"/>
              </a:lnSpc>
              <a:spcAft>
                <a:spcPts val="20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✔  QA es funcion estrategica y preventiva, no solo testing</a:t>
            </a:r>
          </a:p>
          <a:p>
            <a:pPr marL="34290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Conjunto planificado de actividades para dar confianza en que el producto cumple los requisitos. Diferente del control de calidad (QC): QA es proactivo, QC es reactivo (Marin et al., 2019).</a:t>
            </a:r>
          </a:p>
          <a:p>
            <a:pPr marL="0" indent="0">
              <a:lnSpc>
                <a:spcPct val="107000"/>
              </a:lnSpc>
              <a:spcAft>
                <a:spcPts val="20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✔  Abarca todo el ciclo de vida del software</a:t>
            </a:r>
          </a:p>
          <a:p>
            <a:pPr marL="34290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Procesos, estandares y metricas aplicados desde los requisitos. El Standish Group reporta que el 50% de defectos se introducen en requisitos y el 30% en diseno (cit. Marin 2019).</a:t>
            </a:r>
          </a:p>
          <a:p>
            <a:pPr marL="0" indent="0">
              <a:lnSpc>
                <a:spcPct val="107000"/>
              </a:lnSpc>
              <a:spcAft>
                <a:spcPts val="20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✔  La calidad no es un factor mas: es ventaja competitiva</a:t>
            </a:r>
          </a:p>
          <a:p>
            <a:pPr marL="34290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“La calidad ya no es un factor mas, sino uno de los principales factores competitivos, sin el cual toda empresa estara condenada al fracaso” (Marin, Trujillo y Buedo, 2019).</a:t>
            </a:r>
          </a:p>
          <a:p>
            <a:pPr marL="0" indent="0">
              <a:lnSpc>
                <a:spcPct val="107000"/>
              </a:lnSpc>
              <a:spcAft>
                <a:spcPts val="20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✔  Detectar defectos tarde multiplica el costo de correccion</a:t>
            </a:r>
          </a:p>
          <a:p>
            <a:pPr marL="342900" indent="0">
              <a:lnSpc>
                <a:spcPct val="107000"/>
              </a:lnSpc>
              <a:spcAft>
                <a:spcPts val="20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Larman (1999): “Es mas barato y facil efectuar cambios durante el analisis y diseno que en la fase de construccion.” Las organizaciones invierten casi todo el esfuerzo QA en pruebas, ignorando la deteccion temprana (Marin et al., 2019).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02 | Marco de Verificacion y Validacion (V&amp;V)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150"/>
              </a:spcAft>
              <a:buNone/>
            </a:pPr>
            <a:r>
              <a:rPr lang="es-CO" sz="1700" b="1" dirty="0">
                <a:solidFill>
                  <a:srgbClr val="1F4E79"/>
                </a:solidFill>
                <a:latin typeface="Calibri"/>
              </a:rPr>
              <a:t>VERIFICACION  |  “¿Estamos construyendo el producto correctamente?”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Evalua productos de trabajo (documentos, codigo, disenos) comparandolos contra especificaciones y estandares. Tecnicas: revisiones, inspecciones, auditorias. No requiere ejecutar el software (IEEE Std 1028).</a:t>
            </a:r>
          </a:p>
          <a:p>
            <a:pPr>
              <a:lnSpc>
                <a:spcPct val="107000"/>
              </a:lnSpc>
              <a:spcAft>
                <a:spcPts val="300"/>
              </a:spcAft>
              <a:buNone/>
            </a:pPr>
            <a:endParaRPr lang="es-CO" sz="1400" dirty="0"/>
          </a:p>
          <a:p>
            <a:pPr marL="0" indent="0">
              <a:lnSpc>
                <a:spcPct val="107000"/>
              </a:lnSpc>
              <a:spcAft>
                <a:spcPts val="150"/>
              </a:spcAft>
              <a:buNone/>
            </a:pPr>
            <a:r>
              <a:rPr lang="es-CO" sz="1700" b="1" dirty="0">
                <a:solidFill>
                  <a:srgbClr val="7B3F00"/>
                </a:solidFill>
                <a:latin typeface="Calibri"/>
              </a:rPr>
              <a:t>VALIDACION  |  “¿Estamos construyendo el producto correcto?”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Evalua el producto con respecto a las necesidades del usuario. Requiere participacion del cliente y un tercero objetivo. Tecnicas: pruebas de aceptacion, prototipos, demos. Generalmente implica ejecucion del software (Marin et al., 2019).</a:t>
            </a:r>
          </a:p>
          <a:p>
            <a:pPr>
              <a:lnSpc>
                <a:spcPct val="107000"/>
              </a:lnSpc>
              <a:spcAft>
                <a:spcPts val="300"/>
              </a:spcAft>
              <a:buNone/>
            </a:pPr>
            <a:endParaRPr lang="es-CO" sz="1400" dirty="0"/>
          </a:p>
          <a:p>
            <a:pPr marL="0" indent="0">
              <a:lnSpc>
                <a:spcPct val="107000"/>
              </a:lnSpc>
              <a:spcAft>
                <a:spcPts val="150"/>
              </a:spcAft>
              <a:buNone/>
            </a:pPr>
            <a:r>
              <a:rPr lang="es-CO" sz="1700" b="1" dirty="0">
                <a:solidFill>
                  <a:srgbClr val="003366"/>
                </a:solidFill>
                <a:latin typeface="Calibri"/>
              </a:rPr>
              <a:t>MARCO INTEGRADOR: Ciclo PDCA (Shewhart/Deming) aplicado a V&amp;V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PLAN: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Planificar actividades de V&amp;V segun cronograma del proyecto.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DO: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Ejecutar revisiones, pruebas e inspecciones programadas.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CHECK: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Analizar incidencias: defectos introducidos vs. detectados por fase.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ACT: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Aplicar mejoras, lecciones aprendidas y acciones correctivas.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03 | Tecnicas Principales de QA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700" b="1" dirty="0">
                <a:solidFill>
                  <a:srgbClr val="003366"/>
                </a:solidFill>
                <a:latin typeface="Calibri"/>
              </a:rPr>
              <a:t>TECNICAS ESTATICAS  (no requieren ejecucion del software)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Revisiones de adherencia: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verifican cumplimiento de procesos y productos de trabajo segun metodologia institucionalizada. Al finalizar cada fase o cada tres meses como maximo (Marin et al., 2019).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Revisiones Tecnicas Formales (RTF):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evaluacion tecnica de artefactos: requisitos, arquitectura, diseno. El 50% de defectos se introducen en requisitos (Standish Group, cit. Marin 2019) (IEEE Std 1028).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Revisiones de codigo (code review):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analisis estatico del codigo fuente para detectar defectos cercanos a su introduccion. Herramienta de soporte: SonarQube.</a:t>
            </a:r>
          </a:p>
          <a:p>
            <a:pPr>
              <a:lnSpc>
                <a:spcPct val="107000"/>
              </a:lnSpc>
              <a:spcAft>
                <a:spcPts val="250"/>
              </a:spcAft>
              <a:buNone/>
            </a:pPr>
            <a:endParaRPr lang="es-CO" sz="1400" dirty="0"/>
          </a:p>
          <a:p>
            <a:pPr marL="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700" b="1" dirty="0">
                <a:solidFill>
                  <a:srgbClr val="1F4E79"/>
                </a:solidFill>
                <a:latin typeface="Calibri"/>
              </a:rPr>
              <a:t>TECNICAS DINAMICAS  (requieren ejecucion del software)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1F4E79"/>
                </a:solidFill>
                <a:latin typeface="Calibri"/>
              </a:rPr>
              <a:t xml:space="preserve">Pruebas unitarias: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validan unidades individuales de codigo de forma aislada. Herramienta: JUnit / TestNG.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1F4E79"/>
                </a:solidFill>
                <a:latin typeface="Calibri"/>
              </a:rPr>
              <a:t xml:space="preserve">Pruebas de integracion: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verifican la interaccion entre modulos. Clave en entornos CI/CD (Mascheroni y Irrazabal, 2018).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1F4E79"/>
                </a:solidFill>
                <a:latin typeface="Calibri"/>
              </a:rPr>
              <a:t xml:space="preserve">Pruebas de aceptacion: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validacion con el cliente. Principio: deben participar cliente, equipo de desarrollo y un tercero objetivo que avale la objetividad del proceso (Marin et al., 2019).</a:t>
            </a:r>
          </a:p>
          <a:p>
            <a:pPr>
              <a:lnSpc>
                <a:spcPct val="107000"/>
              </a:lnSpc>
              <a:spcAft>
                <a:spcPts val="20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300" b="1" i="1" dirty="0">
                <a:solidFill>
                  <a:srgbClr val="7B3F00"/>
                </a:solidFill>
                <a:latin typeface="Calibri"/>
              </a:rPr>
              <a:t xml:space="preserve">Nota clave: </a:t>
            </a:r>
            <a:r>
              <a:rPr lang="es-CO" sz="1300" dirty="0">
                <a:solidFill>
                  <a:srgbClr val="444444"/>
                </a:solidFill>
                <a:latin typeface="Calibri"/>
              </a:rPr>
              <a:t>Las tecnicas estaticas detectan defectos mas cerca de donde se introducen, reduciendo el costo de correccion. La mayoria de organizaciones aplica casi todo el esfuerzo QA en pruebas (dinamicas) e ignora las estaticas (Marin et al., 2019).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04 | Herramientas de QA: SonarQube y Selenium WebDriver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800" b="1" dirty="0">
                <a:solidFill>
                  <a:srgbClr val="003366"/>
                </a:solidFill>
                <a:latin typeface="Calibri"/>
              </a:rPr>
              <a:t>SonarQube  |  Analisis Estatico / Calidad de Codigo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444444"/>
                </a:solidFill>
                <a:latin typeface="Calibri"/>
              </a:rPr>
              <a:t xml:space="preserve">Que hace: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plataforma de inspeccion continua de codigo. Detecta bugs, vulnerabilidades y code smells. Mide deuda tecnica en escala A-E. Se integra con pipelines CI/CD (Jenkins, GitHub Actions).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444444"/>
                </a:solidFill>
                <a:latin typeface="Calibri"/>
              </a:rPr>
              <a:t xml:space="preserve">Caso de uso: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revision de codigo en cada commit; quality gates que bloquean el pipeline si el codigo no cumple umbrales de calidad; metricas de mantenibilidad y seguridad alineadas con ISO/IEC 25010.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444444"/>
                </a:solidFill>
                <a:latin typeface="Calibri"/>
              </a:rPr>
              <a:t xml:space="preserve">Norma alineada: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ISO/IEC 25010 - caracteristicas de Mantenibilidad y Seguridad. docs.sonarsource.com</a:t>
            </a:r>
          </a:p>
          <a:p>
            <a:pPr>
              <a:lnSpc>
                <a:spcPct val="107000"/>
              </a:lnSpc>
              <a:spcAft>
                <a:spcPts val="350"/>
              </a:spcAft>
              <a:buNone/>
            </a:pPr>
            <a:endParaRPr lang="es-CO" sz="1400" dirty="0"/>
          </a:p>
          <a:p>
            <a:pPr marL="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800" b="1" dirty="0">
                <a:solidFill>
                  <a:srgbClr val="1F4E79"/>
                </a:solidFill>
                <a:latin typeface="Calibri"/>
              </a:rPr>
              <a:t>Selenium WebDriver  |  Pruebas Dinamicas / UI Automatizadas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444444"/>
                </a:solidFill>
                <a:latin typeface="Calibri"/>
              </a:rPr>
              <a:t xml:space="preserve">Que hace: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framework de automatizacion de pruebas de interfaz web. Simula interacciones del usuario en multiples navegadores y sistemas operativos. Fundamento del CI desde que los niveles mas altos de prueba pudieron automatizarse (Mascheroni y Irrazabal, 2018).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444444"/>
                </a:solidFill>
                <a:latin typeface="Calibri"/>
              </a:rPr>
              <a:t xml:space="preserve">Caso de uso: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pruebas de regresion funcional y de sistema en el Acceptance Stage del Deployment Pipeline. Permite verificar el despliegue automatizado antes de liberar a produccion.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444444"/>
                </a:solidFill>
                <a:latin typeface="Calibri"/>
              </a:rPr>
              <a:t xml:space="preserve">Norma alineada: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ISO/IEC 25010 - Funcionalidad y Portabilidad. selenium.dev/documentation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04 | Herramientas de QA: JUnit / TestNG y JIRA + Xray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800" b="1" dirty="0">
                <a:solidFill>
                  <a:srgbClr val="003366"/>
                </a:solidFill>
                <a:latin typeface="Calibri"/>
              </a:rPr>
              <a:t>JUnit 5 / TestNG  |  Pruebas Unitarias en Java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444444"/>
                </a:solidFill>
                <a:latin typeface="Calibri"/>
              </a:rPr>
              <a:t xml:space="preserve">Que hace: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frameworks xUnit para pruebas unitarias en Java. JUnit 5 ofrece extensiones avanzadas (@ParameterizedTest, @ExtendWith). TestNG permite agrupacion, paralelismo y configuracion flexible de suites.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444444"/>
                </a:solidFill>
                <a:latin typeface="Calibri"/>
              </a:rPr>
              <a:t xml:space="preserve">Caso de uso: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base del Commit Stage en el Deployment Pipeline. Se integra con Maven/Gradle y plataformas CI. Primera barrera de calidad: si las pruebas unitarias fallan, el pipeline se detiene antes de avanzar.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444444"/>
                </a:solidFill>
                <a:latin typeface="Calibri"/>
              </a:rPr>
              <a:t xml:space="preserve">Norma alineada: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ISO/IEC 25010 - Confiabilidad y Mantenibilidad. junit.org/junit5/docs</a:t>
            </a:r>
          </a:p>
          <a:p>
            <a:pPr>
              <a:lnSpc>
                <a:spcPct val="107000"/>
              </a:lnSpc>
              <a:spcAft>
                <a:spcPts val="350"/>
              </a:spcAft>
              <a:buNone/>
            </a:pPr>
            <a:endParaRPr lang="es-CO" sz="1400" dirty="0"/>
          </a:p>
          <a:p>
            <a:pPr marL="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800" b="1" dirty="0">
                <a:solidFill>
                  <a:srgbClr val="1F4E79"/>
                </a:solidFill>
                <a:latin typeface="Calibri"/>
              </a:rPr>
              <a:t>JIRA + Zephyr / Xray  |  Gestion de Defectos y Trazabilidad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444444"/>
                </a:solidFill>
                <a:latin typeface="Calibri"/>
              </a:rPr>
              <a:t xml:space="preserve">Que hace: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JIRA gestiona el ciclo de vida de defectos y user stories. Los plugins Zephyr/Xray agregan gestion de casos de prueba y trazabilidad requisito - caso de prueba - defecto.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444444"/>
                </a:solidFill>
                <a:latin typeface="Calibri"/>
              </a:rPr>
              <a:t xml:space="preserve">Caso de uso: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centraliza el registro de defectos, su clasificacion por fase de introduccion y el seguimiento de acciones correctivas. Soporta auditorias CMMI (proceso CAR - Causal Analysis and Resolution) y reportes de tendencias de calidad.</a:t>
            </a:r>
          </a:p>
          <a:p>
            <a:pPr marL="34290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dirty="0">
                <a:solidFill>
                  <a:srgbClr val="444444"/>
                </a:solidFill>
                <a:latin typeface="Calibri"/>
              </a:rPr>
              <a:t xml:space="preserve">Norma alineada: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CMMI-DEV v2.0 (PA: CAR, MA) e ISO/IEC 25010 - Trazabilidad. docs.getxray.app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05 | Metricas de Calidad: Medicion e Interpretacion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00" b="1" i="1" dirty="0">
                <a:solidFill>
                  <a:srgbClr val="444444"/>
                </a:solidFill>
                <a:latin typeface="Calibri"/>
              </a:rPr>
              <a:t>Alineadas con ISO/IEC 25010 (caracteristicas de calidad del producto)</a:t>
            </a:r>
          </a:p>
          <a:p>
            <a:pPr>
              <a:lnSpc>
                <a:spcPct val="107000"/>
              </a:lnSpc>
              <a:spcAft>
                <a:spcPts val="8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500" b="1" dirty="0">
                <a:solidFill>
                  <a:srgbClr val="003366"/>
                </a:solidFill>
                <a:latin typeface="Calibri"/>
              </a:rPr>
              <a:t xml:space="preserve">1. Densidad de defectos  </a:t>
            </a:r>
            <a:r>
              <a:rPr lang="es-CO" sz="1300" dirty="0">
                <a:solidFill>
                  <a:srgbClr val="444444"/>
                </a:solidFill>
                <a:latin typeface="Calibri"/>
              </a:rPr>
              <a:t>= Defectos / KLOC  |  Referencia: &lt;1-5/KLOC aceptable segun dominio  |  Si se deteriora: revision de codigo + analisis causa raiz (CMMI CAR)</a:t>
            </a:r>
          </a:p>
          <a:p>
            <a:pPr marL="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500" b="1" dirty="0">
                <a:solidFill>
                  <a:srgbClr val="003366"/>
                </a:solidFill>
                <a:latin typeface="Calibri"/>
              </a:rPr>
              <a:t xml:space="preserve">2. Cobertura de pruebas  </a:t>
            </a:r>
            <a:r>
              <a:rPr lang="es-CO" sz="1300" dirty="0">
                <a:solidFill>
                  <a:srgbClr val="444444"/>
                </a:solidFill>
                <a:latin typeface="Calibri"/>
              </a:rPr>
              <a:t>= Lineas cubiertas / Total x 100  |  Referencia: &gt;80% para codigo critico  |  Si se deteriora: ampliar casos de prueba; refactorizar codigo no testeable</a:t>
            </a:r>
          </a:p>
          <a:p>
            <a:pPr marL="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500" b="1" dirty="0">
                <a:solidFill>
                  <a:srgbClr val="003366"/>
                </a:solidFill>
                <a:latin typeface="Calibri"/>
              </a:rPr>
              <a:t xml:space="preserve">3. Tasa de inyeccion de defectos por fase  </a:t>
            </a:r>
            <a:r>
              <a:rPr lang="es-CO" sz="1300" dirty="0">
                <a:solidFill>
                  <a:srgbClr val="444444"/>
                </a:solidFill>
                <a:latin typeface="Calibri"/>
              </a:rPr>
              <a:t>= Defectos introducidos en fase X / Total  |  Identifica fases criticas (50% en requisitos, Marin 2019)  |  Si se deteriora: aniadir RTF o revisiones de adherencia en esa fase</a:t>
            </a:r>
          </a:p>
          <a:p>
            <a:pPr marL="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500" b="1" dirty="0">
                <a:solidFill>
                  <a:srgbClr val="003366"/>
                </a:solidFill>
                <a:latin typeface="Calibri"/>
              </a:rPr>
              <a:t xml:space="preserve">4. Tiempo de deteccion de defectos  </a:t>
            </a:r>
            <a:r>
              <a:rPr lang="es-CO" sz="1300" dirty="0">
                <a:solidFill>
                  <a:srgbClr val="444444"/>
                </a:solidFill>
                <a:latin typeface="Calibri"/>
              </a:rPr>
              <a:t>= Fase deteccion - Fase introduccion  |  Menor tiempo = menor costo de correccion  |  Si se deteriora: shift-left testing (actividades QA mas tempranas)</a:t>
            </a:r>
          </a:p>
          <a:p>
            <a:pPr marL="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500" b="1" dirty="0">
                <a:solidFill>
                  <a:srgbClr val="003366"/>
                </a:solidFill>
                <a:latin typeface="Calibri"/>
              </a:rPr>
              <a:t xml:space="preserve">5. Tasa de exito del pipeline CI  </a:t>
            </a:r>
            <a:r>
              <a:rPr lang="es-CO" sz="1300" dirty="0">
                <a:solidFill>
                  <a:srgbClr val="444444"/>
                </a:solidFill>
                <a:latin typeface="Calibri"/>
              </a:rPr>
              <a:t>= Builds exitosos / Total builds x 100  |  &lt;70% indica inestabilidad  |  Si se deteriora: revisar pruebas fragiles (Mascheroni y Irrazabal, 2018)</a:t>
            </a:r>
          </a:p>
          <a:p>
            <a:pPr marL="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500" b="1" dirty="0">
                <a:solidFill>
                  <a:srgbClr val="003366"/>
                </a:solidFill>
                <a:latin typeface="Calibri"/>
              </a:rPr>
              <a:t xml:space="preserve">6. Deuda tecnica (SonarQube)  </a:t>
            </a:r>
            <a:r>
              <a:rPr lang="es-CO" sz="1300" dirty="0">
                <a:solidFill>
                  <a:srgbClr val="444444"/>
                </a:solidFill>
                <a:latin typeface="Calibri"/>
              </a:rPr>
              <a:t>= Minutos estimados de remediacion  |  Escala A-E; A = minima deuda  |  Si se deteriora: planificar sprints de remediacion; fijar quality gates en SonarQube</a:t>
            </a:r>
          </a:p>
          <a:p>
            <a:pPr>
              <a:lnSpc>
                <a:spcPct val="107000"/>
              </a:lnSpc>
              <a:spcAft>
                <a:spcPts val="15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300" b="1" i="1" dirty="0">
                <a:solidFill>
                  <a:srgbClr val="7B3F00"/>
                </a:solidFill>
                <a:latin typeface="Calibri"/>
              </a:rPr>
              <a:t xml:space="preserve">Principio clave: </a:t>
            </a:r>
            <a:r>
              <a:rPr lang="es-CO" sz="1300" dirty="0">
                <a:solidFill>
                  <a:srgbClr val="444444"/>
                </a:solidFill>
                <a:latin typeface="Calibri"/>
              </a:rPr>
              <a:t>medir sin actuar no mejora la calidad. Las metricas tienen valor solo cuando desencadenan acciones correctivas fundamentadas. Conexion con CMMI PA: MA (Medicion y Analisis) y CAR (Analisis Causal y Resolucion).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06 | QA en Entornos de Integracion y Entrega Continua (CI/CD)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Deployment Pipeline (Humble y Farley, 2010; cit. Mascheroni y Irrazabal, 2018)</a:t>
            </a:r>
          </a:p>
          <a:p>
            <a:pPr marL="342900" indent="0">
              <a:lnSpc>
                <a:spcPct val="107000"/>
              </a:lnSpc>
              <a:spcAft>
                <a:spcPts val="5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Commit Stage (JUnit + SonarQube)  →  Acceptance Stage (Selenium, API Tests)  →  Performance Stage (JMeter)  →  Exploratory Stage (QA manual)</a:t>
            </a:r>
          </a:p>
          <a:p>
            <a:pPr marL="342900" indent="0">
              <a:lnSpc>
                <a:spcPct val="107000"/>
              </a:lnSpc>
              <a:spcAft>
                <a:spcPts val="25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Cada etapa agrega confiabilidad al costo de mayor tiempo de ejecucion. El equilibrio entre velocidad y calidad es el desafio central de las pruebas continuas.</a:t>
            </a:r>
          </a:p>
          <a:p>
            <a:pPr marL="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Principales desafios y soluciones en CD (Mascheroni y Irrazabal, 2018)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Pruebas lentas bloquean el pipeline: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paralelizar; priorizar pruebas rapidas en Commit Stage.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Pruebas fragiles (flaky tests):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refactorizar; monitorear fallas recurrentes; aplicar retry policies selectivas.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Bajo nivel de automatizacion: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definir objetivos de cobertura por sprint; integrar SonarQube como quality gate.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Falta de trazabilidad requisito-prueba: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usar JIRA/Xray para vincular cada caso de prueba con el RF asociado.</a:t>
            </a:r>
          </a:p>
          <a:p>
            <a:pPr marL="342900" indent="0">
              <a:lnSpc>
                <a:spcPct val="107000"/>
              </a:lnSpc>
              <a:spcAft>
                <a:spcPts val="200"/>
              </a:spcAft>
              <a:buNone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Pruebas solo en etapas finales (shift-right):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incorporar RTF desde requisitos; aplicar shift-left testing.</a:t>
            </a:r>
          </a:p>
          <a:p>
            <a:pPr marL="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300" b="1" i="1" dirty="0">
                <a:solidFill>
                  <a:srgbClr val="7B3F00"/>
                </a:solidFill>
                <a:latin typeface="Calibri"/>
              </a:rPr>
              <a:t xml:space="preserve">Definicion de pruebas continuas: </a:t>
            </a:r>
            <a:r>
              <a:rPr lang="es-CO" sz="1300" dirty="0">
                <a:solidFill>
                  <a:srgbClr val="444444"/>
                </a:solidFill>
                <a:latin typeface="Calibri"/>
              </a:rPr>
              <a:t>proceso de ejecucion de pruebas automatizadas como parte integral del pipeline de entrega, cubriendo multiples niveles, de modo que cada version candidata sea evaluada de forma continua y confiable (Mascheroni y Irrazabal, 2018).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07 | Actividad Practica - Analisis Integrador de Calidad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500" b="1" dirty="0">
                <a:solidFill>
                  <a:srgbClr val="003366"/>
                </a:solidFill>
                <a:latin typeface="Calibri"/>
              </a:rPr>
              <a:t>Contexto - Caso DataFlow Solutions</a:t>
            </a:r>
          </a:p>
          <a:p>
            <a:pPr marL="342900" indent="0">
              <a:lnSpc>
                <a:spcPct val="107000"/>
              </a:lnSpc>
              <a:spcAft>
                <a:spcPts val="200"/>
              </a:spcAft>
              <a:buNone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DataFlow Solutions ha desplegado su sistema de gestion de datos con pipeline CI/CD en Jenkins. El equipo QA reporta: densidad de defectos = 8.3/KLOC, cobertura de pruebas = 47%, tasa de exito del pipeline = 63%. SonarQube asigna calificacion C (deuda tecnica de 12 dias).</a:t>
            </a:r>
          </a:p>
          <a:p>
            <a:pPr marL="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500" b="1" dirty="0">
                <a:solidFill>
                  <a:srgbClr val="003366"/>
                </a:solidFill>
                <a:latin typeface="Calibri"/>
              </a:rPr>
              <a:t>Consigna (trabajo individual o en duplas, entrega 5 dias habiles)</a:t>
            </a:r>
          </a:p>
          <a:p>
            <a:pPr marL="342900" indent="-342900">
              <a:lnSpc>
                <a:spcPct val="107000"/>
              </a:lnSpc>
              <a:spcAft>
                <a:spcPts val="100"/>
              </a:spcAft>
              <a:buAutoNum type="arabicPeriod"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Diagnostico de metricas: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para cada metrica reportada, indique si esta en rango aceptable, el nivel de riesgo y la posible causa raiz. Fundamente con al menos una referencia tecnica (Pressman, IEEE, ISO 25010).</a:t>
            </a:r>
          </a:p>
          <a:p>
            <a:pPr marL="342900" indent="-342900">
              <a:lnSpc>
                <a:spcPct val="107000"/>
              </a:lnSpc>
              <a:spcAft>
                <a:spcPts val="100"/>
              </a:spcAft>
              <a:buAutoNum type="arabicPeriod"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Plan de actividades V&amp;V: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proponga actividades priorizadas para 2 sprints indicando tecnica, herramienta, responsable y producto de trabajo esperado. Use la estructura PDCA como marco.</a:t>
            </a:r>
          </a:p>
          <a:p>
            <a:pPr marL="342900" indent="-342900">
              <a:lnSpc>
                <a:spcPct val="107000"/>
              </a:lnSpc>
              <a:spcAft>
                <a:spcPts val="100"/>
              </a:spcAft>
              <a:buAutoNum type="arabicPeriod"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Acciones correctivas con trazabilidad: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esquema: metrica deteriorada - causa raiz - accion correctiva - indicador de exito. Conecte al menos una accion con practicas CMMI nivel 2 o 3.</a:t>
            </a:r>
          </a:p>
          <a:p>
            <a:pPr marL="342900" indent="-342900">
              <a:lnSpc>
                <a:spcPct val="107000"/>
              </a:lnSpc>
              <a:spcAft>
                <a:spcPts val="200"/>
              </a:spcAft>
              <a:buAutoNum type="arabicPeriod"/>
            </a:pPr>
            <a:r>
              <a:rPr lang="es-CO" sz="1400" b="1" dirty="0">
                <a:solidFill>
                  <a:srgbClr val="003366"/>
                </a:solidFill>
                <a:latin typeface="Calibri"/>
              </a:rPr>
              <a:t xml:space="preserve">Reflexion critica: </a:t>
            </a:r>
            <a:r>
              <a:rPr lang="es-CO" sz="1400" dirty="0">
                <a:solidFill>
                  <a:srgbClr val="444444"/>
                </a:solidFill>
                <a:latin typeface="Calibri"/>
              </a:rPr>
              <a:t>limitaciones de concentrar el QA solo en el pipeline CI/CD. Fundamente con Marin et al. (2019) sobre deteccion temprana de defectos.</a:t>
            </a:r>
          </a:p>
          <a:p>
            <a:pPr marL="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300" b="1" dirty="0">
                <a:solidFill>
                  <a:srgbClr val="444444"/>
                </a:solidFill>
                <a:latin typeface="Calibri"/>
              </a:rPr>
              <a:t xml:space="preserve">Criterios de evaluacion: </a:t>
            </a:r>
            <a:r>
              <a:rPr lang="es-CO" sz="1300" dirty="0">
                <a:solidFill>
                  <a:srgbClr val="444444"/>
                </a:solidFill>
                <a:latin typeface="Calibri"/>
              </a:rPr>
              <a:t>diagnostico fundamentado 25% | plan V&amp;V 25% | trazabilidad CMMI/ISO 30% | reflexion critica con bibliografía 20%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08 | Recursos, Normas y Lectura Recomendada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Normas y Estandares</a:t>
            </a:r>
          </a:p>
          <a:p>
            <a:pPr marL="342900" indent="-342900">
              <a:lnSpc>
                <a:spcPct val="107000"/>
              </a:lnSpc>
              <a:spcAft>
                <a:spcPts val="60"/>
              </a:spcAft>
              <a:buChar char="▸"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ISO/IEC 25010:2011 - Modelo de calidad del producto (SQuaRE). Caracteristicas: funcionalidad, confiabilidad, usabilidad, eficiencia, mantenibilidad, portabilidad, seguridad, compatibilidad.</a:t>
            </a:r>
          </a:p>
          <a:p>
            <a:pPr marL="342900" indent="-342900">
              <a:lnSpc>
                <a:spcPct val="107000"/>
              </a:lnSpc>
              <a:spcAft>
                <a:spcPts val="60"/>
              </a:spcAft>
              <a:buChar char="▸"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IEEE Std 829 - Documentacion de pruebas de software.</a:t>
            </a:r>
          </a:p>
          <a:p>
            <a:pPr marL="342900" indent="-342900">
              <a:lnSpc>
                <a:spcPct val="107000"/>
              </a:lnSpc>
              <a:spcAft>
                <a:spcPts val="60"/>
              </a:spcAft>
              <a:buChar char="▸"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IEEE Std 1028 - Revisiones e inspecciones del software.</a:t>
            </a:r>
          </a:p>
          <a:p>
            <a:pPr marL="342900" indent="-342900">
              <a:lnSpc>
                <a:spcPct val="107000"/>
              </a:lnSpc>
              <a:spcAft>
                <a:spcPts val="60"/>
              </a:spcAft>
              <a:buChar char="▸"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CMMI-DEV v2.0 - PA: VER, VAL, MA, CAR (Verificacion, Validacion, Medicion, Analisis Causal).</a:t>
            </a:r>
          </a:p>
          <a:p>
            <a:pPr marL="342900" indent="-342900">
              <a:lnSpc>
                <a:spcPct val="107000"/>
              </a:lnSpc>
              <a:spcAft>
                <a:spcPts val="200"/>
              </a:spcAft>
              <a:buChar char="▸"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ISO 29110 - Perfiles de ciclo de vida para VSE (PYME desarrolladoras de software).</a:t>
            </a:r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Literatura Academica</a:t>
            </a:r>
          </a:p>
          <a:p>
            <a:pPr marL="342900" indent="-342900">
              <a:lnSpc>
                <a:spcPct val="107000"/>
              </a:lnSpc>
              <a:spcAft>
                <a:spcPts val="60"/>
              </a:spcAft>
              <a:buChar char="▸"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Mascheroni, M. A. y Irrazabal, E. (2018). Problemas que afectan a la calidad de software en Entrega Continua y Pruebas Continuas. XXIV CACIC.</a:t>
            </a:r>
          </a:p>
          <a:p>
            <a:pPr marL="342900" indent="-342900">
              <a:lnSpc>
                <a:spcPct val="107000"/>
              </a:lnSpc>
              <a:spcAft>
                <a:spcPts val="60"/>
              </a:spcAft>
              <a:buChar char="▸"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Marin Diaz, A., Trujillo Casanola, Y. y Buedo Hidalgo, D. (2019). Apuntes para gestionar actividades de calidad en proyectos de desarrollo de software. Ingeniare, 27(2), 319-327.</a:t>
            </a:r>
          </a:p>
          <a:p>
            <a:pPr marL="342900" indent="-342900">
              <a:lnSpc>
                <a:spcPct val="107000"/>
              </a:lnSpc>
              <a:spcAft>
                <a:spcPts val="60"/>
              </a:spcAft>
              <a:buChar char="▸"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Pressman, R. S. y Maxim, B. R. (2021). Ingenieria del Software: Un Enfoque Practico. 9.a ed. McGraw-Hill.</a:t>
            </a:r>
          </a:p>
          <a:p>
            <a:pPr marL="342900" indent="-342900">
              <a:lnSpc>
                <a:spcPct val="107000"/>
              </a:lnSpc>
              <a:spcAft>
                <a:spcPts val="60"/>
              </a:spcAft>
              <a:buChar char="▸"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Humble, J. y Farley, D. (2010). Continuous Delivery: Reliable Software Releases through Build, Test, and Deployment Automation. Addison-Wesley.</a:t>
            </a:r>
          </a:p>
          <a:p>
            <a:pPr marL="342900" indent="-342900">
              <a:lnSpc>
                <a:spcPct val="107000"/>
              </a:lnSpc>
              <a:spcAft>
                <a:spcPts val="60"/>
              </a:spcAft>
              <a:buChar char="▸"/>
            </a:pPr>
            <a:r>
              <a:rPr lang="es-CO" sz="1400" dirty="0">
                <a:solidFill>
                  <a:srgbClr val="444444"/>
                </a:solidFill>
                <a:latin typeface="Calibri"/>
              </a:rPr>
              <a:t>Pino, F. J., Garcia, F. y Piattini, M. (2009). Key processes to start software process improvement in small companies. ACM SAC, 509-516.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25</Words>
  <Application>Microsoft Office PowerPoint</Application>
  <PresentationFormat>Panorámica</PresentationFormat>
  <Paragraphs>7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Century Gothic</vt:lpstr>
      <vt:lpstr>Tema de Office</vt:lpstr>
      <vt:lpstr>Presentación de PowerPoint</vt:lpstr>
      <vt:lpstr>Contenido</vt:lpstr>
      <vt:lpstr>Conclusiones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Cesar Alfonso</cp:lastModifiedBy>
  <cp:revision>49</cp:revision>
  <dcterms:created xsi:type="dcterms:W3CDTF">2024-01-22T15:06:30Z</dcterms:created>
  <dcterms:modified xsi:type="dcterms:W3CDTF">2026-06-27T16:18:31Z</dcterms:modified>
</cp:coreProperties>
</file>