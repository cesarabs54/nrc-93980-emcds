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68" r:id="rId4"/>
    <p:sldId id="26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EFD"/>
    <a:srgbClr val="B8F6FE"/>
    <a:srgbClr val="FFFFFF"/>
    <a:srgbClr val="007A37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45D28-35B6-8042-98E8-A2DB3305423D}" v="6" dt="2024-03-01T21:35:4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6374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5C25A-EB36-47A0-9FD7-DE8450ACEFF0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C55DB-397F-4AC6-8647-D1E20B065C4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71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13/06/2026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Herramientas y requisitos de calidad de software</a:t>
            </a:r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MX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Semana 6</a:t>
            </a: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000000"/>
            <a:ext cx="11500000" cy="6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>
                <a:solidFill>
                  <a:srgbClr val="003366"/>
                </a:solidFill>
                <a:latin typeface="Calibri"/>
              </a:rPr>
              <a:t>Conclusiones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700000"/>
            <a:ext cx="11350000" cy="3935690"/>
          </a:xfrm>
          <a:prstGeom prst="rect">
            <a:avLst/>
          </a:prstGeom>
        </p:spPr>
        <p:txBody>
          <a:bodyPr wrap="square" anchor="ctr"/>
          <a:lstStyle/>
          <a:p>
            <a:pPr marL="342900" lvl="0" indent="-342900">
              <a:lnSpc>
                <a:spcPct val="107000"/>
              </a:lnSpc>
              <a:spcAft>
                <a:spcPts val="400"/>
              </a:spcAft>
              <a:buAutoNum type="arabicPeriod"/>
            </a:pPr>
            <a:r>
              <a:rPr lang="es-CO" sz="1800" dirty="0">
                <a:solidFill>
                  <a:srgbClr val="333333"/>
                </a:solidFill>
                <a:latin typeface="Calibri"/>
              </a:rPr>
              <a:t>Las herramientas de calidad actuan en capas distintas del proceso: ninguna reemplaza a las demas ni a los criterios de aceptacion bien definidos.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AutoNum type="arabicPeriod"/>
            </a:pPr>
            <a:r>
              <a:rPr lang="es-CO" sz="1800" dirty="0">
                <a:solidFill>
                  <a:srgbClr val="333333"/>
                </a:solidFill>
                <a:latin typeface="Calibri"/>
              </a:rPr>
              <a:t>ISO/IEC 25010 define QUE es calidad en el producto; CMMI define COMO maduran los procesos que lo producen. Son complementarios.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AutoNum type="arabicPeriod"/>
            </a:pPr>
            <a:r>
              <a:rPr lang="es-CO" sz="1800" dirty="0">
                <a:solidFill>
                  <a:srgbClr val="333333"/>
                </a:solidFill>
                <a:latin typeface="Calibri"/>
              </a:rPr>
              <a:t>Un requisito de calidad sin metrica, herramienta de medicion y umbral de aceptacion es una declaracion de intencion, no un requisito verificable.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AutoNum type="arabicPeriod"/>
            </a:pPr>
            <a:r>
              <a:rPr lang="es-CO" sz="1800" dirty="0">
                <a:solidFill>
                  <a:srgbClr val="333333"/>
                </a:solidFill>
                <a:latin typeface="Calibri"/>
              </a:rPr>
              <a:t>La evaluacion reactiva (encuesta post-despliegue) no detecta problemas de mantenibilidad ni cuellos de botella hasta que son visibles para el usuario. Las herramientas instrumentadas actuan antes.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AutoNum type="arabicPeriod"/>
            </a:pPr>
            <a:r>
              <a:rPr lang="es-CO" sz="1800" dirty="0">
                <a:solidFill>
                  <a:srgbClr val="333333"/>
                </a:solidFill>
                <a:latin typeface="Calibri"/>
              </a:rPr>
              <a:t>El caso BancoRegional demuestra que problemas criticos de rendimiento, mantenibilidad y fiabilidad se resuelven con cambios precisos, no con reescrituras totales, cuando el diagnostico es basado en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72862-1FC3-85DE-E7F9-11D463592D43}"/>
              </a:ext>
            </a:extLst>
          </p:cNvPr>
          <p:cNvSpPr txBox="1"/>
          <p:nvPr/>
        </p:nvSpPr>
        <p:spPr>
          <a:xfrm>
            <a:off x="218734" y="3166762"/>
            <a:ext cx="1096713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Estándares y Métricas de Calidad en el Desarrollo de Software</a:t>
            </a:r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800" b="1" dirty="0">
                <a:solidFill>
                  <a:srgbClr val="7BEEFD"/>
                </a:solidFill>
                <a:latin typeface="Century Gothic" panose="020B0502020202020204" pitchFamily="34" charset="0"/>
              </a:rPr>
              <a:t>Herramientas y requisitos de calidad de software</a:t>
            </a:r>
            <a:endParaRPr lang="es-MX" sz="2800" b="1" dirty="0">
              <a:solidFill>
                <a:srgbClr val="7BEEFD"/>
              </a:solidFill>
              <a:latin typeface="Century Gothic" panose="020B0502020202020204" pitchFamily="34" charset="0"/>
            </a:endParaRPr>
          </a:p>
          <a:p>
            <a:endParaRPr lang="es-MX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0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Contenido de la Semana 6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1.  Herramientas de Calidad de Software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Analisis estatico, pruebas funcionales, rendimiento y gestion de defectos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2.  Requisitos de Calidad: ISO/IEC 25010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Las 8 caracteristicas del modelo de calidad del producto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3.  Caso de Estudio: Sistema Bancario de Creditos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Diagnostico, intervencion y resultados en un sistema real de mediana complejidad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Herramientas de Calidad: Analisis Estatico de Codigo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SonarQube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Analiza el codigo fuente sin ejecutarlo. Detecta duplicacion, deuda tecnica, vulnerabilidades y violaciones a reglas de codificacion.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Cuando usarlo: En cada pull request dentro del pipeline de integracion continua (CI). Su valor esta en la tendencia, no en el reporte puntual.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Kiuwan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Alternativa SaaS a SonarQube. Util cuando la infraestructura propia es limitada. Ofrece analisis en la nube y plugins para IDEs populares.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b="1" dirty="0">
                <a:solidFill>
                  <a:srgbClr val="B22222"/>
                </a:solidFill>
                <a:latin typeface="Calibri"/>
              </a:rPr>
              <a:t>Limitacion clave: estas herramientas NO detectan errores de logica de negocio ni verifican que los requisitos se cumplan.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Herramientas de Calidad: Pruebas Funcionales y de Regresion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Selenium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Automatiza la interaccion con interfaces web a nivel de navegador. Caso de uso central: pruebas de regresion para proteger comportamiento ya validado.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No es una herramienta exploratoria. Es para garantizar que lo que funcionaba siga funcionando tras cada nuevo despliegue.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Cypress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Competidor moderno de Selenium con mejor experiencia para aplicaciones JavaScript. La eleccion entre uno y otro depende del stack tecnologico, no de superioridad absoluta.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b="1" dirty="0">
                <a:solidFill>
                  <a:srgbClr val="B22222"/>
                </a:solidFill>
                <a:latin typeface="Calibri"/>
              </a:rPr>
              <a:t>Principio fundamental: ninguna herramienta reemplaza criterios de aceptacion bien definidos. Una herramienta mide; los criterios dicen que significa pasar o fallar.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Herramientas de Calidad: Rendimiento y Gestion de Defectos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Apache JMeter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Simula carga concurrente sobre servicios web y APIs. Responde preguntas concretas: cuantos usuarios simultaneos soporta el sistema antes de degradarse y donde esta el cuello de botella.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Cuando usarlo: antes de lanzamientos importantes o al detectar problemas de rendimiento en produccion. Sin preguntas definidas, JMeter produce datos que nadie sabe interpretar.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JIRA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Punto de integracion donde la calidad se vuelve visible para el negocio. Un defecto sin registrar en JIRA no existe para la gestion. Su valor esta en la trazabilidad: requisito -&gt; caso de prueba -&gt; defecto -&gt; commit.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Requisitos de Calidad: ISO/IEC 25010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Que es ISO/IEC 25010?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Sucesor de ISO/IEC 9126. Define el modelo de calidad del producto de software en 8 caracteristicas. No son una lista de deseos: cada una debe traducirse en metricas medibles para tener valor operativo.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Relacion con CMMI: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ISO/IEC 25010 define QUE atributos tiene un producto de calidad.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CMMI define COMO maduran los procesos que producen ese producto.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b="1" dirty="0">
                <a:solidFill>
                  <a:srgbClr val="003366"/>
                </a:solidFill>
                <a:latin typeface="Calibri"/>
              </a:rPr>
              <a:t>Son complementarios, no alternativos.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Las 8 caracteristicas del modelo: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Adecuacion funcional | Fiabilidad | Usabilidad | Eficiencia de desempeno | Mantenibilidad | Seguridad | Compatibilidad | Portabilidad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ISO/IEC 25010: Caracteristicas del Producto (1/2)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1. Adecuacion Funcional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El sistema hace lo que debe hacer: completitud, correccion y pertinencia funcional. Un sistema puede ejecutar perfectamente una funcion que nadie necesita.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2. Fiabilidad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Capacidad de mantener el desempeno bajo condiciones definidas. Incluye disponibilidad, tolerancia a fallos y recuperacion. Un 99.9% de disponibilidad = 8.7 horas de inactividad al ano.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3. Usabilidad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No es diseno grafico. Es la eficacia, eficiencia y satisfaccion con que usuarios especificos logran objetivos especificos en un contexto especifico.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4. Eficiencia de Desempeno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Comportamiento temporal, utilizacion de recursos y capacidad bajo condiciones establecidas. Aqui entra JMeter como herramienta de medicion.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ISO/IEC 25010: Caracteristicas del Producto (2/2)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5. Mantenibilidad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Modularidad, reusabilidad, analizabilidad y capacidad de modificacion. SonarQube mide estos atributos a traves de complejidad ciclomatica y acoplamiento.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6. Seguridad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Confidencialidad, integridad, no repudio y autenticidad. La caracteristica mas subestimada en etapas tempranas y la mas cara de corregir tardamente.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7. Compatibilidad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Coexistencia e interoperabilidad. Relevante en sistemas que se integran con legado o servicios de terceros.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8. Portabilidad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333333"/>
                </a:solidFill>
                <a:latin typeface="Calibri"/>
              </a:rPr>
              <a:t>Adaptabilidad, instalabilidad y capacidad de reemplazo entre diferentes entornos de operacion.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Como Redactar Requisitos de Calidad Medibles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Problema comun: requisitos vagos vs. requisitos medibles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B22222"/>
                </a:solidFill>
                <a:latin typeface="Calibri"/>
              </a:rPr>
              <a:t>Vago: "El sistema debe ser rapido."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2E7D32"/>
                </a:solidFill>
                <a:latin typeface="Calibri"/>
              </a:rPr>
              <a:t>Medible: "El tiempo de respuesta de la consulta de estado no debe superar 2 segundos con 200 usuarios concurrentes, medido con JMeter en entorno de staging."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Estructura de un requisito de calidad bien formado: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Caracteristica ISO 25010 + Metrica especifica + Herramienta de medicion + Umbral de aceptacion + Condiciones del entorno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Ejemplo - Mantenibilidad: La complejidad ciclomatica de ningun metodo nuevo debe superar 15, verificado automaticamente por SonarQube con quality gate que bloquea el merge si se viola esta regla.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Caso de Estudio: BancoRegional SA - Contexto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Sistema: Plataforma web de solicitud y seguimiento de creditos personales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18 meses en produccion | 3.200 usuarios activos mensuales | Equipo de 7 desarrolladores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Problemas reportados por gerencia: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Tiempos de respuesta lentos en horas pico (Eficiencia de desempeno - ISO 25010)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Defectos que reaparecen tras cada correccion (Fiabilidad - ISO 25010)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Codigo dificil de entender para nuevos integrantes (Mantenibilidad - ISO 25010)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b="1" dirty="0">
                <a:solidFill>
                  <a:srgbClr val="003366"/>
                </a:solidFill>
                <a:latin typeface="Calibri"/>
              </a:rPr>
              <a:t>Objetivo del caso: mapear cada problema a una caracteristica ISO 25010, aplicar la herramienta correcta y redefinir requisitos de calidad medibles.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Caso de Estudio: Diagnostico con Herramientas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SonarQube sobre el repositorio: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Deuda tecnica: 340 horas | Complejidad ciclomatica promedio: 28 (umbral recomendado: 10) | 23 bloques de codigo duplicado en controladores de solicitud.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Conclusion: la mantenibilidad es objetivamente baja. Explica por que los nuevos analistas no pueden leer el codigo.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JMeter - 150 usuarios concurrentes: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Con 20 usuarios: 1.2 seg | Con 150 usuarios: 8.9 seg | 12% de peticiones fallan por timeout.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Cuello de botella identificado: consulta SQL sin indice en tabla de movimientos (40.000 registros/dia).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Selenium - cobertura de pruebas: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Flujo de solicitud de credito: cubierto. Flujo de modificacion de solicitud ya enviada: sin cobertura. Ese flujo sin cubrir es exactamente donde reaparecen los defectos.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Caso de Estudio: Intervencion y Resultados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Eficiencia de desempeno - Solucion inmediata: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2E7D32"/>
                </a:solidFill>
                <a:latin typeface="Calibri"/>
              </a:rPr>
              <a:t>Indice anadido a tabla de movimientos (4 horas de trabajo). JMeter confirma: tiempo de respuesta con 200 usuarios baja de 8.9 a 1.4 seg. Timeouts: 0%.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Mantenibilidad - Sprint siguiente: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2E7D32"/>
                </a:solidFill>
                <a:latin typeface="Calibri"/>
              </a:rPr>
              <a:t>Modulos de scoring refactorizados. Complejidad ciclomatica promedio: 28 -&gt; 11. Nuevos analistas reportan que pueden modificar el codigo de forma autonoma.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Fiabilidad - Cobertura Selenium ampliada: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700" dirty="0">
                <a:solidFill>
                  <a:srgbClr val="2E7D32"/>
                </a:solidFill>
                <a:latin typeface="Calibri"/>
              </a:rPr>
              <a:t>Flujo de modificacion de solicitud cubierto. En el sprint siguiente, 3 defectos detectados en CI que antes llegaban a produccion son bloqueados automaticamente.</a:t>
            </a:r>
          </a:p>
          <a:p>
            <a:pPr marL="0" lvl="0" indent="0">
              <a:lnSpc>
                <a:spcPct val="107000"/>
              </a:lnSpc>
              <a:spcAft>
                <a:spcPts val="400"/>
              </a:spcAft>
              <a:buNone/>
            </a:pPr>
            <a:r>
              <a:rPr lang="es-CO" sz="1600" b="1" dirty="0">
                <a:solidFill>
                  <a:srgbClr val="B22222"/>
                </a:solidFill>
                <a:latin typeface="Calibri"/>
              </a:rPr>
              <a:t>Leccion del caso: la evaluacion reactiva (encuesta de satisfaccion) no detecta estos problemas hasta que son visibles para el usuario. Las herramientas actuan antes.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Pruebas de Aceptacion: Concepto y Ubicacion en el Proceso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Que son las pruebas de aceptacion?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Verifican que el sistema cumple los criterios acordados con el cliente o usuario antes de ser liberado a produccion. No buscan bugs internos: validan comportamiento observable desde fuera del sistema.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Diferencia clave con otras pruebas: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Unitarias: prueban una funcion o metodo aislado (desarrollador).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Integracion: verifican que modulos se comunican correctamente (equipo tecnico).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Aceptacion: verifican que el sistema hace lo que el negocio necesita (cliente + QA).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Tipos de pruebas de aceptacion: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UAT (User Acceptance Testing): el usuario final valida flujos de negocio completos.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Alpha/Beta: pruebas con usuarios reales en entorno controlado antes del lanzamiento.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Contractual/Regulatoria: verifica cumplimiento de SLAs o normativas (ej. PCI-DSS en bancos).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Pruebas de Aceptacion: Criterios y Relacion con ISO/IEC 25010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Como se definen los criterios de aceptacion?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Cada criterio debe seguir el patron: DADO [contexto] CUANDO [accion] ENTONCES [resultado esperado]. Este es el lenguaje Gherkin, que conecta directamente con herramientas de automatizacion como Karate.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800" b="1" dirty="0">
                <a:solidFill>
                  <a:srgbClr val="003366"/>
                </a:solidFill>
                <a:latin typeface="Calibri"/>
              </a:rPr>
              <a:t>Ejemplo - sistema de creditos BancoRegional: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600" dirty="0">
                <a:solidFill>
                  <a:srgbClr val="1A5276"/>
                </a:solidFill>
                <a:latin typeface="Courier New"/>
              </a:rPr>
              <a:t>DADO que un asesor envia una solicitud de credito valida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600" dirty="0">
                <a:solidFill>
                  <a:srgbClr val="1A5276"/>
                </a:solidFill>
                <a:latin typeface="Courier New"/>
              </a:rPr>
              <a:t>CUANDO el sistema procesa la solicitud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600" dirty="0">
                <a:solidFill>
                  <a:srgbClr val="1A5276"/>
                </a:solidFill>
                <a:latin typeface="Courier New"/>
              </a:rPr>
              <a:t>ENTONCES la API retorna HTTP 201 con el ID de la solicitud en menos de 2 segundos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Mapeo a ISO/IEC 25010: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El criterio anterior valida Adecuacion Funcional (HTTP 201 correcto) + Eficiencia de Desempeno (2 seg). Un criterio bien escrito puede cubrir varias caracteristicas simultaneamente.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Karate DSL: Pruebas de API en Backend Java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Que es Karate DSL?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700" dirty="0">
                <a:solidFill>
                  <a:srgbClr val="333333"/>
                </a:solidFill>
                <a:latin typeface="Calibri"/>
              </a:rPr>
              <a:t>Framework open source construido sobre Cucumber/JVM. Permite escribir pruebas de API REST/SOAP en sintaxis Gherkin sin necesidad de codigo Java adicional. Se integra nativamente con Maven/Gradle y genera reportes HTML detallados.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Por que Karate para un backend Java?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No requiere cliente HTTP externo (Postman, curl): la llamada HTTP esta dentro del .feature.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Validacion de JSON/XML con expresiones concisas: match response.status == "APROBADO".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Soporte nativo para autenticacion (Bearer token, Basic Auth, OAuth2).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Ejecucion paralela de escenarios sin configuracion adicional.</a:t>
            </a:r>
          </a:p>
          <a:p>
            <a:pPr marL="342900" lvl="0" indent="-342900">
              <a:lnSpc>
                <a:spcPct val="107000"/>
              </a:lnSpc>
              <a:spcAft>
                <a:spcPts val="280"/>
              </a:spcAft>
              <a:buChar char="•"/>
            </a:pPr>
            <a:r>
              <a:rPr lang="es-CO" sz="1650" dirty="0">
                <a:solidFill>
                  <a:srgbClr val="333333"/>
                </a:solidFill>
                <a:latin typeface="Calibri"/>
              </a:rPr>
              <a:t>Se ejecuta en el mismo pipeline Maven que las pruebas unitarias (JUnit 5).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600" dirty="0">
                <a:solidFill>
                  <a:srgbClr val="555555"/>
                </a:solidFill>
                <a:latin typeface="Calibri"/>
              </a:rPr>
              <a:t>Comparado con REST Assured: Karate requiere menos codigo boilerplate y permite que QA no-desarrolladores escriban pruebas. REST Assured es preferible cuando se necesita logica Java compleja dentro de la prueba.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70" y="1108922"/>
            <a:ext cx="1150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2400" b="1" spc="-10" dirty="0">
                <a:solidFill>
                  <a:srgbClr val="003366"/>
                </a:solidFill>
                <a:latin typeface="Calibri"/>
              </a:rPr>
              <a:t>Karate en Practica: Probando Rutas del Backend Java</a:t>
            </a:r>
          </a:p>
        </p:txBody>
      </p:sp>
      <p:sp>
        <p:nvSpPr>
          <p:cNvPr id="7" name="Content"/>
          <p:cNvSpPr/>
          <p:nvPr/>
        </p:nvSpPr>
        <p:spPr>
          <a:xfrm>
            <a:off x="421004" y="1620000"/>
            <a:ext cx="11210866" cy="4100000"/>
          </a:xfrm>
          <a:prstGeom prst="rect">
            <a:avLst/>
          </a:prstGeom>
        </p:spPr>
        <p:txBody>
          <a:bodyPr wrap="square" anchor="t"/>
          <a:lstStyle/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900" b="1" dirty="0">
                <a:solidFill>
                  <a:srgbClr val="003366"/>
                </a:solidFill>
                <a:latin typeface="Calibri"/>
              </a:rPr>
              <a:t>Estructura de un archivo .feature con Karate: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>Feature: Solicitud de credito - BancoRegional API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Background: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* url 'http://api.bancor.local/v1'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* header Authorization = 'Bearer ' + token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Scenario: Crear solicitud de credito valida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Given path '/creditos'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And request { monto: 5000000, plazo: 36, cedula: '12345678' }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When method POST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Then status 201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And match response.estado == 'EN_REVISION'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00" dirty="0">
                <a:solidFill>
                  <a:srgbClr val="1A237E"/>
                </a:solidFill>
                <a:latin typeface="Courier New"/>
              </a:rPr>
              <a:t xml:space="preserve">    And match response.id == '#notnull'</a:t>
            </a:r>
          </a:p>
          <a:p>
            <a:pPr marL="0" lvl="0" indent="0">
              <a:lnSpc>
                <a:spcPct val="107000"/>
              </a:lnSpc>
              <a:spcAft>
                <a:spcPts val="350"/>
              </a:spcAft>
              <a:buNone/>
            </a:pPr>
            <a:r>
              <a:rPr lang="es-CO" sz="1550" b="1" dirty="0">
                <a:solidFill>
                  <a:srgbClr val="2E7D32"/>
                </a:solidFill>
                <a:latin typeface="Calibri"/>
              </a:rPr>
              <a:t>Ejecucion con Maven: mvn test -Dtest=CreditoRunner  |  Reporte: target/karate-reports/index.html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29</Words>
  <Application>Microsoft Office PowerPoint</Application>
  <PresentationFormat>Panorámica</PresentationFormat>
  <Paragraphs>7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Century Gothic</vt:lpstr>
      <vt:lpstr>Tema de Office</vt:lpstr>
      <vt:lpstr>Presentación de PowerPoint</vt:lpstr>
      <vt:lpstr>Contenido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 BOLADO SILVA</cp:lastModifiedBy>
  <cp:revision>47</cp:revision>
  <dcterms:created xsi:type="dcterms:W3CDTF">2024-01-22T15:06:30Z</dcterms:created>
  <dcterms:modified xsi:type="dcterms:W3CDTF">2026-06-13T16:46:22Z</dcterms:modified>
</cp:coreProperties>
</file>