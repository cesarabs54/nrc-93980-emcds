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8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863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560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</a:t>
            </a:r>
            <a:endParaRPr lang="es-CO" sz="3200" noProof="0" dirty="0"/>
          </a:p>
        </p:txBody>
      </p:sp>
      <p:sp>
        <p:nvSpPr>
          <p:cNvPr id="4" name="Text 1"/>
          <p:cNvSpPr/>
          <p:nvPr/>
        </p:nvSpPr>
        <p:spPr>
          <a:xfrm>
            <a:off x="228599" y="3337560"/>
            <a:ext cx="712880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O" sz="2800" b="1" noProof="0" dirty="0">
                <a:solidFill>
                  <a:srgbClr val="7BEEF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Semana 4 – Especificación de requisitos de software</a:t>
            </a:r>
            <a:endParaRPr lang="es-CO" sz="28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960120"/>
          </a:xfrm>
          <a:prstGeom prst="rect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28800"/>
            <a:ext cx="9144000" cy="10972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2852928"/>
            <a:ext cx="9144000" cy="10972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Contexto, Stakeholders y Primeros Artefactos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41248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EJ. 1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64208" y="6583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– Sistema de Gestión de Citas Médicas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64592" y="1143000"/>
            <a:ext cx="8778240" cy="73152"/>
          </a:xfrm>
          <a:prstGeom prst="rect">
            <a:avLst/>
          </a:prstGeom>
          <a:solidFill>
            <a:srgbClr val="1A3BAD"/>
          </a:solidFill>
          <a:ln w="12700">
            <a:solidFill>
              <a:srgbClr val="1A3B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4"/>
          <p:cNvSpPr/>
          <p:nvPr/>
        </p:nvSpPr>
        <p:spPr>
          <a:xfrm>
            <a:off x="164592" y="1261872"/>
            <a:ext cx="8778240" cy="1097280"/>
          </a:xfrm>
          <a:prstGeom prst="rect">
            <a:avLst/>
          </a:prstGeom>
          <a:solidFill>
            <a:srgbClr val="EEF1F8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320040" y="1298448"/>
            <a:ext cx="8458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 de la clínica comenta: </a:t>
            </a:r>
            <a:r>
              <a:rPr lang="en-US" sz="125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"Queremos que los pacientes puedan agendar y cancelar citas por internet, que los médicos vean su agenda diaria y que la recepcionista pueda registrar la asistencia de los pacientes cuando llegan. Por ahora solo trabajamos en una sede, pero en un año abriremos otra."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64592" y="2450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base en el modelo procedimental: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64592" y="2761488"/>
            <a:ext cx="347472" cy="347472"/>
          </a:xfrm>
          <a:prstGeom prst="ellipse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164592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27797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al menos tres escenarios de despliegue (Tabla 1).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64592" y="3236976"/>
            <a:ext cx="347472" cy="347472"/>
          </a:xfrm>
          <a:prstGeom prst="ellipse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164592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94360" y="32552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al menos tres tipos de usuarios (Tabla 2).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64592" y="3712464"/>
            <a:ext cx="347472" cy="347472"/>
          </a:xfrm>
          <a:prstGeom prst="ellipse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4"/>
          <p:cNvSpPr/>
          <p:nvPr/>
        </p:nvSpPr>
        <p:spPr>
          <a:xfrm>
            <a:off x="164592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94360" y="3730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Proponga el contenido de un acta de definición de objetivos del software (Figura 3): al menos tres objetivos.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41248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RESPUESTA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64208" y="6583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– Escenarios de Despliegue (Tabla 1)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64592" y="1143000"/>
            <a:ext cx="8778240" cy="73152"/>
          </a:xfrm>
          <a:prstGeom prst="rect">
            <a:avLst/>
          </a:prstGeom>
          <a:solidFill>
            <a:srgbClr val="1A3BAD"/>
          </a:solidFill>
          <a:ln w="12700">
            <a:solidFill>
              <a:srgbClr val="1A3B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261872"/>
          <a:ext cx="877824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Recepción clínica sede 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Mostrador donde la recepcionista atiende a los pacientes presencialmente.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web de pacientes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Sitio web accesible desde cualquier navegador para agendar/cancelar citas.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Consultorio médico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Computador en el consultorio donde el médico revisa su agenda diaria.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164592" y="32461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Estos escenarios definen dónde y cómo se usa el sistema, base para la educción de requisitos.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41248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RESPUESTA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64208" y="6583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– Tipos de Usuarios (Tabla 2)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64592" y="1143000"/>
            <a:ext cx="8778240" cy="73152"/>
          </a:xfrm>
          <a:prstGeom prst="rect">
            <a:avLst/>
          </a:prstGeom>
          <a:solidFill>
            <a:srgbClr val="1A3BAD"/>
          </a:solidFill>
          <a:ln w="12700">
            <a:solidFill>
              <a:srgbClr val="1A3B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261872"/>
          <a:ext cx="877824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 usa el 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Agendar, consultar y cancelar sus citas médicas.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Recepcionista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asistencia, reprogramar citas, apoyar a pacientes en ventanilla.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su agenda diaria, ver datos básicos del paciente y tipo de cita.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41248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RESPUESTA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64208" y="6583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– Acta de Definición de Objetivos (Figura 3)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64592" y="1143000"/>
            <a:ext cx="8778240" cy="73152"/>
          </a:xfrm>
          <a:prstGeom prst="rect">
            <a:avLst/>
          </a:prstGeom>
          <a:solidFill>
            <a:srgbClr val="1A3BAD"/>
          </a:solidFill>
          <a:ln w="12700">
            <a:solidFill>
              <a:srgbClr val="1A3B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4"/>
          <p:cNvSpPr/>
          <p:nvPr/>
        </p:nvSpPr>
        <p:spPr>
          <a:xfrm>
            <a:off x="164592" y="1261872"/>
            <a:ext cx="8778240" cy="438912"/>
          </a:xfrm>
          <a:prstGeom prst="rect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256032" y="1261872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Citas Médicas (SGCM)  |  Denominación del proyecto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64592" y="1810512"/>
            <a:ext cx="502920" cy="4754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164592" y="18105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40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67512" y="1810512"/>
            <a:ext cx="8275320" cy="475488"/>
          </a:xfrm>
          <a:prstGeom prst="rect">
            <a:avLst/>
          </a:prstGeom>
          <a:solidFill>
            <a:srgbClr val="EEF1F8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777240" y="181051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que los pacientes agenden y cancelen citas médicas vía web.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64592" y="2432304"/>
            <a:ext cx="502920" cy="4754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164592" y="243230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40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67512" y="2432304"/>
            <a:ext cx="8275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777240" y="243230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Proveer a los médicos una vista actualizada de su agenda diaria de citas.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164592" y="3054096"/>
            <a:ext cx="502920" cy="4754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/>
          <p:nvPr/>
        </p:nvSpPr>
        <p:spPr>
          <a:xfrm>
            <a:off x="164592" y="3054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40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67512" y="3054096"/>
            <a:ext cx="8275320" cy="475488"/>
          </a:xfrm>
          <a:prstGeom prst="rect">
            <a:avLst/>
          </a:prstGeom>
          <a:solidFill>
            <a:srgbClr val="EEF1F8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/>
          <p:nvPr/>
        </p:nvSpPr>
        <p:spPr>
          <a:xfrm>
            <a:off x="777240" y="3054096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a la recepcionista el registro de asistencia y la reprogramación de citas.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164592" y="3675888"/>
            <a:ext cx="502920" cy="4754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19"/>
          <p:cNvSpPr/>
          <p:nvPr/>
        </p:nvSpPr>
        <p:spPr>
          <a:xfrm>
            <a:off x="164592" y="367588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540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67512" y="3675888"/>
            <a:ext cx="8275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1"/>
          <p:cNvSpPr/>
          <p:nvPr/>
        </p:nvSpPr>
        <p:spPr>
          <a:xfrm>
            <a:off x="777240" y="367588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preparado el sistema para soportar múltiples sedes en el futuro.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64592" y="416052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Este ejercicio entrena las dos primeras partes del modelo: definición de contexto y stakeholders.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960120"/>
          </a:xfrm>
          <a:prstGeom prst="rect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28800"/>
            <a:ext cx="9144000" cy="10972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2852928"/>
            <a:ext cx="9144000" cy="10972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Caracterización a la Especificación de un Requisito Funcional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41248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EJ. 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64208" y="6583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– Caracterización del Escenario E2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64592" y="1143000"/>
            <a:ext cx="8778240" cy="73152"/>
          </a:xfrm>
          <a:prstGeom prst="rect">
            <a:avLst/>
          </a:prstGeom>
          <a:solidFill>
            <a:srgbClr val="1A3BAD"/>
          </a:solidFill>
          <a:ln w="12700">
            <a:solidFill>
              <a:srgbClr val="1A3B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4"/>
          <p:cNvSpPr/>
          <p:nvPr/>
        </p:nvSpPr>
        <p:spPr>
          <a:xfrm>
            <a:off x="164592" y="1261872"/>
            <a:ext cx="8778240" cy="1188720"/>
          </a:xfrm>
          <a:prstGeom prst="rect">
            <a:avLst/>
          </a:prstGeom>
          <a:solidFill>
            <a:srgbClr val="EEF1F8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32004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E2 – Portal web de pacientes: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157276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debe poder ver las citas disponibles por médico y especialidad.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solo puede agendar citas en horarios libres.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enviar un correo de confirmación al paciente cuando se registra una cita.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64592" y="2542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base en el modelo procedimental: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64592" y="2852928"/>
            <a:ext cx="347472" cy="347472"/>
          </a:xfrm>
          <a:prstGeom prst="ellipse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164592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4360" y="28712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un código y nombre para un requisito funcional que cubra esta funcionalidad.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64592" y="3328416"/>
            <a:ext cx="347472" cy="347472"/>
          </a:xfrm>
          <a:prstGeom prst="ellipse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/>
          <p:nvPr/>
        </p:nvSpPr>
        <p:spPr>
          <a:xfrm>
            <a:off x="164592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94360" y="33467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una ficha de especificación de requisitos (Figura 10) con: descripción, precondiciones, poscondiciones, flujo principal y un flujo alternativo.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41248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RESPUESTA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64208" y="6583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– RF01: Agendamiento de Citas por Portal Web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64592" y="1143000"/>
            <a:ext cx="8778240" cy="73152"/>
          </a:xfrm>
          <a:prstGeom prst="rect">
            <a:avLst/>
          </a:prstGeom>
          <a:solidFill>
            <a:srgbClr val="1A3BAD"/>
          </a:solidFill>
          <a:ln w="12700">
            <a:solidFill>
              <a:srgbClr val="1A3B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4"/>
          <p:cNvSpPr/>
          <p:nvPr/>
        </p:nvSpPr>
        <p:spPr>
          <a:xfrm>
            <a:off x="164592" y="1261872"/>
            <a:ext cx="1188720" cy="4754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164592" y="12618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540"/>
                </a:solidFill>
              </a:rPr>
              <a:t>RF01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444752" y="126187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 de citas por portal web de pacientes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64592" y="1828800"/>
            <a:ext cx="8778240" cy="228600"/>
          </a:xfrm>
          <a:prstGeom prst="rect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256032" y="18288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64592" y="2057400"/>
            <a:ext cx="8778240" cy="777240"/>
          </a:xfrm>
          <a:prstGeom prst="rect">
            <a:avLst/>
          </a:prstGeom>
          <a:solidFill>
            <a:srgbClr val="EEF1F8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0"/>
          <p:cNvSpPr/>
          <p:nvPr/>
        </p:nvSpPr>
        <p:spPr>
          <a:xfrm>
            <a:off x="274320" y="2084832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permitirá que un paciente autenticado consulte la disponibilidad de citas por médico y especialidad, seleccione un horario libre y registre una cita. Al confirmar la cita, el sistema enviará un correo electrónico de confirmación al paciente.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64592" y="2907792"/>
            <a:ext cx="4297680" cy="256032"/>
          </a:xfrm>
          <a:prstGeom prst="rect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/>
          <p:nvPr/>
        </p:nvSpPr>
        <p:spPr>
          <a:xfrm>
            <a:off x="256032" y="29077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</a:rPr>
              <a:t>PRECONDICIONES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56032" y="32004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está registrado en el sistema.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ha iniciado sesión correctamente en el portal web.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al menos un médico y una especialidad configurados en el sistema.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645152" y="2907792"/>
            <a:ext cx="4297680" cy="256032"/>
          </a:xfrm>
          <a:prstGeom prst="rect">
            <a:avLst/>
          </a:prstGeom>
          <a:solidFill>
            <a:srgbClr val="1A3BAD"/>
          </a:solidFill>
          <a:ln w="12700">
            <a:solidFill>
              <a:srgbClr val="1A3B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/>
          <p:nvPr/>
        </p:nvSpPr>
        <p:spPr>
          <a:xfrm>
            <a:off x="4736592" y="29077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POSCONDICIONES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36592" y="32004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cita queda registrada con estado "Programada".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horario seleccionado queda marcado como no disponible.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 enviado un correo de confirmación al correo del paciente.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41248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RESPUESTA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64208" y="6583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– RF01: Flujo Principal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64592" y="1143000"/>
            <a:ext cx="8778240" cy="73152"/>
          </a:xfrm>
          <a:prstGeom prst="rect">
            <a:avLst/>
          </a:prstGeom>
          <a:solidFill>
            <a:srgbClr val="1A3BAD"/>
          </a:solidFill>
          <a:ln w="12700">
            <a:solidFill>
              <a:srgbClr val="1A3B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4"/>
          <p:cNvSpPr/>
          <p:nvPr/>
        </p:nvSpPr>
        <p:spPr>
          <a:xfrm>
            <a:off x="164592" y="1261872"/>
            <a:ext cx="4297680" cy="2926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164592" y="12618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D1540"/>
                </a:solidFill>
              </a:rPr>
              <a:t>USUARIO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64592" y="1554480"/>
            <a:ext cx="4297680" cy="2834640"/>
          </a:xfrm>
          <a:prstGeom prst="rect">
            <a:avLst/>
          </a:prstGeom>
          <a:solidFill>
            <a:srgbClr val="EEF1F8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292608" y="160020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Inicia sesión en el portal web.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Selecciona la opción "Agendar cita".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Elige una especialidad.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Selecciona un médico (opcional).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Selecciona un horario disponible.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Confirma la cita.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45152" y="1261872"/>
            <a:ext cx="4297680" cy="292608"/>
          </a:xfrm>
          <a:prstGeom prst="rect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4645152" y="12618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C9A227"/>
                </a:solidFill>
              </a:rPr>
              <a:t>SISTEMA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45152" y="1554480"/>
            <a:ext cx="4297680" cy="2834640"/>
          </a:xfrm>
          <a:prstGeom prst="rect">
            <a:avLst/>
          </a:prstGeom>
          <a:solidFill>
            <a:srgbClr val="E8ECF5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4754880" y="16002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 las credenciales del paciente.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Muestra el menú con opción "Agendar cita".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Muestra lista de especialidades disponibles.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Muestra médicos asociados a la especialidad.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Muestra horarios disponibles.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Registra la cita en base de datos.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Marca el horario como no disponible.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Envía correo de confirmación.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Muestra mensaje de confirmación en pantalla.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41248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64592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RESPUESTA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64208" y="6583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– RF01: Flujo Alternativo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64592" y="1143000"/>
            <a:ext cx="8778240" cy="73152"/>
          </a:xfrm>
          <a:prstGeom prst="rect">
            <a:avLst/>
          </a:prstGeom>
          <a:solidFill>
            <a:srgbClr val="1A3BAD"/>
          </a:solidFill>
          <a:ln w="12700">
            <a:solidFill>
              <a:srgbClr val="1A3B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4"/>
          <p:cNvSpPr/>
          <p:nvPr/>
        </p:nvSpPr>
        <p:spPr>
          <a:xfrm>
            <a:off x="164592" y="1261872"/>
            <a:ext cx="877824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256032" y="126187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Condición: No existen horarios disponibles para la combinación médico–especialidad–fecha seleccionada.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64592" y="1755648"/>
            <a:ext cx="8778240" cy="256032"/>
          </a:xfrm>
          <a:prstGeom prst="rect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256032" y="17556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</a:rPr>
              <a:t>SISTEMA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64592" y="2011680"/>
            <a:ext cx="8778240" cy="777240"/>
          </a:xfrm>
          <a:prstGeom prst="rect">
            <a:avLst/>
          </a:prstGeom>
          <a:solidFill>
            <a:srgbClr val="EEF1F8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320040" y="20574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Informa al paciente que no hay horarios disponibles para la selección actual.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Ofrece fechas alternativas o la opción de cambiar de médico o especialidad.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64592" y="2907792"/>
            <a:ext cx="87782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256032" y="29077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1540"/>
                </a:solidFill>
              </a:rPr>
              <a:t>USUARIO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64592" y="3163824"/>
            <a:ext cx="8778240" cy="502920"/>
          </a:xfrm>
          <a:prstGeom prst="rect">
            <a:avLst/>
          </a:prstGeom>
          <a:solidFill>
            <a:srgbClr val="E8ECF5"/>
          </a:solidFill>
          <a:ln w="12700">
            <a:solidFill>
              <a:srgbClr val="C5CA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320040" y="320040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Selecciona otra fecha, médico o especialidad, o decide cancelar el proceso.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164592" y="3794760"/>
            <a:ext cx="8778240" cy="594360"/>
          </a:xfrm>
          <a:prstGeom prst="rect">
            <a:avLst/>
          </a:prstGeom>
          <a:solidFill>
            <a:srgbClr val="1C2754"/>
          </a:solidFill>
          <a:ln w="12700">
            <a:solidFill>
              <a:srgbClr val="1C27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/>
          <p:nvPr/>
        </p:nvSpPr>
        <p:spPr>
          <a:xfrm>
            <a:off x="292608" y="38221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Este ejercicio lleva al estudiante desde la caracterización del escenario hasta una especificación detallada: educción → elicitación → especificación.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860</Words>
  <Application>Microsoft Office PowerPoint</Application>
  <PresentationFormat>Presentación en pantalla (16:9)</PresentationFormat>
  <Paragraphs>121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Cesar Alfonso</cp:lastModifiedBy>
  <cp:revision>2</cp:revision>
  <dcterms:created xsi:type="dcterms:W3CDTF">2026-05-30T19:28:32Z</dcterms:created>
  <dcterms:modified xsi:type="dcterms:W3CDTF">2026-05-30T19:34:52Z</dcterms:modified>
</cp:coreProperties>
</file>