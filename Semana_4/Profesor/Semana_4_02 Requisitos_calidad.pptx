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206240"/>
            <a:ext cx="34747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s-CO" sz="800" noProof="0" dirty="0"/>
          </a:p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s-CO" sz="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2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</a:t>
            </a:r>
            <a:endParaRPr lang="es-CO" sz="2800" noProof="0" dirty="0"/>
          </a:p>
          <a:p>
            <a:pPr marL="0" indent="0" algn="l">
              <a:buNone/>
            </a:pPr>
            <a:r>
              <a:rPr lang="es-CO" sz="2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calidad del software</a:t>
            </a:r>
            <a:endParaRPr lang="es-CO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18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s-CO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UNIMINUTO</a:t>
            </a:r>
            <a:endParaRPr lang="es-CO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Minuto de Dios</a:t>
            </a:r>
            <a:endParaRPr lang="es-CO" sz="700" noProof="0" dirty="0"/>
          </a:p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de calidad al alcance de todos</a:t>
            </a:r>
            <a:endParaRPr lang="es-CO" sz="7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8381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s-CO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Introducción a la especificación de requisitos y calidad.</a:t>
            </a:r>
            <a:endParaRPr lang="es-CO" sz="14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Fundamentos y estándar IEEE 830.</a:t>
            </a:r>
            <a:endParaRPr lang="es-CO" sz="14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Norma ISO/IEC 12207 y modelos SPI.</a:t>
            </a:r>
            <a:endParaRPr lang="es-CO" sz="14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Modelo procedimental de requisitos: contexto, educción, elicitación y especificación.</a:t>
            </a:r>
            <a:endParaRPr lang="es-CO" sz="14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Requisitos, métricas y mejora continua.</a:t>
            </a:r>
            <a:endParaRPr lang="es-CO" sz="14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CO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Ejercicios prácticos y cierre.</a:t>
            </a:r>
            <a:endParaRPr lang="es-CO" sz="1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especificación de requisitos y calidad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110871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206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crítico</a:t>
            </a:r>
            <a:endParaRPr lang="es-CO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especificación de requisitos como base de la calidad del software.</a:t>
            </a:r>
            <a:endParaRPr lang="es-CO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206240" cy="110871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206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calidad</a:t>
            </a:r>
            <a:endParaRPr lang="es-CO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8470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bien definidos reducen defectos y retrabajos significativamente.</a:t>
            </a:r>
            <a:endParaRPr lang="es-CO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206240" cy="122388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06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la unidad</a:t>
            </a:r>
            <a:endParaRPr lang="es-CO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830, ISO/IEC 12207 y modelo procedimental de requisitos.</a:t>
            </a:r>
            <a:endParaRPr lang="es-CO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206240" cy="122388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206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4892040" y="3127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del curso</a:t>
            </a:r>
            <a:endParaRPr lang="es-CO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integrada con modelos de mejora de procesos (SPI).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47478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IEEE 830 para especificación de requisitos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566928" y="1709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documento de requisitos de software (SRS).</a:t>
            </a:r>
            <a:endParaRPr lang="es-CO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típico:</a:t>
            </a:r>
            <a:endParaRPr lang="es-CO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Introducción, descripción general, requisitos específicos.</a:t>
            </a:r>
            <a:endParaRPr lang="es-CO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claridad:</a:t>
            </a:r>
            <a:endParaRPr lang="es-CO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66928" y="3264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verificables, consistentes y trazables.</a:t>
            </a:r>
            <a:endParaRPr lang="es-CO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54864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566928" y="3794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la práctica:</a:t>
            </a:r>
            <a:endParaRPr lang="es-CO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contratos y control de cambios.</a:t>
            </a:r>
            <a:endParaRPr lang="es-CO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5943600" y="1417320"/>
            <a:ext cx="288036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60350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</a:t>
            </a:r>
            <a:endParaRPr lang="es-CO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60350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</a:t>
            </a:r>
            <a:r>
              <a:rPr lang="es-CO" sz="12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s-CO" sz="1200" noProof="0" dirty="0"/>
          </a:p>
          <a:p>
            <a:pPr marL="0" indent="0" algn="ctr">
              <a:buNone/>
            </a:pPr>
            <a:r>
              <a:rPr lang="es-CO" sz="12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s-CO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6309360" y="2532888"/>
            <a:ext cx="219456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6035040" y="2633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Comprensible</a:t>
            </a:r>
            <a:endParaRPr lang="es-CO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6035040" y="29809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Verificable</a:t>
            </a:r>
            <a:endParaRPr lang="es-CO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6035040" y="3328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Consistente</a:t>
            </a:r>
            <a:endParaRPr lang="es-CO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035040" y="3675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Trazable</a:t>
            </a:r>
            <a:endParaRPr lang="es-CO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60350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Modificable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732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ISO/IEC 12207 y la calidad del software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50876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</a:t>
            </a:r>
            <a:endParaRPr lang="es-CO" sz="1000" noProof="0" dirty="0"/>
          </a:p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Suministro</a:t>
            </a:r>
            <a:endParaRPr lang="es-CO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1783080" y="1536192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Shape 7"/>
          <p:cNvSpPr/>
          <p:nvPr/>
        </p:nvSpPr>
        <p:spPr>
          <a:xfrm>
            <a:off x="2011680" y="1143000"/>
            <a:ext cx="150876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2011680" y="11430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s-CO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Shape 10"/>
          <p:cNvSpPr/>
          <p:nvPr/>
        </p:nvSpPr>
        <p:spPr>
          <a:xfrm>
            <a:off x="3749040" y="1143000"/>
            <a:ext cx="1508760" cy="1005840"/>
          </a:xfrm>
          <a:prstGeom prst="rect">
            <a:avLst/>
          </a:prstGeom>
          <a:solidFill>
            <a:srgbClr val="0D6B8E"/>
          </a:solidFill>
          <a:ln w="12700">
            <a:solidFill>
              <a:srgbClr val="0D6B8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3749040" y="11430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s-CO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5257800" y="1536192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0" y="1143000"/>
            <a:ext cx="15087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0" y="11430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s-CO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6995160" y="1536192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Shape 16"/>
          <p:cNvSpPr/>
          <p:nvPr/>
        </p:nvSpPr>
        <p:spPr>
          <a:xfrm>
            <a:off x="7223760" y="1143000"/>
            <a:ext cx="1508760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7223760" y="11430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&amp;</a:t>
            </a:r>
            <a:endParaRPr lang="es-CO" sz="1000" noProof="0" dirty="0"/>
          </a:p>
          <a:p>
            <a:pPr marL="0" indent="0" algn="ctr">
              <a:buNone/>
            </a:pPr>
            <a:r>
              <a:rPr lang="es-CO" sz="1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s-CO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54864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566928" y="242316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de la norma:</a:t>
            </a:r>
            <a:endParaRPr lang="es-CO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566928" y="26334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procesos del ciclo de vida del software.</a:t>
            </a:r>
            <a:endParaRPr lang="es-CO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365760" y="3081528"/>
            <a:ext cx="54864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566928" y="30815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calidad:</a:t>
            </a:r>
            <a:endParaRPr lang="es-CO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566928" y="32918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verificación, validación y aseguramiento de calidad.</a:t>
            </a:r>
            <a:endParaRPr lang="es-CO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365760" y="3739896"/>
            <a:ext cx="54864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7398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sistema de gestión:</a:t>
            </a:r>
            <a:endParaRPr lang="es-CO" sz="1200" noProof="0" dirty="0"/>
          </a:p>
        </p:txBody>
      </p:sp>
      <p:sp>
        <p:nvSpPr>
          <p:cNvPr id="28" name="Text 26"/>
          <p:cNvSpPr/>
          <p:nvPr/>
        </p:nvSpPr>
        <p:spPr>
          <a:xfrm>
            <a:off x="566928" y="39502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 ISO 9001 pero orientada a software.</a:t>
            </a:r>
            <a:endParaRPr lang="es-CO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365760" y="4398264"/>
            <a:ext cx="54864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0" name="Text 28"/>
          <p:cNvSpPr/>
          <p:nvPr/>
        </p:nvSpPr>
        <p:spPr>
          <a:xfrm>
            <a:off x="566928" y="43982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IEEE 830:</a:t>
            </a:r>
            <a:endParaRPr lang="es-CO" sz="1200" noProof="0" dirty="0"/>
          </a:p>
        </p:txBody>
      </p:sp>
      <p:sp>
        <p:nvSpPr>
          <p:cNvPr id="31" name="Text 29"/>
          <p:cNvSpPr/>
          <p:nvPr/>
        </p:nvSpPr>
        <p:spPr>
          <a:xfrm>
            <a:off x="566928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actividades de análisis, diseño, construcción e integración.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mejora de procesos (SPI) y requisitos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167614"/>
            <a:ext cx="1508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16761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</a:t>
            </a:r>
            <a:endParaRPr lang="es-CO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2084832" y="1167614"/>
            <a:ext cx="1508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2084832" y="116761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MoProSoft</a:t>
            </a:r>
            <a:endParaRPr lang="es-CO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803904" y="1167614"/>
            <a:ext cx="1508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3803904" y="116761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Competisoft</a:t>
            </a:r>
            <a:endParaRPr lang="es-CO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5522976" y="1167614"/>
            <a:ext cx="1508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5522976" y="116761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MPS.Br</a:t>
            </a:r>
            <a:endParaRPr lang="es-CO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242048" y="1167614"/>
            <a:ext cx="15087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7242048" y="1167614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Mark</a:t>
            </a:r>
            <a:endParaRPr lang="es-CO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185341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185341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como contexto:</a:t>
            </a:r>
            <a:endParaRPr lang="es-CO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566928" y="208201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</a:t>
            </a: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MoProSoft, </a:t>
            </a:r>
            <a:r>
              <a:rPr lang="es-CO" sz="11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Competisoft</a:t>
            </a: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1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MPS.Br</a:t>
            </a: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IT Mark son marcos para mejora de procesos.</a:t>
            </a:r>
            <a:endParaRPr lang="es-CO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253921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566928" y="253921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elegir bien:</a:t>
            </a:r>
            <a:endParaRPr lang="es-CO" sz="1200" noProof="0" dirty="0"/>
          </a:p>
        </p:txBody>
      </p:sp>
      <p:sp>
        <p:nvSpPr>
          <p:cNvPr id="21" name="Text 19"/>
          <p:cNvSpPr/>
          <p:nvPr/>
        </p:nvSpPr>
        <p:spPr>
          <a:xfrm>
            <a:off x="566928" y="276781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alineación con tamaño y recursos de la empresa es clave para el éxito.</a:t>
            </a:r>
            <a:endParaRPr lang="es-CO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365760" y="322501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566928" y="322501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como insumo clave:</a:t>
            </a:r>
            <a:endParaRPr lang="es-CO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566928" y="345361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exigen gestión formal y disciplinada de requisitos.</a:t>
            </a:r>
            <a:endParaRPr lang="es-CO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3910814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566928" y="391081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mala elección:</a:t>
            </a:r>
            <a:endParaRPr lang="es-CO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413941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inadecuado puede convertirse en un obstáculo, en lugar de una mejora.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procedimental de requisitos: visión general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0604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1307592" y="150876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130759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Educción</a:t>
            </a:r>
            <a:endParaRPr lang="es-CO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20574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usuarios y escenarios. Planificación de entrevistas.</a:t>
            </a:r>
            <a:endParaRPr lang="es-CO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926080" y="2560320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0604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Shape 12"/>
          <p:cNvSpPr/>
          <p:nvPr/>
        </p:nvSpPr>
        <p:spPr>
          <a:xfrm>
            <a:off x="4233672" y="150876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423367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333756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Elicitación</a:t>
            </a:r>
            <a:endParaRPr lang="es-CO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3520440" y="2578608"/>
            <a:ext cx="20574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actas, agrupación por funcionalidad y escenarios.</a:t>
            </a:r>
            <a:endParaRPr lang="es-CO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5852160" y="2560320"/>
            <a:ext cx="22860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60604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Shape 19"/>
          <p:cNvSpPr/>
          <p:nvPr/>
        </p:nvSpPr>
        <p:spPr>
          <a:xfrm>
            <a:off x="7159752" y="1508760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Text 20"/>
          <p:cNvSpPr/>
          <p:nvPr/>
        </p:nvSpPr>
        <p:spPr>
          <a:xfrm>
            <a:off x="715975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1800" noProof="0" dirty="0"/>
          </a:p>
        </p:txBody>
      </p:sp>
      <p:sp>
        <p:nvSpPr>
          <p:cNvPr id="23" name="Text 21"/>
          <p:cNvSpPr/>
          <p:nvPr/>
        </p:nvSpPr>
        <p:spPr>
          <a:xfrm>
            <a:off x="6263640" y="22128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s-CO" sz="1400" noProof="0" dirty="0"/>
          </a:p>
        </p:txBody>
      </p:sp>
      <p:sp>
        <p:nvSpPr>
          <p:cNvPr id="24" name="Shape 22"/>
          <p:cNvSpPr/>
          <p:nvPr/>
        </p:nvSpPr>
        <p:spPr>
          <a:xfrm>
            <a:off x="6446520" y="2578608"/>
            <a:ext cx="20574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/>
          <p:nvPr/>
        </p:nvSpPr>
        <p:spPr>
          <a:xfrm>
            <a:off x="6309360" y="265176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especificación, catálogo y </a:t>
            </a:r>
            <a:r>
              <a:rPr lang="es-CO" sz="10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versionamiento</a:t>
            </a:r>
            <a:r>
              <a:rPr lang="es-CO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requisitos.</a:t>
            </a:r>
            <a:endParaRPr lang="es-CO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321040" cy="457200"/>
          </a:xfrm>
          <a:prstGeom prst="rect">
            <a:avLst/>
          </a:prstGeom>
          <a:solidFill>
            <a:srgbClr val="EAF0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i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Ficha de especificación de requisitos funcionales → SRS IEEE 830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uso y </a:t>
            </a:r>
            <a:r>
              <a:rPr lang="es-CO" sz="2000" b="1" i="1" noProof="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especificación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125410"/>
            <a:ext cx="2743200" cy="133468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12541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14369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qué?</a:t>
            </a:r>
            <a:endParaRPr lang="es-CO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384048" y="1582610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propósito y competencias del software mediante el Acta de Objetivos.</a:t>
            </a:r>
            <a:endParaRPr lang="es-CO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3218688" y="1125410"/>
            <a:ext cx="2743200" cy="133468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3218688" y="112541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3310128" y="114369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escenarios?</a:t>
            </a:r>
            <a:endParaRPr lang="es-CO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328416" y="1582610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escenarios: código, nombre, descripción de cada contexto de uso.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6163056" y="1125410"/>
            <a:ext cx="2743200" cy="1334688"/>
          </a:xfrm>
          <a:prstGeom prst="rect">
            <a:avLst/>
          </a:prstGeom>
          <a:solidFill>
            <a:srgbClr val="F4F4F4"/>
          </a:solidFill>
          <a:ln w="12700">
            <a:solidFill>
              <a:srgbClr val="C9A84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6163056" y="1125410"/>
            <a:ext cx="2743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6254496" y="114369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lo usan?</a:t>
            </a:r>
            <a:endParaRPr lang="es-CO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6272784" y="1582610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usuarios: código, rol y para qué usa el sistema cada actor.</a:t>
            </a:r>
            <a:endParaRPr lang="es-CO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264119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300" b="1" noProof="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r>
              <a:rPr lang="es-CO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identificados</a:t>
            </a:r>
            <a:endParaRPr lang="es-CO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296123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 usuaria</a:t>
            </a:r>
            <a:endParaRPr lang="es-CO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663440" y="296123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s-CO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321727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Director médico</a:t>
            </a:r>
            <a:endParaRPr lang="es-CO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349159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Jefe de sistemas</a:t>
            </a:r>
            <a:endParaRPr lang="es-CO" sz="1050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376591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Coordinador de agenda</a:t>
            </a:r>
            <a:endParaRPr lang="es-CO" sz="105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404023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Responsable delegado</a:t>
            </a:r>
            <a:endParaRPr lang="es-CO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4663440" y="321727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Jefe de proyecto</a:t>
            </a:r>
            <a:endParaRPr lang="es-CO" sz="1050" noProof="0" dirty="0"/>
          </a:p>
        </p:txBody>
      </p:sp>
      <p:sp>
        <p:nvSpPr>
          <p:cNvPr id="26" name="Text 24"/>
          <p:cNvSpPr/>
          <p:nvPr/>
        </p:nvSpPr>
        <p:spPr>
          <a:xfrm>
            <a:off x="4663440" y="349159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Analista de requisitos</a:t>
            </a:r>
            <a:endParaRPr lang="es-CO" sz="1050" noProof="0" dirty="0"/>
          </a:p>
        </p:txBody>
      </p:sp>
      <p:sp>
        <p:nvSpPr>
          <p:cNvPr id="27" name="Text 25"/>
          <p:cNvSpPr/>
          <p:nvPr/>
        </p:nvSpPr>
        <p:spPr>
          <a:xfrm>
            <a:off x="4663440" y="376591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Arquitecto de software</a:t>
            </a:r>
            <a:endParaRPr lang="es-CO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4663440" y="404023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Equipo QA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084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Educción y elicitación de requisitos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EDUCCIÓN</a:t>
            </a:r>
            <a:endParaRPr lang="es-CO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292608" y="148132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usuarios y escenarios entre sí.</a:t>
            </a:r>
            <a:endParaRPr lang="es-CO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92608" y="202996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entrevistas por tipo de usuario.</a:t>
            </a:r>
            <a:endParaRPr lang="es-CO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292608" y="257860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475488" y="25786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diferenciado por rol.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292608" y="312724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475488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Actas de entrevista validadas y firmadas.</a:t>
            </a:r>
            <a:endParaRPr lang="es-CO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292608" y="3675888"/>
            <a:ext cx="54864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" y="3675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contraste y lista de chequeo.</a:t>
            </a:r>
            <a:endParaRPr lang="es-CO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ELICITACIÓN</a:t>
            </a:r>
            <a:endParaRPr lang="es-CO" sz="1300" noProof="0" dirty="0"/>
          </a:p>
        </p:txBody>
      </p:sp>
      <p:sp>
        <p:nvSpPr>
          <p:cNvPr id="20" name="Shape 18"/>
          <p:cNvSpPr/>
          <p:nvPr/>
        </p:nvSpPr>
        <p:spPr>
          <a:xfrm>
            <a:off x="4773168" y="1481328"/>
            <a:ext cx="548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4956048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actas de entrevista por escenario.</a:t>
            </a:r>
            <a:endParaRPr lang="es-CO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4773168" y="2029968"/>
            <a:ext cx="548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4956048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características por funcionalidad.</a:t>
            </a:r>
            <a:endParaRPr lang="es-CO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4773168" y="2578608"/>
            <a:ext cx="548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/>
          <p:nvPr/>
        </p:nvSpPr>
        <p:spPr>
          <a:xfrm>
            <a:off x="4956048" y="25786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ambigüedades y conflictos.</a:t>
            </a:r>
            <a:endParaRPr lang="es-CO" sz="1050" noProof="0" dirty="0"/>
          </a:p>
        </p:txBody>
      </p:sp>
      <p:sp>
        <p:nvSpPr>
          <p:cNvPr id="26" name="Shape 24"/>
          <p:cNvSpPr/>
          <p:nvPr/>
        </p:nvSpPr>
        <p:spPr>
          <a:xfrm>
            <a:off x="4773168" y="3127248"/>
            <a:ext cx="548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7" name="Text 25"/>
          <p:cNvSpPr/>
          <p:nvPr/>
        </p:nvSpPr>
        <p:spPr>
          <a:xfrm>
            <a:off x="4956048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nuevas entrevistas si se detectan incomprensiones.</a:t>
            </a:r>
            <a:endParaRPr lang="es-CO" sz="1050" noProof="0" dirty="0"/>
          </a:p>
        </p:txBody>
      </p:sp>
      <p:sp>
        <p:nvSpPr>
          <p:cNvPr id="28" name="Shape 26"/>
          <p:cNvSpPr/>
          <p:nvPr/>
        </p:nvSpPr>
        <p:spPr>
          <a:xfrm>
            <a:off x="4773168" y="3675888"/>
            <a:ext cx="54864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Text 27"/>
          <p:cNvSpPr/>
          <p:nvPr/>
        </p:nvSpPr>
        <p:spPr>
          <a:xfrm>
            <a:off x="4956048" y="3675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Rastreo de funcionalidades por escenario y usuario.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y catálogo de requisitos funcionales</a:t>
            </a:r>
            <a:endParaRPr lang="es-CO" sz="200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728857"/>
              </p:ext>
            </p:extLst>
          </p:nvPr>
        </p:nvGraphicFramePr>
        <p:xfrm>
          <a:off x="365760" y="1202784"/>
          <a:ext cx="8412480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Requisito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cita médica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Reprogramar cita médica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Cancelar cita médica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agenda por médico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lista de espera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v0.9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O" sz="1000" noProof="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Borrador</a:t>
                      </a: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25016"/>
            <a:ext cx="8412480" cy="1100797"/>
          </a:xfrm>
          <a:prstGeom prst="rect">
            <a:avLst/>
          </a:prstGeom>
          <a:solidFill>
            <a:srgbClr val="EBF1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5"/>
          <p:cNvSpPr/>
          <p:nvPr/>
        </p:nvSpPr>
        <p:spPr>
          <a:xfrm>
            <a:off x="502920" y="32707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RF01 – Registrar cita médica</a:t>
            </a:r>
            <a:endParaRPr lang="es-CO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502920" y="3563344"/>
            <a:ext cx="8046720" cy="76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Precondiciones</a:t>
            </a: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Paciente registrado; médico con agenda configurada.</a:t>
            </a:r>
            <a:endParaRPr lang="es-CO" sz="1000" noProof="0" dirty="0"/>
          </a:p>
          <a:p>
            <a:pPr marL="0" indent="0">
              <a:buNone/>
            </a:pPr>
            <a:r>
              <a:rPr lang="es-CO" sz="10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Postcondiciones</a:t>
            </a: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Cita en estado "Programada"; notificación enviada al paciente.</a:t>
            </a:r>
            <a:endParaRPr lang="es-CO" sz="1000" noProof="0" dirty="0"/>
          </a:p>
          <a:p>
            <a:pPr marL="0" indent="0">
              <a:buNone/>
            </a:pPr>
            <a:r>
              <a:rPr lang="es-CO" sz="10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</a:t>
            </a: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Seleccionar especialidad → médico → fecha/hora → confirmar.</a:t>
            </a:r>
            <a:endParaRPr lang="es-CO" sz="1000" noProof="0" dirty="0"/>
          </a:p>
          <a:p>
            <a:pPr marL="0" indent="0">
              <a:buNone/>
            </a:pPr>
            <a:r>
              <a:rPr lang="es-CO" sz="10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alternativo</a:t>
            </a: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Sin disponibilidad → sugerir próxima fecha libre.</a:t>
            </a:r>
            <a:endParaRPr lang="es-CO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métricas y mejora continua de la calidad</a:t>
            </a:r>
            <a:endParaRPr lang="es-CO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20240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20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</a:t>
            </a:r>
            <a:endParaRPr lang="es-CO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Densidad</a:t>
            </a:r>
            <a:endParaRPr lang="es-CO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55448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claros reducen defectos en desarrollo y producción.</a:t>
            </a:r>
            <a:endParaRPr lang="es-CO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2450592" y="1417320"/>
            <a:ext cx="1920240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1920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2496312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calidad</a:t>
            </a:r>
            <a:endParaRPr lang="es-CO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2496312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Retrabajo</a:t>
            </a:r>
            <a:endParaRPr lang="es-CO" sz="1800" noProof="0" dirty="0"/>
          </a:p>
        </p:txBody>
      </p:sp>
      <p:sp>
        <p:nvSpPr>
          <p:cNvPr id="16" name="Shape 14"/>
          <p:cNvSpPr/>
          <p:nvPr/>
        </p:nvSpPr>
        <p:spPr>
          <a:xfrm>
            <a:off x="2633472" y="2240280"/>
            <a:ext cx="155448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2542032" y="230428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ambigüedades = menor porcentaje de costo de no calidad.</a:t>
            </a:r>
            <a:endParaRPr lang="es-CO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4626864" y="1417320"/>
            <a:ext cx="1920240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Shape 17"/>
          <p:cNvSpPr/>
          <p:nvPr/>
        </p:nvSpPr>
        <p:spPr>
          <a:xfrm>
            <a:off x="4626864" y="1417320"/>
            <a:ext cx="1920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4672584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s-CO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672584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Cliente</a:t>
            </a:r>
            <a:endParaRPr lang="es-CO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4809744" y="2240280"/>
            <a:ext cx="155448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4718304" y="230428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precisas alinean el producto con expectativas reales.</a:t>
            </a:r>
            <a:endParaRPr lang="es-CO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6803136" y="1417320"/>
            <a:ext cx="1920240" cy="2103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Shape 23"/>
          <p:cNvSpPr/>
          <p:nvPr/>
        </p:nvSpPr>
        <p:spPr>
          <a:xfrm>
            <a:off x="6803136" y="1417320"/>
            <a:ext cx="19202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6848856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s-CO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6848856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Control</a:t>
            </a:r>
            <a:endParaRPr lang="es-CO" sz="1800" noProof="0" dirty="0"/>
          </a:p>
        </p:txBody>
      </p:sp>
      <p:sp>
        <p:nvSpPr>
          <p:cNvPr id="28" name="Shape 26"/>
          <p:cNvSpPr/>
          <p:nvPr/>
        </p:nvSpPr>
        <p:spPr>
          <a:xfrm>
            <a:off x="6986016" y="2240280"/>
            <a:ext cx="155448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Text 27"/>
          <p:cNvSpPr/>
          <p:nvPr/>
        </p:nvSpPr>
        <p:spPr>
          <a:xfrm>
            <a:off x="6894576" y="2304288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es rastreable hasta casos de prueba y entrega.</a:t>
            </a:r>
            <a:endParaRPr lang="es-CO" sz="950" noProof="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EAF0FB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1" name="Text 29"/>
          <p:cNvSpPr/>
          <p:nvPr/>
        </p:nvSpPr>
        <p:spPr>
          <a:xfrm>
            <a:off x="274320" y="37307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integración:  CMMI  ·  TSP/PSP  ·  ISO/IEC 12207  ·  Modelos SPI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206240"/>
            <a:ext cx="34747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s-CO" sz="800" noProof="0" dirty="0"/>
          </a:p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s-CO" sz="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</a:t>
            </a:r>
            <a:endParaRPr lang="es-CO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 del software</a:t>
            </a:r>
            <a:endParaRPr lang="es-CO" sz="160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en: Cornejo-Aparicio et al. (2020) · Espejo Chavarría et al. (2016)</a:t>
            </a:r>
            <a:endParaRPr lang="es-CO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UNIMINUTO</a:t>
            </a:r>
            <a:endParaRPr lang="es-CO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Minuto de Dios</a:t>
            </a:r>
            <a:endParaRPr lang="es-CO" sz="700" noProof="0" dirty="0"/>
          </a:p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de calidad al alcance de todos</a:t>
            </a:r>
            <a:endParaRPr lang="es-CO" sz="7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475488"/>
            <a:ext cx="101990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274319" y="475488"/>
            <a:ext cx="13082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EJERCICIO. 1</a:t>
            </a:r>
            <a:endParaRPr lang="es-CO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502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citas médicas en línea</a:t>
            </a:r>
            <a:endParaRPr lang="es-CO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i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Clínica privada – portal web/móvil para agendar citas, módulo de recepción y panel del médico.</a:t>
            </a:r>
            <a:endParaRPr lang="es-CO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15727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1591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Contextualización:</a:t>
            </a:r>
            <a:endParaRPr lang="es-CO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2971800" y="159105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para qué, en qué escenarios y quiénes usarán el sistema.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274320" y="2350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23682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y usuarios:</a:t>
            </a:r>
            <a:endParaRPr lang="es-CO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2971800" y="236829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tabla de escenarios (E1-E3) y tabla de usuarios (U001-U003).</a:t>
            </a:r>
            <a:endParaRPr lang="es-CO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274320" y="3127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" y="31455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Educción:</a:t>
            </a:r>
            <a:endParaRPr lang="es-CO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2971800" y="31455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preguntas al recepcionista + acta de entrevista con hallazgos clave.</a:t>
            </a:r>
            <a:endParaRPr lang="es-CO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390448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274320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O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" y="3922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Especificación:</a:t>
            </a:r>
            <a:endParaRPr lang="es-CO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2971800" y="392277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RF01–RF05 + ficha completa de RF01 (Registrar cita médica).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475488"/>
            <a:ext cx="14630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s-CO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1874520" y="5029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– Clasificación esperada</a:t>
            </a:r>
            <a:endParaRPr lang="es-CO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requisitos:</a:t>
            </a:r>
            <a:endParaRPr lang="es-CO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Registrar cita · RF02 Reprogramar · RF03 Cancelar · RF04 Agenda por médico · RF05 Lista de espera.</a:t>
            </a:r>
            <a:endParaRPr lang="es-CO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RF01 – Precondiciones:</a:t>
            </a:r>
            <a:endParaRPr lang="es-CO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registrado en el sistema; al menos un médico con agenda configurada.</a:t>
            </a:r>
            <a:endParaRPr lang="es-CO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RF01 – </a:t>
            </a:r>
            <a:r>
              <a:rPr lang="es-CO" sz="1100" b="1" noProof="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Poscondiciones</a:t>
            </a: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O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en estado "Programada"; confirmación enviada al paciente.</a:t>
            </a:r>
            <a:endParaRPr lang="es-CO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4892040" y="1005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identificados:</a:t>
            </a:r>
            <a:endParaRPr lang="es-CO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4892040" y="12527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U001 Paciente · U002 Recepcionista · U003 Médico.</a:t>
            </a:r>
            <a:endParaRPr lang="es-CO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489204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Escenarios:</a:t>
            </a:r>
            <a:endParaRPr lang="es-CO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892040" y="24414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Portal paciente · E2 Módulo recepción · E3 Panel médico.</a:t>
            </a:r>
            <a:endParaRPr lang="es-CO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4709160" y="3383280"/>
            <a:ext cx="54864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acta entrevista:</a:t>
            </a:r>
            <a:endParaRPr lang="es-CO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4892040" y="36301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en una pantalla, datos mínimos del paciente, alertas de duplicados y lista de espera.</a:t>
            </a:r>
            <a:endParaRPr lang="es-CO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475488"/>
            <a:ext cx="640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4754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2</a:t>
            </a:r>
            <a:endParaRPr lang="es-CO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502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entre requisitos y métricas de calidad (Fintech)</a:t>
            </a:r>
            <a:endParaRPr lang="es-CO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438912"/>
          </a:xfrm>
          <a:prstGeom prst="rect">
            <a:avLst/>
          </a:prstGeom>
          <a:solidFill>
            <a:srgbClr val="E8F4FD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9784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00" i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App móvil de pagos instantáneos P2P para </a:t>
            </a:r>
            <a:r>
              <a:rPr lang="es-CO" sz="1000" i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r>
              <a:rPr lang="es-CO" sz="1000" i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latinoamericana (usuarios, comercios y soporte antifraude).</a:t>
            </a:r>
            <a:endParaRPr lang="es-CO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Requisitos críticos:</a:t>
            </a:r>
            <a:endParaRPr lang="es-CO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063240" y="157276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Registrar usuario · RF02 Vincular cuenta · RF03 Pago P2P · RF04 Historial · RF05 Bloqueo por fraude.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riesgos:</a:t>
            </a:r>
            <a:endParaRPr lang="es-CO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3063240" y="235915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RF, identificar posible defecto por ambigüedad, omisión o inconsistencia en la especificación.</a:t>
            </a:r>
            <a:endParaRPr lang="es-CO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274320" y="3127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" y="31455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métricas:</a:t>
            </a:r>
            <a:endParaRPr lang="es-CO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3063240" y="314553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en: densidad de defectos, porcentaje de costo de calidad y satisfacción del cliente.</a:t>
            </a:r>
            <a:endParaRPr lang="es-CO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3913632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274320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O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mejora:</a:t>
            </a:r>
            <a:endParaRPr lang="es-CO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3063240" y="393192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acciones alineadas con CMMI o ISO/IEC 12207: plantillas, revisiones de pares, medición sistemática.</a:t>
            </a:r>
            <a:endParaRPr lang="es-CO" sz="10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109728" y="365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9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 de Calidad en el Desarrollo de Software</a:t>
            </a:r>
            <a:endParaRPr lang="es-CO" sz="95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6084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CO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033272"/>
            <a:ext cx="320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03327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713232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 + ISO/IEC 12207 + Modelo procedimental forman un conjunto integrado y complementario para la especificación de requisitos de calidad.</a:t>
            </a:r>
            <a:endParaRPr lang="es-CO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320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174650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s-CO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713232" y="1719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especificación es un mecanismo preventivo clave: reduce la densidad de defectos y los costos de no calidad desde las fases tempranas.</a:t>
            </a:r>
            <a:endParaRPr lang="es-CO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320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s-CO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713232" y="243230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adecuada del modelo SPI (CMMI, MoProSoft, etc.) determina el marco institucional que potencia o limita la gestión de requisitos.</a:t>
            </a:r>
            <a:endParaRPr lang="es-CO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3172968"/>
            <a:ext cx="32004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274320" y="317296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s-CO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713232" y="314553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trazabilidad requisito → prueba → métrica cierra el ciclo de mejora continua y es esencial en organizaciones de alto despliegue.</a:t>
            </a:r>
            <a:endParaRPr lang="es-CO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320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274320" y="3886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s-CO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713232" y="385876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profesional es adaptar estos marcos a contextos reales manteniendo el equilibrio entre rigor metodológico y agilidad operativa.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206240"/>
            <a:ext cx="34747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7498080" y="3840480"/>
            <a:ext cx="16459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A0782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8046720" y="228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s-CO" sz="800" noProof="0" dirty="0"/>
          </a:p>
          <a:p>
            <a:pPr marL="0" indent="0" algn="ctr">
              <a:buNone/>
            </a:pPr>
            <a:r>
              <a:rPr lang="es-CO" sz="8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s-CO" sz="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2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 de software</a:t>
            </a:r>
            <a:endParaRPr lang="es-CO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O" sz="26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s-CO" sz="2600" noProof="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UNIMINUTO</a:t>
            </a:r>
            <a:endParaRPr lang="es-CO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Corporación Universitaria Minuto de Dios</a:t>
            </a:r>
            <a:endParaRPr lang="es-CO" sz="700" noProof="0" dirty="0"/>
          </a:p>
          <a:p>
            <a:pPr marL="0" indent="0">
              <a:buNone/>
            </a:pPr>
            <a:r>
              <a:rPr lang="es-CO" sz="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de calidad al alcance de todos</a:t>
            </a:r>
            <a:endParaRPr lang="es-CO" sz="7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1486</Words>
  <Application>Microsoft Office PowerPoint</Application>
  <PresentationFormat>Presentación en pantalla (16:9)</PresentationFormat>
  <Paragraphs>258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Especificación de Requisitos y Calidad - Semana 4</dc:title>
  <dc:subject>PptxGenJS Presentation</dc:subject>
  <dc:creator>PptxGenJS</dc:creator>
  <cp:lastModifiedBy>Cesar Alfonso</cp:lastModifiedBy>
  <cp:revision>18</cp:revision>
  <dcterms:created xsi:type="dcterms:W3CDTF">2026-05-30T18:34:28Z</dcterms:created>
  <dcterms:modified xsi:type="dcterms:W3CDTF">2026-05-30T18:50:03Z</dcterms:modified>
</cp:coreProperties>
</file>