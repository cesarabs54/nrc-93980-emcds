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81" r:id="rId2"/>
    <p:sldId id="257" r:id="rId3"/>
    <p:sldId id="258" r:id="rId4"/>
    <p:sldId id="259" r:id="rId5"/>
    <p:sldId id="260" r:id="rId6"/>
    <p:sldId id="261" r:id="rId7"/>
    <p:sldId id="262" r:id="rId8"/>
    <p:sldId id="263" r:id="rId9"/>
    <p:sldId id="264" r:id="rId10"/>
    <p:sldId id="265" r:id="rId11"/>
    <p:sldId id="266" r:id="rId12"/>
    <p:sldId id="267" r:id="rId13"/>
    <p:sldId id="268" r:id="rId14"/>
    <p:sldId id="282"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37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38F18-1C0B-0749-058E-1B0E686BC5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E53D8DE-7C2E-BD97-A2AA-88F4EE1D14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241F956-2A51-B46A-6C84-292248ABCBC8}"/>
              </a:ext>
            </a:extLst>
          </p:cNvPr>
          <p:cNvSpPr>
            <a:spLocks noGrp="1"/>
          </p:cNvSpPr>
          <p:nvPr>
            <p:ph type="dt" sz="half" idx="10"/>
          </p:nvPr>
        </p:nvSpPr>
        <p:spPr/>
        <p:txBody>
          <a:bodyPr/>
          <a:lstStyle/>
          <a:p>
            <a:fld id="{21508EDE-BAAD-1743-A60D-6B891320FA45}" type="datetimeFigureOut">
              <a:rPr lang="es-CO" smtClean="0"/>
              <a:t>30/05/2026</a:t>
            </a:fld>
            <a:endParaRPr lang="es-CO"/>
          </a:p>
        </p:txBody>
      </p:sp>
      <p:sp>
        <p:nvSpPr>
          <p:cNvPr id="5" name="Marcador de pie de página 4">
            <a:extLst>
              <a:ext uri="{FF2B5EF4-FFF2-40B4-BE49-F238E27FC236}">
                <a16:creationId xmlns:a16="http://schemas.microsoft.com/office/drawing/2014/main" id="{3987A6C4-FA66-E3C7-C032-D85598F3E1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C0D02B-4304-EE2A-7E8C-0B375B0E798F}"/>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38538298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28600" y="2560320"/>
            <a:ext cx="7315200" cy="822960"/>
          </a:xfrm>
          <a:prstGeom prst="rect">
            <a:avLst/>
          </a:prstGeom>
          <a:noFill/>
          <a:ln/>
        </p:spPr>
        <p:txBody>
          <a:bodyPr wrap="square" rtlCol="0" anchor="ctr"/>
          <a:lstStyle/>
          <a:p>
            <a:r>
              <a:rPr lang="es-CO" sz="3200" b="1" noProof="0" dirty="0">
                <a:solidFill>
                  <a:srgbClr val="FFFFFF"/>
                </a:solidFill>
                <a:latin typeface="Calibri" pitchFamily="34" charset="0"/>
                <a:ea typeface="Calibri" pitchFamily="34" charset="-122"/>
                <a:cs typeface="Calibri" pitchFamily="34" charset="-120"/>
              </a:rPr>
              <a:t>Especificación de requisitos del software</a:t>
            </a:r>
            <a:endParaRPr lang="es-CO" sz="3200" noProof="0" dirty="0"/>
          </a:p>
        </p:txBody>
      </p:sp>
      <p:sp>
        <p:nvSpPr>
          <p:cNvPr id="4" name="Text 1"/>
          <p:cNvSpPr/>
          <p:nvPr/>
        </p:nvSpPr>
        <p:spPr>
          <a:xfrm>
            <a:off x="228600" y="3337560"/>
            <a:ext cx="4572000" cy="457200"/>
          </a:xfrm>
          <a:prstGeom prst="rect">
            <a:avLst/>
          </a:prstGeom>
          <a:noFill/>
          <a:ln/>
        </p:spPr>
        <p:txBody>
          <a:bodyPr wrap="square" rtlCol="0" anchor="ctr"/>
          <a:lstStyle/>
          <a:p>
            <a:pPr marL="0" indent="0" algn="l">
              <a:buNone/>
            </a:pPr>
            <a:r>
              <a:rPr lang="es-CO" sz="2800" b="1" noProof="0" dirty="0">
                <a:solidFill>
                  <a:srgbClr val="7BEEFD"/>
                </a:solidFill>
                <a:latin typeface="Century Gothic" pitchFamily="34" charset="0"/>
                <a:ea typeface="Century Gothic" pitchFamily="34" charset="-122"/>
                <a:cs typeface="Century Gothic" pitchFamily="34" charset="-120"/>
              </a:rPr>
              <a:t>Semana 4</a:t>
            </a:r>
            <a:endParaRPr lang="es-CO" sz="2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457200" y="658368"/>
            <a:ext cx="7315200" cy="457200"/>
          </a:xfrm>
          <a:prstGeom prst="rect">
            <a:avLst/>
          </a:prstGeom>
          <a:noFill/>
          <a:ln/>
        </p:spPr>
        <p:txBody>
          <a:bodyPr wrap="square" rtlCol="0" anchor="ctr"/>
          <a:lstStyle/>
          <a:p>
            <a:pPr marL="0" indent="0">
              <a:buNone/>
            </a:pPr>
            <a:r>
              <a:rPr lang="es-CO" sz="2200" b="1" noProof="0" dirty="0">
                <a:solidFill>
                  <a:srgbClr val="0D1F4E"/>
                </a:solidFill>
              </a:rPr>
              <a:t>Contenido</a:t>
            </a:r>
            <a:endParaRPr lang="es-CO" sz="2200" noProof="0" dirty="0"/>
          </a:p>
        </p:txBody>
      </p:sp>
      <p:sp>
        <p:nvSpPr>
          <p:cNvPr id="10" name="Shape 6"/>
          <p:cNvSpPr/>
          <p:nvPr/>
        </p:nvSpPr>
        <p:spPr>
          <a:xfrm>
            <a:off x="457200" y="1234440"/>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11" name="Text 7"/>
          <p:cNvSpPr/>
          <p:nvPr/>
        </p:nvSpPr>
        <p:spPr>
          <a:xfrm>
            <a:off x="457200" y="1234440"/>
            <a:ext cx="457200" cy="384048"/>
          </a:xfrm>
          <a:prstGeom prst="rect">
            <a:avLst/>
          </a:prstGeom>
          <a:noFill/>
          <a:ln/>
        </p:spPr>
        <p:txBody>
          <a:bodyPr wrap="square" rtlCol="0" anchor="ctr"/>
          <a:lstStyle/>
          <a:p>
            <a:pPr marL="0" indent="0" algn="ctr">
              <a:buNone/>
            </a:pPr>
            <a:r>
              <a:rPr lang="es-CO" sz="1100" b="1" noProof="0" dirty="0">
                <a:solidFill>
                  <a:srgbClr val="FFFFFF"/>
                </a:solidFill>
              </a:rPr>
              <a:t>01</a:t>
            </a:r>
            <a:endParaRPr lang="es-CO" sz="1100" noProof="0" dirty="0"/>
          </a:p>
        </p:txBody>
      </p:sp>
      <p:sp>
        <p:nvSpPr>
          <p:cNvPr id="12" name="Text 8"/>
          <p:cNvSpPr/>
          <p:nvPr/>
        </p:nvSpPr>
        <p:spPr>
          <a:xfrm>
            <a:off x="1005840" y="1252728"/>
            <a:ext cx="7589520" cy="347472"/>
          </a:xfrm>
          <a:prstGeom prst="rect">
            <a:avLst/>
          </a:prstGeom>
          <a:noFill/>
          <a:ln/>
        </p:spPr>
        <p:txBody>
          <a:bodyPr wrap="square" rtlCol="0" anchor="ctr"/>
          <a:lstStyle/>
          <a:p>
            <a:pPr marL="0" indent="0">
              <a:buNone/>
            </a:pPr>
            <a:r>
              <a:rPr lang="es-CO" sz="1250" noProof="0" dirty="0">
                <a:solidFill>
                  <a:srgbClr val="0D1F4E"/>
                </a:solidFill>
              </a:rPr>
              <a:t>Introducción a la especificación de requisitos y calidad</a:t>
            </a:r>
            <a:endParaRPr lang="es-CO" sz="1250" noProof="0" dirty="0"/>
          </a:p>
        </p:txBody>
      </p:sp>
      <p:sp>
        <p:nvSpPr>
          <p:cNvPr id="13" name="Shape 9"/>
          <p:cNvSpPr/>
          <p:nvPr/>
        </p:nvSpPr>
        <p:spPr>
          <a:xfrm>
            <a:off x="457200" y="1746504"/>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14" name="Text 10"/>
          <p:cNvSpPr/>
          <p:nvPr/>
        </p:nvSpPr>
        <p:spPr>
          <a:xfrm>
            <a:off x="457200" y="1746504"/>
            <a:ext cx="457200" cy="384048"/>
          </a:xfrm>
          <a:prstGeom prst="rect">
            <a:avLst/>
          </a:prstGeom>
          <a:noFill/>
          <a:ln/>
        </p:spPr>
        <p:txBody>
          <a:bodyPr wrap="square" rtlCol="0" anchor="ctr"/>
          <a:lstStyle/>
          <a:p>
            <a:pPr marL="0" indent="0" algn="ctr">
              <a:buNone/>
            </a:pPr>
            <a:r>
              <a:rPr lang="es-CO" sz="1100" b="1" noProof="0" dirty="0">
                <a:solidFill>
                  <a:srgbClr val="FFFFFF"/>
                </a:solidFill>
              </a:rPr>
              <a:t>02</a:t>
            </a:r>
            <a:endParaRPr lang="es-CO" sz="1100" noProof="0" dirty="0"/>
          </a:p>
        </p:txBody>
      </p:sp>
      <p:sp>
        <p:nvSpPr>
          <p:cNvPr id="15" name="Text 11"/>
          <p:cNvSpPr/>
          <p:nvPr/>
        </p:nvSpPr>
        <p:spPr>
          <a:xfrm>
            <a:off x="1005840" y="1764792"/>
            <a:ext cx="7589520" cy="347472"/>
          </a:xfrm>
          <a:prstGeom prst="rect">
            <a:avLst/>
          </a:prstGeom>
          <a:noFill/>
          <a:ln/>
        </p:spPr>
        <p:txBody>
          <a:bodyPr wrap="square" rtlCol="0" anchor="ctr"/>
          <a:lstStyle/>
          <a:p>
            <a:pPr marL="0" indent="0">
              <a:buNone/>
            </a:pPr>
            <a:r>
              <a:rPr lang="es-CO" sz="1250" noProof="0" dirty="0">
                <a:solidFill>
                  <a:srgbClr val="0D1F4E"/>
                </a:solidFill>
              </a:rPr>
              <a:t>Estándar IEEE 830 para especificación de requisitos</a:t>
            </a:r>
            <a:endParaRPr lang="es-CO" sz="1250" noProof="0" dirty="0"/>
          </a:p>
        </p:txBody>
      </p:sp>
      <p:sp>
        <p:nvSpPr>
          <p:cNvPr id="16" name="Shape 12"/>
          <p:cNvSpPr/>
          <p:nvPr/>
        </p:nvSpPr>
        <p:spPr>
          <a:xfrm>
            <a:off x="457200" y="2258568"/>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17" name="Text 13"/>
          <p:cNvSpPr/>
          <p:nvPr/>
        </p:nvSpPr>
        <p:spPr>
          <a:xfrm>
            <a:off x="457200" y="2258568"/>
            <a:ext cx="457200" cy="384048"/>
          </a:xfrm>
          <a:prstGeom prst="rect">
            <a:avLst/>
          </a:prstGeom>
          <a:noFill/>
          <a:ln/>
        </p:spPr>
        <p:txBody>
          <a:bodyPr wrap="square" rtlCol="0" anchor="ctr"/>
          <a:lstStyle/>
          <a:p>
            <a:pPr marL="0" indent="0" algn="ctr">
              <a:buNone/>
            </a:pPr>
            <a:r>
              <a:rPr lang="es-CO" sz="1100" b="1" noProof="0" dirty="0">
                <a:solidFill>
                  <a:srgbClr val="FFFFFF"/>
                </a:solidFill>
              </a:rPr>
              <a:t>03</a:t>
            </a:r>
            <a:endParaRPr lang="es-CO" sz="1100" noProof="0" dirty="0"/>
          </a:p>
        </p:txBody>
      </p:sp>
      <p:sp>
        <p:nvSpPr>
          <p:cNvPr id="18" name="Text 14"/>
          <p:cNvSpPr/>
          <p:nvPr/>
        </p:nvSpPr>
        <p:spPr>
          <a:xfrm>
            <a:off x="1005840" y="2276856"/>
            <a:ext cx="7589520" cy="347472"/>
          </a:xfrm>
          <a:prstGeom prst="rect">
            <a:avLst/>
          </a:prstGeom>
          <a:noFill/>
          <a:ln/>
        </p:spPr>
        <p:txBody>
          <a:bodyPr wrap="square" rtlCol="0" anchor="ctr"/>
          <a:lstStyle/>
          <a:p>
            <a:pPr marL="0" indent="0">
              <a:buNone/>
            </a:pPr>
            <a:r>
              <a:rPr lang="es-CO" sz="1250" noProof="0" dirty="0">
                <a:solidFill>
                  <a:srgbClr val="0D1F4E"/>
                </a:solidFill>
              </a:rPr>
              <a:t>ISO/IEC 12207 y la calidad del software</a:t>
            </a:r>
            <a:endParaRPr lang="es-CO" sz="1250" noProof="0" dirty="0"/>
          </a:p>
        </p:txBody>
      </p:sp>
      <p:sp>
        <p:nvSpPr>
          <p:cNvPr id="19" name="Shape 15"/>
          <p:cNvSpPr/>
          <p:nvPr/>
        </p:nvSpPr>
        <p:spPr>
          <a:xfrm>
            <a:off x="457200" y="2770632"/>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20" name="Text 16"/>
          <p:cNvSpPr/>
          <p:nvPr/>
        </p:nvSpPr>
        <p:spPr>
          <a:xfrm>
            <a:off x="457200" y="2770632"/>
            <a:ext cx="457200" cy="384048"/>
          </a:xfrm>
          <a:prstGeom prst="rect">
            <a:avLst/>
          </a:prstGeom>
          <a:noFill/>
          <a:ln/>
        </p:spPr>
        <p:txBody>
          <a:bodyPr wrap="square" rtlCol="0" anchor="ctr"/>
          <a:lstStyle/>
          <a:p>
            <a:pPr marL="0" indent="0" algn="ctr">
              <a:buNone/>
            </a:pPr>
            <a:r>
              <a:rPr lang="es-CO" sz="1100" b="1" noProof="0" dirty="0">
                <a:solidFill>
                  <a:srgbClr val="FFFFFF"/>
                </a:solidFill>
              </a:rPr>
              <a:t>04</a:t>
            </a:r>
            <a:endParaRPr lang="es-CO" sz="1100" noProof="0" dirty="0"/>
          </a:p>
        </p:txBody>
      </p:sp>
      <p:sp>
        <p:nvSpPr>
          <p:cNvPr id="21" name="Text 17"/>
          <p:cNvSpPr/>
          <p:nvPr/>
        </p:nvSpPr>
        <p:spPr>
          <a:xfrm>
            <a:off x="1005840" y="2788920"/>
            <a:ext cx="7589520" cy="347472"/>
          </a:xfrm>
          <a:prstGeom prst="rect">
            <a:avLst/>
          </a:prstGeom>
          <a:noFill/>
          <a:ln/>
        </p:spPr>
        <p:txBody>
          <a:bodyPr wrap="square" rtlCol="0" anchor="ctr"/>
          <a:lstStyle/>
          <a:p>
            <a:pPr marL="0" indent="0">
              <a:buNone/>
            </a:pPr>
            <a:r>
              <a:rPr lang="es-CO" sz="1250" noProof="0" dirty="0">
                <a:solidFill>
                  <a:srgbClr val="0D1F4E"/>
                </a:solidFill>
              </a:rPr>
              <a:t>Modelos de mejora de procesos (SPI) y requisitos</a:t>
            </a:r>
            <a:endParaRPr lang="es-CO" sz="1250" noProof="0" dirty="0"/>
          </a:p>
        </p:txBody>
      </p:sp>
      <p:sp>
        <p:nvSpPr>
          <p:cNvPr id="22" name="Shape 18"/>
          <p:cNvSpPr/>
          <p:nvPr/>
        </p:nvSpPr>
        <p:spPr>
          <a:xfrm>
            <a:off x="457200" y="3282696"/>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23" name="Text 19"/>
          <p:cNvSpPr/>
          <p:nvPr/>
        </p:nvSpPr>
        <p:spPr>
          <a:xfrm>
            <a:off x="457200" y="3282696"/>
            <a:ext cx="457200" cy="384048"/>
          </a:xfrm>
          <a:prstGeom prst="rect">
            <a:avLst/>
          </a:prstGeom>
          <a:noFill/>
          <a:ln/>
        </p:spPr>
        <p:txBody>
          <a:bodyPr wrap="square" rtlCol="0" anchor="ctr"/>
          <a:lstStyle/>
          <a:p>
            <a:pPr marL="0" indent="0" algn="ctr">
              <a:buNone/>
            </a:pPr>
            <a:r>
              <a:rPr lang="es-CO" sz="1100" b="1" noProof="0" dirty="0">
                <a:solidFill>
                  <a:srgbClr val="FFFFFF"/>
                </a:solidFill>
              </a:rPr>
              <a:t>05</a:t>
            </a:r>
            <a:endParaRPr lang="es-CO" sz="1100" noProof="0" dirty="0"/>
          </a:p>
        </p:txBody>
      </p:sp>
      <p:sp>
        <p:nvSpPr>
          <p:cNvPr id="24" name="Text 20"/>
          <p:cNvSpPr/>
          <p:nvPr/>
        </p:nvSpPr>
        <p:spPr>
          <a:xfrm>
            <a:off x="1005840" y="3300984"/>
            <a:ext cx="7589520" cy="347472"/>
          </a:xfrm>
          <a:prstGeom prst="rect">
            <a:avLst/>
          </a:prstGeom>
          <a:noFill/>
          <a:ln/>
        </p:spPr>
        <p:txBody>
          <a:bodyPr wrap="square" rtlCol="0" anchor="ctr"/>
          <a:lstStyle/>
          <a:p>
            <a:pPr marL="0" indent="0">
              <a:buNone/>
            </a:pPr>
            <a:r>
              <a:rPr lang="es-CO" sz="1250" noProof="0" dirty="0">
                <a:solidFill>
                  <a:srgbClr val="0D1F4E"/>
                </a:solidFill>
              </a:rPr>
              <a:t>Modelo procedimental de requisitos</a:t>
            </a:r>
            <a:endParaRPr lang="es-CO" sz="1250" noProof="0" dirty="0"/>
          </a:p>
        </p:txBody>
      </p:sp>
      <p:sp>
        <p:nvSpPr>
          <p:cNvPr id="25" name="Shape 21"/>
          <p:cNvSpPr/>
          <p:nvPr/>
        </p:nvSpPr>
        <p:spPr>
          <a:xfrm>
            <a:off x="457200" y="3794760"/>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26" name="Text 22"/>
          <p:cNvSpPr/>
          <p:nvPr/>
        </p:nvSpPr>
        <p:spPr>
          <a:xfrm>
            <a:off x="457200" y="3794760"/>
            <a:ext cx="457200" cy="384048"/>
          </a:xfrm>
          <a:prstGeom prst="rect">
            <a:avLst/>
          </a:prstGeom>
          <a:noFill/>
          <a:ln/>
        </p:spPr>
        <p:txBody>
          <a:bodyPr wrap="square" rtlCol="0" anchor="ctr"/>
          <a:lstStyle/>
          <a:p>
            <a:pPr marL="0" indent="0" algn="ctr">
              <a:buNone/>
            </a:pPr>
            <a:r>
              <a:rPr lang="es-CO" sz="1100" b="1" noProof="0" dirty="0">
                <a:solidFill>
                  <a:srgbClr val="FFFFFF"/>
                </a:solidFill>
              </a:rPr>
              <a:t>06</a:t>
            </a:r>
            <a:endParaRPr lang="es-CO" sz="1100" noProof="0" dirty="0"/>
          </a:p>
        </p:txBody>
      </p:sp>
      <p:sp>
        <p:nvSpPr>
          <p:cNvPr id="27" name="Text 23"/>
          <p:cNvSpPr/>
          <p:nvPr/>
        </p:nvSpPr>
        <p:spPr>
          <a:xfrm>
            <a:off x="1005840" y="3813048"/>
            <a:ext cx="7589520" cy="347472"/>
          </a:xfrm>
          <a:prstGeom prst="rect">
            <a:avLst/>
          </a:prstGeom>
          <a:noFill/>
          <a:ln/>
        </p:spPr>
        <p:txBody>
          <a:bodyPr wrap="square" rtlCol="0" anchor="ctr"/>
          <a:lstStyle/>
          <a:p>
            <a:pPr marL="0" indent="0">
              <a:buNone/>
            </a:pPr>
            <a:r>
              <a:rPr lang="es-CO" sz="1250" noProof="0" dirty="0">
                <a:solidFill>
                  <a:srgbClr val="0D1F4E"/>
                </a:solidFill>
              </a:rPr>
              <a:t>Métricas y mejora continua de la calidad</a:t>
            </a:r>
            <a:endParaRPr lang="es-CO" sz="1250" noProof="0" dirty="0"/>
          </a:p>
        </p:txBody>
      </p:sp>
      <p:sp>
        <p:nvSpPr>
          <p:cNvPr id="28" name="Shape 24"/>
          <p:cNvSpPr/>
          <p:nvPr/>
        </p:nvSpPr>
        <p:spPr>
          <a:xfrm>
            <a:off x="457200" y="4306824"/>
            <a:ext cx="457200" cy="384048"/>
          </a:xfrm>
          <a:prstGeom prst="rect">
            <a:avLst/>
          </a:prstGeom>
          <a:solidFill>
            <a:srgbClr val="1C3270"/>
          </a:solidFill>
          <a:ln w="12700">
            <a:solidFill>
              <a:srgbClr val="1C3270"/>
            </a:solidFill>
            <a:prstDash val="solid"/>
          </a:ln>
        </p:spPr>
        <p:txBody>
          <a:bodyPr/>
          <a:lstStyle/>
          <a:p>
            <a:endParaRPr lang="es-CO" noProof="0" dirty="0"/>
          </a:p>
        </p:txBody>
      </p:sp>
      <p:sp>
        <p:nvSpPr>
          <p:cNvPr id="29" name="Text 25"/>
          <p:cNvSpPr/>
          <p:nvPr/>
        </p:nvSpPr>
        <p:spPr>
          <a:xfrm>
            <a:off x="457200" y="4306824"/>
            <a:ext cx="457200" cy="384048"/>
          </a:xfrm>
          <a:prstGeom prst="rect">
            <a:avLst/>
          </a:prstGeom>
          <a:noFill/>
          <a:ln/>
        </p:spPr>
        <p:txBody>
          <a:bodyPr wrap="square" rtlCol="0" anchor="ctr"/>
          <a:lstStyle/>
          <a:p>
            <a:pPr marL="0" indent="0" algn="ctr">
              <a:buNone/>
            </a:pPr>
            <a:r>
              <a:rPr lang="es-CO" sz="1100" b="1" noProof="0" dirty="0">
                <a:solidFill>
                  <a:srgbClr val="FFFFFF"/>
                </a:solidFill>
              </a:rPr>
              <a:t>07</a:t>
            </a:r>
            <a:endParaRPr lang="es-CO" sz="1100" noProof="0" dirty="0"/>
          </a:p>
        </p:txBody>
      </p:sp>
      <p:sp>
        <p:nvSpPr>
          <p:cNvPr id="30" name="Text 26"/>
          <p:cNvSpPr/>
          <p:nvPr/>
        </p:nvSpPr>
        <p:spPr>
          <a:xfrm>
            <a:off x="1005840" y="4325112"/>
            <a:ext cx="7589520" cy="347472"/>
          </a:xfrm>
          <a:prstGeom prst="rect">
            <a:avLst/>
          </a:prstGeom>
          <a:noFill/>
          <a:ln/>
        </p:spPr>
        <p:txBody>
          <a:bodyPr wrap="square" rtlCol="0" anchor="ctr"/>
          <a:lstStyle/>
          <a:p>
            <a:pPr marL="0" indent="0">
              <a:buNone/>
            </a:pPr>
            <a:r>
              <a:rPr lang="es-CO" sz="1250" noProof="0" dirty="0">
                <a:solidFill>
                  <a:srgbClr val="0D1F4E"/>
                </a:solidFill>
              </a:rPr>
              <a:t>Ejercicios prácticos</a:t>
            </a:r>
            <a:endParaRPr lang="es-CO" sz="125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Introducción a la especificación de requisitos y calidad</a:t>
            </a:r>
            <a:endParaRPr lang="es-CO" sz="1800" noProof="0" dirty="0"/>
          </a:p>
        </p:txBody>
      </p:sp>
      <p:sp>
        <p:nvSpPr>
          <p:cNvPr id="10" name="Shape 6"/>
          <p:cNvSpPr/>
          <p:nvPr/>
        </p:nvSpPr>
        <p:spPr>
          <a:xfrm>
            <a:off x="228600" y="1325880"/>
            <a:ext cx="4114800" cy="1417320"/>
          </a:xfrm>
          <a:prstGeom prst="rect">
            <a:avLst/>
          </a:prstGeom>
          <a:solidFill>
            <a:srgbClr val="FFFFFF"/>
          </a:solidFill>
          <a:ln w="19050">
            <a:solidFill>
              <a:srgbClr val="CADCFC"/>
            </a:solidFill>
            <a:prstDash val="solid"/>
          </a:ln>
          <a:effectLst>
            <a:outerShdw blurRad="63500" dist="25400" dir="8100000" algn="bl" rotWithShape="0">
              <a:srgbClr val="000000">
                <a:alpha val="10000"/>
              </a:srgbClr>
            </a:outerShdw>
          </a:effectLst>
        </p:spPr>
        <p:txBody>
          <a:bodyPr/>
          <a:lstStyle/>
          <a:p>
            <a:endParaRPr lang="es-CO" noProof="0" dirty="0"/>
          </a:p>
        </p:txBody>
      </p:sp>
      <p:sp>
        <p:nvSpPr>
          <p:cNvPr id="11" name="Shape 7"/>
          <p:cNvSpPr/>
          <p:nvPr/>
        </p:nvSpPr>
        <p:spPr>
          <a:xfrm>
            <a:off x="228600" y="1325880"/>
            <a:ext cx="64008" cy="1417320"/>
          </a:xfrm>
          <a:prstGeom prst="rect">
            <a:avLst/>
          </a:prstGeom>
          <a:solidFill>
            <a:srgbClr val="C9A227"/>
          </a:solidFill>
          <a:ln w="12700">
            <a:solidFill>
              <a:srgbClr val="C9A227"/>
            </a:solidFill>
            <a:prstDash val="solid"/>
          </a:ln>
        </p:spPr>
        <p:txBody>
          <a:bodyPr/>
          <a:lstStyle/>
          <a:p>
            <a:endParaRPr lang="es-CO" noProof="0" dirty="0"/>
          </a:p>
        </p:txBody>
      </p:sp>
      <p:sp>
        <p:nvSpPr>
          <p:cNvPr id="12" name="Text 8"/>
          <p:cNvSpPr/>
          <p:nvPr/>
        </p:nvSpPr>
        <p:spPr>
          <a:xfrm>
            <a:off x="393192" y="1435608"/>
            <a:ext cx="3840480" cy="320040"/>
          </a:xfrm>
          <a:prstGeom prst="rect">
            <a:avLst/>
          </a:prstGeom>
          <a:noFill/>
          <a:ln/>
        </p:spPr>
        <p:txBody>
          <a:bodyPr wrap="square" rtlCol="0" anchor="ctr"/>
          <a:lstStyle/>
          <a:p>
            <a:pPr marL="0" indent="0">
              <a:buNone/>
            </a:pPr>
            <a:r>
              <a:rPr lang="es-CO" sz="1200" b="1" noProof="0" dirty="0">
                <a:solidFill>
                  <a:srgbClr val="0D1F4E"/>
                </a:solidFill>
              </a:rPr>
              <a:t>Rol crítico</a:t>
            </a:r>
            <a:endParaRPr lang="es-CO" sz="1200" noProof="0" dirty="0"/>
          </a:p>
        </p:txBody>
      </p:sp>
      <p:sp>
        <p:nvSpPr>
          <p:cNvPr id="13" name="Text 9"/>
          <p:cNvSpPr/>
          <p:nvPr/>
        </p:nvSpPr>
        <p:spPr>
          <a:xfrm>
            <a:off x="393192" y="1783080"/>
            <a:ext cx="3794760" cy="868680"/>
          </a:xfrm>
          <a:prstGeom prst="rect">
            <a:avLst/>
          </a:prstGeom>
          <a:noFill/>
          <a:ln/>
        </p:spPr>
        <p:txBody>
          <a:bodyPr wrap="square" rtlCol="0" anchor="ctr"/>
          <a:lstStyle/>
          <a:p>
            <a:pPr marL="0" indent="0">
              <a:buNone/>
            </a:pPr>
            <a:r>
              <a:rPr lang="es-CO" sz="1050" noProof="0" dirty="0">
                <a:solidFill>
                  <a:srgbClr val="2C3E50"/>
                </a:solidFill>
              </a:rPr>
              <a:t>La especificación de requisitos como base de la calidad del software.</a:t>
            </a:r>
            <a:endParaRPr lang="es-CO" sz="1050" noProof="0" dirty="0"/>
          </a:p>
        </p:txBody>
      </p:sp>
      <p:sp>
        <p:nvSpPr>
          <p:cNvPr id="14" name="Shape 10"/>
          <p:cNvSpPr/>
          <p:nvPr/>
        </p:nvSpPr>
        <p:spPr>
          <a:xfrm>
            <a:off x="4663440" y="1325880"/>
            <a:ext cx="4114800" cy="1417320"/>
          </a:xfrm>
          <a:prstGeom prst="rect">
            <a:avLst/>
          </a:prstGeom>
          <a:solidFill>
            <a:srgbClr val="FFFFFF"/>
          </a:solidFill>
          <a:ln w="19050">
            <a:solidFill>
              <a:srgbClr val="CADCFC"/>
            </a:solidFill>
            <a:prstDash val="solid"/>
          </a:ln>
          <a:effectLst>
            <a:outerShdw blurRad="63500" dist="25400" dir="8100000" algn="bl" rotWithShape="0">
              <a:srgbClr val="000000">
                <a:alpha val="10000"/>
              </a:srgbClr>
            </a:outerShdw>
          </a:effectLst>
        </p:spPr>
        <p:txBody>
          <a:bodyPr/>
          <a:lstStyle/>
          <a:p>
            <a:endParaRPr lang="es-CO" noProof="0" dirty="0"/>
          </a:p>
        </p:txBody>
      </p:sp>
      <p:sp>
        <p:nvSpPr>
          <p:cNvPr id="15" name="Shape 11"/>
          <p:cNvSpPr/>
          <p:nvPr/>
        </p:nvSpPr>
        <p:spPr>
          <a:xfrm>
            <a:off x="4663440" y="1325880"/>
            <a:ext cx="64008" cy="1417320"/>
          </a:xfrm>
          <a:prstGeom prst="rect">
            <a:avLst/>
          </a:prstGeom>
          <a:solidFill>
            <a:srgbClr val="C9A227"/>
          </a:solidFill>
          <a:ln w="12700">
            <a:solidFill>
              <a:srgbClr val="C9A227"/>
            </a:solidFill>
            <a:prstDash val="solid"/>
          </a:ln>
        </p:spPr>
        <p:txBody>
          <a:bodyPr/>
          <a:lstStyle/>
          <a:p>
            <a:endParaRPr lang="es-CO" noProof="0" dirty="0"/>
          </a:p>
        </p:txBody>
      </p:sp>
      <p:sp>
        <p:nvSpPr>
          <p:cNvPr id="16" name="Text 12"/>
          <p:cNvSpPr/>
          <p:nvPr/>
        </p:nvSpPr>
        <p:spPr>
          <a:xfrm>
            <a:off x="4828032" y="1435608"/>
            <a:ext cx="3840480" cy="320040"/>
          </a:xfrm>
          <a:prstGeom prst="rect">
            <a:avLst/>
          </a:prstGeom>
          <a:noFill/>
          <a:ln/>
        </p:spPr>
        <p:txBody>
          <a:bodyPr wrap="square" rtlCol="0" anchor="ctr"/>
          <a:lstStyle/>
          <a:p>
            <a:pPr marL="0" indent="0">
              <a:buNone/>
            </a:pPr>
            <a:r>
              <a:rPr lang="es-CO" sz="1200" b="1" noProof="0" dirty="0">
                <a:solidFill>
                  <a:srgbClr val="0D1F4E"/>
                </a:solidFill>
              </a:rPr>
              <a:t>Conexión con calidad</a:t>
            </a:r>
            <a:endParaRPr lang="es-CO" sz="1200" noProof="0" dirty="0"/>
          </a:p>
        </p:txBody>
      </p:sp>
      <p:sp>
        <p:nvSpPr>
          <p:cNvPr id="17" name="Text 13"/>
          <p:cNvSpPr/>
          <p:nvPr/>
        </p:nvSpPr>
        <p:spPr>
          <a:xfrm>
            <a:off x="4828032" y="1783080"/>
            <a:ext cx="3794760" cy="868680"/>
          </a:xfrm>
          <a:prstGeom prst="rect">
            <a:avLst/>
          </a:prstGeom>
          <a:noFill/>
          <a:ln/>
        </p:spPr>
        <p:txBody>
          <a:bodyPr wrap="square" rtlCol="0" anchor="ctr"/>
          <a:lstStyle/>
          <a:p>
            <a:pPr marL="0" indent="0">
              <a:buNone/>
            </a:pPr>
            <a:r>
              <a:rPr lang="es-CO" sz="1050" noProof="0" dirty="0">
                <a:solidFill>
                  <a:srgbClr val="2C3E50"/>
                </a:solidFill>
              </a:rPr>
              <a:t>Requisitos bien definidos reducen defectos y retrabajos significativamente.</a:t>
            </a:r>
            <a:endParaRPr lang="es-CO" sz="1050" noProof="0" dirty="0"/>
          </a:p>
        </p:txBody>
      </p:sp>
      <p:sp>
        <p:nvSpPr>
          <p:cNvPr id="18" name="Shape 14"/>
          <p:cNvSpPr/>
          <p:nvPr/>
        </p:nvSpPr>
        <p:spPr>
          <a:xfrm>
            <a:off x="228600" y="2926080"/>
            <a:ext cx="4114800" cy="1417320"/>
          </a:xfrm>
          <a:prstGeom prst="rect">
            <a:avLst/>
          </a:prstGeom>
          <a:solidFill>
            <a:srgbClr val="FFFFFF"/>
          </a:solidFill>
          <a:ln w="19050">
            <a:solidFill>
              <a:srgbClr val="CADCFC"/>
            </a:solidFill>
            <a:prstDash val="solid"/>
          </a:ln>
          <a:effectLst>
            <a:outerShdw blurRad="63500" dist="25400" dir="8100000" algn="bl" rotWithShape="0">
              <a:srgbClr val="000000">
                <a:alpha val="10000"/>
              </a:srgbClr>
            </a:outerShdw>
          </a:effectLst>
        </p:spPr>
        <p:txBody>
          <a:bodyPr/>
          <a:lstStyle/>
          <a:p>
            <a:endParaRPr lang="es-CO" noProof="0" dirty="0"/>
          </a:p>
        </p:txBody>
      </p:sp>
      <p:sp>
        <p:nvSpPr>
          <p:cNvPr id="19" name="Shape 15"/>
          <p:cNvSpPr/>
          <p:nvPr/>
        </p:nvSpPr>
        <p:spPr>
          <a:xfrm>
            <a:off x="228600" y="2926080"/>
            <a:ext cx="64008" cy="1417320"/>
          </a:xfrm>
          <a:prstGeom prst="rect">
            <a:avLst/>
          </a:prstGeom>
          <a:solidFill>
            <a:srgbClr val="C9A227"/>
          </a:solidFill>
          <a:ln w="12700">
            <a:solidFill>
              <a:srgbClr val="C9A227"/>
            </a:solidFill>
            <a:prstDash val="solid"/>
          </a:ln>
        </p:spPr>
        <p:txBody>
          <a:bodyPr/>
          <a:lstStyle/>
          <a:p>
            <a:endParaRPr lang="es-CO" noProof="0" dirty="0"/>
          </a:p>
        </p:txBody>
      </p:sp>
      <p:sp>
        <p:nvSpPr>
          <p:cNvPr id="20" name="Text 16"/>
          <p:cNvSpPr/>
          <p:nvPr/>
        </p:nvSpPr>
        <p:spPr>
          <a:xfrm>
            <a:off x="393192" y="3035808"/>
            <a:ext cx="3840480" cy="320040"/>
          </a:xfrm>
          <a:prstGeom prst="rect">
            <a:avLst/>
          </a:prstGeom>
          <a:noFill/>
          <a:ln/>
        </p:spPr>
        <p:txBody>
          <a:bodyPr wrap="square" rtlCol="0" anchor="ctr"/>
          <a:lstStyle/>
          <a:p>
            <a:pPr marL="0" indent="0">
              <a:buNone/>
            </a:pPr>
            <a:r>
              <a:rPr lang="es-CO" sz="1200" b="1" noProof="0" dirty="0">
                <a:solidFill>
                  <a:srgbClr val="0D1F4E"/>
                </a:solidFill>
              </a:rPr>
              <a:t>Marco de la unidad</a:t>
            </a:r>
            <a:endParaRPr lang="es-CO" sz="1200" noProof="0" dirty="0"/>
          </a:p>
        </p:txBody>
      </p:sp>
      <p:sp>
        <p:nvSpPr>
          <p:cNvPr id="21" name="Text 17"/>
          <p:cNvSpPr/>
          <p:nvPr/>
        </p:nvSpPr>
        <p:spPr>
          <a:xfrm>
            <a:off x="393192" y="3383280"/>
            <a:ext cx="3794760" cy="868680"/>
          </a:xfrm>
          <a:prstGeom prst="rect">
            <a:avLst/>
          </a:prstGeom>
          <a:noFill/>
          <a:ln/>
        </p:spPr>
        <p:txBody>
          <a:bodyPr wrap="square" rtlCol="0" anchor="ctr"/>
          <a:lstStyle/>
          <a:p>
            <a:pPr marL="0" indent="0">
              <a:buNone/>
            </a:pPr>
            <a:r>
              <a:rPr lang="es-CO" sz="1050" noProof="0" dirty="0">
                <a:solidFill>
                  <a:srgbClr val="2C3E50"/>
                </a:solidFill>
              </a:rPr>
              <a:t>IEEE 830, ISO/IEC 12207 y el modelo procedimental de requisitos.</a:t>
            </a:r>
            <a:endParaRPr lang="es-CO" sz="1050" noProof="0" dirty="0"/>
          </a:p>
        </p:txBody>
      </p:sp>
      <p:sp>
        <p:nvSpPr>
          <p:cNvPr id="22" name="Shape 18"/>
          <p:cNvSpPr/>
          <p:nvPr/>
        </p:nvSpPr>
        <p:spPr>
          <a:xfrm>
            <a:off x="4663440" y="2926080"/>
            <a:ext cx="4114800" cy="1417320"/>
          </a:xfrm>
          <a:prstGeom prst="rect">
            <a:avLst/>
          </a:prstGeom>
          <a:solidFill>
            <a:srgbClr val="FFFFFF"/>
          </a:solidFill>
          <a:ln w="19050">
            <a:solidFill>
              <a:srgbClr val="CADCFC"/>
            </a:solidFill>
            <a:prstDash val="solid"/>
          </a:ln>
          <a:effectLst>
            <a:outerShdw blurRad="63500" dist="25400" dir="8100000" algn="bl" rotWithShape="0">
              <a:srgbClr val="000000">
                <a:alpha val="10000"/>
              </a:srgbClr>
            </a:outerShdw>
          </a:effectLst>
        </p:spPr>
        <p:txBody>
          <a:bodyPr/>
          <a:lstStyle/>
          <a:p>
            <a:endParaRPr lang="es-CO" noProof="0" dirty="0"/>
          </a:p>
        </p:txBody>
      </p:sp>
      <p:sp>
        <p:nvSpPr>
          <p:cNvPr id="23" name="Shape 19"/>
          <p:cNvSpPr/>
          <p:nvPr/>
        </p:nvSpPr>
        <p:spPr>
          <a:xfrm>
            <a:off x="4663440" y="2926080"/>
            <a:ext cx="64008" cy="1417320"/>
          </a:xfrm>
          <a:prstGeom prst="rect">
            <a:avLst/>
          </a:prstGeom>
          <a:solidFill>
            <a:srgbClr val="C9A227"/>
          </a:solidFill>
          <a:ln w="12700">
            <a:solidFill>
              <a:srgbClr val="C9A227"/>
            </a:solidFill>
            <a:prstDash val="solid"/>
          </a:ln>
        </p:spPr>
        <p:txBody>
          <a:bodyPr/>
          <a:lstStyle/>
          <a:p>
            <a:endParaRPr lang="es-CO" noProof="0" dirty="0"/>
          </a:p>
        </p:txBody>
      </p:sp>
      <p:sp>
        <p:nvSpPr>
          <p:cNvPr id="24" name="Text 20"/>
          <p:cNvSpPr/>
          <p:nvPr/>
        </p:nvSpPr>
        <p:spPr>
          <a:xfrm>
            <a:off x="4828032" y="3035808"/>
            <a:ext cx="3840480" cy="320040"/>
          </a:xfrm>
          <a:prstGeom prst="rect">
            <a:avLst/>
          </a:prstGeom>
          <a:noFill/>
          <a:ln/>
        </p:spPr>
        <p:txBody>
          <a:bodyPr wrap="square" rtlCol="0" anchor="ctr"/>
          <a:lstStyle/>
          <a:p>
            <a:pPr marL="0" indent="0">
              <a:buNone/>
            </a:pPr>
            <a:r>
              <a:rPr lang="es-CO" sz="1200" b="1" noProof="0" dirty="0">
                <a:solidFill>
                  <a:srgbClr val="0D1F4E"/>
                </a:solidFill>
              </a:rPr>
              <a:t>Enfoque del curso</a:t>
            </a:r>
            <a:endParaRPr lang="es-CO" sz="1200" noProof="0" dirty="0"/>
          </a:p>
        </p:txBody>
      </p:sp>
      <p:sp>
        <p:nvSpPr>
          <p:cNvPr id="25" name="Text 21"/>
          <p:cNvSpPr/>
          <p:nvPr/>
        </p:nvSpPr>
        <p:spPr>
          <a:xfrm>
            <a:off x="4828032" y="3383280"/>
            <a:ext cx="3794760" cy="868680"/>
          </a:xfrm>
          <a:prstGeom prst="rect">
            <a:avLst/>
          </a:prstGeom>
          <a:noFill/>
          <a:ln/>
        </p:spPr>
        <p:txBody>
          <a:bodyPr wrap="square" rtlCol="0" anchor="ctr"/>
          <a:lstStyle/>
          <a:p>
            <a:pPr marL="0" indent="0">
              <a:buNone/>
            </a:pPr>
            <a:r>
              <a:rPr lang="es-CO" sz="1050" noProof="0" dirty="0">
                <a:solidFill>
                  <a:srgbClr val="2C3E50"/>
                </a:solidFill>
              </a:rPr>
              <a:t>Visión integrada con modelos de mejora de procesos (SPI).</a:t>
            </a:r>
            <a:endParaRPr lang="es-CO" sz="1050" noProof="0" dirty="0"/>
          </a:p>
        </p:txBody>
      </p:sp>
      <p:sp>
        <p:nvSpPr>
          <p:cNvPr id="26" name="Text 22"/>
          <p:cNvSpPr/>
          <p:nvPr/>
        </p:nvSpPr>
        <p:spPr>
          <a:xfrm>
            <a:off x="457200" y="4526280"/>
            <a:ext cx="8229600" cy="274320"/>
          </a:xfrm>
          <a:prstGeom prst="rect">
            <a:avLst/>
          </a:prstGeom>
          <a:noFill/>
          <a:ln/>
        </p:spPr>
        <p:txBody>
          <a:bodyPr wrap="square" rtlCol="0" anchor="ctr"/>
          <a:lstStyle/>
          <a:p>
            <a:pPr marL="0" indent="0" algn="ctr">
              <a:buNone/>
            </a:pPr>
            <a:r>
              <a:rPr lang="es-CO" sz="800" i="1" noProof="0" dirty="0">
                <a:solidFill>
                  <a:srgbClr val="6B7280"/>
                </a:solidFill>
              </a:rPr>
              <a:t>"La calidad de software se puede medir en términos de densidad de defectos" — Espejo Chavarría et al., 2016</a:t>
            </a:r>
            <a:endParaRPr lang="es-CO"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Especificación de requisitos y aseguramiento de la calidad</a:t>
            </a:r>
            <a:endParaRPr lang="es-CO" sz="1800" noProof="0" dirty="0"/>
          </a:p>
        </p:txBody>
      </p:sp>
      <p:sp>
        <p:nvSpPr>
          <p:cNvPr id="10" name="Shape 6"/>
          <p:cNvSpPr/>
          <p:nvPr/>
        </p:nvSpPr>
        <p:spPr>
          <a:xfrm>
            <a:off x="365760" y="1325880"/>
            <a:ext cx="1920240" cy="914400"/>
          </a:xfrm>
          <a:prstGeom prst="rect">
            <a:avLst/>
          </a:prstGeom>
          <a:solidFill>
            <a:srgbClr val="0D1F4E"/>
          </a:solidFill>
          <a:ln w="12700">
            <a:solidFill>
              <a:srgbClr val="FFFFFF"/>
            </a:solidFill>
            <a:prstDash val="solid"/>
          </a:ln>
        </p:spPr>
        <p:txBody>
          <a:bodyPr/>
          <a:lstStyle/>
          <a:p>
            <a:endParaRPr lang="es-CO" noProof="0" dirty="0"/>
          </a:p>
        </p:txBody>
      </p:sp>
      <p:sp>
        <p:nvSpPr>
          <p:cNvPr id="11" name="Text 7"/>
          <p:cNvSpPr/>
          <p:nvPr/>
        </p:nvSpPr>
        <p:spPr>
          <a:xfrm>
            <a:off x="365760" y="1325880"/>
            <a:ext cx="1920240" cy="914400"/>
          </a:xfrm>
          <a:prstGeom prst="rect">
            <a:avLst/>
          </a:prstGeom>
          <a:noFill/>
          <a:ln/>
        </p:spPr>
        <p:txBody>
          <a:bodyPr wrap="square" rtlCol="0" anchor="ctr"/>
          <a:lstStyle/>
          <a:p>
            <a:pPr marL="0" indent="0" algn="ctr">
              <a:buNone/>
            </a:pPr>
            <a:r>
              <a:rPr lang="es-CO" sz="1200" b="1" noProof="0" dirty="0">
                <a:solidFill>
                  <a:srgbClr val="FFFFFF"/>
                </a:solidFill>
              </a:rPr>
              <a:t>Requisitos</a:t>
            </a:r>
            <a:endParaRPr lang="es-CO" sz="1200" noProof="0" dirty="0"/>
          </a:p>
          <a:p>
            <a:pPr marL="0" indent="0" algn="ctr">
              <a:buNone/>
            </a:pPr>
            <a:r>
              <a:rPr lang="es-CO" sz="1200" b="1" noProof="0" dirty="0">
                <a:solidFill>
                  <a:srgbClr val="FFFFFF"/>
                </a:solidFill>
              </a:rPr>
              <a:t>claros</a:t>
            </a:r>
            <a:endParaRPr lang="es-CO" sz="1200" noProof="0" dirty="0"/>
          </a:p>
        </p:txBody>
      </p:sp>
      <p:sp>
        <p:nvSpPr>
          <p:cNvPr id="12" name="Text 8"/>
          <p:cNvSpPr/>
          <p:nvPr/>
        </p:nvSpPr>
        <p:spPr>
          <a:xfrm>
            <a:off x="2286000" y="155448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13" name="Shape 9"/>
          <p:cNvSpPr/>
          <p:nvPr/>
        </p:nvSpPr>
        <p:spPr>
          <a:xfrm>
            <a:off x="2514600" y="1325880"/>
            <a:ext cx="1920240" cy="914400"/>
          </a:xfrm>
          <a:prstGeom prst="rect">
            <a:avLst/>
          </a:prstGeom>
          <a:solidFill>
            <a:srgbClr val="1C3270"/>
          </a:solidFill>
          <a:ln w="12700">
            <a:solidFill>
              <a:srgbClr val="FFFFFF"/>
            </a:solidFill>
            <a:prstDash val="solid"/>
          </a:ln>
        </p:spPr>
        <p:txBody>
          <a:bodyPr/>
          <a:lstStyle/>
          <a:p>
            <a:endParaRPr lang="es-CO" noProof="0" dirty="0"/>
          </a:p>
        </p:txBody>
      </p:sp>
      <p:sp>
        <p:nvSpPr>
          <p:cNvPr id="14" name="Text 10"/>
          <p:cNvSpPr/>
          <p:nvPr/>
        </p:nvSpPr>
        <p:spPr>
          <a:xfrm>
            <a:off x="2514600" y="1325880"/>
            <a:ext cx="1920240" cy="914400"/>
          </a:xfrm>
          <a:prstGeom prst="rect">
            <a:avLst/>
          </a:prstGeom>
          <a:noFill/>
          <a:ln/>
        </p:spPr>
        <p:txBody>
          <a:bodyPr wrap="square" rtlCol="0" anchor="ctr"/>
          <a:lstStyle/>
          <a:p>
            <a:pPr marL="0" indent="0" algn="ctr">
              <a:buNone/>
            </a:pPr>
            <a:r>
              <a:rPr lang="es-CO" sz="1200" b="1" noProof="0" dirty="0">
                <a:solidFill>
                  <a:srgbClr val="FFFFFF"/>
                </a:solidFill>
              </a:rPr>
              <a:t>Menos</a:t>
            </a:r>
            <a:endParaRPr lang="es-CO" sz="1200" noProof="0" dirty="0"/>
          </a:p>
          <a:p>
            <a:pPr marL="0" indent="0" algn="ctr">
              <a:buNone/>
            </a:pPr>
            <a:r>
              <a:rPr lang="es-CO" sz="1200" b="1" noProof="0" dirty="0">
                <a:solidFill>
                  <a:srgbClr val="FFFFFF"/>
                </a:solidFill>
              </a:rPr>
              <a:t>defectos</a:t>
            </a:r>
            <a:endParaRPr lang="es-CO" sz="1200" noProof="0" dirty="0"/>
          </a:p>
        </p:txBody>
      </p:sp>
      <p:sp>
        <p:nvSpPr>
          <p:cNvPr id="15" name="Text 11"/>
          <p:cNvSpPr/>
          <p:nvPr/>
        </p:nvSpPr>
        <p:spPr>
          <a:xfrm>
            <a:off x="4434840" y="155448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16" name="Shape 12"/>
          <p:cNvSpPr/>
          <p:nvPr/>
        </p:nvSpPr>
        <p:spPr>
          <a:xfrm>
            <a:off x="4663440" y="1325880"/>
            <a:ext cx="1920240" cy="914400"/>
          </a:xfrm>
          <a:prstGeom prst="rect">
            <a:avLst/>
          </a:prstGeom>
          <a:solidFill>
            <a:srgbClr val="1C3270"/>
          </a:solidFill>
          <a:ln w="12700">
            <a:solidFill>
              <a:srgbClr val="FFFFFF"/>
            </a:solidFill>
            <a:prstDash val="solid"/>
          </a:ln>
        </p:spPr>
        <p:txBody>
          <a:bodyPr/>
          <a:lstStyle/>
          <a:p>
            <a:endParaRPr lang="es-CO" noProof="0" dirty="0"/>
          </a:p>
        </p:txBody>
      </p:sp>
      <p:sp>
        <p:nvSpPr>
          <p:cNvPr id="17" name="Text 13"/>
          <p:cNvSpPr/>
          <p:nvPr/>
        </p:nvSpPr>
        <p:spPr>
          <a:xfrm>
            <a:off x="4663440" y="1325880"/>
            <a:ext cx="1920240" cy="914400"/>
          </a:xfrm>
          <a:prstGeom prst="rect">
            <a:avLst/>
          </a:prstGeom>
          <a:noFill/>
          <a:ln/>
        </p:spPr>
        <p:txBody>
          <a:bodyPr wrap="square" rtlCol="0" anchor="ctr"/>
          <a:lstStyle/>
          <a:p>
            <a:pPr marL="0" indent="0" algn="ctr">
              <a:buNone/>
            </a:pPr>
            <a:r>
              <a:rPr lang="es-CO" sz="1200" b="1" noProof="0" dirty="0">
                <a:solidFill>
                  <a:srgbClr val="FFFFFF"/>
                </a:solidFill>
              </a:rPr>
              <a:t>Menor costo</a:t>
            </a:r>
            <a:endParaRPr lang="es-CO" sz="1200" noProof="0" dirty="0"/>
          </a:p>
          <a:p>
            <a:pPr marL="0" indent="0" algn="ctr">
              <a:buNone/>
            </a:pPr>
            <a:r>
              <a:rPr lang="es-CO" sz="1200" b="1" noProof="0" dirty="0">
                <a:solidFill>
                  <a:srgbClr val="FFFFFF"/>
                </a:solidFill>
              </a:rPr>
              <a:t>de calidad</a:t>
            </a:r>
            <a:endParaRPr lang="es-CO" sz="1200" noProof="0" dirty="0"/>
          </a:p>
        </p:txBody>
      </p:sp>
      <p:sp>
        <p:nvSpPr>
          <p:cNvPr id="18" name="Text 14"/>
          <p:cNvSpPr/>
          <p:nvPr/>
        </p:nvSpPr>
        <p:spPr>
          <a:xfrm>
            <a:off x="6583680" y="155448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19" name="Shape 15"/>
          <p:cNvSpPr/>
          <p:nvPr/>
        </p:nvSpPr>
        <p:spPr>
          <a:xfrm>
            <a:off x="6812280" y="1325880"/>
            <a:ext cx="1920240" cy="914400"/>
          </a:xfrm>
          <a:prstGeom prst="rect">
            <a:avLst/>
          </a:prstGeom>
          <a:solidFill>
            <a:srgbClr val="2E7D32"/>
          </a:solidFill>
          <a:ln w="12700">
            <a:solidFill>
              <a:srgbClr val="FFFFFF"/>
            </a:solidFill>
            <a:prstDash val="solid"/>
          </a:ln>
        </p:spPr>
        <p:txBody>
          <a:bodyPr/>
          <a:lstStyle/>
          <a:p>
            <a:endParaRPr lang="es-CO" noProof="0" dirty="0"/>
          </a:p>
        </p:txBody>
      </p:sp>
      <p:sp>
        <p:nvSpPr>
          <p:cNvPr id="20" name="Text 16"/>
          <p:cNvSpPr/>
          <p:nvPr/>
        </p:nvSpPr>
        <p:spPr>
          <a:xfrm>
            <a:off x="6812280" y="1325880"/>
            <a:ext cx="1920240" cy="914400"/>
          </a:xfrm>
          <a:prstGeom prst="rect">
            <a:avLst/>
          </a:prstGeom>
          <a:noFill/>
          <a:ln/>
        </p:spPr>
        <p:txBody>
          <a:bodyPr wrap="square" rtlCol="0" anchor="ctr"/>
          <a:lstStyle/>
          <a:p>
            <a:pPr marL="0" indent="0" algn="ctr">
              <a:buNone/>
            </a:pPr>
            <a:r>
              <a:rPr lang="es-CO" sz="1200" b="1" noProof="0" dirty="0">
                <a:solidFill>
                  <a:srgbClr val="FFFFFF"/>
                </a:solidFill>
              </a:rPr>
              <a:t>Mayor</a:t>
            </a:r>
            <a:endParaRPr lang="es-CO" sz="1200" noProof="0" dirty="0"/>
          </a:p>
          <a:p>
            <a:pPr marL="0" indent="0" algn="ctr">
              <a:buNone/>
            </a:pPr>
            <a:r>
              <a:rPr lang="es-CO" sz="1200" b="1" noProof="0" dirty="0">
                <a:solidFill>
                  <a:srgbClr val="FFFFFF"/>
                </a:solidFill>
              </a:rPr>
              <a:t>rentabilidad</a:t>
            </a:r>
            <a:endParaRPr lang="es-CO" sz="1200" noProof="0" dirty="0"/>
          </a:p>
        </p:txBody>
      </p:sp>
      <p:sp>
        <p:nvSpPr>
          <p:cNvPr id="21" name="Shape 17"/>
          <p:cNvSpPr/>
          <p:nvPr/>
        </p:nvSpPr>
        <p:spPr>
          <a:xfrm>
            <a:off x="365760" y="2468880"/>
            <a:ext cx="64008" cy="566928"/>
          </a:xfrm>
          <a:prstGeom prst="rect">
            <a:avLst/>
          </a:prstGeom>
          <a:solidFill>
            <a:srgbClr val="C9A227"/>
          </a:solidFill>
          <a:ln w="12700">
            <a:solidFill>
              <a:srgbClr val="C9A227"/>
            </a:solidFill>
            <a:prstDash val="solid"/>
          </a:ln>
        </p:spPr>
        <p:txBody>
          <a:bodyPr/>
          <a:lstStyle/>
          <a:p>
            <a:endParaRPr lang="es-CO" noProof="0" dirty="0"/>
          </a:p>
        </p:txBody>
      </p:sp>
      <p:sp>
        <p:nvSpPr>
          <p:cNvPr id="22" name="Text 18"/>
          <p:cNvSpPr/>
          <p:nvPr/>
        </p:nvSpPr>
        <p:spPr>
          <a:xfrm>
            <a:off x="548640" y="2487168"/>
            <a:ext cx="8412480" cy="228600"/>
          </a:xfrm>
          <a:prstGeom prst="rect">
            <a:avLst/>
          </a:prstGeom>
          <a:noFill/>
          <a:ln/>
        </p:spPr>
        <p:txBody>
          <a:bodyPr wrap="square" rtlCol="0" anchor="ctr"/>
          <a:lstStyle/>
          <a:p>
            <a:pPr marL="0" indent="0">
              <a:buNone/>
            </a:pPr>
            <a:r>
              <a:rPr lang="es-CO" sz="1100" b="1" noProof="0" dirty="0">
                <a:solidFill>
                  <a:srgbClr val="0D1F4E"/>
                </a:solidFill>
              </a:rPr>
              <a:t>Evidencia empírica:</a:t>
            </a:r>
            <a:endParaRPr lang="es-CO" sz="1100" noProof="0" dirty="0"/>
          </a:p>
        </p:txBody>
      </p:sp>
      <p:sp>
        <p:nvSpPr>
          <p:cNvPr id="23" name="Text 19"/>
          <p:cNvSpPr/>
          <p:nvPr/>
        </p:nvSpPr>
        <p:spPr>
          <a:xfrm>
            <a:off x="548640" y="2724912"/>
            <a:ext cx="8412480" cy="274320"/>
          </a:xfrm>
          <a:prstGeom prst="rect">
            <a:avLst/>
          </a:prstGeom>
          <a:noFill/>
          <a:ln/>
        </p:spPr>
        <p:txBody>
          <a:bodyPr wrap="square" rtlCol="0" anchor="ctr"/>
          <a:lstStyle/>
          <a:p>
            <a:pPr marL="0" indent="0">
              <a:buNone/>
            </a:pPr>
            <a:r>
              <a:rPr lang="es-CO" sz="950" noProof="0" dirty="0">
                <a:solidFill>
                  <a:srgbClr val="2C3E50"/>
                </a:solidFill>
              </a:rPr>
              <a:t>En un estudio de 22 proyectos, la integración de buenas prácticas redujo significativamente defectos y costos, incrementando rentabilidad y satisfacción del cliente (Espejo Chavarría et al., 2016).</a:t>
            </a:r>
            <a:endParaRPr lang="es-CO" sz="950" noProof="0" dirty="0"/>
          </a:p>
        </p:txBody>
      </p:sp>
      <p:sp>
        <p:nvSpPr>
          <p:cNvPr id="24" name="Shape 20"/>
          <p:cNvSpPr/>
          <p:nvPr/>
        </p:nvSpPr>
        <p:spPr>
          <a:xfrm>
            <a:off x="365760" y="3127248"/>
            <a:ext cx="64008" cy="566928"/>
          </a:xfrm>
          <a:prstGeom prst="rect">
            <a:avLst/>
          </a:prstGeom>
          <a:solidFill>
            <a:srgbClr val="C9A227"/>
          </a:solidFill>
          <a:ln w="12700">
            <a:solidFill>
              <a:srgbClr val="C9A227"/>
            </a:solidFill>
            <a:prstDash val="solid"/>
          </a:ln>
        </p:spPr>
        <p:txBody>
          <a:bodyPr/>
          <a:lstStyle/>
          <a:p>
            <a:endParaRPr lang="es-CO" noProof="0" dirty="0"/>
          </a:p>
        </p:txBody>
      </p:sp>
      <p:sp>
        <p:nvSpPr>
          <p:cNvPr id="25" name="Text 21"/>
          <p:cNvSpPr/>
          <p:nvPr/>
        </p:nvSpPr>
        <p:spPr>
          <a:xfrm>
            <a:off x="548640" y="3145536"/>
            <a:ext cx="8412480" cy="228600"/>
          </a:xfrm>
          <a:prstGeom prst="rect">
            <a:avLst/>
          </a:prstGeom>
          <a:noFill/>
          <a:ln/>
        </p:spPr>
        <p:txBody>
          <a:bodyPr wrap="square" rtlCol="0" anchor="ctr"/>
          <a:lstStyle/>
          <a:p>
            <a:pPr marL="0" indent="0">
              <a:buNone/>
            </a:pPr>
            <a:r>
              <a:rPr lang="es-CO" sz="1100" b="1" noProof="0" dirty="0">
                <a:solidFill>
                  <a:srgbClr val="0D1F4E"/>
                </a:solidFill>
              </a:rPr>
              <a:t>Impacto en negocio:</a:t>
            </a:r>
            <a:endParaRPr lang="es-CO" sz="1100" noProof="0" dirty="0"/>
          </a:p>
        </p:txBody>
      </p:sp>
      <p:sp>
        <p:nvSpPr>
          <p:cNvPr id="26" name="Text 22"/>
          <p:cNvSpPr/>
          <p:nvPr/>
        </p:nvSpPr>
        <p:spPr>
          <a:xfrm>
            <a:off x="548640" y="3383280"/>
            <a:ext cx="8412480" cy="274320"/>
          </a:xfrm>
          <a:prstGeom prst="rect">
            <a:avLst/>
          </a:prstGeom>
          <a:noFill/>
          <a:ln/>
        </p:spPr>
        <p:txBody>
          <a:bodyPr wrap="square" rtlCol="0" anchor="ctr"/>
          <a:lstStyle/>
          <a:p>
            <a:pPr marL="0" indent="0">
              <a:buNone/>
            </a:pPr>
            <a:r>
              <a:rPr lang="es-CO" sz="950" noProof="0" dirty="0">
                <a:solidFill>
                  <a:srgbClr val="2C3E50"/>
                </a:solidFill>
              </a:rPr>
              <a:t>La mejora en la especificación de requisitos incrementa la rentabilidad y la satisfacción del cliente al reducir retrabajos y correcciones tardías en producción.</a:t>
            </a:r>
            <a:endParaRPr lang="es-CO" sz="950" noProof="0" dirty="0"/>
          </a:p>
        </p:txBody>
      </p:sp>
      <p:sp>
        <p:nvSpPr>
          <p:cNvPr id="27" name="Shape 23"/>
          <p:cNvSpPr/>
          <p:nvPr/>
        </p:nvSpPr>
        <p:spPr>
          <a:xfrm>
            <a:off x="365760" y="3785616"/>
            <a:ext cx="64008" cy="566928"/>
          </a:xfrm>
          <a:prstGeom prst="rect">
            <a:avLst/>
          </a:prstGeom>
          <a:solidFill>
            <a:srgbClr val="C9A227"/>
          </a:solidFill>
          <a:ln w="12700">
            <a:solidFill>
              <a:srgbClr val="C9A227"/>
            </a:solidFill>
            <a:prstDash val="solid"/>
          </a:ln>
        </p:spPr>
        <p:txBody>
          <a:bodyPr/>
          <a:lstStyle/>
          <a:p>
            <a:endParaRPr lang="es-CO" noProof="0" dirty="0"/>
          </a:p>
        </p:txBody>
      </p:sp>
      <p:sp>
        <p:nvSpPr>
          <p:cNvPr id="28" name="Text 24"/>
          <p:cNvSpPr/>
          <p:nvPr/>
        </p:nvSpPr>
        <p:spPr>
          <a:xfrm>
            <a:off x="548640" y="3803904"/>
            <a:ext cx="8412480" cy="228600"/>
          </a:xfrm>
          <a:prstGeom prst="rect">
            <a:avLst/>
          </a:prstGeom>
          <a:noFill/>
          <a:ln/>
        </p:spPr>
        <p:txBody>
          <a:bodyPr wrap="square" rtlCol="0" anchor="ctr"/>
          <a:lstStyle/>
          <a:p>
            <a:pPr marL="0" indent="0">
              <a:buNone/>
            </a:pPr>
            <a:r>
              <a:rPr lang="es-CO" sz="1100" b="1" noProof="0" dirty="0">
                <a:solidFill>
                  <a:srgbClr val="0D1F4E"/>
                </a:solidFill>
              </a:rPr>
              <a:t>Visión de proceso:</a:t>
            </a:r>
            <a:endParaRPr lang="es-CO" sz="1100" noProof="0" dirty="0"/>
          </a:p>
        </p:txBody>
      </p:sp>
      <p:sp>
        <p:nvSpPr>
          <p:cNvPr id="29" name="Text 25"/>
          <p:cNvSpPr/>
          <p:nvPr/>
        </p:nvSpPr>
        <p:spPr>
          <a:xfrm>
            <a:off x="548640" y="4041648"/>
            <a:ext cx="8412480" cy="274320"/>
          </a:xfrm>
          <a:prstGeom prst="rect">
            <a:avLst/>
          </a:prstGeom>
          <a:noFill/>
          <a:ln/>
        </p:spPr>
        <p:txBody>
          <a:bodyPr wrap="square" rtlCol="0" anchor="ctr"/>
          <a:lstStyle/>
          <a:p>
            <a:pPr marL="0" indent="0">
              <a:buNone/>
            </a:pPr>
            <a:r>
              <a:rPr lang="es-CO" sz="950" noProof="0" dirty="0">
                <a:solidFill>
                  <a:srgbClr val="2C3E50"/>
                </a:solidFill>
              </a:rPr>
              <a:t>Los requisitos son uno de los primeros filtros de calidad del proceso; su correcta definición actúa como mecanismo preventivo de defectos.</a:t>
            </a:r>
            <a:endParaRPr lang="es-CO" sz="9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Fundamentos de la especificación de requisitos</a:t>
            </a:r>
            <a:endParaRPr lang="es-CO" sz="1800" noProof="0" dirty="0"/>
          </a:p>
        </p:txBody>
      </p:sp>
      <p:sp>
        <p:nvSpPr>
          <p:cNvPr id="10" name="Shape 6"/>
          <p:cNvSpPr/>
          <p:nvPr/>
        </p:nvSpPr>
        <p:spPr>
          <a:xfrm>
            <a:off x="320040" y="1417320"/>
            <a:ext cx="292608" cy="292608"/>
          </a:xfrm>
          <a:prstGeom prst="ellipse">
            <a:avLst/>
          </a:prstGeom>
          <a:solidFill>
            <a:srgbClr val="1C3270"/>
          </a:solidFill>
          <a:ln w="12700">
            <a:solidFill>
              <a:srgbClr val="1C3270"/>
            </a:solidFill>
            <a:prstDash val="solid"/>
          </a:ln>
        </p:spPr>
        <p:txBody>
          <a:bodyPr/>
          <a:lstStyle/>
          <a:p>
            <a:endParaRPr lang="es-CO" noProof="0" dirty="0"/>
          </a:p>
        </p:txBody>
      </p:sp>
      <p:sp>
        <p:nvSpPr>
          <p:cNvPr id="11" name="Text 7"/>
          <p:cNvSpPr/>
          <p:nvPr/>
        </p:nvSpPr>
        <p:spPr>
          <a:xfrm>
            <a:off x="320040" y="1417320"/>
            <a:ext cx="292608" cy="292608"/>
          </a:xfrm>
          <a:prstGeom prst="rect">
            <a:avLst/>
          </a:prstGeom>
          <a:noFill/>
          <a:ln/>
        </p:spPr>
        <p:txBody>
          <a:bodyPr wrap="square" rtlCol="0" anchor="ctr"/>
          <a:lstStyle/>
          <a:p>
            <a:pPr marL="0" indent="0" algn="ctr">
              <a:buNone/>
            </a:pPr>
            <a:r>
              <a:rPr lang="es-CO" sz="1000" b="1" noProof="0" dirty="0">
                <a:solidFill>
                  <a:srgbClr val="FFFFFF"/>
                </a:solidFill>
              </a:rPr>
              <a:t>1</a:t>
            </a:r>
            <a:endParaRPr lang="es-CO" sz="1000" noProof="0" dirty="0"/>
          </a:p>
        </p:txBody>
      </p:sp>
      <p:sp>
        <p:nvSpPr>
          <p:cNvPr id="12" name="Text 8"/>
          <p:cNvSpPr/>
          <p:nvPr/>
        </p:nvSpPr>
        <p:spPr>
          <a:xfrm>
            <a:off x="749808" y="1325880"/>
            <a:ext cx="8046720" cy="274320"/>
          </a:xfrm>
          <a:prstGeom prst="rect">
            <a:avLst/>
          </a:prstGeom>
          <a:noFill/>
          <a:ln/>
        </p:spPr>
        <p:txBody>
          <a:bodyPr wrap="square" rtlCol="0" anchor="ctr"/>
          <a:lstStyle/>
          <a:p>
            <a:pPr marL="0" indent="0">
              <a:buNone/>
            </a:pPr>
            <a:r>
              <a:rPr lang="es-CO" sz="1150" b="1" noProof="0" dirty="0">
                <a:solidFill>
                  <a:srgbClr val="0D1F4E"/>
                </a:solidFill>
              </a:rPr>
              <a:t>Clasificación clásica</a:t>
            </a:r>
            <a:endParaRPr lang="es-CO" sz="1150" noProof="0" dirty="0"/>
          </a:p>
        </p:txBody>
      </p:sp>
      <p:sp>
        <p:nvSpPr>
          <p:cNvPr id="13" name="Text 9"/>
          <p:cNvSpPr/>
          <p:nvPr/>
        </p:nvSpPr>
        <p:spPr>
          <a:xfrm>
            <a:off x="749808" y="1618488"/>
            <a:ext cx="8046720" cy="502920"/>
          </a:xfrm>
          <a:prstGeom prst="rect">
            <a:avLst/>
          </a:prstGeom>
          <a:noFill/>
          <a:ln/>
        </p:spPr>
        <p:txBody>
          <a:bodyPr wrap="square" rtlCol="0" anchor="ctr"/>
          <a:lstStyle/>
          <a:p>
            <a:pPr marL="0" indent="0">
              <a:buNone/>
            </a:pPr>
            <a:r>
              <a:rPr lang="es-CO" sz="1050" noProof="0" dirty="0">
                <a:solidFill>
                  <a:srgbClr val="34495E"/>
                </a:solidFill>
              </a:rPr>
              <a:t>Requisitos funcionales y no funcionales (IEEE-STD-830).</a:t>
            </a:r>
            <a:endParaRPr lang="es-CO" sz="1050" noProof="0" dirty="0"/>
          </a:p>
        </p:txBody>
      </p:sp>
      <p:sp>
        <p:nvSpPr>
          <p:cNvPr id="14" name="Shape 10"/>
          <p:cNvSpPr/>
          <p:nvPr/>
        </p:nvSpPr>
        <p:spPr>
          <a:xfrm>
            <a:off x="320040" y="2286000"/>
            <a:ext cx="292608" cy="292608"/>
          </a:xfrm>
          <a:prstGeom prst="ellipse">
            <a:avLst/>
          </a:prstGeom>
          <a:solidFill>
            <a:srgbClr val="1C3270"/>
          </a:solidFill>
          <a:ln w="12700">
            <a:solidFill>
              <a:srgbClr val="1C3270"/>
            </a:solidFill>
            <a:prstDash val="solid"/>
          </a:ln>
        </p:spPr>
        <p:txBody>
          <a:bodyPr/>
          <a:lstStyle/>
          <a:p>
            <a:endParaRPr lang="es-CO" noProof="0" dirty="0"/>
          </a:p>
        </p:txBody>
      </p:sp>
      <p:sp>
        <p:nvSpPr>
          <p:cNvPr id="15" name="Text 11"/>
          <p:cNvSpPr/>
          <p:nvPr/>
        </p:nvSpPr>
        <p:spPr>
          <a:xfrm>
            <a:off x="320040" y="2286000"/>
            <a:ext cx="292608" cy="292608"/>
          </a:xfrm>
          <a:prstGeom prst="rect">
            <a:avLst/>
          </a:prstGeom>
          <a:noFill/>
          <a:ln/>
        </p:spPr>
        <p:txBody>
          <a:bodyPr wrap="square" rtlCol="0" anchor="ctr"/>
          <a:lstStyle/>
          <a:p>
            <a:pPr marL="0" indent="0" algn="ctr">
              <a:buNone/>
            </a:pPr>
            <a:r>
              <a:rPr lang="es-CO" sz="1000" b="1" noProof="0" dirty="0">
                <a:solidFill>
                  <a:srgbClr val="FFFFFF"/>
                </a:solidFill>
              </a:rPr>
              <a:t>2</a:t>
            </a:r>
            <a:endParaRPr lang="es-CO" sz="1000" noProof="0" dirty="0"/>
          </a:p>
        </p:txBody>
      </p:sp>
      <p:sp>
        <p:nvSpPr>
          <p:cNvPr id="16" name="Text 12"/>
          <p:cNvSpPr/>
          <p:nvPr/>
        </p:nvSpPr>
        <p:spPr>
          <a:xfrm>
            <a:off x="749808" y="2194560"/>
            <a:ext cx="8046720" cy="274320"/>
          </a:xfrm>
          <a:prstGeom prst="rect">
            <a:avLst/>
          </a:prstGeom>
          <a:noFill/>
          <a:ln/>
        </p:spPr>
        <p:txBody>
          <a:bodyPr wrap="square" rtlCol="0" anchor="ctr"/>
          <a:lstStyle/>
          <a:p>
            <a:pPr marL="0" indent="0">
              <a:buNone/>
            </a:pPr>
            <a:r>
              <a:rPr lang="es-CO" sz="1150" b="1" noProof="0" dirty="0">
                <a:solidFill>
                  <a:srgbClr val="0D1F4E"/>
                </a:solidFill>
              </a:rPr>
              <a:t>Enfoque del modelo</a:t>
            </a:r>
            <a:endParaRPr lang="es-CO" sz="1150" noProof="0" dirty="0"/>
          </a:p>
        </p:txBody>
      </p:sp>
      <p:sp>
        <p:nvSpPr>
          <p:cNvPr id="17" name="Text 13"/>
          <p:cNvSpPr/>
          <p:nvPr/>
        </p:nvSpPr>
        <p:spPr>
          <a:xfrm>
            <a:off x="749808" y="2487168"/>
            <a:ext cx="8046720" cy="502920"/>
          </a:xfrm>
          <a:prstGeom prst="rect">
            <a:avLst/>
          </a:prstGeom>
          <a:noFill/>
          <a:ln/>
        </p:spPr>
        <p:txBody>
          <a:bodyPr wrap="square" rtlCol="0" anchor="ctr"/>
          <a:lstStyle/>
          <a:p>
            <a:pPr marL="0" indent="0">
              <a:buNone/>
            </a:pPr>
            <a:r>
              <a:rPr lang="es-CO" sz="1050" noProof="0" dirty="0">
                <a:solidFill>
                  <a:srgbClr val="34495E"/>
                </a:solidFill>
              </a:rPr>
              <a:t>Énfasis en requisitos funcionales / de usuario.</a:t>
            </a:r>
            <a:endParaRPr lang="es-CO" sz="1050" noProof="0" dirty="0"/>
          </a:p>
        </p:txBody>
      </p:sp>
      <p:sp>
        <p:nvSpPr>
          <p:cNvPr id="18" name="Shape 14"/>
          <p:cNvSpPr/>
          <p:nvPr/>
        </p:nvSpPr>
        <p:spPr>
          <a:xfrm>
            <a:off x="320040" y="3154680"/>
            <a:ext cx="292608" cy="292608"/>
          </a:xfrm>
          <a:prstGeom prst="ellipse">
            <a:avLst/>
          </a:prstGeom>
          <a:solidFill>
            <a:srgbClr val="1C3270"/>
          </a:solidFill>
          <a:ln w="12700">
            <a:solidFill>
              <a:srgbClr val="1C3270"/>
            </a:solidFill>
            <a:prstDash val="solid"/>
          </a:ln>
        </p:spPr>
        <p:txBody>
          <a:bodyPr/>
          <a:lstStyle/>
          <a:p>
            <a:endParaRPr lang="es-CO" noProof="0" dirty="0"/>
          </a:p>
        </p:txBody>
      </p:sp>
      <p:sp>
        <p:nvSpPr>
          <p:cNvPr id="19" name="Text 15"/>
          <p:cNvSpPr/>
          <p:nvPr/>
        </p:nvSpPr>
        <p:spPr>
          <a:xfrm>
            <a:off x="320040" y="3154680"/>
            <a:ext cx="292608" cy="292608"/>
          </a:xfrm>
          <a:prstGeom prst="rect">
            <a:avLst/>
          </a:prstGeom>
          <a:noFill/>
          <a:ln/>
        </p:spPr>
        <p:txBody>
          <a:bodyPr wrap="square" rtlCol="0" anchor="ctr"/>
          <a:lstStyle/>
          <a:p>
            <a:pPr marL="0" indent="0" algn="ctr">
              <a:buNone/>
            </a:pPr>
            <a:r>
              <a:rPr lang="es-CO" sz="1000" b="1" noProof="0" dirty="0">
                <a:solidFill>
                  <a:srgbClr val="FFFFFF"/>
                </a:solidFill>
              </a:rPr>
              <a:t>3</a:t>
            </a:r>
            <a:endParaRPr lang="es-CO" sz="1000" noProof="0" dirty="0"/>
          </a:p>
        </p:txBody>
      </p:sp>
      <p:sp>
        <p:nvSpPr>
          <p:cNvPr id="20" name="Text 16"/>
          <p:cNvSpPr/>
          <p:nvPr/>
        </p:nvSpPr>
        <p:spPr>
          <a:xfrm>
            <a:off x="749808" y="3063240"/>
            <a:ext cx="8046720" cy="274320"/>
          </a:xfrm>
          <a:prstGeom prst="rect">
            <a:avLst/>
          </a:prstGeom>
          <a:noFill/>
          <a:ln/>
        </p:spPr>
        <p:txBody>
          <a:bodyPr wrap="square" rtlCol="0" anchor="ctr"/>
          <a:lstStyle/>
          <a:p>
            <a:pPr marL="0" indent="0">
              <a:buNone/>
            </a:pPr>
            <a:r>
              <a:rPr lang="es-CO" sz="1150" b="1" noProof="0" dirty="0">
                <a:solidFill>
                  <a:srgbClr val="0D1F4E"/>
                </a:solidFill>
              </a:rPr>
              <a:t>Necesidad de procedimiento</a:t>
            </a:r>
            <a:endParaRPr lang="es-CO" sz="1150" noProof="0" dirty="0"/>
          </a:p>
        </p:txBody>
      </p:sp>
      <p:sp>
        <p:nvSpPr>
          <p:cNvPr id="21" name="Text 17"/>
          <p:cNvSpPr/>
          <p:nvPr/>
        </p:nvSpPr>
        <p:spPr>
          <a:xfrm>
            <a:off x="749808" y="3355848"/>
            <a:ext cx="8046720" cy="502920"/>
          </a:xfrm>
          <a:prstGeom prst="rect">
            <a:avLst/>
          </a:prstGeom>
          <a:noFill/>
          <a:ln/>
        </p:spPr>
        <p:txBody>
          <a:bodyPr wrap="square" rtlCol="0" anchor="ctr"/>
          <a:lstStyle/>
          <a:p>
            <a:pPr marL="0" indent="0">
              <a:buNone/>
            </a:pPr>
            <a:r>
              <a:rPr lang="es-CO" sz="1050" noProof="0" dirty="0">
                <a:solidFill>
                  <a:srgbClr val="34495E"/>
                </a:solidFill>
              </a:rPr>
              <a:t>No basta clasificar; se requiere un modelo operativo que indique cómo obtener los requisitos paso a paso.</a:t>
            </a:r>
            <a:endParaRPr lang="es-CO" sz="1050" noProof="0" dirty="0"/>
          </a:p>
        </p:txBody>
      </p:sp>
      <p:sp>
        <p:nvSpPr>
          <p:cNvPr id="22" name="Shape 18"/>
          <p:cNvSpPr/>
          <p:nvPr/>
        </p:nvSpPr>
        <p:spPr>
          <a:xfrm>
            <a:off x="320040" y="4023360"/>
            <a:ext cx="292608" cy="292608"/>
          </a:xfrm>
          <a:prstGeom prst="ellipse">
            <a:avLst/>
          </a:prstGeom>
          <a:solidFill>
            <a:srgbClr val="1C3270"/>
          </a:solidFill>
          <a:ln w="12700">
            <a:solidFill>
              <a:srgbClr val="1C3270"/>
            </a:solidFill>
            <a:prstDash val="solid"/>
          </a:ln>
        </p:spPr>
        <p:txBody>
          <a:bodyPr/>
          <a:lstStyle/>
          <a:p>
            <a:endParaRPr lang="es-CO" noProof="0" dirty="0"/>
          </a:p>
        </p:txBody>
      </p:sp>
      <p:sp>
        <p:nvSpPr>
          <p:cNvPr id="23" name="Text 19"/>
          <p:cNvSpPr/>
          <p:nvPr/>
        </p:nvSpPr>
        <p:spPr>
          <a:xfrm>
            <a:off x="320040" y="4023360"/>
            <a:ext cx="292608" cy="292608"/>
          </a:xfrm>
          <a:prstGeom prst="rect">
            <a:avLst/>
          </a:prstGeom>
          <a:noFill/>
          <a:ln/>
        </p:spPr>
        <p:txBody>
          <a:bodyPr wrap="square" rtlCol="0" anchor="ctr"/>
          <a:lstStyle/>
          <a:p>
            <a:pPr marL="0" indent="0" algn="ctr">
              <a:buNone/>
            </a:pPr>
            <a:r>
              <a:rPr lang="es-CO" sz="1000" b="1" noProof="0" dirty="0">
                <a:solidFill>
                  <a:srgbClr val="FFFFFF"/>
                </a:solidFill>
              </a:rPr>
              <a:t>4</a:t>
            </a:r>
            <a:endParaRPr lang="es-CO" sz="1000" noProof="0" dirty="0"/>
          </a:p>
        </p:txBody>
      </p:sp>
      <p:sp>
        <p:nvSpPr>
          <p:cNvPr id="24" name="Text 20"/>
          <p:cNvSpPr/>
          <p:nvPr/>
        </p:nvSpPr>
        <p:spPr>
          <a:xfrm>
            <a:off x="749808" y="3931920"/>
            <a:ext cx="8046720" cy="274320"/>
          </a:xfrm>
          <a:prstGeom prst="rect">
            <a:avLst/>
          </a:prstGeom>
          <a:noFill/>
          <a:ln/>
        </p:spPr>
        <p:txBody>
          <a:bodyPr wrap="square" rtlCol="0" anchor="ctr"/>
          <a:lstStyle/>
          <a:p>
            <a:pPr marL="0" indent="0">
              <a:buNone/>
            </a:pPr>
            <a:r>
              <a:rPr lang="es-CO" sz="1150" b="1" noProof="0" dirty="0">
                <a:solidFill>
                  <a:srgbClr val="0D1F4E"/>
                </a:solidFill>
              </a:rPr>
              <a:t>Problema identificado</a:t>
            </a:r>
            <a:endParaRPr lang="es-CO" sz="1150" noProof="0" dirty="0"/>
          </a:p>
        </p:txBody>
      </p:sp>
      <p:sp>
        <p:nvSpPr>
          <p:cNvPr id="25" name="Text 21"/>
          <p:cNvSpPr/>
          <p:nvPr/>
        </p:nvSpPr>
        <p:spPr>
          <a:xfrm>
            <a:off x="749808" y="4224528"/>
            <a:ext cx="8046720" cy="502920"/>
          </a:xfrm>
          <a:prstGeom prst="rect">
            <a:avLst/>
          </a:prstGeom>
          <a:noFill/>
          <a:ln/>
        </p:spPr>
        <p:txBody>
          <a:bodyPr wrap="square" rtlCol="0" anchor="ctr"/>
          <a:lstStyle/>
          <a:p>
            <a:pPr marL="0" indent="0">
              <a:buNone/>
            </a:pPr>
            <a:r>
              <a:rPr lang="es-CO" sz="1050" noProof="0" dirty="0">
                <a:solidFill>
                  <a:srgbClr val="34495E"/>
                </a:solidFill>
              </a:rPr>
              <a:t>Ausencia de un modelo procedimental ampliamente adoptado: IEEE-STD-830 define categorías pero no el cómo obtenerlas.</a:t>
            </a:r>
            <a:endParaRPr lang="es-CO" sz="1050" noProof="0" dirty="0"/>
          </a:p>
        </p:txBody>
      </p:sp>
      <p:sp>
        <p:nvSpPr>
          <p:cNvPr id="26" name="Text 22"/>
          <p:cNvSpPr/>
          <p:nvPr/>
        </p:nvSpPr>
        <p:spPr>
          <a:xfrm>
            <a:off x="457200" y="4617720"/>
            <a:ext cx="8229600" cy="228600"/>
          </a:xfrm>
          <a:prstGeom prst="rect">
            <a:avLst/>
          </a:prstGeom>
          <a:noFill/>
          <a:ln/>
        </p:spPr>
        <p:txBody>
          <a:bodyPr wrap="square" rtlCol="0" anchor="ctr"/>
          <a:lstStyle/>
          <a:p>
            <a:pPr marL="0" indent="0" algn="ctr">
              <a:buNone/>
            </a:pPr>
            <a:r>
              <a:rPr lang="es-CO" sz="750" i="1" noProof="0" dirty="0">
                <a:solidFill>
                  <a:srgbClr val="6B7280"/>
                </a:solidFill>
              </a:rPr>
              <a:t>"IEEE-STD-830 define simplemente una clasificación de requisitos en dos grandes grupos... pero no detalla cómo obtenerlos paso a paso." — Cornejo-Aparicio et al., 2020</a:t>
            </a:r>
            <a:endParaRPr lang="es-CO" sz="75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Estándar IEEE 830 para especificación de requisitos</a:t>
            </a:r>
            <a:endParaRPr lang="es-CO" sz="1800" noProof="0" dirty="0"/>
          </a:p>
        </p:txBody>
      </p:sp>
      <p:sp>
        <p:nvSpPr>
          <p:cNvPr id="10" name="Shape 6"/>
          <p:cNvSpPr/>
          <p:nvPr/>
        </p:nvSpPr>
        <p:spPr>
          <a:xfrm>
            <a:off x="320040" y="1261872"/>
            <a:ext cx="1645920" cy="3291840"/>
          </a:xfrm>
          <a:prstGeom prst="rect">
            <a:avLst/>
          </a:prstGeom>
          <a:solidFill>
            <a:srgbClr val="0D1F4E"/>
          </a:solidFill>
          <a:ln w="12700">
            <a:solidFill>
              <a:srgbClr val="0D1F4E"/>
            </a:solidFill>
            <a:prstDash val="solid"/>
          </a:ln>
        </p:spPr>
        <p:txBody>
          <a:bodyPr/>
          <a:lstStyle/>
          <a:p>
            <a:endParaRPr lang="es-CO" noProof="0" dirty="0"/>
          </a:p>
        </p:txBody>
      </p:sp>
      <p:sp>
        <p:nvSpPr>
          <p:cNvPr id="11" name="Text 7"/>
          <p:cNvSpPr/>
          <p:nvPr/>
        </p:nvSpPr>
        <p:spPr>
          <a:xfrm>
            <a:off x="320040" y="1261872"/>
            <a:ext cx="1645920" cy="3291840"/>
          </a:xfrm>
          <a:prstGeom prst="rect">
            <a:avLst/>
          </a:prstGeom>
          <a:noFill/>
          <a:ln/>
        </p:spPr>
        <p:txBody>
          <a:bodyPr wrap="square" rtlCol="0" anchor="ctr"/>
          <a:lstStyle/>
          <a:p>
            <a:pPr marL="0" indent="0" algn="ctr">
              <a:buNone/>
            </a:pPr>
            <a:r>
              <a:rPr lang="es-CO" sz="3000" b="1" noProof="0" dirty="0">
                <a:solidFill>
                  <a:srgbClr val="C9A227"/>
                </a:solidFill>
              </a:rPr>
              <a:t>IEEE</a:t>
            </a:r>
            <a:endParaRPr lang="es-CO" sz="3000" noProof="0" dirty="0"/>
          </a:p>
          <a:p>
            <a:pPr marL="0" indent="0" algn="ctr">
              <a:buNone/>
            </a:pPr>
            <a:r>
              <a:rPr lang="es-CO" sz="3000" b="1" noProof="0" dirty="0">
                <a:solidFill>
                  <a:srgbClr val="C9A227"/>
                </a:solidFill>
              </a:rPr>
              <a:t>830</a:t>
            </a:r>
            <a:endParaRPr lang="es-CO" sz="3000" noProof="0" dirty="0"/>
          </a:p>
        </p:txBody>
      </p:sp>
      <p:sp>
        <p:nvSpPr>
          <p:cNvPr id="12" name="Shape 8"/>
          <p:cNvSpPr/>
          <p:nvPr/>
        </p:nvSpPr>
        <p:spPr>
          <a:xfrm>
            <a:off x="2148840" y="1298448"/>
            <a:ext cx="6675120" cy="713232"/>
          </a:xfrm>
          <a:prstGeom prst="rect">
            <a:avLst/>
          </a:prstGeom>
          <a:solidFill>
            <a:srgbClr val="F4F5F7"/>
          </a:solidFill>
          <a:ln w="6350">
            <a:solidFill>
              <a:srgbClr val="CADCFC"/>
            </a:solidFill>
            <a:prstDash val="solid"/>
          </a:ln>
        </p:spPr>
        <p:txBody>
          <a:bodyPr/>
          <a:lstStyle/>
          <a:p>
            <a:endParaRPr lang="es-CO" noProof="0" dirty="0"/>
          </a:p>
        </p:txBody>
      </p:sp>
      <p:sp>
        <p:nvSpPr>
          <p:cNvPr id="13" name="Text 9"/>
          <p:cNvSpPr/>
          <p:nvPr/>
        </p:nvSpPr>
        <p:spPr>
          <a:xfrm>
            <a:off x="2286000" y="1344168"/>
            <a:ext cx="6400800" cy="228600"/>
          </a:xfrm>
          <a:prstGeom prst="rect">
            <a:avLst/>
          </a:prstGeom>
          <a:noFill/>
          <a:ln/>
        </p:spPr>
        <p:txBody>
          <a:bodyPr wrap="square" rtlCol="0" anchor="ctr"/>
          <a:lstStyle/>
          <a:p>
            <a:pPr marL="0" indent="0">
              <a:buNone/>
            </a:pPr>
            <a:r>
              <a:rPr lang="es-CO" sz="1100" b="1" noProof="0" dirty="0">
                <a:solidFill>
                  <a:srgbClr val="1C3270"/>
                </a:solidFill>
              </a:rPr>
              <a:t>Propósito</a:t>
            </a:r>
            <a:endParaRPr lang="es-CO" sz="1100" noProof="0" dirty="0"/>
          </a:p>
        </p:txBody>
      </p:sp>
      <p:sp>
        <p:nvSpPr>
          <p:cNvPr id="14" name="Text 10"/>
          <p:cNvSpPr/>
          <p:nvPr/>
        </p:nvSpPr>
        <p:spPr>
          <a:xfrm>
            <a:off x="2286000" y="1572768"/>
            <a:ext cx="6400800" cy="384048"/>
          </a:xfrm>
          <a:prstGeom prst="rect">
            <a:avLst/>
          </a:prstGeom>
          <a:noFill/>
          <a:ln/>
        </p:spPr>
        <p:txBody>
          <a:bodyPr wrap="square" rtlCol="0" anchor="ctr"/>
          <a:lstStyle/>
          <a:p>
            <a:pPr marL="0" indent="0">
              <a:buNone/>
            </a:pPr>
            <a:r>
              <a:rPr lang="es-CO" sz="950" noProof="0" dirty="0">
                <a:solidFill>
                  <a:srgbClr val="34495E"/>
                </a:solidFill>
              </a:rPr>
              <a:t>Estructurar el documento de requisitos de software (SRS) con secciones claras: introducción, descripción general y requisitos específicos.</a:t>
            </a:r>
            <a:endParaRPr lang="es-CO" sz="950" noProof="0" dirty="0"/>
          </a:p>
        </p:txBody>
      </p:sp>
      <p:sp>
        <p:nvSpPr>
          <p:cNvPr id="15" name="Shape 11"/>
          <p:cNvSpPr/>
          <p:nvPr/>
        </p:nvSpPr>
        <p:spPr>
          <a:xfrm>
            <a:off x="2148840" y="2103120"/>
            <a:ext cx="6675120" cy="713232"/>
          </a:xfrm>
          <a:prstGeom prst="rect">
            <a:avLst/>
          </a:prstGeom>
          <a:solidFill>
            <a:srgbClr val="FFFFFF"/>
          </a:solidFill>
          <a:ln w="6350">
            <a:solidFill>
              <a:srgbClr val="CADCFC"/>
            </a:solidFill>
            <a:prstDash val="solid"/>
          </a:ln>
        </p:spPr>
        <p:txBody>
          <a:bodyPr/>
          <a:lstStyle/>
          <a:p>
            <a:endParaRPr lang="es-CO" noProof="0" dirty="0"/>
          </a:p>
        </p:txBody>
      </p:sp>
      <p:sp>
        <p:nvSpPr>
          <p:cNvPr id="16" name="Text 12"/>
          <p:cNvSpPr/>
          <p:nvPr/>
        </p:nvSpPr>
        <p:spPr>
          <a:xfrm>
            <a:off x="2286000" y="2148840"/>
            <a:ext cx="6400800" cy="228600"/>
          </a:xfrm>
          <a:prstGeom prst="rect">
            <a:avLst/>
          </a:prstGeom>
          <a:noFill/>
          <a:ln/>
        </p:spPr>
        <p:txBody>
          <a:bodyPr wrap="square" rtlCol="0" anchor="ctr"/>
          <a:lstStyle/>
          <a:p>
            <a:pPr marL="0" indent="0">
              <a:buNone/>
            </a:pPr>
            <a:r>
              <a:rPr lang="es-CO" sz="1100" b="1" noProof="0" dirty="0">
                <a:solidFill>
                  <a:srgbClr val="1C3270"/>
                </a:solidFill>
              </a:rPr>
              <a:t>Enfoque en claridad</a:t>
            </a:r>
            <a:endParaRPr lang="es-CO" sz="1100" noProof="0" dirty="0"/>
          </a:p>
        </p:txBody>
      </p:sp>
      <p:sp>
        <p:nvSpPr>
          <p:cNvPr id="17" name="Text 13"/>
          <p:cNvSpPr/>
          <p:nvPr/>
        </p:nvSpPr>
        <p:spPr>
          <a:xfrm>
            <a:off x="2286000" y="2377440"/>
            <a:ext cx="6400800" cy="384048"/>
          </a:xfrm>
          <a:prstGeom prst="rect">
            <a:avLst/>
          </a:prstGeom>
          <a:noFill/>
          <a:ln/>
        </p:spPr>
        <p:txBody>
          <a:bodyPr wrap="square" rtlCol="0" anchor="ctr"/>
          <a:lstStyle/>
          <a:p>
            <a:pPr marL="0" indent="0">
              <a:buNone/>
            </a:pPr>
            <a:r>
              <a:rPr lang="es-CO" sz="950" noProof="0" dirty="0">
                <a:solidFill>
                  <a:srgbClr val="34495E"/>
                </a:solidFill>
              </a:rPr>
              <a:t>Los requisitos deben ser verificables, consistentes y trazables para todas las partes interesadas del proyecto.</a:t>
            </a:r>
            <a:endParaRPr lang="es-CO" sz="950" noProof="0" dirty="0"/>
          </a:p>
        </p:txBody>
      </p:sp>
      <p:sp>
        <p:nvSpPr>
          <p:cNvPr id="18" name="Shape 14"/>
          <p:cNvSpPr/>
          <p:nvPr/>
        </p:nvSpPr>
        <p:spPr>
          <a:xfrm>
            <a:off x="2148840" y="2907792"/>
            <a:ext cx="6675120" cy="713232"/>
          </a:xfrm>
          <a:prstGeom prst="rect">
            <a:avLst/>
          </a:prstGeom>
          <a:solidFill>
            <a:srgbClr val="F4F5F7"/>
          </a:solidFill>
          <a:ln w="6350">
            <a:solidFill>
              <a:srgbClr val="CADCFC"/>
            </a:solidFill>
            <a:prstDash val="solid"/>
          </a:ln>
        </p:spPr>
        <p:txBody>
          <a:bodyPr/>
          <a:lstStyle/>
          <a:p>
            <a:endParaRPr lang="es-CO" noProof="0" dirty="0"/>
          </a:p>
        </p:txBody>
      </p:sp>
      <p:sp>
        <p:nvSpPr>
          <p:cNvPr id="19" name="Text 15"/>
          <p:cNvSpPr/>
          <p:nvPr/>
        </p:nvSpPr>
        <p:spPr>
          <a:xfrm>
            <a:off x="2286000" y="2953512"/>
            <a:ext cx="6400800" cy="228600"/>
          </a:xfrm>
          <a:prstGeom prst="rect">
            <a:avLst/>
          </a:prstGeom>
          <a:noFill/>
          <a:ln/>
        </p:spPr>
        <p:txBody>
          <a:bodyPr wrap="square" rtlCol="0" anchor="ctr"/>
          <a:lstStyle/>
          <a:p>
            <a:pPr marL="0" indent="0">
              <a:buNone/>
            </a:pPr>
            <a:r>
              <a:rPr lang="es-CO" sz="1100" b="1" noProof="0" dirty="0">
                <a:solidFill>
                  <a:srgbClr val="1C3270"/>
                </a:solidFill>
              </a:rPr>
              <a:t>Uso en la práctica</a:t>
            </a:r>
            <a:endParaRPr lang="es-CO" sz="1100" noProof="0" dirty="0"/>
          </a:p>
        </p:txBody>
      </p:sp>
      <p:sp>
        <p:nvSpPr>
          <p:cNvPr id="20" name="Text 16"/>
          <p:cNvSpPr/>
          <p:nvPr/>
        </p:nvSpPr>
        <p:spPr>
          <a:xfrm>
            <a:off x="2286000" y="3182112"/>
            <a:ext cx="6400800" cy="384048"/>
          </a:xfrm>
          <a:prstGeom prst="rect">
            <a:avLst/>
          </a:prstGeom>
          <a:noFill/>
          <a:ln/>
        </p:spPr>
        <p:txBody>
          <a:bodyPr wrap="square" rtlCol="0" anchor="ctr"/>
          <a:lstStyle/>
          <a:p>
            <a:pPr marL="0" indent="0">
              <a:buNone/>
            </a:pPr>
            <a:r>
              <a:rPr lang="es-CO" sz="950" noProof="0" dirty="0">
                <a:solidFill>
                  <a:srgbClr val="34495E"/>
                </a:solidFill>
              </a:rPr>
              <a:t>Base para contratos y control de cambios. En empresas como Microsoft e IBM, plantillas derivadas de IEEE 830 alinean equipos de producto, QA y negocio.</a:t>
            </a:r>
            <a:endParaRPr lang="es-CO" sz="950" noProof="0" dirty="0"/>
          </a:p>
        </p:txBody>
      </p:sp>
      <p:sp>
        <p:nvSpPr>
          <p:cNvPr id="21" name="Shape 17"/>
          <p:cNvSpPr/>
          <p:nvPr/>
        </p:nvSpPr>
        <p:spPr>
          <a:xfrm>
            <a:off x="2148840" y="3712464"/>
            <a:ext cx="6675120" cy="713232"/>
          </a:xfrm>
          <a:prstGeom prst="rect">
            <a:avLst/>
          </a:prstGeom>
          <a:solidFill>
            <a:srgbClr val="FFFFFF"/>
          </a:solidFill>
          <a:ln w="6350">
            <a:solidFill>
              <a:srgbClr val="CADCFC"/>
            </a:solidFill>
            <a:prstDash val="solid"/>
          </a:ln>
        </p:spPr>
        <p:txBody>
          <a:bodyPr/>
          <a:lstStyle/>
          <a:p>
            <a:endParaRPr lang="es-CO" noProof="0" dirty="0"/>
          </a:p>
        </p:txBody>
      </p:sp>
      <p:sp>
        <p:nvSpPr>
          <p:cNvPr id="22" name="Text 18"/>
          <p:cNvSpPr/>
          <p:nvPr/>
        </p:nvSpPr>
        <p:spPr>
          <a:xfrm>
            <a:off x="2286000" y="3758184"/>
            <a:ext cx="6400800" cy="228600"/>
          </a:xfrm>
          <a:prstGeom prst="rect">
            <a:avLst/>
          </a:prstGeom>
          <a:noFill/>
          <a:ln/>
        </p:spPr>
        <p:txBody>
          <a:bodyPr wrap="square" rtlCol="0" anchor="ctr"/>
          <a:lstStyle/>
          <a:p>
            <a:pPr marL="0" indent="0">
              <a:buNone/>
            </a:pPr>
            <a:r>
              <a:rPr lang="es-CO" sz="1100" b="1" noProof="0" dirty="0">
                <a:solidFill>
                  <a:srgbClr val="1C3270"/>
                </a:solidFill>
              </a:rPr>
              <a:t>Beneficio clave</a:t>
            </a:r>
            <a:endParaRPr lang="es-CO" sz="1100" noProof="0" dirty="0"/>
          </a:p>
        </p:txBody>
      </p:sp>
      <p:sp>
        <p:nvSpPr>
          <p:cNvPr id="23" name="Text 19"/>
          <p:cNvSpPr/>
          <p:nvPr/>
        </p:nvSpPr>
        <p:spPr>
          <a:xfrm>
            <a:off x="2286000" y="3986784"/>
            <a:ext cx="6400800" cy="384048"/>
          </a:xfrm>
          <a:prstGeom prst="rect">
            <a:avLst/>
          </a:prstGeom>
          <a:noFill/>
          <a:ln/>
        </p:spPr>
        <p:txBody>
          <a:bodyPr wrap="square" rtlCol="0" anchor="ctr"/>
          <a:lstStyle/>
          <a:p>
            <a:pPr marL="0" indent="0">
              <a:buNone/>
            </a:pPr>
            <a:r>
              <a:rPr lang="es-CO" sz="950" noProof="0" dirty="0">
                <a:solidFill>
                  <a:srgbClr val="34495E"/>
                </a:solidFill>
              </a:rPr>
              <a:t>Reduce ambigüedades en fases posteriores del ciclo de vida, actuando como contrato técnico entre analistas, desarrolladores y clientes.</a:t>
            </a:r>
            <a:endParaRPr lang="es-CO" sz="95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ISO/IEC 12207 y la calidad del software</a:t>
            </a:r>
            <a:endParaRPr lang="es-CO" sz="1800" noProof="0" dirty="0"/>
          </a:p>
        </p:txBody>
      </p:sp>
      <p:sp>
        <p:nvSpPr>
          <p:cNvPr id="10" name="Shape 6"/>
          <p:cNvSpPr/>
          <p:nvPr/>
        </p:nvSpPr>
        <p:spPr>
          <a:xfrm>
            <a:off x="274320" y="1298448"/>
            <a:ext cx="2743200" cy="548640"/>
          </a:xfrm>
          <a:prstGeom prst="rect">
            <a:avLst/>
          </a:prstGeom>
          <a:solidFill>
            <a:srgbClr val="0D1F4E"/>
          </a:solidFill>
          <a:ln w="12700">
            <a:solidFill>
              <a:srgbClr val="0D1F4E"/>
            </a:solidFill>
            <a:prstDash val="solid"/>
          </a:ln>
        </p:spPr>
        <p:txBody>
          <a:bodyPr/>
          <a:lstStyle/>
          <a:p>
            <a:endParaRPr lang="es-CO" noProof="0" dirty="0"/>
          </a:p>
        </p:txBody>
      </p:sp>
      <p:sp>
        <p:nvSpPr>
          <p:cNvPr id="11" name="Text 7"/>
          <p:cNvSpPr/>
          <p:nvPr/>
        </p:nvSpPr>
        <p:spPr>
          <a:xfrm>
            <a:off x="274320" y="1298448"/>
            <a:ext cx="2743200" cy="548640"/>
          </a:xfrm>
          <a:prstGeom prst="rect">
            <a:avLst/>
          </a:prstGeom>
          <a:noFill/>
          <a:ln/>
        </p:spPr>
        <p:txBody>
          <a:bodyPr wrap="square" rtlCol="0" anchor="ctr"/>
          <a:lstStyle/>
          <a:p>
            <a:pPr marL="0" indent="0" algn="ctr">
              <a:buNone/>
            </a:pPr>
            <a:r>
              <a:rPr lang="es-CO" sz="1100" b="1" noProof="0" dirty="0">
                <a:solidFill>
                  <a:srgbClr val="FFFFFF"/>
                </a:solidFill>
              </a:rPr>
              <a:t>Objeto de la norma</a:t>
            </a:r>
            <a:endParaRPr lang="es-CO" sz="1100" noProof="0" dirty="0"/>
          </a:p>
        </p:txBody>
      </p:sp>
      <p:sp>
        <p:nvSpPr>
          <p:cNvPr id="12" name="Shape 8"/>
          <p:cNvSpPr/>
          <p:nvPr/>
        </p:nvSpPr>
        <p:spPr>
          <a:xfrm>
            <a:off x="274320" y="1847088"/>
            <a:ext cx="2743200" cy="1929384"/>
          </a:xfrm>
          <a:prstGeom prst="rect">
            <a:avLst/>
          </a:prstGeom>
          <a:solidFill>
            <a:srgbClr val="FFFFFF"/>
          </a:solidFill>
          <a:ln w="12700">
            <a:solidFill>
              <a:srgbClr val="CADCFC"/>
            </a:solidFill>
            <a:prstDash val="solid"/>
          </a:ln>
        </p:spPr>
        <p:txBody>
          <a:bodyPr/>
          <a:lstStyle/>
          <a:p>
            <a:endParaRPr lang="es-CO" noProof="0" dirty="0"/>
          </a:p>
        </p:txBody>
      </p:sp>
      <p:sp>
        <p:nvSpPr>
          <p:cNvPr id="13" name="Text 9"/>
          <p:cNvSpPr/>
          <p:nvPr/>
        </p:nvSpPr>
        <p:spPr>
          <a:xfrm>
            <a:off x="411480" y="1920240"/>
            <a:ext cx="2468880" cy="2331720"/>
          </a:xfrm>
          <a:prstGeom prst="rect">
            <a:avLst/>
          </a:prstGeom>
          <a:noFill/>
          <a:ln/>
        </p:spPr>
        <p:txBody>
          <a:bodyPr wrap="square" rtlCol="0" anchor="t"/>
          <a:lstStyle/>
          <a:p>
            <a:pPr marL="0" indent="0">
              <a:buNone/>
            </a:pPr>
            <a:r>
              <a:rPr lang="es-CO" sz="1050" noProof="0" dirty="0">
                <a:solidFill>
                  <a:srgbClr val="2C3E50"/>
                </a:solidFill>
              </a:rPr>
              <a:t>Define los procesos del ciclo de vida del software: adquisición, suministro, desarrollo, operación y mantenimiento.</a:t>
            </a:r>
            <a:endParaRPr lang="es-CO" sz="1050" noProof="0" dirty="0"/>
          </a:p>
        </p:txBody>
      </p:sp>
      <p:sp>
        <p:nvSpPr>
          <p:cNvPr id="14" name="Shape 10"/>
          <p:cNvSpPr/>
          <p:nvPr/>
        </p:nvSpPr>
        <p:spPr>
          <a:xfrm>
            <a:off x="3200400" y="1298448"/>
            <a:ext cx="2743200" cy="548640"/>
          </a:xfrm>
          <a:prstGeom prst="rect">
            <a:avLst/>
          </a:prstGeom>
          <a:solidFill>
            <a:srgbClr val="1C3270"/>
          </a:solidFill>
          <a:ln w="12700">
            <a:solidFill>
              <a:srgbClr val="1C3270"/>
            </a:solidFill>
            <a:prstDash val="solid"/>
          </a:ln>
        </p:spPr>
        <p:txBody>
          <a:bodyPr/>
          <a:lstStyle/>
          <a:p>
            <a:endParaRPr lang="es-CO" noProof="0" dirty="0"/>
          </a:p>
        </p:txBody>
      </p:sp>
      <p:sp>
        <p:nvSpPr>
          <p:cNvPr id="15" name="Text 11"/>
          <p:cNvSpPr/>
          <p:nvPr/>
        </p:nvSpPr>
        <p:spPr>
          <a:xfrm>
            <a:off x="3200400" y="1298448"/>
            <a:ext cx="2743200" cy="548640"/>
          </a:xfrm>
          <a:prstGeom prst="rect">
            <a:avLst/>
          </a:prstGeom>
          <a:noFill/>
          <a:ln/>
        </p:spPr>
        <p:txBody>
          <a:bodyPr wrap="square" rtlCol="0" anchor="ctr"/>
          <a:lstStyle/>
          <a:p>
            <a:pPr marL="0" indent="0" algn="ctr">
              <a:buNone/>
            </a:pPr>
            <a:r>
              <a:rPr lang="es-CO" sz="1100" b="1" noProof="0" dirty="0">
                <a:solidFill>
                  <a:srgbClr val="FFFFFF"/>
                </a:solidFill>
              </a:rPr>
              <a:t>Relación con calidad</a:t>
            </a:r>
            <a:endParaRPr lang="es-CO" sz="1100" noProof="0" dirty="0"/>
          </a:p>
        </p:txBody>
      </p:sp>
      <p:sp>
        <p:nvSpPr>
          <p:cNvPr id="16" name="Shape 12"/>
          <p:cNvSpPr/>
          <p:nvPr/>
        </p:nvSpPr>
        <p:spPr>
          <a:xfrm>
            <a:off x="3200400" y="1847088"/>
            <a:ext cx="2743200" cy="1929384"/>
          </a:xfrm>
          <a:prstGeom prst="rect">
            <a:avLst/>
          </a:prstGeom>
          <a:solidFill>
            <a:srgbClr val="FFFFFF"/>
          </a:solidFill>
          <a:ln w="12700">
            <a:solidFill>
              <a:srgbClr val="CADCFC"/>
            </a:solidFill>
            <a:prstDash val="solid"/>
          </a:ln>
        </p:spPr>
        <p:txBody>
          <a:bodyPr/>
          <a:lstStyle/>
          <a:p>
            <a:endParaRPr lang="es-CO" noProof="0" dirty="0"/>
          </a:p>
        </p:txBody>
      </p:sp>
      <p:sp>
        <p:nvSpPr>
          <p:cNvPr id="17" name="Text 13"/>
          <p:cNvSpPr/>
          <p:nvPr/>
        </p:nvSpPr>
        <p:spPr>
          <a:xfrm>
            <a:off x="3337560" y="1920240"/>
            <a:ext cx="2468880" cy="2331720"/>
          </a:xfrm>
          <a:prstGeom prst="rect">
            <a:avLst/>
          </a:prstGeom>
          <a:noFill/>
          <a:ln/>
        </p:spPr>
        <p:txBody>
          <a:bodyPr wrap="square" rtlCol="0" anchor="t"/>
          <a:lstStyle/>
          <a:p>
            <a:pPr marL="0" indent="0">
              <a:buNone/>
            </a:pPr>
            <a:r>
              <a:rPr lang="es-CO" sz="1050" noProof="0" dirty="0">
                <a:solidFill>
                  <a:srgbClr val="2C3E50"/>
                </a:solidFill>
              </a:rPr>
              <a:t>Incluye procesos de verificación, validación y aseguramiento de calidad del software a lo largo de todo el ciclo de vida.</a:t>
            </a:r>
            <a:endParaRPr lang="es-CO" sz="1050" noProof="0" dirty="0"/>
          </a:p>
        </p:txBody>
      </p:sp>
      <p:sp>
        <p:nvSpPr>
          <p:cNvPr id="18" name="Shape 14"/>
          <p:cNvSpPr/>
          <p:nvPr/>
        </p:nvSpPr>
        <p:spPr>
          <a:xfrm>
            <a:off x="6126480" y="1298448"/>
            <a:ext cx="2743200" cy="548640"/>
          </a:xfrm>
          <a:prstGeom prst="rect">
            <a:avLst/>
          </a:prstGeom>
          <a:solidFill>
            <a:srgbClr val="1A6B54"/>
          </a:solidFill>
          <a:ln w="12700">
            <a:solidFill>
              <a:srgbClr val="1A6B54"/>
            </a:solidFill>
            <a:prstDash val="solid"/>
          </a:ln>
        </p:spPr>
        <p:txBody>
          <a:bodyPr/>
          <a:lstStyle/>
          <a:p>
            <a:endParaRPr lang="es-CO" noProof="0" dirty="0"/>
          </a:p>
        </p:txBody>
      </p:sp>
      <p:sp>
        <p:nvSpPr>
          <p:cNvPr id="19" name="Text 15"/>
          <p:cNvSpPr/>
          <p:nvPr/>
        </p:nvSpPr>
        <p:spPr>
          <a:xfrm>
            <a:off x="6126480" y="1298448"/>
            <a:ext cx="2743200" cy="548640"/>
          </a:xfrm>
          <a:prstGeom prst="rect">
            <a:avLst/>
          </a:prstGeom>
          <a:noFill/>
          <a:ln/>
        </p:spPr>
        <p:txBody>
          <a:bodyPr wrap="square" rtlCol="0" anchor="ctr"/>
          <a:lstStyle/>
          <a:p>
            <a:pPr marL="0" indent="0" algn="ctr">
              <a:buNone/>
            </a:pPr>
            <a:r>
              <a:rPr lang="es-CO" sz="1100" b="1" noProof="0" dirty="0">
                <a:solidFill>
                  <a:srgbClr val="FFFFFF"/>
                </a:solidFill>
              </a:rPr>
              <a:t>Visión de gestión</a:t>
            </a:r>
            <a:endParaRPr lang="es-CO" sz="1100" noProof="0" dirty="0"/>
          </a:p>
        </p:txBody>
      </p:sp>
      <p:sp>
        <p:nvSpPr>
          <p:cNvPr id="20" name="Shape 16"/>
          <p:cNvSpPr/>
          <p:nvPr/>
        </p:nvSpPr>
        <p:spPr>
          <a:xfrm>
            <a:off x="6126480" y="1847088"/>
            <a:ext cx="2743200" cy="1929384"/>
          </a:xfrm>
          <a:prstGeom prst="rect">
            <a:avLst/>
          </a:prstGeom>
          <a:solidFill>
            <a:srgbClr val="FFFFFF"/>
          </a:solidFill>
          <a:ln w="12700">
            <a:solidFill>
              <a:srgbClr val="CADCFC"/>
            </a:solidFill>
            <a:prstDash val="solid"/>
          </a:ln>
        </p:spPr>
        <p:txBody>
          <a:bodyPr/>
          <a:lstStyle/>
          <a:p>
            <a:endParaRPr lang="es-CO" noProof="0" dirty="0"/>
          </a:p>
        </p:txBody>
      </p:sp>
      <p:sp>
        <p:nvSpPr>
          <p:cNvPr id="21" name="Text 17"/>
          <p:cNvSpPr/>
          <p:nvPr/>
        </p:nvSpPr>
        <p:spPr>
          <a:xfrm>
            <a:off x="6263640" y="1920240"/>
            <a:ext cx="2468880" cy="2331720"/>
          </a:xfrm>
          <a:prstGeom prst="rect">
            <a:avLst/>
          </a:prstGeom>
          <a:noFill/>
          <a:ln/>
        </p:spPr>
        <p:txBody>
          <a:bodyPr wrap="square" rtlCol="0" anchor="t"/>
          <a:lstStyle/>
          <a:p>
            <a:pPr marL="0" indent="0">
              <a:buNone/>
            </a:pPr>
            <a:r>
              <a:rPr lang="es-CO" sz="1050" noProof="0" dirty="0">
                <a:solidFill>
                  <a:srgbClr val="2C3E50"/>
                </a:solidFill>
              </a:rPr>
              <a:t>Similar a ISO 9001 pero orientada a software. Muchas empresas la combinan con CMMI para estructurar su ciclo de vida y métricas.</a:t>
            </a:r>
            <a:endParaRPr lang="es-CO" sz="1050" noProof="0" dirty="0"/>
          </a:p>
        </p:txBody>
      </p:sp>
      <p:sp>
        <p:nvSpPr>
          <p:cNvPr id="22" name="Shape 18"/>
          <p:cNvSpPr/>
          <p:nvPr/>
        </p:nvSpPr>
        <p:spPr>
          <a:xfrm>
            <a:off x="274320" y="4110580"/>
            <a:ext cx="8595360" cy="475488"/>
          </a:xfrm>
          <a:prstGeom prst="rect">
            <a:avLst/>
          </a:prstGeom>
          <a:solidFill>
            <a:srgbClr val="0D1F4E"/>
          </a:solidFill>
          <a:ln w="12700">
            <a:solidFill>
              <a:srgbClr val="0D1F4E"/>
            </a:solidFill>
            <a:prstDash val="solid"/>
          </a:ln>
        </p:spPr>
        <p:txBody>
          <a:bodyPr/>
          <a:lstStyle/>
          <a:p>
            <a:endParaRPr lang="es-CO" noProof="0" dirty="0"/>
          </a:p>
        </p:txBody>
      </p:sp>
      <p:sp>
        <p:nvSpPr>
          <p:cNvPr id="23" name="Text 19"/>
          <p:cNvSpPr/>
          <p:nvPr/>
        </p:nvSpPr>
        <p:spPr>
          <a:xfrm>
            <a:off x="457200" y="4128868"/>
            <a:ext cx="8229600" cy="411480"/>
          </a:xfrm>
          <a:prstGeom prst="rect">
            <a:avLst/>
          </a:prstGeom>
          <a:noFill/>
          <a:ln/>
        </p:spPr>
        <p:txBody>
          <a:bodyPr wrap="square" rtlCol="0" anchor="ctr"/>
          <a:lstStyle/>
          <a:p>
            <a:pPr marL="0" indent="0" algn="ctr">
              <a:buNone/>
            </a:pPr>
            <a:r>
              <a:rPr lang="es-CO" sz="900" i="1" noProof="0" dirty="0">
                <a:solidFill>
                  <a:srgbClr val="FFFFFF"/>
                </a:solidFill>
              </a:rPr>
              <a:t>ISO/IEC 12207 define las actividades de análisis, diseño, construcción, integración y pruebas de productos de software nuevos o modificados cumpliendo los requerimientos especificados.</a:t>
            </a:r>
            <a:endParaRPr lang="es-CO" sz="9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Modelos de mejora de procesos (SPI) y requisitos</a:t>
            </a:r>
            <a:endParaRPr lang="es-CO" sz="1800" noProof="0" dirty="0"/>
          </a:p>
        </p:txBody>
      </p:sp>
      <p:sp>
        <p:nvSpPr>
          <p:cNvPr id="10" name="Shape 6"/>
          <p:cNvSpPr/>
          <p:nvPr/>
        </p:nvSpPr>
        <p:spPr>
          <a:xfrm>
            <a:off x="365760" y="1298448"/>
            <a:ext cx="1508760" cy="566928"/>
          </a:xfrm>
          <a:prstGeom prst="roundRect">
            <a:avLst>
              <a:gd name="adj" fmla="val 12903"/>
            </a:avLst>
          </a:prstGeom>
          <a:solidFill>
            <a:srgbClr val="1C3270"/>
          </a:solidFill>
          <a:ln w="19050">
            <a:solidFill>
              <a:srgbClr val="C9A227"/>
            </a:solidFill>
            <a:prstDash val="solid"/>
          </a:ln>
        </p:spPr>
        <p:txBody>
          <a:bodyPr/>
          <a:lstStyle/>
          <a:p>
            <a:endParaRPr lang="es-CO" noProof="0" dirty="0"/>
          </a:p>
        </p:txBody>
      </p:sp>
      <p:sp>
        <p:nvSpPr>
          <p:cNvPr id="11" name="Text 7"/>
          <p:cNvSpPr/>
          <p:nvPr/>
        </p:nvSpPr>
        <p:spPr>
          <a:xfrm>
            <a:off x="365760" y="1298448"/>
            <a:ext cx="1508760" cy="566928"/>
          </a:xfrm>
          <a:prstGeom prst="rect">
            <a:avLst/>
          </a:prstGeom>
          <a:noFill/>
          <a:ln/>
        </p:spPr>
        <p:txBody>
          <a:bodyPr wrap="square" rtlCol="0" anchor="ctr"/>
          <a:lstStyle/>
          <a:p>
            <a:pPr marL="0" indent="0" algn="ctr">
              <a:buNone/>
            </a:pPr>
            <a:r>
              <a:rPr lang="es-CO" sz="1100" b="1" noProof="0" dirty="0">
                <a:solidFill>
                  <a:srgbClr val="FFFFFF"/>
                </a:solidFill>
              </a:rPr>
              <a:t>CMMI</a:t>
            </a:r>
            <a:endParaRPr lang="es-CO" sz="1100" noProof="0" dirty="0"/>
          </a:p>
        </p:txBody>
      </p:sp>
      <p:sp>
        <p:nvSpPr>
          <p:cNvPr id="12" name="Shape 8"/>
          <p:cNvSpPr/>
          <p:nvPr/>
        </p:nvSpPr>
        <p:spPr>
          <a:xfrm>
            <a:off x="2039112" y="1298448"/>
            <a:ext cx="1508760" cy="566928"/>
          </a:xfrm>
          <a:prstGeom prst="roundRect">
            <a:avLst>
              <a:gd name="adj" fmla="val 12903"/>
            </a:avLst>
          </a:prstGeom>
          <a:solidFill>
            <a:srgbClr val="1C3270"/>
          </a:solidFill>
          <a:ln w="19050">
            <a:solidFill>
              <a:srgbClr val="C9A227"/>
            </a:solidFill>
            <a:prstDash val="solid"/>
          </a:ln>
        </p:spPr>
        <p:txBody>
          <a:bodyPr/>
          <a:lstStyle/>
          <a:p>
            <a:endParaRPr lang="es-CO" noProof="0" dirty="0"/>
          </a:p>
        </p:txBody>
      </p:sp>
      <p:sp>
        <p:nvSpPr>
          <p:cNvPr id="13" name="Text 9"/>
          <p:cNvSpPr/>
          <p:nvPr/>
        </p:nvSpPr>
        <p:spPr>
          <a:xfrm>
            <a:off x="2039112" y="1298448"/>
            <a:ext cx="1508760" cy="566928"/>
          </a:xfrm>
          <a:prstGeom prst="rect">
            <a:avLst/>
          </a:prstGeom>
          <a:noFill/>
          <a:ln/>
        </p:spPr>
        <p:txBody>
          <a:bodyPr wrap="square" rtlCol="0" anchor="ctr"/>
          <a:lstStyle/>
          <a:p>
            <a:pPr marL="0" indent="0" algn="ctr">
              <a:buNone/>
            </a:pPr>
            <a:r>
              <a:rPr lang="es-CO" sz="1100" b="1" noProof="0" dirty="0">
                <a:solidFill>
                  <a:srgbClr val="FFFFFF"/>
                </a:solidFill>
              </a:rPr>
              <a:t>MoProSoft</a:t>
            </a:r>
            <a:endParaRPr lang="es-CO" sz="1100" noProof="0" dirty="0"/>
          </a:p>
        </p:txBody>
      </p:sp>
      <p:sp>
        <p:nvSpPr>
          <p:cNvPr id="14" name="Shape 10"/>
          <p:cNvSpPr/>
          <p:nvPr/>
        </p:nvSpPr>
        <p:spPr>
          <a:xfrm>
            <a:off x="3712464" y="1298448"/>
            <a:ext cx="1508760" cy="566928"/>
          </a:xfrm>
          <a:prstGeom prst="roundRect">
            <a:avLst>
              <a:gd name="adj" fmla="val 12903"/>
            </a:avLst>
          </a:prstGeom>
          <a:solidFill>
            <a:srgbClr val="1C3270"/>
          </a:solidFill>
          <a:ln w="19050">
            <a:solidFill>
              <a:srgbClr val="C9A227"/>
            </a:solidFill>
            <a:prstDash val="solid"/>
          </a:ln>
        </p:spPr>
        <p:txBody>
          <a:bodyPr/>
          <a:lstStyle/>
          <a:p>
            <a:endParaRPr lang="es-CO" noProof="0" dirty="0"/>
          </a:p>
        </p:txBody>
      </p:sp>
      <p:sp>
        <p:nvSpPr>
          <p:cNvPr id="15" name="Text 11"/>
          <p:cNvSpPr/>
          <p:nvPr/>
        </p:nvSpPr>
        <p:spPr>
          <a:xfrm>
            <a:off x="3712464" y="1298448"/>
            <a:ext cx="1508760" cy="566928"/>
          </a:xfrm>
          <a:prstGeom prst="rect">
            <a:avLst/>
          </a:prstGeom>
          <a:noFill/>
          <a:ln/>
        </p:spPr>
        <p:txBody>
          <a:bodyPr wrap="square" rtlCol="0" anchor="ctr"/>
          <a:lstStyle/>
          <a:p>
            <a:pPr marL="0" indent="0" algn="ctr">
              <a:buNone/>
            </a:pPr>
            <a:r>
              <a:rPr lang="es-CO" sz="1100" b="1" noProof="0" dirty="0" err="1">
                <a:solidFill>
                  <a:srgbClr val="FFFFFF"/>
                </a:solidFill>
              </a:rPr>
              <a:t>Competisoft</a:t>
            </a:r>
            <a:endParaRPr lang="es-CO" sz="1100" noProof="0" dirty="0"/>
          </a:p>
        </p:txBody>
      </p:sp>
      <p:sp>
        <p:nvSpPr>
          <p:cNvPr id="16" name="Shape 12"/>
          <p:cNvSpPr/>
          <p:nvPr/>
        </p:nvSpPr>
        <p:spPr>
          <a:xfrm>
            <a:off x="5385816" y="1298448"/>
            <a:ext cx="1508760" cy="566928"/>
          </a:xfrm>
          <a:prstGeom prst="roundRect">
            <a:avLst>
              <a:gd name="adj" fmla="val 12903"/>
            </a:avLst>
          </a:prstGeom>
          <a:solidFill>
            <a:srgbClr val="1C3270"/>
          </a:solidFill>
          <a:ln w="19050">
            <a:solidFill>
              <a:srgbClr val="C9A227"/>
            </a:solidFill>
            <a:prstDash val="solid"/>
          </a:ln>
        </p:spPr>
        <p:txBody>
          <a:bodyPr/>
          <a:lstStyle/>
          <a:p>
            <a:endParaRPr lang="es-CO" noProof="0" dirty="0"/>
          </a:p>
        </p:txBody>
      </p:sp>
      <p:sp>
        <p:nvSpPr>
          <p:cNvPr id="17" name="Text 13"/>
          <p:cNvSpPr/>
          <p:nvPr/>
        </p:nvSpPr>
        <p:spPr>
          <a:xfrm>
            <a:off x="5385816" y="1298448"/>
            <a:ext cx="1508760" cy="566928"/>
          </a:xfrm>
          <a:prstGeom prst="rect">
            <a:avLst/>
          </a:prstGeom>
          <a:noFill/>
          <a:ln/>
        </p:spPr>
        <p:txBody>
          <a:bodyPr wrap="square" rtlCol="0" anchor="ctr"/>
          <a:lstStyle/>
          <a:p>
            <a:pPr marL="0" indent="0" algn="ctr">
              <a:buNone/>
            </a:pPr>
            <a:r>
              <a:rPr lang="es-CO" sz="1100" b="1" noProof="0" dirty="0" err="1">
                <a:solidFill>
                  <a:srgbClr val="FFFFFF"/>
                </a:solidFill>
              </a:rPr>
              <a:t>MPS.Br</a:t>
            </a:r>
            <a:endParaRPr lang="es-CO" sz="1100" noProof="0" dirty="0"/>
          </a:p>
        </p:txBody>
      </p:sp>
      <p:sp>
        <p:nvSpPr>
          <p:cNvPr id="18" name="Shape 14"/>
          <p:cNvSpPr/>
          <p:nvPr/>
        </p:nvSpPr>
        <p:spPr>
          <a:xfrm>
            <a:off x="7059168" y="1298448"/>
            <a:ext cx="1508760" cy="566928"/>
          </a:xfrm>
          <a:prstGeom prst="roundRect">
            <a:avLst>
              <a:gd name="adj" fmla="val 12903"/>
            </a:avLst>
          </a:prstGeom>
          <a:solidFill>
            <a:srgbClr val="1C3270"/>
          </a:solidFill>
          <a:ln w="19050">
            <a:solidFill>
              <a:srgbClr val="C9A227"/>
            </a:solidFill>
            <a:prstDash val="solid"/>
          </a:ln>
        </p:spPr>
        <p:txBody>
          <a:bodyPr/>
          <a:lstStyle/>
          <a:p>
            <a:endParaRPr lang="es-CO" noProof="0" dirty="0"/>
          </a:p>
        </p:txBody>
      </p:sp>
      <p:sp>
        <p:nvSpPr>
          <p:cNvPr id="19" name="Text 15"/>
          <p:cNvSpPr/>
          <p:nvPr/>
        </p:nvSpPr>
        <p:spPr>
          <a:xfrm>
            <a:off x="7059168" y="1298448"/>
            <a:ext cx="1508760" cy="566928"/>
          </a:xfrm>
          <a:prstGeom prst="rect">
            <a:avLst/>
          </a:prstGeom>
          <a:noFill/>
          <a:ln/>
        </p:spPr>
        <p:txBody>
          <a:bodyPr wrap="square" rtlCol="0" anchor="ctr"/>
          <a:lstStyle/>
          <a:p>
            <a:pPr marL="0" indent="0" algn="ctr">
              <a:buNone/>
            </a:pPr>
            <a:r>
              <a:rPr lang="es-CO" sz="1100" b="1" noProof="0" dirty="0">
                <a:solidFill>
                  <a:srgbClr val="FFFFFF"/>
                </a:solidFill>
              </a:rPr>
              <a:t>IT Mark</a:t>
            </a:r>
            <a:endParaRPr lang="es-CO" sz="1100" noProof="0" dirty="0"/>
          </a:p>
        </p:txBody>
      </p:sp>
      <p:sp>
        <p:nvSpPr>
          <p:cNvPr id="20" name="Shape 16"/>
          <p:cNvSpPr/>
          <p:nvPr/>
        </p:nvSpPr>
        <p:spPr>
          <a:xfrm>
            <a:off x="320040" y="1993392"/>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21" name="Text 17"/>
          <p:cNvSpPr/>
          <p:nvPr/>
        </p:nvSpPr>
        <p:spPr>
          <a:xfrm>
            <a:off x="502920" y="1993392"/>
            <a:ext cx="8321040" cy="256032"/>
          </a:xfrm>
          <a:prstGeom prst="rect">
            <a:avLst/>
          </a:prstGeom>
          <a:noFill/>
          <a:ln/>
        </p:spPr>
        <p:txBody>
          <a:bodyPr wrap="square" rtlCol="0" anchor="ctr"/>
          <a:lstStyle/>
          <a:p>
            <a:pPr marL="0" indent="0">
              <a:buNone/>
            </a:pPr>
            <a:r>
              <a:rPr lang="es-CO" sz="1100" b="1" noProof="0" dirty="0">
                <a:solidFill>
                  <a:srgbClr val="0D1F4E"/>
                </a:solidFill>
              </a:rPr>
              <a:t>Importancia de elegir bien:</a:t>
            </a:r>
            <a:endParaRPr lang="es-CO" sz="1100" noProof="0" dirty="0"/>
          </a:p>
        </p:txBody>
      </p:sp>
      <p:sp>
        <p:nvSpPr>
          <p:cNvPr id="22" name="Text 18"/>
          <p:cNvSpPr/>
          <p:nvPr/>
        </p:nvSpPr>
        <p:spPr>
          <a:xfrm>
            <a:off x="502920" y="2267712"/>
            <a:ext cx="8321040" cy="292608"/>
          </a:xfrm>
          <a:prstGeom prst="rect">
            <a:avLst/>
          </a:prstGeom>
          <a:noFill/>
          <a:ln/>
        </p:spPr>
        <p:txBody>
          <a:bodyPr wrap="square" rtlCol="0" anchor="ctr"/>
          <a:lstStyle/>
          <a:p>
            <a:pPr marL="0" indent="0">
              <a:buNone/>
            </a:pPr>
            <a:r>
              <a:rPr lang="es-CO" sz="950" noProof="0" dirty="0">
                <a:solidFill>
                  <a:srgbClr val="34495E"/>
                </a:solidFill>
              </a:rPr>
              <a:t>La elección del modelo SPI es de vital importancia. Un modelo inadecuado puede convertirse en un problema en lugar de una alternativa para mejorar (Merchán Paredes et al., 2017).</a:t>
            </a:r>
            <a:endParaRPr lang="es-CO" sz="950" noProof="0" dirty="0"/>
          </a:p>
        </p:txBody>
      </p:sp>
      <p:sp>
        <p:nvSpPr>
          <p:cNvPr id="23" name="Shape 19"/>
          <p:cNvSpPr/>
          <p:nvPr/>
        </p:nvSpPr>
        <p:spPr>
          <a:xfrm>
            <a:off x="320040" y="2651760"/>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24" name="Text 20"/>
          <p:cNvSpPr/>
          <p:nvPr/>
        </p:nvSpPr>
        <p:spPr>
          <a:xfrm>
            <a:off x="502920" y="2651760"/>
            <a:ext cx="8321040" cy="256032"/>
          </a:xfrm>
          <a:prstGeom prst="rect">
            <a:avLst/>
          </a:prstGeom>
          <a:noFill/>
          <a:ln/>
        </p:spPr>
        <p:txBody>
          <a:bodyPr wrap="square" rtlCol="0" anchor="ctr"/>
          <a:lstStyle/>
          <a:p>
            <a:pPr marL="0" indent="0">
              <a:buNone/>
            </a:pPr>
            <a:r>
              <a:rPr lang="es-CO" sz="1100" b="1" noProof="0" dirty="0">
                <a:solidFill>
                  <a:srgbClr val="0D1F4E"/>
                </a:solidFill>
              </a:rPr>
              <a:t>Requisitos como insumo clave:</a:t>
            </a:r>
            <a:endParaRPr lang="es-CO" sz="1100" noProof="0" dirty="0"/>
          </a:p>
        </p:txBody>
      </p:sp>
      <p:sp>
        <p:nvSpPr>
          <p:cNvPr id="25" name="Text 21"/>
          <p:cNvSpPr/>
          <p:nvPr/>
        </p:nvSpPr>
        <p:spPr>
          <a:xfrm>
            <a:off x="502920" y="2926080"/>
            <a:ext cx="8321040" cy="292608"/>
          </a:xfrm>
          <a:prstGeom prst="rect">
            <a:avLst/>
          </a:prstGeom>
          <a:noFill/>
          <a:ln/>
        </p:spPr>
        <p:txBody>
          <a:bodyPr wrap="square" rtlCol="0" anchor="ctr"/>
          <a:lstStyle/>
          <a:p>
            <a:pPr marL="0" indent="0">
              <a:buNone/>
            </a:pPr>
            <a:r>
              <a:rPr lang="es-CO" sz="950" noProof="0" dirty="0">
                <a:solidFill>
                  <a:srgbClr val="34495E"/>
                </a:solidFill>
              </a:rPr>
              <a:t>Todos los modelos SPI —independientemente de su enfoque— exigen gestión formal de requisitos como condición base para mejorar los procesos.</a:t>
            </a:r>
            <a:endParaRPr lang="es-CO" sz="950" noProof="0" dirty="0"/>
          </a:p>
        </p:txBody>
      </p:sp>
      <p:sp>
        <p:nvSpPr>
          <p:cNvPr id="26" name="Shape 22"/>
          <p:cNvSpPr/>
          <p:nvPr/>
        </p:nvSpPr>
        <p:spPr>
          <a:xfrm>
            <a:off x="320040" y="3310128"/>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27" name="Text 23"/>
          <p:cNvSpPr/>
          <p:nvPr/>
        </p:nvSpPr>
        <p:spPr>
          <a:xfrm>
            <a:off x="502920" y="3310128"/>
            <a:ext cx="8321040" cy="256032"/>
          </a:xfrm>
          <a:prstGeom prst="rect">
            <a:avLst/>
          </a:prstGeom>
          <a:noFill/>
          <a:ln/>
        </p:spPr>
        <p:txBody>
          <a:bodyPr wrap="square" rtlCol="0" anchor="ctr"/>
          <a:lstStyle/>
          <a:p>
            <a:pPr marL="0" indent="0">
              <a:buNone/>
            </a:pPr>
            <a:r>
              <a:rPr lang="es-CO" sz="1100" b="1" noProof="0" dirty="0">
                <a:solidFill>
                  <a:srgbClr val="0D1F4E"/>
                </a:solidFill>
              </a:rPr>
              <a:t>Capacidad transversal:</a:t>
            </a:r>
            <a:endParaRPr lang="es-CO" sz="1100" noProof="0" dirty="0"/>
          </a:p>
        </p:txBody>
      </p:sp>
      <p:sp>
        <p:nvSpPr>
          <p:cNvPr id="28" name="Text 24"/>
          <p:cNvSpPr/>
          <p:nvPr/>
        </p:nvSpPr>
        <p:spPr>
          <a:xfrm>
            <a:off x="502920" y="3584448"/>
            <a:ext cx="8321040" cy="292608"/>
          </a:xfrm>
          <a:prstGeom prst="rect">
            <a:avLst/>
          </a:prstGeom>
          <a:noFill/>
          <a:ln/>
        </p:spPr>
        <p:txBody>
          <a:bodyPr wrap="square" rtlCol="0" anchor="ctr"/>
          <a:lstStyle/>
          <a:p>
            <a:pPr marL="0" indent="0">
              <a:buNone/>
            </a:pPr>
            <a:r>
              <a:rPr lang="es-CO" sz="950" noProof="0" dirty="0">
                <a:solidFill>
                  <a:srgbClr val="34495E"/>
                </a:solidFill>
              </a:rPr>
              <a:t>Especificar y gestionar requisitos de forma disciplinada es un requisito transversal a cualquier modelo SPI que se adopte en la organización.</a:t>
            </a:r>
            <a:endParaRPr lang="es-CO" sz="950" noProof="0" dirty="0"/>
          </a:p>
        </p:txBody>
      </p:sp>
      <p:sp>
        <p:nvSpPr>
          <p:cNvPr id="29" name="Shape 25"/>
          <p:cNvSpPr/>
          <p:nvPr/>
        </p:nvSpPr>
        <p:spPr>
          <a:xfrm>
            <a:off x="320040" y="3968496"/>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30" name="Text 26"/>
          <p:cNvSpPr/>
          <p:nvPr/>
        </p:nvSpPr>
        <p:spPr>
          <a:xfrm>
            <a:off x="502920" y="3968496"/>
            <a:ext cx="8321040" cy="256032"/>
          </a:xfrm>
          <a:prstGeom prst="rect">
            <a:avLst/>
          </a:prstGeom>
          <a:noFill/>
          <a:ln/>
        </p:spPr>
        <p:txBody>
          <a:bodyPr wrap="square" rtlCol="0" anchor="ctr"/>
          <a:lstStyle/>
          <a:p>
            <a:pPr marL="0" indent="0">
              <a:buNone/>
            </a:pPr>
            <a:r>
              <a:rPr lang="es-CO" sz="1100" b="1" noProof="0" dirty="0">
                <a:solidFill>
                  <a:srgbClr val="0D1F4E"/>
                </a:solidFill>
              </a:rPr>
              <a:t>Riesgo de mala elección:</a:t>
            </a:r>
            <a:endParaRPr lang="es-CO" sz="1100" noProof="0" dirty="0"/>
          </a:p>
        </p:txBody>
      </p:sp>
      <p:sp>
        <p:nvSpPr>
          <p:cNvPr id="31" name="Text 27"/>
          <p:cNvSpPr/>
          <p:nvPr/>
        </p:nvSpPr>
        <p:spPr>
          <a:xfrm>
            <a:off x="502920" y="4242816"/>
            <a:ext cx="8321040" cy="292608"/>
          </a:xfrm>
          <a:prstGeom prst="rect">
            <a:avLst/>
          </a:prstGeom>
          <a:noFill/>
          <a:ln/>
        </p:spPr>
        <p:txBody>
          <a:bodyPr wrap="square" rtlCol="0" anchor="ctr"/>
          <a:lstStyle/>
          <a:p>
            <a:pPr marL="0" indent="0">
              <a:buNone/>
            </a:pPr>
            <a:r>
              <a:rPr lang="es-CO" sz="950" noProof="0" dirty="0">
                <a:solidFill>
                  <a:srgbClr val="34495E"/>
                </a:solidFill>
              </a:rPr>
              <a:t>Seleccionar un modelo SPI sin considerar el tamaño, recursos y madurez de la empresa puede obstaculizar la mejora y desmotivar al equipo.</a:t>
            </a:r>
            <a:endParaRPr lang="es-CO" sz="95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Modelo procedimental de requisitos: visión general</a:t>
            </a:r>
            <a:endParaRPr lang="es-CO" sz="1800" noProof="0" dirty="0"/>
          </a:p>
        </p:txBody>
      </p:sp>
      <p:sp>
        <p:nvSpPr>
          <p:cNvPr id="10" name="Shape 6"/>
          <p:cNvSpPr/>
          <p:nvPr/>
        </p:nvSpPr>
        <p:spPr>
          <a:xfrm>
            <a:off x="365760" y="1298448"/>
            <a:ext cx="1920240" cy="777240"/>
          </a:xfrm>
          <a:prstGeom prst="rect">
            <a:avLst/>
          </a:prstGeom>
          <a:solidFill>
            <a:srgbClr val="0D1F4E"/>
          </a:solidFill>
          <a:ln w="12700">
            <a:solidFill>
              <a:srgbClr val="0D1F4E"/>
            </a:solidFill>
            <a:prstDash val="solid"/>
          </a:ln>
        </p:spPr>
        <p:txBody>
          <a:bodyPr/>
          <a:lstStyle/>
          <a:p>
            <a:endParaRPr lang="es-CO" noProof="0" dirty="0"/>
          </a:p>
        </p:txBody>
      </p:sp>
      <p:sp>
        <p:nvSpPr>
          <p:cNvPr id="11" name="Shape 7"/>
          <p:cNvSpPr/>
          <p:nvPr/>
        </p:nvSpPr>
        <p:spPr>
          <a:xfrm>
            <a:off x="1078992" y="1188720"/>
            <a:ext cx="502920" cy="502920"/>
          </a:xfrm>
          <a:prstGeom prst="ellipse">
            <a:avLst/>
          </a:prstGeom>
          <a:solidFill>
            <a:srgbClr val="C9A227"/>
          </a:solidFill>
          <a:ln w="12700">
            <a:solidFill>
              <a:srgbClr val="B8860B"/>
            </a:solidFill>
            <a:prstDash val="solid"/>
          </a:ln>
        </p:spPr>
        <p:txBody>
          <a:bodyPr/>
          <a:lstStyle/>
          <a:p>
            <a:endParaRPr lang="es-CO" noProof="0" dirty="0"/>
          </a:p>
        </p:txBody>
      </p:sp>
      <p:sp>
        <p:nvSpPr>
          <p:cNvPr id="12" name="Text 8"/>
          <p:cNvSpPr/>
          <p:nvPr/>
        </p:nvSpPr>
        <p:spPr>
          <a:xfrm>
            <a:off x="1078992" y="1188720"/>
            <a:ext cx="502920" cy="502920"/>
          </a:xfrm>
          <a:prstGeom prst="rect">
            <a:avLst/>
          </a:prstGeom>
          <a:noFill/>
          <a:ln/>
        </p:spPr>
        <p:txBody>
          <a:bodyPr wrap="square" rtlCol="0" anchor="ctr"/>
          <a:lstStyle/>
          <a:p>
            <a:pPr marL="0" indent="0" algn="ctr">
              <a:buNone/>
            </a:pPr>
            <a:r>
              <a:rPr lang="es-CO" sz="1400" b="1" noProof="0" dirty="0">
                <a:solidFill>
                  <a:srgbClr val="061237"/>
                </a:solidFill>
              </a:rPr>
              <a:t>1</a:t>
            </a:r>
            <a:endParaRPr lang="es-CO" sz="1400" noProof="0" dirty="0"/>
          </a:p>
        </p:txBody>
      </p:sp>
      <p:sp>
        <p:nvSpPr>
          <p:cNvPr id="13" name="Text 9"/>
          <p:cNvSpPr/>
          <p:nvPr/>
        </p:nvSpPr>
        <p:spPr>
          <a:xfrm>
            <a:off x="365760" y="1298448"/>
            <a:ext cx="1920240" cy="777240"/>
          </a:xfrm>
          <a:prstGeom prst="rect">
            <a:avLst/>
          </a:prstGeom>
          <a:noFill/>
          <a:ln/>
        </p:spPr>
        <p:txBody>
          <a:bodyPr wrap="square" rtlCol="0" anchor="ctr"/>
          <a:lstStyle/>
          <a:p>
            <a:pPr marL="0" indent="0" algn="ctr">
              <a:buNone/>
            </a:pPr>
            <a:r>
              <a:rPr lang="es-CO" sz="1100" b="1" noProof="0" dirty="0">
                <a:solidFill>
                  <a:srgbClr val="FFFFFF"/>
                </a:solidFill>
              </a:rPr>
              <a:t>Contexto</a:t>
            </a:r>
            <a:endParaRPr lang="es-CO" sz="1100" noProof="0" dirty="0"/>
          </a:p>
          <a:p>
            <a:pPr marL="0" indent="0" algn="ctr">
              <a:buNone/>
            </a:pPr>
            <a:r>
              <a:rPr lang="es-CO" sz="1100" b="1" noProof="0" dirty="0">
                <a:solidFill>
                  <a:srgbClr val="FFFFFF"/>
                </a:solidFill>
              </a:rPr>
              <a:t>y </a:t>
            </a:r>
            <a:r>
              <a:rPr lang="es-CO" sz="1100" b="1" noProof="0" dirty="0" err="1">
                <a:solidFill>
                  <a:srgbClr val="FFFFFF"/>
                </a:solidFill>
              </a:rPr>
              <a:t>Stakeholders</a:t>
            </a:r>
            <a:endParaRPr lang="es-CO" sz="1100" noProof="0" dirty="0"/>
          </a:p>
        </p:txBody>
      </p:sp>
      <p:sp>
        <p:nvSpPr>
          <p:cNvPr id="14" name="Text 10"/>
          <p:cNvSpPr/>
          <p:nvPr/>
        </p:nvSpPr>
        <p:spPr>
          <a:xfrm>
            <a:off x="2286000" y="146304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15" name="Shape 11"/>
          <p:cNvSpPr/>
          <p:nvPr/>
        </p:nvSpPr>
        <p:spPr>
          <a:xfrm>
            <a:off x="2514600" y="1298448"/>
            <a:ext cx="1920240" cy="777240"/>
          </a:xfrm>
          <a:prstGeom prst="rect">
            <a:avLst/>
          </a:prstGeom>
          <a:solidFill>
            <a:srgbClr val="1C3270"/>
          </a:solidFill>
          <a:ln w="12700">
            <a:solidFill>
              <a:srgbClr val="1C3270"/>
            </a:solidFill>
            <a:prstDash val="solid"/>
          </a:ln>
        </p:spPr>
        <p:txBody>
          <a:bodyPr/>
          <a:lstStyle/>
          <a:p>
            <a:endParaRPr lang="es-CO" noProof="0" dirty="0"/>
          </a:p>
        </p:txBody>
      </p:sp>
      <p:sp>
        <p:nvSpPr>
          <p:cNvPr id="16" name="Shape 12"/>
          <p:cNvSpPr/>
          <p:nvPr/>
        </p:nvSpPr>
        <p:spPr>
          <a:xfrm>
            <a:off x="3227832" y="1188720"/>
            <a:ext cx="502920" cy="502920"/>
          </a:xfrm>
          <a:prstGeom prst="ellipse">
            <a:avLst/>
          </a:prstGeom>
          <a:solidFill>
            <a:srgbClr val="C9A227"/>
          </a:solidFill>
          <a:ln w="12700">
            <a:solidFill>
              <a:srgbClr val="B8860B"/>
            </a:solidFill>
            <a:prstDash val="solid"/>
          </a:ln>
        </p:spPr>
        <p:txBody>
          <a:bodyPr/>
          <a:lstStyle/>
          <a:p>
            <a:endParaRPr lang="es-CO" noProof="0" dirty="0"/>
          </a:p>
        </p:txBody>
      </p:sp>
      <p:sp>
        <p:nvSpPr>
          <p:cNvPr id="17" name="Text 13"/>
          <p:cNvSpPr/>
          <p:nvPr/>
        </p:nvSpPr>
        <p:spPr>
          <a:xfrm>
            <a:off x="3227832" y="1188720"/>
            <a:ext cx="502920" cy="502920"/>
          </a:xfrm>
          <a:prstGeom prst="rect">
            <a:avLst/>
          </a:prstGeom>
          <a:noFill/>
          <a:ln/>
        </p:spPr>
        <p:txBody>
          <a:bodyPr wrap="square" rtlCol="0" anchor="ctr"/>
          <a:lstStyle/>
          <a:p>
            <a:pPr marL="0" indent="0" algn="ctr">
              <a:buNone/>
            </a:pPr>
            <a:r>
              <a:rPr lang="es-CO" sz="1400" b="1" noProof="0" dirty="0">
                <a:solidFill>
                  <a:srgbClr val="061237"/>
                </a:solidFill>
              </a:rPr>
              <a:t>2</a:t>
            </a:r>
            <a:endParaRPr lang="es-CO" sz="1400" noProof="0" dirty="0"/>
          </a:p>
        </p:txBody>
      </p:sp>
      <p:sp>
        <p:nvSpPr>
          <p:cNvPr id="18" name="Text 14"/>
          <p:cNvSpPr/>
          <p:nvPr/>
        </p:nvSpPr>
        <p:spPr>
          <a:xfrm>
            <a:off x="2514600" y="1298448"/>
            <a:ext cx="1920240" cy="777240"/>
          </a:xfrm>
          <a:prstGeom prst="rect">
            <a:avLst/>
          </a:prstGeom>
          <a:noFill/>
          <a:ln/>
        </p:spPr>
        <p:txBody>
          <a:bodyPr wrap="square" rtlCol="0" anchor="ctr"/>
          <a:lstStyle/>
          <a:p>
            <a:pPr marL="0" indent="0" algn="ctr">
              <a:buNone/>
            </a:pPr>
            <a:r>
              <a:rPr lang="es-CO" sz="1100" b="1" noProof="0" dirty="0">
                <a:solidFill>
                  <a:srgbClr val="FFFFFF"/>
                </a:solidFill>
              </a:rPr>
              <a:t>Educción</a:t>
            </a:r>
            <a:endParaRPr lang="es-CO" sz="1100" noProof="0" dirty="0"/>
          </a:p>
        </p:txBody>
      </p:sp>
      <p:sp>
        <p:nvSpPr>
          <p:cNvPr id="19" name="Text 15"/>
          <p:cNvSpPr/>
          <p:nvPr/>
        </p:nvSpPr>
        <p:spPr>
          <a:xfrm>
            <a:off x="4434840" y="146304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20" name="Shape 16"/>
          <p:cNvSpPr/>
          <p:nvPr/>
        </p:nvSpPr>
        <p:spPr>
          <a:xfrm>
            <a:off x="4663440" y="1298448"/>
            <a:ext cx="1920240" cy="777240"/>
          </a:xfrm>
          <a:prstGeom prst="rect">
            <a:avLst/>
          </a:prstGeom>
          <a:solidFill>
            <a:srgbClr val="1A5E8F"/>
          </a:solidFill>
          <a:ln w="12700">
            <a:solidFill>
              <a:srgbClr val="1A5E8F"/>
            </a:solidFill>
            <a:prstDash val="solid"/>
          </a:ln>
        </p:spPr>
        <p:txBody>
          <a:bodyPr/>
          <a:lstStyle/>
          <a:p>
            <a:endParaRPr lang="es-CO" noProof="0" dirty="0"/>
          </a:p>
        </p:txBody>
      </p:sp>
      <p:sp>
        <p:nvSpPr>
          <p:cNvPr id="21" name="Shape 17"/>
          <p:cNvSpPr/>
          <p:nvPr/>
        </p:nvSpPr>
        <p:spPr>
          <a:xfrm>
            <a:off x="5376672" y="1188720"/>
            <a:ext cx="502920" cy="502920"/>
          </a:xfrm>
          <a:prstGeom prst="ellipse">
            <a:avLst/>
          </a:prstGeom>
          <a:solidFill>
            <a:srgbClr val="C9A227"/>
          </a:solidFill>
          <a:ln w="12700">
            <a:solidFill>
              <a:srgbClr val="B8860B"/>
            </a:solidFill>
            <a:prstDash val="solid"/>
          </a:ln>
        </p:spPr>
        <p:txBody>
          <a:bodyPr/>
          <a:lstStyle/>
          <a:p>
            <a:endParaRPr lang="es-CO" noProof="0" dirty="0"/>
          </a:p>
        </p:txBody>
      </p:sp>
      <p:sp>
        <p:nvSpPr>
          <p:cNvPr id="22" name="Text 18"/>
          <p:cNvSpPr/>
          <p:nvPr/>
        </p:nvSpPr>
        <p:spPr>
          <a:xfrm>
            <a:off x="5376672" y="1188720"/>
            <a:ext cx="502920" cy="502920"/>
          </a:xfrm>
          <a:prstGeom prst="rect">
            <a:avLst/>
          </a:prstGeom>
          <a:noFill/>
          <a:ln/>
        </p:spPr>
        <p:txBody>
          <a:bodyPr wrap="square" rtlCol="0" anchor="ctr"/>
          <a:lstStyle/>
          <a:p>
            <a:pPr marL="0" indent="0" algn="ctr">
              <a:buNone/>
            </a:pPr>
            <a:r>
              <a:rPr lang="es-CO" sz="1400" b="1" noProof="0" dirty="0">
                <a:solidFill>
                  <a:srgbClr val="061237"/>
                </a:solidFill>
              </a:rPr>
              <a:t>3</a:t>
            </a:r>
            <a:endParaRPr lang="es-CO" sz="1400" noProof="0" dirty="0"/>
          </a:p>
        </p:txBody>
      </p:sp>
      <p:sp>
        <p:nvSpPr>
          <p:cNvPr id="23" name="Text 19"/>
          <p:cNvSpPr/>
          <p:nvPr/>
        </p:nvSpPr>
        <p:spPr>
          <a:xfrm>
            <a:off x="4663440" y="1298448"/>
            <a:ext cx="1920240" cy="777240"/>
          </a:xfrm>
          <a:prstGeom prst="rect">
            <a:avLst/>
          </a:prstGeom>
          <a:noFill/>
          <a:ln/>
        </p:spPr>
        <p:txBody>
          <a:bodyPr wrap="square" rtlCol="0" anchor="ctr"/>
          <a:lstStyle/>
          <a:p>
            <a:pPr marL="0" indent="0" algn="ctr">
              <a:buNone/>
            </a:pPr>
            <a:r>
              <a:rPr lang="es-CO" sz="1100" b="1" noProof="0" dirty="0">
                <a:solidFill>
                  <a:srgbClr val="FFFFFF"/>
                </a:solidFill>
              </a:rPr>
              <a:t>Elicitación</a:t>
            </a:r>
            <a:endParaRPr lang="es-CO" sz="1100" noProof="0" dirty="0"/>
          </a:p>
        </p:txBody>
      </p:sp>
      <p:sp>
        <p:nvSpPr>
          <p:cNvPr id="24" name="Text 20"/>
          <p:cNvSpPr/>
          <p:nvPr/>
        </p:nvSpPr>
        <p:spPr>
          <a:xfrm>
            <a:off x="6583680" y="1463040"/>
            <a:ext cx="228600" cy="457200"/>
          </a:xfrm>
          <a:prstGeom prst="rect">
            <a:avLst/>
          </a:prstGeom>
          <a:noFill/>
          <a:ln/>
        </p:spPr>
        <p:txBody>
          <a:bodyPr wrap="square" rtlCol="0" anchor="ctr"/>
          <a:lstStyle/>
          <a:p>
            <a:pPr marL="0" indent="0" algn="ctr">
              <a:buNone/>
            </a:pPr>
            <a:r>
              <a:rPr lang="es-CO" sz="1800" b="1" noProof="0" dirty="0">
                <a:solidFill>
                  <a:srgbClr val="C9A227"/>
                </a:solidFill>
              </a:rPr>
              <a:t>→</a:t>
            </a:r>
            <a:endParaRPr lang="es-CO" sz="1800" noProof="0" dirty="0"/>
          </a:p>
        </p:txBody>
      </p:sp>
      <p:sp>
        <p:nvSpPr>
          <p:cNvPr id="25" name="Shape 21"/>
          <p:cNvSpPr/>
          <p:nvPr/>
        </p:nvSpPr>
        <p:spPr>
          <a:xfrm>
            <a:off x="6812280" y="1298448"/>
            <a:ext cx="1920240" cy="777240"/>
          </a:xfrm>
          <a:prstGeom prst="rect">
            <a:avLst/>
          </a:prstGeom>
          <a:solidFill>
            <a:srgbClr val="1A6B54"/>
          </a:solidFill>
          <a:ln w="12700">
            <a:solidFill>
              <a:srgbClr val="1A6B54"/>
            </a:solidFill>
            <a:prstDash val="solid"/>
          </a:ln>
        </p:spPr>
        <p:txBody>
          <a:bodyPr/>
          <a:lstStyle/>
          <a:p>
            <a:endParaRPr lang="es-CO" noProof="0" dirty="0"/>
          </a:p>
        </p:txBody>
      </p:sp>
      <p:sp>
        <p:nvSpPr>
          <p:cNvPr id="26" name="Shape 22"/>
          <p:cNvSpPr/>
          <p:nvPr/>
        </p:nvSpPr>
        <p:spPr>
          <a:xfrm>
            <a:off x="7525512" y="1188720"/>
            <a:ext cx="502920" cy="502920"/>
          </a:xfrm>
          <a:prstGeom prst="ellipse">
            <a:avLst/>
          </a:prstGeom>
          <a:solidFill>
            <a:srgbClr val="C9A227"/>
          </a:solidFill>
          <a:ln w="12700">
            <a:solidFill>
              <a:srgbClr val="B8860B"/>
            </a:solidFill>
            <a:prstDash val="solid"/>
          </a:ln>
        </p:spPr>
        <p:txBody>
          <a:bodyPr/>
          <a:lstStyle/>
          <a:p>
            <a:endParaRPr lang="es-CO" noProof="0" dirty="0"/>
          </a:p>
        </p:txBody>
      </p:sp>
      <p:sp>
        <p:nvSpPr>
          <p:cNvPr id="27" name="Text 23"/>
          <p:cNvSpPr/>
          <p:nvPr/>
        </p:nvSpPr>
        <p:spPr>
          <a:xfrm>
            <a:off x="7525512" y="1188720"/>
            <a:ext cx="502920" cy="502920"/>
          </a:xfrm>
          <a:prstGeom prst="rect">
            <a:avLst/>
          </a:prstGeom>
          <a:noFill/>
          <a:ln/>
        </p:spPr>
        <p:txBody>
          <a:bodyPr wrap="square" rtlCol="0" anchor="ctr"/>
          <a:lstStyle/>
          <a:p>
            <a:pPr marL="0" indent="0" algn="ctr">
              <a:buNone/>
            </a:pPr>
            <a:r>
              <a:rPr lang="es-CO" sz="1400" b="1" noProof="0" dirty="0">
                <a:solidFill>
                  <a:srgbClr val="061237"/>
                </a:solidFill>
              </a:rPr>
              <a:t>4</a:t>
            </a:r>
            <a:endParaRPr lang="es-CO" sz="1400" noProof="0" dirty="0"/>
          </a:p>
        </p:txBody>
      </p:sp>
      <p:sp>
        <p:nvSpPr>
          <p:cNvPr id="28" name="Text 24"/>
          <p:cNvSpPr/>
          <p:nvPr/>
        </p:nvSpPr>
        <p:spPr>
          <a:xfrm>
            <a:off x="6812280" y="1298448"/>
            <a:ext cx="1920240" cy="777240"/>
          </a:xfrm>
          <a:prstGeom prst="rect">
            <a:avLst/>
          </a:prstGeom>
          <a:noFill/>
          <a:ln/>
        </p:spPr>
        <p:txBody>
          <a:bodyPr wrap="square" rtlCol="0" anchor="ctr"/>
          <a:lstStyle/>
          <a:p>
            <a:pPr marL="0" indent="0" algn="ctr">
              <a:buNone/>
            </a:pPr>
            <a:r>
              <a:rPr lang="es-CO" sz="1100" b="1" noProof="0" dirty="0">
                <a:solidFill>
                  <a:srgbClr val="FFFFFF"/>
                </a:solidFill>
              </a:rPr>
              <a:t>Especificación</a:t>
            </a:r>
            <a:endParaRPr lang="es-CO" sz="1100" noProof="0" dirty="0"/>
          </a:p>
        </p:txBody>
      </p:sp>
      <p:sp>
        <p:nvSpPr>
          <p:cNvPr id="29" name="Shape 25"/>
          <p:cNvSpPr/>
          <p:nvPr/>
        </p:nvSpPr>
        <p:spPr>
          <a:xfrm>
            <a:off x="320040" y="2267712"/>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30" name="Text 26"/>
          <p:cNvSpPr/>
          <p:nvPr/>
        </p:nvSpPr>
        <p:spPr>
          <a:xfrm>
            <a:off x="502920" y="2267712"/>
            <a:ext cx="8321040" cy="256032"/>
          </a:xfrm>
          <a:prstGeom prst="rect">
            <a:avLst/>
          </a:prstGeom>
          <a:noFill/>
          <a:ln/>
        </p:spPr>
        <p:txBody>
          <a:bodyPr wrap="square" rtlCol="0" anchor="ctr"/>
          <a:lstStyle/>
          <a:p>
            <a:pPr marL="0" indent="0">
              <a:buNone/>
            </a:pPr>
            <a:r>
              <a:rPr lang="es-CO" sz="1100" b="1" noProof="0" dirty="0">
                <a:solidFill>
                  <a:srgbClr val="0D1F4E"/>
                </a:solidFill>
              </a:rPr>
              <a:t>Fase previa:</a:t>
            </a:r>
            <a:endParaRPr lang="es-CO" sz="1100" noProof="0" dirty="0"/>
          </a:p>
        </p:txBody>
      </p:sp>
      <p:sp>
        <p:nvSpPr>
          <p:cNvPr id="31" name="Text 27"/>
          <p:cNvSpPr/>
          <p:nvPr/>
        </p:nvSpPr>
        <p:spPr>
          <a:xfrm>
            <a:off x="502920" y="2542032"/>
            <a:ext cx="8321040" cy="292608"/>
          </a:xfrm>
          <a:prstGeom prst="rect">
            <a:avLst/>
          </a:prstGeom>
          <a:noFill/>
          <a:ln/>
        </p:spPr>
        <p:txBody>
          <a:bodyPr wrap="square" rtlCol="0" anchor="ctr"/>
          <a:lstStyle/>
          <a:p>
            <a:pPr marL="0" indent="0">
              <a:buNone/>
            </a:pPr>
            <a:r>
              <a:rPr lang="es-CO" sz="950" noProof="0" dirty="0">
                <a:solidFill>
                  <a:srgbClr val="34495E"/>
                </a:solidFill>
              </a:rPr>
              <a:t>Definición del contexto de uso y de los </a:t>
            </a:r>
            <a:r>
              <a:rPr lang="es-CO" sz="950" noProof="0" dirty="0" err="1">
                <a:solidFill>
                  <a:srgbClr val="34495E"/>
                </a:solidFill>
              </a:rPr>
              <a:t>stakeholders</a:t>
            </a:r>
            <a:r>
              <a:rPr lang="es-CO" sz="950" noProof="0" dirty="0">
                <a:solidFill>
                  <a:srgbClr val="34495E"/>
                </a:solidFill>
              </a:rPr>
              <a:t> (tabla de escenarios, tabla de usuarios, acta de objetivos).</a:t>
            </a:r>
            <a:endParaRPr lang="es-CO" sz="950" noProof="0" dirty="0"/>
          </a:p>
        </p:txBody>
      </p:sp>
      <p:sp>
        <p:nvSpPr>
          <p:cNvPr id="32" name="Shape 28"/>
          <p:cNvSpPr/>
          <p:nvPr/>
        </p:nvSpPr>
        <p:spPr>
          <a:xfrm>
            <a:off x="320040" y="2926080"/>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33" name="Text 29"/>
          <p:cNvSpPr/>
          <p:nvPr/>
        </p:nvSpPr>
        <p:spPr>
          <a:xfrm>
            <a:off x="502920" y="2926080"/>
            <a:ext cx="8321040" cy="256032"/>
          </a:xfrm>
          <a:prstGeom prst="rect">
            <a:avLst/>
          </a:prstGeom>
          <a:noFill/>
          <a:ln/>
        </p:spPr>
        <p:txBody>
          <a:bodyPr wrap="square" rtlCol="0" anchor="ctr"/>
          <a:lstStyle/>
          <a:p>
            <a:pPr marL="0" indent="0">
              <a:buNone/>
            </a:pPr>
            <a:r>
              <a:rPr lang="es-CO" sz="1100" b="1" noProof="0" dirty="0">
                <a:solidFill>
                  <a:srgbClr val="0D1F4E"/>
                </a:solidFill>
              </a:rPr>
              <a:t>Enfoque secuencial:</a:t>
            </a:r>
            <a:endParaRPr lang="es-CO" sz="1100" noProof="0" dirty="0"/>
          </a:p>
        </p:txBody>
      </p:sp>
      <p:sp>
        <p:nvSpPr>
          <p:cNvPr id="34" name="Text 30"/>
          <p:cNvSpPr/>
          <p:nvPr/>
        </p:nvSpPr>
        <p:spPr>
          <a:xfrm>
            <a:off x="502920" y="3200400"/>
            <a:ext cx="8321040" cy="292608"/>
          </a:xfrm>
          <a:prstGeom prst="rect">
            <a:avLst/>
          </a:prstGeom>
          <a:noFill/>
          <a:ln/>
        </p:spPr>
        <p:txBody>
          <a:bodyPr wrap="square" rtlCol="0" anchor="ctr"/>
          <a:lstStyle/>
          <a:p>
            <a:pPr marL="0" indent="0">
              <a:buNone/>
            </a:pPr>
            <a:r>
              <a:rPr lang="es-CO" sz="950" noProof="0" dirty="0">
                <a:solidFill>
                  <a:srgbClr val="34495E"/>
                </a:solidFill>
              </a:rPr>
              <a:t>Construcción progresiva de instrumentos y artefactos: cuestionarios, matrices, actas de entrevista, fichas.</a:t>
            </a:r>
            <a:endParaRPr lang="es-CO" sz="950" noProof="0" dirty="0"/>
          </a:p>
        </p:txBody>
      </p:sp>
      <p:sp>
        <p:nvSpPr>
          <p:cNvPr id="35" name="Shape 31"/>
          <p:cNvSpPr/>
          <p:nvPr/>
        </p:nvSpPr>
        <p:spPr>
          <a:xfrm>
            <a:off x="320040" y="3584448"/>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36" name="Text 32"/>
          <p:cNvSpPr/>
          <p:nvPr/>
        </p:nvSpPr>
        <p:spPr>
          <a:xfrm>
            <a:off x="502920" y="3584448"/>
            <a:ext cx="8321040" cy="256032"/>
          </a:xfrm>
          <a:prstGeom prst="rect">
            <a:avLst/>
          </a:prstGeom>
          <a:noFill/>
          <a:ln/>
        </p:spPr>
        <p:txBody>
          <a:bodyPr wrap="square" rtlCol="0" anchor="ctr"/>
          <a:lstStyle/>
          <a:p>
            <a:pPr marL="0" indent="0">
              <a:buNone/>
            </a:pPr>
            <a:r>
              <a:rPr lang="es-CO" sz="1100" b="1" noProof="0" dirty="0">
                <a:solidFill>
                  <a:srgbClr val="0D1F4E"/>
                </a:solidFill>
              </a:rPr>
              <a:t>Tres etapas clave:</a:t>
            </a:r>
            <a:endParaRPr lang="es-CO" sz="1100" noProof="0" dirty="0"/>
          </a:p>
        </p:txBody>
      </p:sp>
      <p:sp>
        <p:nvSpPr>
          <p:cNvPr id="37" name="Text 33"/>
          <p:cNvSpPr/>
          <p:nvPr/>
        </p:nvSpPr>
        <p:spPr>
          <a:xfrm>
            <a:off x="502920" y="3858768"/>
            <a:ext cx="8321040" cy="292608"/>
          </a:xfrm>
          <a:prstGeom prst="rect">
            <a:avLst/>
          </a:prstGeom>
          <a:noFill/>
          <a:ln/>
        </p:spPr>
        <p:txBody>
          <a:bodyPr wrap="square" rtlCol="0" anchor="ctr"/>
          <a:lstStyle/>
          <a:p>
            <a:pPr marL="0" indent="0">
              <a:buNone/>
            </a:pPr>
            <a:r>
              <a:rPr lang="es-CO" sz="950" noProof="0" dirty="0">
                <a:solidFill>
                  <a:srgbClr val="34495E"/>
                </a:solidFill>
              </a:rPr>
              <a:t>Educción (contraste y entrevistas) → Elicitación (análisis y agrupación) → Especificación (catálogo y fichas).</a:t>
            </a:r>
            <a:endParaRPr lang="es-CO" sz="950" noProof="0" dirty="0"/>
          </a:p>
        </p:txBody>
      </p:sp>
      <p:sp>
        <p:nvSpPr>
          <p:cNvPr id="38" name="Shape 34"/>
          <p:cNvSpPr/>
          <p:nvPr/>
        </p:nvSpPr>
        <p:spPr>
          <a:xfrm>
            <a:off x="320040" y="4242816"/>
            <a:ext cx="54864" cy="566928"/>
          </a:xfrm>
          <a:prstGeom prst="rect">
            <a:avLst/>
          </a:prstGeom>
          <a:solidFill>
            <a:srgbClr val="C9A227"/>
          </a:solidFill>
          <a:ln w="12700">
            <a:solidFill>
              <a:srgbClr val="C9A227"/>
            </a:solidFill>
            <a:prstDash val="solid"/>
          </a:ln>
        </p:spPr>
        <p:txBody>
          <a:bodyPr/>
          <a:lstStyle/>
          <a:p>
            <a:endParaRPr lang="es-CO" noProof="0" dirty="0"/>
          </a:p>
        </p:txBody>
      </p:sp>
      <p:sp>
        <p:nvSpPr>
          <p:cNvPr id="39" name="Text 35"/>
          <p:cNvSpPr/>
          <p:nvPr/>
        </p:nvSpPr>
        <p:spPr>
          <a:xfrm>
            <a:off x="502920" y="4242816"/>
            <a:ext cx="8321040" cy="256032"/>
          </a:xfrm>
          <a:prstGeom prst="rect">
            <a:avLst/>
          </a:prstGeom>
          <a:noFill/>
          <a:ln/>
        </p:spPr>
        <p:txBody>
          <a:bodyPr wrap="square" rtlCol="0" anchor="ctr"/>
          <a:lstStyle/>
          <a:p>
            <a:pPr marL="0" indent="0">
              <a:buNone/>
            </a:pPr>
            <a:r>
              <a:rPr lang="es-CO" sz="1100" b="1" noProof="0" dirty="0">
                <a:solidFill>
                  <a:srgbClr val="0D1F4E"/>
                </a:solidFill>
              </a:rPr>
              <a:t>Resultado final:</a:t>
            </a:r>
            <a:endParaRPr lang="es-CO" sz="1100" noProof="0" dirty="0"/>
          </a:p>
        </p:txBody>
      </p:sp>
      <p:sp>
        <p:nvSpPr>
          <p:cNvPr id="40" name="Text 36"/>
          <p:cNvSpPr/>
          <p:nvPr/>
        </p:nvSpPr>
        <p:spPr>
          <a:xfrm>
            <a:off x="502920" y="4517136"/>
            <a:ext cx="8321040" cy="292608"/>
          </a:xfrm>
          <a:prstGeom prst="rect">
            <a:avLst/>
          </a:prstGeom>
          <a:noFill/>
          <a:ln/>
        </p:spPr>
        <p:txBody>
          <a:bodyPr wrap="square" rtlCol="0" anchor="ctr"/>
          <a:lstStyle/>
          <a:p>
            <a:pPr marL="0" indent="0">
              <a:buNone/>
            </a:pPr>
            <a:r>
              <a:rPr lang="es-CO" sz="950" noProof="0" dirty="0">
                <a:solidFill>
                  <a:srgbClr val="34495E"/>
                </a:solidFill>
              </a:rPr>
              <a:t>Catálogo de requisitos funcionales con código, nombre y versión, más fichas de especificación listas para integrar en una SRS IEEE 830.</a:t>
            </a:r>
            <a:endParaRPr lang="es-CO" sz="95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Contexto de uso y </a:t>
            </a:r>
            <a:r>
              <a:rPr lang="es-CO" sz="1800" b="1" noProof="0" dirty="0" err="1">
                <a:solidFill>
                  <a:srgbClr val="0D1F4E"/>
                </a:solidFill>
              </a:rPr>
              <a:t>stakeholders</a:t>
            </a:r>
            <a:r>
              <a:rPr lang="es-CO" sz="1800" b="1" noProof="0" dirty="0">
                <a:solidFill>
                  <a:srgbClr val="0D1F4E"/>
                </a:solidFill>
              </a:rPr>
              <a:t> en la especificación</a:t>
            </a:r>
            <a:endParaRPr lang="es-CO" sz="1800" noProof="0" dirty="0"/>
          </a:p>
        </p:txBody>
      </p:sp>
      <p:sp>
        <p:nvSpPr>
          <p:cNvPr id="10" name="Shape 6"/>
          <p:cNvSpPr/>
          <p:nvPr/>
        </p:nvSpPr>
        <p:spPr>
          <a:xfrm>
            <a:off x="274320" y="1280160"/>
            <a:ext cx="2743200" cy="640080"/>
          </a:xfrm>
          <a:prstGeom prst="rect">
            <a:avLst/>
          </a:prstGeom>
          <a:solidFill>
            <a:srgbClr val="C9A227"/>
          </a:solidFill>
          <a:ln w="12700">
            <a:solidFill>
              <a:srgbClr val="C9A227"/>
            </a:solidFill>
            <a:prstDash val="solid"/>
          </a:ln>
        </p:spPr>
        <p:txBody>
          <a:bodyPr/>
          <a:lstStyle/>
          <a:p>
            <a:endParaRPr lang="es-CO" noProof="0" dirty="0"/>
          </a:p>
        </p:txBody>
      </p:sp>
      <p:sp>
        <p:nvSpPr>
          <p:cNvPr id="11" name="Text 7"/>
          <p:cNvSpPr/>
          <p:nvPr/>
        </p:nvSpPr>
        <p:spPr>
          <a:xfrm>
            <a:off x="274320" y="1280160"/>
            <a:ext cx="2743200" cy="640080"/>
          </a:xfrm>
          <a:prstGeom prst="rect">
            <a:avLst/>
          </a:prstGeom>
          <a:noFill/>
          <a:ln/>
        </p:spPr>
        <p:txBody>
          <a:bodyPr wrap="square" rtlCol="0" anchor="ctr"/>
          <a:lstStyle/>
          <a:p>
            <a:pPr marL="0" indent="0" algn="ctr">
              <a:buNone/>
            </a:pPr>
            <a:r>
              <a:rPr lang="es-CO" sz="1400" b="1" noProof="0" dirty="0">
                <a:solidFill>
                  <a:srgbClr val="061237"/>
                </a:solidFill>
              </a:rPr>
              <a:t>¿Para qué?</a:t>
            </a:r>
            <a:endParaRPr lang="es-CO" sz="1400" noProof="0" dirty="0"/>
          </a:p>
        </p:txBody>
      </p:sp>
      <p:sp>
        <p:nvSpPr>
          <p:cNvPr id="12" name="Shape 8"/>
          <p:cNvSpPr/>
          <p:nvPr/>
        </p:nvSpPr>
        <p:spPr>
          <a:xfrm>
            <a:off x="274320" y="1920240"/>
            <a:ext cx="2743200" cy="822960"/>
          </a:xfrm>
          <a:prstGeom prst="rect">
            <a:avLst/>
          </a:prstGeom>
          <a:solidFill>
            <a:srgbClr val="FFFFFF"/>
          </a:solidFill>
          <a:ln w="12700">
            <a:solidFill>
              <a:srgbClr val="CADCFC"/>
            </a:solidFill>
            <a:prstDash val="solid"/>
          </a:ln>
        </p:spPr>
        <p:txBody>
          <a:bodyPr/>
          <a:lstStyle/>
          <a:p>
            <a:endParaRPr lang="es-CO" noProof="0" dirty="0"/>
          </a:p>
        </p:txBody>
      </p:sp>
      <p:sp>
        <p:nvSpPr>
          <p:cNvPr id="13" name="Text 9"/>
          <p:cNvSpPr/>
          <p:nvPr/>
        </p:nvSpPr>
        <p:spPr>
          <a:xfrm>
            <a:off x="365760" y="1965960"/>
            <a:ext cx="2560320" cy="731520"/>
          </a:xfrm>
          <a:prstGeom prst="rect">
            <a:avLst/>
          </a:prstGeom>
          <a:noFill/>
          <a:ln/>
        </p:spPr>
        <p:txBody>
          <a:bodyPr wrap="square" rtlCol="0" anchor="ctr"/>
          <a:lstStyle/>
          <a:p>
            <a:pPr marL="0" indent="0">
              <a:buNone/>
            </a:pPr>
            <a:r>
              <a:rPr lang="es-CO" sz="1000" noProof="0" dirty="0">
                <a:solidFill>
                  <a:srgbClr val="2C3E50"/>
                </a:solidFill>
              </a:rPr>
              <a:t>Objetivo y propósito del software. Se formaliza en el Acta de Objetivos.</a:t>
            </a:r>
            <a:endParaRPr lang="es-CO" sz="1000" noProof="0" dirty="0"/>
          </a:p>
        </p:txBody>
      </p:sp>
      <p:sp>
        <p:nvSpPr>
          <p:cNvPr id="14" name="Shape 10"/>
          <p:cNvSpPr/>
          <p:nvPr/>
        </p:nvSpPr>
        <p:spPr>
          <a:xfrm>
            <a:off x="3200400" y="1280160"/>
            <a:ext cx="2743200" cy="640080"/>
          </a:xfrm>
          <a:prstGeom prst="rect">
            <a:avLst/>
          </a:prstGeom>
          <a:solidFill>
            <a:srgbClr val="C9A227"/>
          </a:solidFill>
          <a:ln w="12700">
            <a:solidFill>
              <a:srgbClr val="C9A227"/>
            </a:solidFill>
            <a:prstDash val="solid"/>
          </a:ln>
        </p:spPr>
        <p:txBody>
          <a:bodyPr/>
          <a:lstStyle/>
          <a:p>
            <a:endParaRPr lang="es-CO" noProof="0" dirty="0"/>
          </a:p>
        </p:txBody>
      </p:sp>
      <p:sp>
        <p:nvSpPr>
          <p:cNvPr id="15" name="Text 11"/>
          <p:cNvSpPr/>
          <p:nvPr/>
        </p:nvSpPr>
        <p:spPr>
          <a:xfrm>
            <a:off x="3200400" y="1280160"/>
            <a:ext cx="2743200" cy="640080"/>
          </a:xfrm>
          <a:prstGeom prst="rect">
            <a:avLst/>
          </a:prstGeom>
          <a:noFill/>
          <a:ln/>
        </p:spPr>
        <p:txBody>
          <a:bodyPr wrap="square" rtlCol="0" anchor="ctr"/>
          <a:lstStyle/>
          <a:p>
            <a:pPr marL="0" indent="0" algn="ctr">
              <a:buNone/>
            </a:pPr>
            <a:r>
              <a:rPr lang="es-CO" sz="1400" b="1" noProof="0" dirty="0">
                <a:solidFill>
                  <a:srgbClr val="061237"/>
                </a:solidFill>
              </a:rPr>
              <a:t>¿En qué escenarios?</a:t>
            </a:r>
            <a:endParaRPr lang="es-CO" sz="1400" noProof="0" dirty="0"/>
          </a:p>
        </p:txBody>
      </p:sp>
      <p:sp>
        <p:nvSpPr>
          <p:cNvPr id="16" name="Shape 12"/>
          <p:cNvSpPr/>
          <p:nvPr/>
        </p:nvSpPr>
        <p:spPr>
          <a:xfrm>
            <a:off x="3200400" y="1920240"/>
            <a:ext cx="2743200" cy="822960"/>
          </a:xfrm>
          <a:prstGeom prst="rect">
            <a:avLst/>
          </a:prstGeom>
          <a:solidFill>
            <a:srgbClr val="FFFFFF"/>
          </a:solidFill>
          <a:ln w="12700">
            <a:solidFill>
              <a:srgbClr val="CADCFC"/>
            </a:solidFill>
            <a:prstDash val="solid"/>
          </a:ln>
        </p:spPr>
        <p:txBody>
          <a:bodyPr/>
          <a:lstStyle/>
          <a:p>
            <a:endParaRPr lang="es-CO" noProof="0" dirty="0"/>
          </a:p>
        </p:txBody>
      </p:sp>
      <p:sp>
        <p:nvSpPr>
          <p:cNvPr id="17" name="Text 13"/>
          <p:cNvSpPr/>
          <p:nvPr/>
        </p:nvSpPr>
        <p:spPr>
          <a:xfrm>
            <a:off x="3291840" y="1965960"/>
            <a:ext cx="2560320" cy="731520"/>
          </a:xfrm>
          <a:prstGeom prst="rect">
            <a:avLst/>
          </a:prstGeom>
          <a:noFill/>
          <a:ln/>
        </p:spPr>
        <p:txBody>
          <a:bodyPr wrap="square" rtlCol="0" anchor="ctr"/>
          <a:lstStyle/>
          <a:p>
            <a:pPr marL="0" indent="0">
              <a:buNone/>
            </a:pPr>
            <a:r>
              <a:rPr lang="es-CO" sz="1000" noProof="0" dirty="0">
                <a:solidFill>
                  <a:srgbClr val="2C3E50"/>
                </a:solidFill>
              </a:rPr>
              <a:t>Contextos de uso: tabla de escenarios con código, nombre y descripción.</a:t>
            </a:r>
            <a:endParaRPr lang="es-CO" sz="1000" noProof="0" dirty="0"/>
          </a:p>
        </p:txBody>
      </p:sp>
      <p:sp>
        <p:nvSpPr>
          <p:cNvPr id="18" name="Shape 14"/>
          <p:cNvSpPr/>
          <p:nvPr/>
        </p:nvSpPr>
        <p:spPr>
          <a:xfrm>
            <a:off x="6126480" y="1280160"/>
            <a:ext cx="2743200" cy="640080"/>
          </a:xfrm>
          <a:prstGeom prst="rect">
            <a:avLst/>
          </a:prstGeom>
          <a:solidFill>
            <a:srgbClr val="C9A227"/>
          </a:solidFill>
          <a:ln w="12700">
            <a:solidFill>
              <a:srgbClr val="C9A227"/>
            </a:solidFill>
            <a:prstDash val="solid"/>
          </a:ln>
        </p:spPr>
        <p:txBody>
          <a:bodyPr/>
          <a:lstStyle/>
          <a:p>
            <a:endParaRPr lang="es-CO" noProof="0" dirty="0"/>
          </a:p>
        </p:txBody>
      </p:sp>
      <p:sp>
        <p:nvSpPr>
          <p:cNvPr id="19" name="Text 15"/>
          <p:cNvSpPr/>
          <p:nvPr/>
        </p:nvSpPr>
        <p:spPr>
          <a:xfrm>
            <a:off x="6126480" y="1280160"/>
            <a:ext cx="2743200" cy="640080"/>
          </a:xfrm>
          <a:prstGeom prst="rect">
            <a:avLst/>
          </a:prstGeom>
          <a:noFill/>
          <a:ln/>
        </p:spPr>
        <p:txBody>
          <a:bodyPr wrap="square" rtlCol="0" anchor="ctr"/>
          <a:lstStyle/>
          <a:p>
            <a:pPr marL="0" indent="0" algn="ctr">
              <a:buNone/>
            </a:pPr>
            <a:r>
              <a:rPr lang="es-CO" sz="1400" b="1" noProof="0" dirty="0">
                <a:solidFill>
                  <a:srgbClr val="061237"/>
                </a:solidFill>
              </a:rPr>
              <a:t>¿Quiénes?</a:t>
            </a:r>
            <a:endParaRPr lang="es-CO" sz="1400" noProof="0" dirty="0"/>
          </a:p>
        </p:txBody>
      </p:sp>
      <p:sp>
        <p:nvSpPr>
          <p:cNvPr id="20" name="Shape 16"/>
          <p:cNvSpPr/>
          <p:nvPr/>
        </p:nvSpPr>
        <p:spPr>
          <a:xfrm>
            <a:off x="6126480" y="1920240"/>
            <a:ext cx="2743200" cy="822960"/>
          </a:xfrm>
          <a:prstGeom prst="rect">
            <a:avLst/>
          </a:prstGeom>
          <a:solidFill>
            <a:srgbClr val="FFFFFF"/>
          </a:solidFill>
          <a:ln w="12700">
            <a:solidFill>
              <a:srgbClr val="CADCFC"/>
            </a:solidFill>
            <a:prstDash val="solid"/>
          </a:ln>
        </p:spPr>
        <p:txBody>
          <a:bodyPr/>
          <a:lstStyle/>
          <a:p>
            <a:endParaRPr lang="es-CO" noProof="0" dirty="0"/>
          </a:p>
        </p:txBody>
      </p:sp>
      <p:sp>
        <p:nvSpPr>
          <p:cNvPr id="21" name="Text 17"/>
          <p:cNvSpPr/>
          <p:nvPr/>
        </p:nvSpPr>
        <p:spPr>
          <a:xfrm>
            <a:off x="6217920" y="1965960"/>
            <a:ext cx="2560320" cy="731520"/>
          </a:xfrm>
          <a:prstGeom prst="rect">
            <a:avLst/>
          </a:prstGeom>
          <a:noFill/>
          <a:ln/>
        </p:spPr>
        <p:txBody>
          <a:bodyPr wrap="square" rtlCol="0" anchor="ctr"/>
          <a:lstStyle/>
          <a:p>
            <a:pPr marL="0" indent="0">
              <a:buNone/>
            </a:pPr>
            <a:r>
              <a:rPr lang="es-CO" sz="1000" noProof="0" dirty="0">
                <a:solidFill>
                  <a:srgbClr val="2C3E50"/>
                </a:solidFill>
              </a:rPr>
              <a:t>Roles de usuario: tabla de usuarios con código, rol y uso específico del sistema.</a:t>
            </a:r>
            <a:endParaRPr lang="es-CO" sz="1000" noProof="0" dirty="0"/>
          </a:p>
        </p:txBody>
      </p:sp>
      <p:sp>
        <p:nvSpPr>
          <p:cNvPr id="22" name="Text 18"/>
          <p:cNvSpPr/>
          <p:nvPr/>
        </p:nvSpPr>
        <p:spPr>
          <a:xfrm>
            <a:off x="320040" y="2907792"/>
            <a:ext cx="8321040" cy="320040"/>
          </a:xfrm>
          <a:prstGeom prst="rect">
            <a:avLst/>
          </a:prstGeom>
          <a:noFill/>
          <a:ln/>
        </p:spPr>
        <p:txBody>
          <a:bodyPr wrap="square" rtlCol="0" anchor="ctr"/>
          <a:lstStyle/>
          <a:p>
            <a:pPr marL="0" indent="0">
              <a:buNone/>
            </a:pPr>
            <a:r>
              <a:rPr lang="es-CO" sz="1300" b="1" noProof="0" dirty="0">
                <a:solidFill>
                  <a:srgbClr val="0D1F4E"/>
                </a:solidFill>
              </a:rPr>
              <a:t>Clasificación de </a:t>
            </a:r>
            <a:r>
              <a:rPr lang="es-CO" sz="1300" b="1" noProof="0" dirty="0" err="1">
                <a:solidFill>
                  <a:srgbClr val="0D1F4E"/>
                </a:solidFill>
              </a:rPr>
              <a:t>Stakeholders</a:t>
            </a:r>
            <a:endParaRPr lang="es-CO" sz="1300" noProof="0" dirty="0"/>
          </a:p>
        </p:txBody>
      </p:sp>
      <p:graphicFrame>
        <p:nvGraphicFramePr>
          <p:cNvPr id="23" name="Table 0"/>
          <p:cNvGraphicFramePr>
            <a:graphicFrameLocks noGrp="1"/>
          </p:cNvGraphicFramePr>
          <p:nvPr>
            <p:extLst>
              <p:ext uri="{D42A27DB-BD31-4B8C-83A1-F6EECF244321}">
                <p14:modId xmlns:p14="http://schemas.microsoft.com/office/powerpoint/2010/main" val="1444264727"/>
              </p:ext>
            </p:extLst>
          </p:nvPr>
        </p:nvGraphicFramePr>
        <p:xfrm>
          <a:off x="320040" y="3273552"/>
          <a:ext cx="8321040" cy="1523244"/>
        </p:xfrm>
        <a:graphic>
          <a:graphicData uri="http://schemas.openxmlformats.org/drawingml/2006/table">
            <a:tbl>
              <a:tblPr/>
              <a:tblGrid>
                <a:gridCol w="416052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277941">
                <a:tc>
                  <a:txBody>
                    <a:bodyPr/>
                    <a:lstStyle/>
                    <a:p>
                      <a:pPr marL="0" indent="0" algn="ctr">
                        <a:buNone/>
                      </a:pPr>
                      <a:r>
                        <a:rPr lang="es-CO" sz="1050" b="1" noProof="0" dirty="0">
                          <a:solidFill>
                            <a:srgbClr val="FFFFFF"/>
                          </a:solidFill>
                        </a:rPr>
                        <a:t>Institución Usuaria</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lgn="ctr">
                        <a:buNone/>
                      </a:pPr>
                      <a:r>
                        <a:rPr lang="es-CO" sz="1050" b="1" noProof="0" dirty="0">
                          <a:solidFill>
                            <a:srgbClr val="FFFFFF"/>
                          </a:solidFill>
                        </a:rPr>
                        <a:t>Equipo de Proyecto</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extLst>
                  <a:ext uri="{0D108BD9-81ED-4DB2-BD59-A6C34878D82A}">
                    <a16:rowId xmlns:a16="http://schemas.microsoft.com/office/drawing/2014/main" val="10000"/>
                  </a:ext>
                </a:extLst>
              </a:tr>
              <a:tr h="277941">
                <a:tc>
                  <a:txBody>
                    <a:bodyPr/>
                    <a:lstStyle/>
                    <a:p>
                      <a:pPr marL="0" indent="0">
                        <a:buNone/>
                      </a:pPr>
                      <a:r>
                        <a:rPr lang="es-CO" sz="1050" noProof="0" dirty="0">
                          <a:solidFill>
                            <a:srgbClr val="000000"/>
                          </a:solidFill>
                        </a:rPr>
                        <a:t>Director médico / Gerente</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50" noProof="0" dirty="0">
                          <a:solidFill>
                            <a:srgbClr val="000000"/>
                          </a:solidFill>
                        </a:rPr>
                        <a:t>Jefe de proyecto</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77941">
                <a:tc>
                  <a:txBody>
                    <a:bodyPr/>
                    <a:lstStyle/>
                    <a:p>
                      <a:pPr marL="0" indent="0">
                        <a:buNone/>
                      </a:pPr>
                      <a:r>
                        <a:rPr lang="es-CO" sz="1050" noProof="0" dirty="0"/>
                        <a:t>Jefe de sistemas</a:t>
                      </a: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50" noProof="0" dirty="0">
                          <a:solidFill>
                            <a:srgbClr val="000000"/>
                          </a:solidFill>
                        </a:rPr>
                        <a:t>Analista de requisitos</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779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050" noProof="0" dirty="0">
                          <a:solidFill>
                            <a:srgbClr val="000000"/>
                          </a:solidFill>
                        </a:rPr>
                        <a:t>Coordinador de área</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50" noProof="0" dirty="0">
                          <a:solidFill>
                            <a:srgbClr val="000000"/>
                          </a:solidFill>
                        </a:rPr>
                        <a:t>Arquitecto de software</a:t>
                      </a: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92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050" noProof="0" dirty="0">
                          <a:solidFill>
                            <a:srgbClr val="000000"/>
                          </a:solidFill>
                        </a:rPr>
                        <a:t>Responsable delegado del proyecto</a:t>
                      </a:r>
                      <a:endParaRPr lang="es-CO" sz="1050" noProof="0" dirty="0"/>
                    </a:p>
                    <a:p>
                      <a:pPr marL="0" indent="0">
                        <a:buNone/>
                      </a:pPr>
                      <a:endParaRPr lang="es-CO" sz="10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50" noProof="0" dirty="0"/>
                        <a:t>Equipo QA</a:t>
                      </a: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22863929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Educción y elicitación de requisitos</a:t>
            </a:r>
            <a:endParaRPr lang="es-CO" sz="1800" noProof="0" dirty="0"/>
          </a:p>
        </p:txBody>
      </p:sp>
      <p:sp>
        <p:nvSpPr>
          <p:cNvPr id="10" name="Shape 6"/>
          <p:cNvSpPr/>
          <p:nvPr/>
        </p:nvSpPr>
        <p:spPr>
          <a:xfrm>
            <a:off x="274320" y="1280160"/>
            <a:ext cx="4160520" cy="457200"/>
          </a:xfrm>
          <a:prstGeom prst="rect">
            <a:avLst/>
          </a:prstGeom>
          <a:solidFill>
            <a:srgbClr val="0D1F4E"/>
          </a:solidFill>
          <a:ln w="12700">
            <a:solidFill>
              <a:srgbClr val="0D1F4E"/>
            </a:solidFill>
            <a:prstDash val="solid"/>
          </a:ln>
        </p:spPr>
        <p:txBody>
          <a:bodyPr/>
          <a:lstStyle/>
          <a:p>
            <a:endParaRPr lang="es-CO" noProof="0" dirty="0"/>
          </a:p>
        </p:txBody>
      </p:sp>
      <p:sp>
        <p:nvSpPr>
          <p:cNvPr id="11" name="Text 7"/>
          <p:cNvSpPr/>
          <p:nvPr/>
        </p:nvSpPr>
        <p:spPr>
          <a:xfrm>
            <a:off x="274320" y="1280160"/>
            <a:ext cx="4160520" cy="457200"/>
          </a:xfrm>
          <a:prstGeom prst="rect">
            <a:avLst/>
          </a:prstGeom>
          <a:noFill/>
          <a:ln/>
        </p:spPr>
        <p:txBody>
          <a:bodyPr wrap="square" rtlCol="0" anchor="ctr"/>
          <a:lstStyle/>
          <a:p>
            <a:pPr marL="0" indent="0" algn="ctr">
              <a:buNone/>
            </a:pPr>
            <a:r>
              <a:rPr lang="es-CO" sz="1300" b="1" noProof="0" dirty="0">
                <a:solidFill>
                  <a:srgbClr val="FFFFFF"/>
                </a:solidFill>
              </a:rPr>
              <a:t>Educción</a:t>
            </a:r>
            <a:endParaRPr lang="es-CO" sz="1300" noProof="0" dirty="0"/>
          </a:p>
        </p:txBody>
      </p:sp>
      <p:sp>
        <p:nvSpPr>
          <p:cNvPr id="12" name="Text 8"/>
          <p:cNvSpPr/>
          <p:nvPr/>
        </p:nvSpPr>
        <p:spPr>
          <a:xfrm>
            <a:off x="365760" y="1828800"/>
            <a:ext cx="3931920" cy="2560320"/>
          </a:xfrm>
          <a:prstGeom prst="rect">
            <a:avLst/>
          </a:prstGeom>
          <a:noFill/>
          <a:ln/>
        </p:spPr>
        <p:txBody>
          <a:bodyPr wrap="square" rtlCol="0" anchor="ctr"/>
          <a:lstStyle/>
          <a:p>
            <a:pPr marL="342900" indent="-342900">
              <a:spcAft>
                <a:spcPts val="400"/>
              </a:spcAft>
              <a:buSzPct val="100000"/>
              <a:buChar char="•"/>
            </a:pPr>
            <a:r>
              <a:rPr lang="es-CO" sz="1050" noProof="0" dirty="0">
                <a:solidFill>
                  <a:srgbClr val="2C3E50"/>
                </a:solidFill>
              </a:rPr>
              <a:t>Contraste de usuarios y escenarios identificados.</a:t>
            </a:r>
            <a:endParaRPr lang="es-CO" sz="1050" noProof="0" dirty="0"/>
          </a:p>
          <a:p>
            <a:pPr marL="342900" indent="-342900">
              <a:spcAft>
                <a:spcPts val="400"/>
              </a:spcAft>
              <a:buSzPct val="100000"/>
              <a:buChar char="•"/>
            </a:pPr>
            <a:r>
              <a:rPr lang="es-CO" sz="1050" noProof="0" dirty="0">
                <a:solidFill>
                  <a:srgbClr val="2C3E50"/>
                </a:solidFill>
              </a:rPr>
              <a:t>Planificación de entrevistas por tipo de usuario.</a:t>
            </a:r>
            <a:endParaRPr lang="es-CO" sz="1050" noProof="0" dirty="0"/>
          </a:p>
          <a:p>
            <a:pPr marL="342900" indent="-342900">
              <a:spcAft>
                <a:spcPts val="400"/>
              </a:spcAft>
              <a:buSzPct val="100000"/>
              <a:buChar char="•"/>
            </a:pPr>
            <a:r>
              <a:rPr lang="es-CO" sz="1050" noProof="0" dirty="0">
                <a:solidFill>
                  <a:srgbClr val="2C3E50"/>
                </a:solidFill>
              </a:rPr>
              <a:t>Un cuestionario por cada tipo de usuario.</a:t>
            </a:r>
            <a:endParaRPr lang="es-CO" sz="1050" noProof="0" dirty="0"/>
          </a:p>
          <a:p>
            <a:pPr marL="342900" indent="-342900">
              <a:spcAft>
                <a:spcPts val="400"/>
              </a:spcAft>
              <a:buSzPct val="100000"/>
              <a:buChar char="•"/>
            </a:pPr>
            <a:r>
              <a:rPr lang="es-CO" sz="1050" noProof="0" dirty="0">
                <a:solidFill>
                  <a:srgbClr val="2C3E50"/>
                </a:solidFill>
              </a:rPr>
              <a:t>Resumen y validación en actas de entrevista.</a:t>
            </a:r>
            <a:endParaRPr lang="es-CO" sz="1050" noProof="0" dirty="0"/>
          </a:p>
          <a:p>
            <a:pPr marL="342900" indent="-342900">
              <a:spcAft>
                <a:spcPts val="400"/>
              </a:spcAft>
              <a:buSzPct val="100000"/>
              <a:buChar char="•"/>
            </a:pPr>
            <a:r>
              <a:rPr lang="es-CO" sz="1050" noProof="0" dirty="0">
                <a:solidFill>
                  <a:srgbClr val="2C3E50"/>
                </a:solidFill>
              </a:rPr>
              <a:t>Matrices de contraste como instrumentos de apoyo.</a:t>
            </a:r>
            <a:endParaRPr lang="es-CO" sz="1050" noProof="0" dirty="0"/>
          </a:p>
          <a:p>
            <a:pPr marL="0" indent="0">
              <a:spcAft>
                <a:spcPts val="400"/>
              </a:spcAft>
              <a:buNone/>
            </a:pPr>
            <a:endParaRPr lang="es-CO" sz="1050" noProof="0" dirty="0"/>
          </a:p>
        </p:txBody>
      </p:sp>
      <p:sp>
        <p:nvSpPr>
          <p:cNvPr id="13" name="Shape 9"/>
          <p:cNvSpPr/>
          <p:nvPr/>
        </p:nvSpPr>
        <p:spPr>
          <a:xfrm>
            <a:off x="4709160" y="1280160"/>
            <a:ext cx="4160520" cy="457200"/>
          </a:xfrm>
          <a:prstGeom prst="rect">
            <a:avLst/>
          </a:prstGeom>
          <a:solidFill>
            <a:srgbClr val="1C3270"/>
          </a:solidFill>
          <a:ln w="12700">
            <a:solidFill>
              <a:srgbClr val="1C3270"/>
            </a:solidFill>
            <a:prstDash val="solid"/>
          </a:ln>
        </p:spPr>
        <p:txBody>
          <a:bodyPr/>
          <a:lstStyle/>
          <a:p>
            <a:endParaRPr lang="es-CO" noProof="0" dirty="0"/>
          </a:p>
        </p:txBody>
      </p:sp>
      <p:sp>
        <p:nvSpPr>
          <p:cNvPr id="14" name="Text 10"/>
          <p:cNvSpPr/>
          <p:nvPr/>
        </p:nvSpPr>
        <p:spPr>
          <a:xfrm>
            <a:off x="4709160" y="1280160"/>
            <a:ext cx="4160520" cy="457200"/>
          </a:xfrm>
          <a:prstGeom prst="rect">
            <a:avLst/>
          </a:prstGeom>
          <a:noFill/>
          <a:ln/>
        </p:spPr>
        <p:txBody>
          <a:bodyPr wrap="square" rtlCol="0" anchor="ctr"/>
          <a:lstStyle/>
          <a:p>
            <a:pPr marL="0" indent="0" algn="ctr">
              <a:buNone/>
            </a:pPr>
            <a:r>
              <a:rPr lang="es-CO" sz="1300" b="1" noProof="0" dirty="0">
                <a:solidFill>
                  <a:srgbClr val="FFFFFF"/>
                </a:solidFill>
              </a:rPr>
              <a:t>Elicitación</a:t>
            </a:r>
            <a:endParaRPr lang="es-CO" sz="1300" noProof="0" dirty="0"/>
          </a:p>
        </p:txBody>
      </p:sp>
      <p:sp>
        <p:nvSpPr>
          <p:cNvPr id="15" name="Text 11"/>
          <p:cNvSpPr/>
          <p:nvPr/>
        </p:nvSpPr>
        <p:spPr>
          <a:xfrm>
            <a:off x="4800600" y="1828800"/>
            <a:ext cx="3931920" cy="2560320"/>
          </a:xfrm>
          <a:prstGeom prst="rect">
            <a:avLst/>
          </a:prstGeom>
          <a:noFill/>
          <a:ln/>
        </p:spPr>
        <p:txBody>
          <a:bodyPr wrap="square" rtlCol="0" anchor="ctr"/>
          <a:lstStyle/>
          <a:p>
            <a:pPr marL="342900" indent="-342900">
              <a:spcAft>
                <a:spcPts val="400"/>
              </a:spcAft>
              <a:buSzPct val="100000"/>
              <a:buChar char="•"/>
            </a:pPr>
            <a:r>
              <a:rPr lang="es-CO" sz="1050" noProof="0" dirty="0">
                <a:solidFill>
                  <a:srgbClr val="2C3E50"/>
                </a:solidFill>
              </a:rPr>
              <a:t>Análisis y rastreo de actas de entrevista.</a:t>
            </a:r>
            <a:endParaRPr lang="es-CO" sz="1050" noProof="0" dirty="0"/>
          </a:p>
          <a:p>
            <a:pPr marL="342900" indent="-342900">
              <a:spcAft>
                <a:spcPts val="400"/>
              </a:spcAft>
              <a:buSzPct val="100000"/>
              <a:buChar char="•"/>
            </a:pPr>
            <a:r>
              <a:rPr lang="es-CO" sz="1050" noProof="0" dirty="0">
                <a:solidFill>
                  <a:srgbClr val="2C3E50"/>
                </a:solidFill>
              </a:rPr>
              <a:t>Agrupación de características por funcionalidad.</a:t>
            </a:r>
            <a:endParaRPr lang="es-CO" sz="1050" noProof="0" dirty="0"/>
          </a:p>
          <a:p>
            <a:pPr marL="342900" indent="-342900">
              <a:spcAft>
                <a:spcPts val="400"/>
              </a:spcAft>
              <a:buSzPct val="100000"/>
              <a:buChar char="•"/>
            </a:pPr>
            <a:r>
              <a:rPr lang="es-CO" sz="1050" noProof="0" dirty="0">
                <a:solidFill>
                  <a:srgbClr val="2C3E50"/>
                </a:solidFill>
              </a:rPr>
              <a:t>Caracterización por escenarios de despliegue.</a:t>
            </a:r>
            <a:endParaRPr lang="es-CO" sz="1050" noProof="0" dirty="0"/>
          </a:p>
          <a:p>
            <a:pPr marL="342900" indent="-342900">
              <a:spcAft>
                <a:spcPts val="400"/>
              </a:spcAft>
              <a:buSzPct val="100000"/>
              <a:buChar char="•"/>
            </a:pPr>
            <a:r>
              <a:rPr lang="es-CO" sz="1050" noProof="0" dirty="0">
                <a:solidFill>
                  <a:srgbClr val="2C3E50"/>
                </a:solidFill>
              </a:rPr>
              <a:t>Resolución de ambigüedades y conflictos.</a:t>
            </a:r>
            <a:endParaRPr lang="es-CO" sz="1050" noProof="0" dirty="0"/>
          </a:p>
          <a:p>
            <a:pPr marL="342900" indent="-342900">
              <a:spcAft>
                <a:spcPts val="400"/>
              </a:spcAft>
              <a:buSzPct val="100000"/>
              <a:buChar char="•"/>
            </a:pPr>
            <a:r>
              <a:rPr lang="es-CO" sz="1050" noProof="0" dirty="0">
                <a:solidFill>
                  <a:srgbClr val="2C3E50"/>
                </a:solidFill>
              </a:rPr>
              <a:t>Posibles nuevas entrevistas si hay incomprensiones.</a:t>
            </a:r>
            <a:endParaRPr lang="es-CO" sz="1050" noProof="0" dirty="0"/>
          </a:p>
          <a:p>
            <a:pPr marL="0" indent="0">
              <a:spcAft>
                <a:spcPts val="400"/>
              </a:spcAft>
              <a:buNone/>
            </a:pPr>
            <a:endParaRPr lang="es-CO" sz="1050" noProof="0" dirty="0"/>
          </a:p>
        </p:txBody>
      </p:sp>
      <p:sp>
        <p:nvSpPr>
          <p:cNvPr id="16" name="Text 12"/>
          <p:cNvSpPr/>
          <p:nvPr/>
        </p:nvSpPr>
        <p:spPr>
          <a:xfrm>
            <a:off x="457200" y="4617720"/>
            <a:ext cx="8229600" cy="228600"/>
          </a:xfrm>
          <a:prstGeom prst="rect">
            <a:avLst/>
          </a:prstGeom>
          <a:noFill/>
          <a:ln/>
        </p:spPr>
        <p:txBody>
          <a:bodyPr wrap="square" rtlCol="0" anchor="ctr"/>
          <a:lstStyle/>
          <a:p>
            <a:pPr marL="0" indent="0" algn="ctr">
              <a:buNone/>
            </a:pPr>
            <a:r>
              <a:rPr lang="es-CO" sz="750" i="1" noProof="0" dirty="0">
                <a:solidFill>
                  <a:srgbClr val="6B7280"/>
                </a:solidFill>
              </a:rPr>
              <a:t>"Para elaborar las entrevistas, es necesario desarrollar un cuestionario por cada tipo de usuario." — Cornejo-Aparicio et al., 2020</a:t>
            </a:r>
            <a:endParaRPr lang="es-CO" sz="75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Especificación y catálogo de requisitos funcionales</a:t>
            </a:r>
            <a:endParaRPr lang="es-CO" sz="1800" noProof="0" dirty="0"/>
          </a:p>
        </p:txBody>
      </p:sp>
      <p:sp>
        <p:nvSpPr>
          <p:cNvPr id="10" name="Text 6"/>
          <p:cNvSpPr/>
          <p:nvPr/>
        </p:nvSpPr>
        <p:spPr>
          <a:xfrm>
            <a:off x="320040" y="1280160"/>
            <a:ext cx="5486400" cy="320040"/>
          </a:xfrm>
          <a:prstGeom prst="rect">
            <a:avLst/>
          </a:prstGeom>
          <a:noFill/>
          <a:ln/>
        </p:spPr>
        <p:txBody>
          <a:bodyPr wrap="square" rtlCol="0" anchor="ctr"/>
          <a:lstStyle/>
          <a:p>
            <a:pPr marL="0" indent="0">
              <a:buNone/>
            </a:pPr>
            <a:r>
              <a:rPr lang="es-CO" sz="1200" b="1" noProof="0" dirty="0">
                <a:solidFill>
                  <a:srgbClr val="0D1F4E"/>
                </a:solidFill>
              </a:rPr>
              <a:t>Catálogo de Requisitos Funcionales</a:t>
            </a:r>
            <a:endParaRPr lang="es-CO" sz="1200" noProof="0" dirty="0"/>
          </a:p>
        </p:txBody>
      </p:sp>
      <p:graphicFrame>
        <p:nvGraphicFramePr>
          <p:cNvPr id="13" name="Table 0"/>
          <p:cNvGraphicFramePr>
            <a:graphicFrameLocks noGrp="1"/>
          </p:cNvGraphicFramePr>
          <p:nvPr>
            <p:extLst>
              <p:ext uri="{D42A27DB-BD31-4B8C-83A1-F6EECF244321}">
                <p14:modId xmlns:p14="http://schemas.microsoft.com/office/powerpoint/2010/main" val="3335793992"/>
              </p:ext>
            </p:extLst>
          </p:nvPr>
        </p:nvGraphicFramePr>
        <p:xfrm>
          <a:off x="320040" y="1645920"/>
          <a:ext cx="5120640" cy="1828800"/>
        </p:xfrm>
        <a:graphic>
          <a:graphicData uri="http://schemas.openxmlformats.org/drawingml/2006/table">
            <a:tbl>
              <a:tblPr/>
              <a:tblGrid>
                <a:gridCol w="10972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04800">
                <a:tc>
                  <a:txBody>
                    <a:bodyPr/>
                    <a:lstStyle/>
                    <a:p>
                      <a:pPr marL="0" indent="0">
                        <a:buNone/>
                      </a:pPr>
                      <a:r>
                        <a:rPr lang="es-CO" sz="1000" b="1" noProof="0" dirty="0">
                          <a:solidFill>
                            <a:srgbClr val="FFFFFF"/>
                          </a:solidFill>
                        </a:rPr>
                        <a:t>Código</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1000" b="1" noProof="0" dirty="0">
                          <a:solidFill>
                            <a:srgbClr val="FFFFFF"/>
                          </a:solidFill>
                        </a:rPr>
                        <a:t>Nombre</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1000" b="1" noProof="0" dirty="0">
                          <a:solidFill>
                            <a:srgbClr val="FFFFFF"/>
                          </a:solidFill>
                        </a:rPr>
                        <a:t>Versión</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extLst>
                  <a:ext uri="{0D108BD9-81ED-4DB2-BD59-A6C34878D82A}">
                    <a16:rowId xmlns:a16="http://schemas.microsoft.com/office/drawing/2014/main" val="10000"/>
                  </a:ext>
                </a:extLst>
              </a:tr>
              <a:tr h="304800">
                <a:tc>
                  <a:txBody>
                    <a:bodyPr/>
                    <a:lstStyle/>
                    <a:p>
                      <a:pPr marL="0" indent="0">
                        <a:buNone/>
                      </a:pPr>
                      <a:r>
                        <a:rPr lang="es-CO" sz="1000" noProof="0" dirty="0">
                          <a:solidFill>
                            <a:srgbClr val="000000"/>
                          </a:solidFill>
                        </a:rPr>
                        <a:t>RF001</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Registrar usuario / Iniciar sesión</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1.0</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buNone/>
                      </a:pPr>
                      <a:r>
                        <a:rPr lang="es-CO" sz="1000" noProof="0" dirty="0">
                          <a:solidFill>
                            <a:srgbClr val="000000"/>
                          </a:solidFill>
                        </a:rPr>
                        <a:t>RF002</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Gestionar escenarios de uso</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1.0</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buNone/>
                      </a:pPr>
                      <a:r>
                        <a:rPr lang="es-CO" sz="1000" noProof="0" dirty="0">
                          <a:solidFill>
                            <a:srgbClr val="000000"/>
                          </a:solidFill>
                        </a:rPr>
                        <a:t>RF003</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Registrar cita / Transacción</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1.0</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buNone/>
                      </a:pPr>
                      <a:r>
                        <a:rPr lang="es-CO" sz="1000" noProof="0" dirty="0">
                          <a:solidFill>
                            <a:srgbClr val="000000"/>
                          </a:solidFill>
                        </a:rPr>
                        <a:t>RF004</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Consultar historial</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1.0</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buNone/>
                      </a:pPr>
                      <a:r>
                        <a:rPr lang="es-CO" sz="1000" noProof="0" dirty="0">
                          <a:solidFill>
                            <a:srgbClr val="000000"/>
                          </a:solidFill>
                        </a:rPr>
                        <a:t>RF005</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Generar reportes</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1000" noProof="0" dirty="0">
                          <a:solidFill>
                            <a:srgbClr val="000000"/>
                          </a:solidFill>
                        </a:rPr>
                        <a:t>1.0</a:t>
                      </a:r>
                      <a:endParaRPr lang="es-CO" sz="10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7"/>
          <p:cNvSpPr/>
          <p:nvPr/>
        </p:nvSpPr>
        <p:spPr>
          <a:xfrm>
            <a:off x="5577840" y="1280160"/>
            <a:ext cx="3291840" cy="320040"/>
          </a:xfrm>
          <a:prstGeom prst="rect">
            <a:avLst/>
          </a:prstGeom>
          <a:noFill/>
          <a:ln/>
        </p:spPr>
        <p:txBody>
          <a:bodyPr wrap="square" rtlCol="0" anchor="ctr"/>
          <a:lstStyle/>
          <a:p>
            <a:pPr marL="0" indent="0">
              <a:buNone/>
            </a:pPr>
            <a:r>
              <a:rPr lang="es-CO" sz="1100" b="1" noProof="0" dirty="0">
                <a:solidFill>
                  <a:srgbClr val="0D1F4E"/>
                </a:solidFill>
              </a:rPr>
              <a:t>Ficha de Especificación (RF001)</a:t>
            </a:r>
            <a:endParaRPr lang="es-CO" sz="1100" noProof="0" dirty="0"/>
          </a:p>
        </p:txBody>
      </p:sp>
      <p:graphicFrame>
        <p:nvGraphicFramePr>
          <p:cNvPr id="25" name="Table 1"/>
          <p:cNvGraphicFramePr>
            <a:graphicFrameLocks noGrp="1"/>
          </p:cNvGraphicFramePr>
          <p:nvPr>
            <p:extLst>
              <p:ext uri="{D42A27DB-BD31-4B8C-83A1-F6EECF244321}">
                <p14:modId xmlns:p14="http://schemas.microsoft.com/office/powerpoint/2010/main" val="528966557"/>
              </p:ext>
            </p:extLst>
          </p:nvPr>
        </p:nvGraphicFramePr>
        <p:xfrm>
          <a:off x="5577840" y="1645920"/>
          <a:ext cx="3337560"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04800">
                <a:tc>
                  <a:txBody>
                    <a:bodyPr/>
                    <a:lstStyle/>
                    <a:p>
                      <a:pPr marL="0" indent="0">
                        <a:buNone/>
                      </a:pPr>
                      <a:r>
                        <a:rPr lang="es-CO" sz="950" b="1" noProof="0" dirty="0">
                          <a:solidFill>
                            <a:srgbClr val="FFFFFF"/>
                          </a:solidFill>
                        </a:rPr>
                        <a:t>Campo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tc>
                  <a:txBody>
                    <a:bodyPr/>
                    <a:lstStyle/>
                    <a:p>
                      <a:pPr marL="0" indent="0">
                        <a:buNone/>
                      </a:pPr>
                      <a:r>
                        <a:rPr lang="es-CO" sz="950" b="1" noProof="0" dirty="0">
                          <a:solidFill>
                            <a:srgbClr val="FFFFFF"/>
                          </a:solidFill>
                        </a:rPr>
                        <a:t>Descripción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extLst>
                  <a:ext uri="{0D108BD9-81ED-4DB2-BD59-A6C34878D82A}">
                    <a16:rowId xmlns:a16="http://schemas.microsoft.com/office/drawing/2014/main" val="10000"/>
                  </a:ext>
                </a:extLst>
              </a:tr>
              <a:tr h="304800">
                <a:tc>
                  <a:txBody>
                    <a:bodyPr/>
                    <a:lstStyle/>
                    <a:p>
                      <a:pPr marL="0" indent="0">
                        <a:buNone/>
                      </a:pPr>
                      <a:r>
                        <a:rPr lang="es-CO" sz="950" noProof="0" dirty="0">
                          <a:solidFill>
                            <a:srgbClr val="000000"/>
                          </a:solidFill>
                        </a:rPr>
                        <a:t>Precondición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Usuario existe en el sistema.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buNone/>
                      </a:pPr>
                      <a:r>
                        <a:rPr lang="es-CO" sz="950" noProof="0" dirty="0" err="1">
                          <a:solidFill>
                            <a:srgbClr val="000000"/>
                          </a:solidFill>
                        </a:rPr>
                        <a:t>Poscondición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Sesión iniciada; estado = Activo.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buNone/>
                      </a:pPr>
                      <a:r>
                        <a:rPr lang="es-CO" sz="950" noProof="0" dirty="0">
                          <a:solidFill>
                            <a:srgbClr val="000000"/>
                          </a:solidFill>
                        </a:rPr>
                        <a:t>Flujo principal</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Seleccionar → Validar → Confirmar</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buNone/>
                      </a:pPr>
                      <a:r>
                        <a:rPr lang="es-CO" sz="950" noProof="0" dirty="0">
                          <a:solidFill>
                            <a:srgbClr val="000000"/>
                          </a:solidFill>
                        </a:rPr>
                        <a:t>Flujo alternativo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Error: datos inválidos → Reintentar</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buNone/>
                      </a:pPr>
                      <a:r>
                        <a:rPr lang="es-CO" sz="950" noProof="0" dirty="0">
                          <a:solidFill>
                            <a:srgbClr val="000000"/>
                          </a:solidFill>
                        </a:rPr>
                        <a:t>Versión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1.0</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Shape 8"/>
          <p:cNvSpPr/>
          <p:nvPr/>
        </p:nvSpPr>
        <p:spPr>
          <a:xfrm>
            <a:off x="320040" y="3666744"/>
            <a:ext cx="54864" cy="228600"/>
          </a:xfrm>
          <a:prstGeom prst="rect">
            <a:avLst/>
          </a:prstGeom>
          <a:solidFill>
            <a:srgbClr val="C9A227"/>
          </a:solidFill>
          <a:ln w="12700">
            <a:solidFill>
              <a:srgbClr val="C9A227"/>
            </a:solidFill>
            <a:prstDash val="solid"/>
          </a:ln>
        </p:spPr>
        <p:txBody>
          <a:bodyPr/>
          <a:lstStyle/>
          <a:p>
            <a:endParaRPr lang="es-CO" noProof="0" dirty="0"/>
          </a:p>
        </p:txBody>
      </p:sp>
      <p:sp>
        <p:nvSpPr>
          <p:cNvPr id="15" name="Text 9"/>
          <p:cNvSpPr/>
          <p:nvPr/>
        </p:nvSpPr>
        <p:spPr>
          <a:xfrm>
            <a:off x="502920" y="3611880"/>
            <a:ext cx="8321040" cy="320040"/>
          </a:xfrm>
          <a:prstGeom prst="rect">
            <a:avLst/>
          </a:prstGeom>
          <a:noFill/>
          <a:ln/>
        </p:spPr>
        <p:txBody>
          <a:bodyPr wrap="square" rtlCol="0" anchor="ctr"/>
          <a:lstStyle/>
          <a:p>
            <a:pPr marL="0" indent="0">
              <a:buNone/>
            </a:pPr>
            <a:r>
              <a:rPr lang="es-CO" sz="950" noProof="0" dirty="0" err="1">
                <a:solidFill>
                  <a:srgbClr val="2C3E50"/>
                </a:solidFill>
              </a:rPr>
              <a:t>Versionamiento</a:t>
            </a:r>
            <a:r>
              <a:rPr lang="es-CO" sz="950" noProof="0" dirty="0">
                <a:solidFill>
                  <a:srgbClr val="2C3E50"/>
                </a:solidFill>
              </a:rPr>
              <a:t>: actualización progresiva según nuevas clarificaciones.</a:t>
            </a:r>
            <a:endParaRPr lang="es-CO" sz="950" noProof="0" dirty="0"/>
          </a:p>
        </p:txBody>
      </p:sp>
      <p:sp>
        <p:nvSpPr>
          <p:cNvPr id="16" name="Shape 10"/>
          <p:cNvSpPr/>
          <p:nvPr/>
        </p:nvSpPr>
        <p:spPr>
          <a:xfrm>
            <a:off x="320040" y="4014216"/>
            <a:ext cx="54864" cy="228600"/>
          </a:xfrm>
          <a:prstGeom prst="rect">
            <a:avLst/>
          </a:prstGeom>
          <a:solidFill>
            <a:srgbClr val="C9A227"/>
          </a:solidFill>
          <a:ln w="12700">
            <a:solidFill>
              <a:srgbClr val="C9A227"/>
            </a:solidFill>
            <a:prstDash val="solid"/>
          </a:ln>
        </p:spPr>
        <p:txBody>
          <a:bodyPr/>
          <a:lstStyle/>
          <a:p>
            <a:endParaRPr lang="es-CO" noProof="0" dirty="0"/>
          </a:p>
        </p:txBody>
      </p:sp>
      <p:sp>
        <p:nvSpPr>
          <p:cNvPr id="17" name="Text 11"/>
          <p:cNvSpPr/>
          <p:nvPr/>
        </p:nvSpPr>
        <p:spPr>
          <a:xfrm>
            <a:off x="502920" y="3959352"/>
            <a:ext cx="8321040" cy="320040"/>
          </a:xfrm>
          <a:prstGeom prst="rect">
            <a:avLst/>
          </a:prstGeom>
          <a:noFill/>
          <a:ln/>
        </p:spPr>
        <p:txBody>
          <a:bodyPr wrap="square" rtlCol="0" anchor="ctr"/>
          <a:lstStyle/>
          <a:p>
            <a:pPr marL="0" indent="0">
              <a:buNone/>
            </a:pPr>
            <a:r>
              <a:rPr lang="es-CO" sz="950" noProof="0" dirty="0">
                <a:solidFill>
                  <a:srgbClr val="2C3E50"/>
                </a:solidFill>
              </a:rPr>
              <a:t>Las fichas se convierten en el puente directo hacia casos de uso, historias de usuario y pruebas de aceptación.</a:t>
            </a:r>
            <a:endParaRPr lang="es-CO" sz="950" noProof="0" dirty="0"/>
          </a:p>
        </p:txBody>
      </p:sp>
      <p:sp>
        <p:nvSpPr>
          <p:cNvPr id="18" name="Shape 12"/>
          <p:cNvSpPr/>
          <p:nvPr/>
        </p:nvSpPr>
        <p:spPr>
          <a:xfrm>
            <a:off x="320040" y="4361688"/>
            <a:ext cx="54864" cy="228600"/>
          </a:xfrm>
          <a:prstGeom prst="rect">
            <a:avLst/>
          </a:prstGeom>
          <a:solidFill>
            <a:srgbClr val="C9A227"/>
          </a:solidFill>
          <a:ln w="12700">
            <a:solidFill>
              <a:srgbClr val="C9A227"/>
            </a:solidFill>
            <a:prstDash val="solid"/>
          </a:ln>
        </p:spPr>
        <p:txBody>
          <a:bodyPr/>
          <a:lstStyle/>
          <a:p>
            <a:endParaRPr lang="es-CO" noProof="0" dirty="0"/>
          </a:p>
        </p:txBody>
      </p:sp>
      <p:sp>
        <p:nvSpPr>
          <p:cNvPr id="19" name="Text 13"/>
          <p:cNvSpPr/>
          <p:nvPr/>
        </p:nvSpPr>
        <p:spPr>
          <a:xfrm>
            <a:off x="502920" y="4306824"/>
            <a:ext cx="8321040" cy="320040"/>
          </a:xfrm>
          <a:prstGeom prst="rect">
            <a:avLst/>
          </a:prstGeom>
          <a:noFill/>
          <a:ln/>
        </p:spPr>
        <p:txBody>
          <a:bodyPr wrap="square" rtlCol="0" anchor="ctr"/>
          <a:lstStyle/>
          <a:p>
            <a:pPr marL="0" indent="0">
              <a:buNone/>
            </a:pPr>
            <a:r>
              <a:rPr lang="es-CO" sz="850" i="1" noProof="0" dirty="0">
                <a:solidFill>
                  <a:srgbClr val="6B7280"/>
                </a:solidFill>
              </a:rPr>
              <a:t>"Al terminar la caracterización de escenarios, se identifican claramente los requisitos funcionales." — Cornejo-Aparicio et al., 2020</a:t>
            </a:r>
            <a:endParaRPr lang="es-CO" sz="8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Requisitos, métricas y mejora continua de la calidad</a:t>
            </a:r>
            <a:endParaRPr lang="es-CO" sz="1800" noProof="0" dirty="0"/>
          </a:p>
        </p:txBody>
      </p:sp>
      <p:sp>
        <p:nvSpPr>
          <p:cNvPr id="10" name="Shape 6"/>
          <p:cNvSpPr/>
          <p:nvPr/>
        </p:nvSpPr>
        <p:spPr>
          <a:xfrm>
            <a:off x="274320" y="1298448"/>
            <a:ext cx="1965960" cy="1005840"/>
          </a:xfrm>
          <a:prstGeom prst="rect">
            <a:avLst/>
          </a:prstGeom>
          <a:solidFill>
            <a:srgbClr val="0D1F4E"/>
          </a:solidFill>
          <a:ln w="19050">
            <a:solidFill>
              <a:srgbClr val="C9A227"/>
            </a:solidFill>
            <a:prstDash val="solid"/>
          </a:ln>
        </p:spPr>
        <p:txBody>
          <a:bodyPr/>
          <a:lstStyle/>
          <a:p>
            <a:endParaRPr lang="es-CO" noProof="0" dirty="0"/>
          </a:p>
        </p:txBody>
      </p:sp>
      <p:sp>
        <p:nvSpPr>
          <p:cNvPr id="11" name="Text 7"/>
          <p:cNvSpPr/>
          <p:nvPr/>
        </p:nvSpPr>
        <p:spPr>
          <a:xfrm>
            <a:off x="274320" y="1371600"/>
            <a:ext cx="1965960" cy="502920"/>
          </a:xfrm>
          <a:prstGeom prst="rect">
            <a:avLst/>
          </a:prstGeom>
          <a:noFill/>
          <a:ln/>
        </p:spPr>
        <p:txBody>
          <a:bodyPr wrap="square" rtlCol="0" anchor="ctr"/>
          <a:lstStyle/>
          <a:p>
            <a:pPr marL="0" indent="0" algn="ctr">
              <a:buNone/>
            </a:pPr>
            <a:r>
              <a:rPr lang="es-CO" sz="1050" b="1" noProof="0" dirty="0">
                <a:solidFill>
                  <a:srgbClr val="FFFFFF"/>
                </a:solidFill>
              </a:rPr>
              <a:t>Densidad de defectos</a:t>
            </a:r>
            <a:endParaRPr lang="es-CO" sz="1050" noProof="0" dirty="0"/>
          </a:p>
        </p:txBody>
      </p:sp>
      <p:sp>
        <p:nvSpPr>
          <p:cNvPr id="12" name="Text 8"/>
          <p:cNvSpPr/>
          <p:nvPr/>
        </p:nvSpPr>
        <p:spPr>
          <a:xfrm>
            <a:off x="274320" y="1828800"/>
            <a:ext cx="1965960" cy="411480"/>
          </a:xfrm>
          <a:prstGeom prst="rect">
            <a:avLst/>
          </a:prstGeom>
          <a:noFill/>
          <a:ln/>
        </p:spPr>
        <p:txBody>
          <a:bodyPr wrap="square" rtlCol="0" anchor="ctr"/>
          <a:lstStyle/>
          <a:p>
            <a:pPr marL="0" indent="0" algn="ctr">
              <a:buNone/>
            </a:pPr>
            <a:r>
              <a:rPr lang="es-CO" sz="900" i="1" noProof="0" dirty="0">
                <a:solidFill>
                  <a:srgbClr val="C9A227"/>
                </a:solidFill>
              </a:rPr>
              <a:t>Defectos por KLOC o por FP</a:t>
            </a:r>
            <a:endParaRPr lang="es-CO" sz="900" noProof="0" dirty="0"/>
          </a:p>
        </p:txBody>
      </p:sp>
      <p:sp>
        <p:nvSpPr>
          <p:cNvPr id="13" name="Shape 9"/>
          <p:cNvSpPr/>
          <p:nvPr/>
        </p:nvSpPr>
        <p:spPr>
          <a:xfrm>
            <a:off x="2450592" y="1298448"/>
            <a:ext cx="1965960" cy="1005840"/>
          </a:xfrm>
          <a:prstGeom prst="rect">
            <a:avLst/>
          </a:prstGeom>
          <a:solidFill>
            <a:srgbClr val="0D1F4E"/>
          </a:solidFill>
          <a:ln w="19050">
            <a:solidFill>
              <a:srgbClr val="C9A227"/>
            </a:solidFill>
            <a:prstDash val="solid"/>
          </a:ln>
        </p:spPr>
        <p:txBody>
          <a:bodyPr/>
          <a:lstStyle/>
          <a:p>
            <a:endParaRPr lang="es-CO" noProof="0" dirty="0"/>
          </a:p>
        </p:txBody>
      </p:sp>
      <p:sp>
        <p:nvSpPr>
          <p:cNvPr id="14" name="Text 10"/>
          <p:cNvSpPr/>
          <p:nvPr/>
        </p:nvSpPr>
        <p:spPr>
          <a:xfrm>
            <a:off x="2450592" y="1371600"/>
            <a:ext cx="1965960" cy="502920"/>
          </a:xfrm>
          <a:prstGeom prst="rect">
            <a:avLst/>
          </a:prstGeom>
          <a:noFill/>
          <a:ln/>
        </p:spPr>
        <p:txBody>
          <a:bodyPr wrap="square" rtlCol="0" anchor="ctr"/>
          <a:lstStyle/>
          <a:p>
            <a:pPr marL="0" indent="0" algn="ctr">
              <a:buNone/>
            </a:pPr>
            <a:r>
              <a:rPr lang="es-CO" sz="1050" b="1" noProof="0" dirty="0">
                <a:solidFill>
                  <a:srgbClr val="FFFFFF"/>
                </a:solidFill>
              </a:rPr>
              <a:t>Costo de calidad</a:t>
            </a:r>
            <a:endParaRPr lang="es-CO" sz="1050" noProof="0" dirty="0"/>
          </a:p>
        </p:txBody>
      </p:sp>
      <p:sp>
        <p:nvSpPr>
          <p:cNvPr id="15" name="Text 11"/>
          <p:cNvSpPr/>
          <p:nvPr/>
        </p:nvSpPr>
        <p:spPr>
          <a:xfrm>
            <a:off x="2450592" y="1828800"/>
            <a:ext cx="1965960" cy="411480"/>
          </a:xfrm>
          <a:prstGeom prst="rect">
            <a:avLst/>
          </a:prstGeom>
          <a:noFill/>
          <a:ln/>
        </p:spPr>
        <p:txBody>
          <a:bodyPr wrap="square" rtlCol="0" anchor="ctr"/>
          <a:lstStyle/>
          <a:p>
            <a:pPr marL="0" indent="0" algn="ctr">
              <a:buNone/>
            </a:pPr>
            <a:r>
              <a:rPr lang="es-CO" sz="900" i="1" noProof="0" dirty="0">
                <a:solidFill>
                  <a:srgbClr val="C9A227"/>
                </a:solidFill>
              </a:rPr>
              <a:t>% costo real del proyecto</a:t>
            </a:r>
            <a:endParaRPr lang="es-CO" sz="900" noProof="0" dirty="0"/>
          </a:p>
        </p:txBody>
      </p:sp>
      <p:sp>
        <p:nvSpPr>
          <p:cNvPr id="16" name="Shape 12"/>
          <p:cNvSpPr/>
          <p:nvPr/>
        </p:nvSpPr>
        <p:spPr>
          <a:xfrm>
            <a:off x="4626864" y="1298448"/>
            <a:ext cx="1965960" cy="1005840"/>
          </a:xfrm>
          <a:prstGeom prst="rect">
            <a:avLst/>
          </a:prstGeom>
          <a:solidFill>
            <a:srgbClr val="0D1F4E"/>
          </a:solidFill>
          <a:ln w="19050">
            <a:solidFill>
              <a:srgbClr val="C9A227"/>
            </a:solidFill>
            <a:prstDash val="solid"/>
          </a:ln>
        </p:spPr>
        <p:txBody>
          <a:bodyPr/>
          <a:lstStyle/>
          <a:p>
            <a:endParaRPr lang="es-CO" noProof="0" dirty="0"/>
          </a:p>
        </p:txBody>
      </p:sp>
      <p:sp>
        <p:nvSpPr>
          <p:cNvPr id="17" name="Text 13"/>
          <p:cNvSpPr/>
          <p:nvPr/>
        </p:nvSpPr>
        <p:spPr>
          <a:xfrm>
            <a:off x="4626864" y="1371600"/>
            <a:ext cx="1965960" cy="502920"/>
          </a:xfrm>
          <a:prstGeom prst="rect">
            <a:avLst/>
          </a:prstGeom>
          <a:noFill/>
          <a:ln/>
        </p:spPr>
        <p:txBody>
          <a:bodyPr wrap="square" rtlCol="0" anchor="ctr"/>
          <a:lstStyle/>
          <a:p>
            <a:pPr marL="0" indent="0" algn="ctr">
              <a:buNone/>
            </a:pPr>
            <a:r>
              <a:rPr lang="es-CO" sz="1050" b="1" noProof="0" dirty="0">
                <a:solidFill>
                  <a:srgbClr val="FFFFFF"/>
                </a:solidFill>
              </a:rPr>
              <a:t>Variación de costo</a:t>
            </a:r>
            <a:endParaRPr lang="es-CO" sz="1050" noProof="0" dirty="0"/>
          </a:p>
        </p:txBody>
      </p:sp>
      <p:sp>
        <p:nvSpPr>
          <p:cNvPr id="18" name="Text 14"/>
          <p:cNvSpPr/>
          <p:nvPr/>
        </p:nvSpPr>
        <p:spPr>
          <a:xfrm>
            <a:off x="4626864" y="1828800"/>
            <a:ext cx="1965960" cy="411480"/>
          </a:xfrm>
          <a:prstGeom prst="rect">
            <a:avLst/>
          </a:prstGeom>
          <a:noFill/>
          <a:ln/>
        </p:spPr>
        <p:txBody>
          <a:bodyPr wrap="square" rtlCol="0" anchor="ctr"/>
          <a:lstStyle/>
          <a:p>
            <a:pPr marL="0" indent="0" algn="ctr">
              <a:buNone/>
            </a:pPr>
            <a:r>
              <a:rPr lang="es-CO" sz="900" i="1" noProof="0" dirty="0">
                <a:solidFill>
                  <a:srgbClr val="C9A227"/>
                </a:solidFill>
              </a:rPr>
              <a:t>Real vs planificado</a:t>
            </a:r>
            <a:endParaRPr lang="es-CO" sz="900" noProof="0" dirty="0"/>
          </a:p>
        </p:txBody>
      </p:sp>
      <p:sp>
        <p:nvSpPr>
          <p:cNvPr id="19" name="Shape 15"/>
          <p:cNvSpPr/>
          <p:nvPr/>
        </p:nvSpPr>
        <p:spPr>
          <a:xfrm>
            <a:off x="6803136" y="1298448"/>
            <a:ext cx="1965960" cy="1005840"/>
          </a:xfrm>
          <a:prstGeom prst="rect">
            <a:avLst/>
          </a:prstGeom>
          <a:solidFill>
            <a:srgbClr val="0D1F4E"/>
          </a:solidFill>
          <a:ln w="19050">
            <a:solidFill>
              <a:srgbClr val="C9A227"/>
            </a:solidFill>
            <a:prstDash val="solid"/>
          </a:ln>
        </p:spPr>
        <p:txBody>
          <a:bodyPr/>
          <a:lstStyle/>
          <a:p>
            <a:endParaRPr lang="es-CO" noProof="0" dirty="0"/>
          </a:p>
        </p:txBody>
      </p:sp>
      <p:sp>
        <p:nvSpPr>
          <p:cNvPr id="20" name="Text 16"/>
          <p:cNvSpPr/>
          <p:nvPr/>
        </p:nvSpPr>
        <p:spPr>
          <a:xfrm>
            <a:off x="6803136" y="1371600"/>
            <a:ext cx="1965960" cy="502920"/>
          </a:xfrm>
          <a:prstGeom prst="rect">
            <a:avLst/>
          </a:prstGeom>
          <a:noFill/>
          <a:ln/>
        </p:spPr>
        <p:txBody>
          <a:bodyPr wrap="square" rtlCol="0" anchor="ctr"/>
          <a:lstStyle/>
          <a:p>
            <a:pPr marL="0" indent="0" algn="ctr">
              <a:buNone/>
            </a:pPr>
            <a:r>
              <a:rPr lang="es-CO" sz="1050" b="1" noProof="0" dirty="0">
                <a:solidFill>
                  <a:srgbClr val="FFFFFF"/>
                </a:solidFill>
              </a:rPr>
              <a:t>Satisfacción cliente</a:t>
            </a:r>
            <a:endParaRPr lang="es-CO" sz="1050" noProof="0" dirty="0"/>
          </a:p>
        </p:txBody>
      </p:sp>
      <p:sp>
        <p:nvSpPr>
          <p:cNvPr id="21" name="Text 17"/>
          <p:cNvSpPr/>
          <p:nvPr/>
        </p:nvSpPr>
        <p:spPr>
          <a:xfrm>
            <a:off x="6803136" y="1828800"/>
            <a:ext cx="1965960" cy="411480"/>
          </a:xfrm>
          <a:prstGeom prst="rect">
            <a:avLst/>
          </a:prstGeom>
          <a:noFill/>
          <a:ln/>
        </p:spPr>
        <p:txBody>
          <a:bodyPr wrap="square" rtlCol="0" anchor="ctr"/>
          <a:lstStyle/>
          <a:p>
            <a:pPr marL="0" indent="0" algn="ctr">
              <a:buNone/>
            </a:pPr>
            <a:r>
              <a:rPr lang="es-CO" sz="900" i="1" noProof="0" dirty="0">
                <a:solidFill>
                  <a:srgbClr val="C9A227"/>
                </a:solidFill>
              </a:rPr>
              <a:t>% clientes satisfechos</a:t>
            </a:r>
            <a:endParaRPr lang="es-CO" sz="900" noProof="0" dirty="0"/>
          </a:p>
        </p:txBody>
      </p:sp>
      <p:sp>
        <p:nvSpPr>
          <p:cNvPr id="22" name="Text 18"/>
          <p:cNvSpPr/>
          <p:nvPr/>
        </p:nvSpPr>
        <p:spPr>
          <a:xfrm>
            <a:off x="320040" y="2450592"/>
            <a:ext cx="8321040" cy="320040"/>
          </a:xfrm>
          <a:prstGeom prst="rect">
            <a:avLst/>
          </a:prstGeom>
          <a:noFill/>
          <a:ln/>
        </p:spPr>
        <p:txBody>
          <a:bodyPr wrap="square" rtlCol="0" anchor="ctr"/>
          <a:lstStyle/>
          <a:p>
            <a:pPr marL="0" indent="0">
              <a:buNone/>
            </a:pPr>
            <a:r>
              <a:rPr lang="es-CO" sz="1200" b="1" noProof="0" dirty="0">
                <a:solidFill>
                  <a:srgbClr val="0D1F4E"/>
                </a:solidFill>
              </a:rPr>
              <a:t>Ciclo de Mejora Continua</a:t>
            </a:r>
            <a:endParaRPr lang="es-CO" sz="1200" noProof="0" dirty="0"/>
          </a:p>
        </p:txBody>
      </p:sp>
      <p:sp>
        <p:nvSpPr>
          <p:cNvPr id="23" name="Shape 19"/>
          <p:cNvSpPr/>
          <p:nvPr/>
        </p:nvSpPr>
        <p:spPr>
          <a:xfrm>
            <a:off x="960120" y="2816352"/>
            <a:ext cx="594360" cy="594360"/>
          </a:xfrm>
          <a:prstGeom prst="ellipse">
            <a:avLst/>
          </a:prstGeom>
          <a:solidFill>
            <a:srgbClr val="C9A227"/>
          </a:solidFill>
          <a:ln w="12700">
            <a:solidFill>
              <a:srgbClr val="B8860B"/>
            </a:solidFill>
            <a:prstDash val="solid"/>
          </a:ln>
        </p:spPr>
        <p:txBody>
          <a:bodyPr/>
          <a:lstStyle/>
          <a:p>
            <a:endParaRPr lang="es-CO" noProof="0" dirty="0"/>
          </a:p>
        </p:txBody>
      </p:sp>
      <p:sp>
        <p:nvSpPr>
          <p:cNvPr id="24" name="Text 20"/>
          <p:cNvSpPr/>
          <p:nvPr/>
        </p:nvSpPr>
        <p:spPr>
          <a:xfrm>
            <a:off x="960120" y="2816352"/>
            <a:ext cx="594360" cy="594360"/>
          </a:xfrm>
          <a:prstGeom prst="rect">
            <a:avLst/>
          </a:prstGeom>
          <a:noFill/>
          <a:ln/>
        </p:spPr>
        <p:txBody>
          <a:bodyPr wrap="square" rtlCol="0" anchor="ctr"/>
          <a:lstStyle/>
          <a:p>
            <a:pPr marL="0" indent="0" algn="ctr">
              <a:buNone/>
            </a:pPr>
            <a:r>
              <a:rPr lang="es-CO" sz="1400" b="1" noProof="0" dirty="0">
                <a:solidFill>
                  <a:srgbClr val="061237"/>
                </a:solidFill>
              </a:rPr>
              <a:t>1</a:t>
            </a:r>
            <a:endParaRPr lang="es-CO" sz="1400" noProof="0" dirty="0"/>
          </a:p>
        </p:txBody>
      </p:sp>
      <p:sp>
        <p:nvSpPr>
          <p:cNvPr id="25" name="Shape 21"/>
          <p:cNvSpPr/>
          <p:nvPr/>
        </p:nvSpPr>
        <p:spPr>
          <a:xfrm>
            <a:off x="274320" y="3410712"/>
            <a:ext cx="1965960" cy="411480"/>
          </a:xfrm>
          <a:prstGeom prst="rect">
            <a:avLst/>
          </a:prstGeom>
          <a:solidFill>
            <a:srgbClr val="1C3270"/>
          </a:solidFill>
          <a:ln w="12700">
            <a:solidFill>
              <a:srgbClr val="1C3270"/>
            </a:solidFill>
            <a:prstDash val="solid"/>
          </a:ln>
        </p:spPr>
        <p:txBody>
          <a:bodyPr/>
          <a:lstStyle/>
          <a:p>
            <a:endParaRPr lang="es-CO" noProof="0" dirty="0"/>
          </a:p>
        </p:txBody>
      </p:sp>
      <p:sp>
        <p:nvSpPr>
          <p:cNvPr id="26" name="Text 22"/>
          <p:cNvSpPr/>
          <p:nvPr/>
        </p:nvSpPr>
        <p:spPr>
          <a:xfrm>
            <a:off x="274320" y="3410712"/>
            <a:ext cx="1965960" cy="411480"/>
          </a:xfrm>
          <a:prstGeom prst="rect">
            <a:avLst/>
          </a:prstGeom>
          <a:noFill/>
          <a:ln/>
        </p:spPr>
        <p:txBody>
          <a:bodyPr wrap="square" rtlCol="0" anchor="ctr"/>
          <a:lstStyle/>
          <a:p>
            <a:pPr marL="0" indent="0" algn="ctr">
              <a:buNone/>
            </a:pPr>
            <a:r>
              <a:rPr lang="es-CO" sz="1100" b="1" noProof="0" dirty="0">
                <a:solidFill>
                  <a:srgbClr val="FFFFFF"/>
                </a:solidFill>
              </a:rPr>
              <a:t>Medir</a:t>
            </a:r>
            <a:endParaRPr lang="es-CO" sz="1100" noProof="0" dirty="0"/>
          </a:p>
        </p:txBody>
      </p:sp>
      <p:sp>
        <p:nvSpPr>
          <p:cNvPr id="27" name="Text 23"/>
          <p:cNvSpPr/>
          <p:nvPr/>
        </p:nvSpPr>
        <p:spPr>
          <a:xfrm>
            <a:off x="320040" y="3858768"/>
            <a:ext cx="1920240" cy="777240"/>
          </a:xfrm>
          <a:prstGeom prst="rect">
            <a:avLst/>
          </a:prstGeom>
          <a:noFill/>
          <a:ln/>
        </p:spPr>
        <p:txBody>
          <a:bodyPr wrap="square" rtlCol="0" anchor="ctr"/>
          <a:lstStyle/>
          <a:p>
            <a:pPr marL="0" indent="0" algn="ctr">
              <a:buNone/>
            </a:pPr>
            <a:r>
              <a:rPr lang="es-CO" sz="900" noProof="0" dirty="0">
                <a:solidFill>
                  <a:srgbClr val="34495E"/>
                </a:solidFill>
              </a:rPr>
              <a:t>Contar defectos atribuibles a requisitos y el costo de corrección.</a:t>
            </a:r>
            <a:endParaRPr lang="es-CO" sz="900" noProof="0" dirty="0"/>
          </a:p>
        </p:txBody>
      </p:sp>
      <p:sp>
        <p:nvSpPr>
          <p:cNvPr id="28" name="Shape 24"/>
          <p:cNvSpPr/>
          <p:nvPr/>
        </p:nvSpPr>
        <p:spPr>
          <a:xfrm>
            <a:off x="3136392" y="2816352"/>
            <a:ext cx="594360" cy="594360"/>
          </a:xfrm>
          <a:prstGeom prst="ellipse">
            <a:avLst/>
          </a:prstGeom>
          <a:solidFill>
            <a:srgbClr val="C9A227"/>
          </a:solidFill>
          <a:ln w="12700">
            <a:solidFill>
              <a:srgbClr val="B8860B"/>
            </a:solidFill>
            <a:prstDash val="solid"/>
          </a:ln>
        </p:spPr>
        <p:txBody>
          <a:bodyPr/>
          <a:lstStyle/>
          <a:p>
            <a:endParaRPr lang="es-CO" noProof="0" dirty="0"/>
          </a:p>
        </p:txBody>
      </p:sp>
      <p:sp>
        <p:nvSpPr>
          <p:cNvPr id="29" name="Text 25"/>
          <p:cNvSpPr/>
          <p:nvPr/>
        </p:nvSpPr>
        <p:spPr>
          <a:xfrm>
            <a:off x="3136392" y="2816352"/>
            <a:ext cx="594360" cy="594360"/>
          </a:xfrm>
          <a:prstGeom prst="rect">
            <a:avLst/>
          </a:prstGeom>
          <a:noFill/>
          <a:ln/>
        </p:spPr>
        <p:txBody>
          <a:bodyPr wrap="square" rtlCol="0" anchor="ctr"/>
          <a:lstStyle/>
          <a:p>
            <a:pPr marL="0" indent="0" algn="ctr">
              <a:buNone/>
            </a:pPr>
            <a:r>
              <a:rPr lang="es-CO" sz="1400" b="1" noProof="0" dirty="0">
                <a:solidFill>
                  <a:srgbClr val="061237"/>
                </a:solidFill>
              </a:rPr>
              <a:t>2</a:t>
            </a:r>
            <a:endParaRPr lang="es-CO" sz="1400" noProof="0" dirty="0"/>
          </a:p>
        </p:txBody>
      </p:sp>
      <p:sp>
        <p:nvSpPr>
          <p:cNvPr id="30" name="Shape 26"/>
          <p:cNvSpPr/>
          <p:nvPr/>
        </p:nvSpPr>
        <p:spPr>
          <a:xfrm>
            <a:off x="2450592" y="3410712"/>
            <a:ext cx="1965960" cy="411480"/>
          </a:xfrm>
          <a:prstGeom prst="rect">
            <a:avLst/>
          </a:prstGeom>
          <a:solidFill>
            <a:srgbClr val="1C3270"/>
          </a:solidFill>
          <a:ln w="12700">
            <a:solidFill>
              <a:srgbClr val="1C3270"/>
            </a:solidFill>
            <a:prstDash val="solid"/>
          </a:ln>
        </p:spPr>
        <p:txBody>
          <a:bodyPr/>
          <a:lstStyle/>
          <a:p>
            <a:endParaRPr lang="es-CO" noProof="0" dirty="0"/>
          </a:p>
        </p:txBody>
      </p:sp>
      <p:sp>
        <p:nvSpPr>
          <p:cNvPr id="31" name="Text 27"/>
          <p:cNvSpPr/>
          <p:nvPr/>
        </p:nvSpPr>
        <p:spPr>
          <a:xfrm>
            <a:off x="2450592" y="3410712"/>
            <a:ext cx="1965960" cy="411480"/>
          </a:xfrm>
          <a:prstGeom prst="rect">
            <a:avLst/>
          </a:prstGeom>
          <a:noFill/>
          <a:ln/>
        </p:spPr>
        <p:txBody>
          <a:bodyPr wrap="square" rtlCol="0" anchor="ctr"/>
          <a:lstStyle/>
          <a:p>
            <a:pPr marL="0" indent="0" algn="ctr">
              <a:buNone/>
            </a:pPr>
            <a:r>
              <a:rPr lang="es-CO" sz="1100" b="1" noProof="0" dirty="0">
                <a:solidFill>
                  <a:srgbClr val="FFFFFF"/>
                </a:solidFill>
              </a:rPr>
              <a:t>Analizar</a:t>
            </a:r>
            <a:endParaRPr lang="es-CO" sz="1100" noProof="0" dirty="0"/>
          </a:p>
        </p:txBody>
      </p:sp>
      <p:sp>
        <p:nvSpPr>
          <p:cNvPr id="32" name="Text 28"/>
          <p:cNvSpPr/>
          <p:nvPr/>
        </p:nvSpPr>
        <p:spPr>
          <a:xfrm>
            <a:off x="2496312" y="3858768"/>
            <a:ext cx="1920240" cy="777240"/>
          </a:xfrm>
          <a:prstGeom prst="rect">
            <a:avLst/>
          </a:prstGeom>
          <a:noFill/>
          <a:ln/>
        </p:spPr>
        <p:txBody>
          <a:bodyPr wrap="square" rtlCol="0" anchor="ctr"/>
          <a:lstStyle/>
          <a:p>
            <a:pPr marL="0" indent="0" algn="ctr">
              <a:buNone/>
            </a:pPr>
            <a:r>
              <a:rPr lang="es-CO" sz="900" noProof="0" dirty="0">
                <a:solidFill>
                  <a:srgbClr val="34495E"/>
                </a:solidFill>
              </a:rPr>
              <a:t>Identificar requisitos con mayor densidad de defectos o retrabajo.</a:t>
            </a:r>
            <a:endParaRPr lang="es-CO" sz="900" noProof="0" dirty="0"/>
          </a:p>
        </p:txBody>
      </p:sp>
      <p:sp>
        <p:nvSpPr>
          <p:cNvPr id="33" name="Shape 29"/>
          <p:cNvSpPr/>
          <p:nvPr/>
        </p:nvSpPr>
        <p:spPr>
          <a:xfrm>
            <a:off x="5312664" y="2816352"/>
            <a:ext cx="594360" cy="594360"/>
          </a:xfrm>
          <a:prstGeom prst="ellipse">
            <a:avLst/>
          </a:prstGeom>
          <a:solidFill>
            <a:srgbClr val="C9A227"/>
          </a:solidFill>
          <a:ln w="12700">
            <a:solidFill>
              <a:srgbClr val="B8860B"/>
            </a:solidFill>
            <a:prstDash val="solid"/>
          </a:ln>
        </p:spPr>
        <p:txBody>
          <a:bodyPr/>
          <a:lstStyle/>
          <a:p>
            <a:endParaRPr lang="es-CO" noProof="0" dirty="0"/>
          </a:p>
        </p:txBody>
      </p:sp>
      <p:sp>
        <p:nvSpPr>
          <p:cNvPr id="34" name="Text 30"/>
          <p:cNvSpPr/>
          <p:nvPr/>
        </p:nvSpPr>
        <p:spPr>
          <a:xfrm>
            <a:off x="5312664" y="2816352"/>
            <a:ext cx="594360" cy="594360"/>
          </a:xfrm>
          <a:prstGeom prst="rect">
            <a:avLst/>
          </a:prstGeom>
          <a:noFill/>
          <a:ln/>
        </p:spPr>
        <p:txBody>
          <a:bodyPr wrap="square" rtlCol="0" anchor="ctr"/>
          <a:lstStyle/>
          <a:p>
            <a:pPr marL="0" indent="0" algn="ctr">
              <a:buNone/>
            </a:pPr>
            <a:r>
              <a:rPr lang="es-CO" sz="1400" b="1" noProof="0" dirty="0">
                <a:solidFill>
                  <a:srgbClr val="061237"/>
                </a:solidFill>
              </a:rPr>
              <a:t>3</a:t>
            </a:r>
            <a:endParaRPr lang="es-CO" sz="1400" noProof="0" dirty="0"/>
          </a:p>
        </p:txBody>
      </p:sp>
      <p:sp>
        <p:nvSpPr>
          <p:cNvPr id="35" name="Shape 31"/>
          <p:cNvSpPr/>
          <p:nvPr/>
        </p:nvSpPr>
        <p:spPr>
          <a:xfrm>
            <a:off x="4626864" y="3410712"/>
            <a:ext cx="1965960" cy="411480"/>
          </a:xfrm>
          <a:prstGeom prst="rect">
            <a:avLst/>
          </a:prstGeom>
          <a:solidFill>
            <a:srgbClr val="1C3270"/>
          </a:solidFill>
          <a:ln w="12700">
            <a:solidFill>
              <a:srgbClr val="1C3270"/>
            </a:solidFill>
            <a:prstDash val="solid"/>
          </a:ln>
        </p:spPr>
        <p:txBody>
          <a:bodyPr/>
          <a:lstStyle/>
          <a:p>
            <a:endParaRPr lang="es-CO" noProof="0" dirty="0"/>
          </a:p>
        </p:txBody>
      </p:sp>
      <p:sp>
        <p:nvSpPr>
          <p:cNvPr id="36" name="Text 32"/>
          <p:cNvSpPr/>
          <p:nvPr/>
        </p:nvSpPr>
        <p:spPr>
          <a:xfrm>
            <a:off x="4626864" y="3410712"/>
            <a:ext cx="1965960" cy="411480"/>
          </a:xfrm>
          <a:prstGeom prst="rect">
            <a:avLst/>
          </a:prstGeom>
          <a:noFill/>
          <a:ln/>
        </p:spPr>
        <p:txBody>
          <a:bodyPr wrap="square" rtlCol="0" anchor="ctr"/>
          <a:lstStyle/>
          <a:p>
            <a:pPr marL="0" indent="0" algn="ctr">
              <a:buNone/>
            </a:pPr>
            <a:r>
              <a:rPr lang="es-CO" sz="1100" b="1" noProof="0" dirty="0">
                <a:solidFill>
                  <a:srgbClr val="FFFFFF"/>
                </a:solidFill>
              </a:rPr>
              <a:t>Ajustar</a:t>
            </a:r>
            <a:endParaRPr lang="es-CO" sz="1100" noProof="0" dirty="0"/>
          </a:p>
        </p:txBody>
      </p:sp>
      <p:sp>
        <p:nvSpPr>
          <p:cNvPr id="37" name="Text 33"/>
          <p:cNvSpPr/>
          <p:nvPr/>
        </p:nvSpPr>
        <p:spPr>
          <a:xfrm>
            <a:off x="4672584" y="3858768"/>
            <a:ext cx="1920240" cy="777240"/>
          </a:xfrm>
          <a:prstGeom prst="rect">
            <a:avLst/>
          </a:prstGeom>
          <a:noFill/>
          <a:ln/>
        </p:spPr>
        <p:txBody>
          <a:bodyPr wrap="square" rtlCol="0" anchor="ctr"/>
          <a:lstStyle/>
          <a:p>
            <a:pPr marL="0" indent="0" algn="ctr">
              <a:buNone/>
            </a:pPr>
            <a:r>
              <a:rPr lang="es-CO" sz="900" noProof="0" dirty="0">
                <a:solidFill>
                  <a:srgbClr val="34495E"/>
                </a:solidFill>
              </a:rPr>
              <a:t>Mejorar plantillas, revisiones y </a:t>
            </a:r>
            <a:r>
              <a:rPr lang="es-CO" sz="900" noProof="0" dirty="0" err="1">
                <a:solidFill>
                  <a:srgbClr val="34495E"/>
                </a:solidFill>
              </a:rPr>
              <a:t>checklists</a:t>
            </a:r>
            <a:r>
              <a:rPr lang="es-CO" sz="900" noProof="0" dirty="0">
                <a:solidFill>
                  <a:srgbClr val="34495E"/>
                </a:solidFill>
              </a:rPr>
              <a:t> del proceso de especificación.</a:t>
            </a:r>
            <a:endParaRPr lang="es-CO" sz="900" noProof="0" dirty="0"/>
          </a:p>
        </p:txBody>
      </p:sp>
      <p:sp>
        <p:nvSpPr>
          <p:cNvPr id="38" name="Shape 34"/>
          <p:cNvSpPr/>
          <p:nvPr/>
        </p:nvSpPr>
        <p:spPr>
          <a:xfrm>
            <a:off x="7488936" y="2816352"/>
            <a:ext cx="594360" cy="594360"/>
          </a:xfrm>
          <a:prstGeom prst="ellipse">
            <a:avLst/>
          </a:prstGeom>
          <a:solidFill>
            <a:srgbClr val="C9A227"/>
          </a:solidFill>
          <a:ln w="12700">
            <a:solidFill>
              <a:srgbClr val="B8860B"/>
            </a:solidFill>
            <a:prstDash val="solid"/>
          </a:ln>
        </p:spPr>
        <p:txBody>
          <a:bodyPr/>
          <a:lstStyle/>
          <a:p>
            <a:endParaRPr lang="es-CO" noProof="0" dirty="0"/>
          </a:p>
        </p:txBody>
      </p:sp>
      <p:sp>
        <p:nvSpPr>
          <p:cNvPr id="39" name="Text 35"/>
          <p:cNvSpPr/>
          <p:nvPr/>
        </p:nvSpPr>
        <p:spPr>
          <a:xfrm>
            <a:off x="7488936" y="2816352"/>
            <a:ext cx="594360" cy="594360"/>
          </a:xfrm>
          <a:prstGeom prst="rect">
            <a:avLst/>
          </a:prstGeom>
          <a:noFill/>
          <a:ln/>
        </p:spPr>
        <p:txBody>
          <a:bodyPr wrap="square" rtlCol="0" anchor="ctr"/>
          <a:lstStyle/>
          <a:p>
            <a:pPr marL="0" indent="0" algn="ctr">
              <a:buNone/>
            </a:pPr>
            <a:r>
              <a:rPr lang="es-CO" sz="1400" b="1" noProof="0" dirty="0">
                <a:solidFill>
                  <a:srgbClr val="061237"/>
                </a:solidFill>
              </a:rPr>
              <a:t>4</a:t>
            </a:r>
            <a:endParaRPr lang="es-CO" sz="1400" noProof="0" dirty="0"/>
          </a:p>
        </p:txBody>
      </p:sp>
      <p:sp>
        <p:nvSpPr>
          <p:cNvPr id="40" name="Shape 36"/>
          <p:cNvSpPr/>
          <p:nvPr/>
        </p:nvSpPr>
        <p:spPr>
          <a:xfrm>
            <a:off x="6803136" y="3410712"/>
            <a:ext cx="1965960" cy="411480"/>
          </a:xfrm>
          <a:prstGeom prst="rect">
            <a:avLst/>
          </a:prstGeom>
          <a:solidFill>
            <a:srgbClr val="1C3270"/>
          </a:solidFill>
          <a:ln w="12700">
            <a:solidFill>
              <a:srgbClr val="1C3270"/>
            </a:solidFill>
            <a:prstDash val="solid"/>
          </a:ln>
        </p:spPr>
        <p:txBody>
          <a:bodyPr/>
          <a:lstStyle/>
          <a:p>
            <a:endParaRPr lang="es-CO" noProof="0" dirty="0"/>
          </a:p>
        </p:txBody>
      </p:sp>
      <p:sp>
        <p:nvSpPr>
          <p:cNvPr id="41" name="Text 37"/>
          <p:cNvSpPr/>
          <p:nvPr/>
        </p:nvSpPr>
        <p:spPr>
          <a:xfrm>
            <a:off x="6803136" y="3410712"/>
            <a:ext cx="1965960" cy="411480"/>
          </a:xfrm>
          <a:prstGeom prst="rect">
            <a:avLst/>
          </a:prstGeom>
          <a:noFill/>
          <a:ln/>
        </p:spPr>
        <p:txBody>
          <a:bodyPr wrap="square" rtlCol="0" anchor="ctr"/>
          <a:lstStyle/>
          <a:p>
            <a:pPr marL="0" indent="0" algn="ctr">
              <a:buNone/>
            </a:pPr>
            <a:r>
              <a:rPr lang="es-CO" sz="1100" b="1" noProof="0" dirty="0">
                <a:solidFill>
                  <a:srgbClr val="FFFFFF"/>
                </a:solidFill>
              </a:rPr>
              <a:t>Institucionalizar</a:t>
            </a:r>
            <a:endParaRPr lang="es-CO" sz="1100" noProof="0" dirty="0"/>
          </a:p>
        </p:txBody>
      </p:sp>
      <p:sp>
        <p:nvSpPr>
          <p:cNvPr id="42" name="Text 38"/>
          <p:cNvSpPr/>
          <p:nvPr/>
        </p:nvSpPr>
        <p:spPr>
          <a:xfrm>
            <a:off x="6848856" y="3858768"/>
            <a:ext cx="1920240" cy="777240"/>
          </a:xfrm>
          <a:prstGeom prst="rect">
            <a:avLst/>
          </a:prstGeom>
          <a:noFill/>
          <a:ln/>
        </p:spPr>
        <p:txBody>
          <a:bodyPr wrap="square" rtlCol="0" anchor="ctr"/>
          <a:lstStyle/>
          <a:p>
            <a:pPr marL="0" indent="0" algn="ctr">
              <a:buNone/>
            </a:pPr>
            <a:r>
              <a:rPr lang="es-CO" sz="900" noProof="0" dirty="0">
                <a:solidFill>
                  <a:srgbClr val="34495E"/>
                </a:solidFill>
              </a:rPr>
              <a:t>Integrar en CMMI, TSP/PSP o el modelo SPI adoptado por la organización.</a:t>
            </a:r>
            <a:endParaRPr lang="es-CO" sz="9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
            <a:ext cx="4281257" cy="584480"/>
          </a:xfrm>
          <a:prstGeom prst="rect">
            <a:avLst/>
          </a:prstGeom>
        </p:spPr>
      </p:pic>
      <p:sp>
        <p:nvSpPr>
          <p:cNvPr id="5" name="Title"/>
          <p:cNvSpPr txBox="1">
            <a:spLocks noGrp="1"/>
          </p:cNvSpPr>
          <p:nvPr>
            <p:ph type="title"/>
          </p:nvPr>
        </p:nvSpPr>
        <p:spPr>
          <a:xfrm>
            <a:off x="98902" y="750000"/>
            <a:ext cx="8625000" cy="240450"/>
          </a:xfrm>
          <a:prstGeom prst="rect">
            <a:avLst/>
          </a:prstGeom>
        </p:spPr>
        <p:txBody>
          <a:bodyPr vert="horz" wrap="square" lIns="0" tIns="9525" rIns="0" bIns="0" rtlCol="0">
            <a:spAutoFit/>
          </a:bodyPr>
          <a:lstStyle/>
          <a:p>
            <a:pPr marL="9525"/>
            <a:r>
              <a:rPr lang="es-CO" sz="1500" b="1" spc="-8" dirty="0">
                <a:solidFill>
                  <a:srgbClr val="003366"/>
                </a:solidFill>
                <a:latin typeface="Calibri"/>
              </a:rPr>
              <a:t>Métricas de Calidad: Indicadores Clave para la Toma de Decisiones</a:t>
            </a:r>
          </a:p>
        </p:txBody>
      </p:sp>
      <p:sp>
        <p:nvSpPr>
          <p:cNvPr id="7" name="Content"/>
          <p:cNvSpPr/>
          <p:nvPr/>
        </p:nvSpPr>
        <p:spPr>
          <a:xfrm>
            <a:off x="315750" y="1215000"/>
            <a:ext cx="8512500" cy="3037500"/>
          </a:xfrm>
          <a:prstGeom prst="rect">
            <a:avLst/>
          </a:prstGeom>
        </p:spPr>
        <p:txBody>
          <a:bodyPr wrap="square" anchor="t"/>
          <a:lstStyle/>
          <a:p>
            <a:pPr marL="171450" indent="-171450" algn="just">
              <a:lnSpc>
                <a:spcPct val="107000"/>
              </a:lnSpc>
              <a:spcAft>
                <a:spcPts val="150"/>
              </a:spcAft>
              <a:buChar char="▪"/>
            </a:pPr>
            <a:r>
              <a:rPr lang="es-CO" sz="1200" dirty="0">
                <a:solidFill>
                  <a:srgbClr val="1A2F5A"/>
                </a:solidFill>
                <a:latin typeface="Calibri"/>
              </a:rPr>
              <a:t>PCC – Porcentaje de Costo de Calidad: PCC = (Costo de Calidad / Costo Real del Proyecto) × 100. Incluye costo de conformidad + costo de no conformidad.</a:t>
            </a:r>
          </a:p>
          <a:p>
            <a:pPr marL="171450" indent="-171450" algn="just">
              <a:lnSpc>
                <a:spcPct val="107000"/>
              </a:lnSpc>
              <a:spcAft>
                <a:spcPts val="150"/>
              </a:spcAft>
              <a:buChar char="▪"/>
            </a:pPr>
            <a:r>
              <a:rPr lang="es-CO" sz="1200" dirty="0">
                <a:solidFill>
                  <a:srgbClr val="1A2F5A"/>
                </a:solidFill>
                <a:latin typeface="Calibri"/>
              </a:rPr>
              <a:t>CDP – Cantidad de Defectos por Proyecto: CDP = Σ(DE). Sumatoria de defectos en todas las fases del ciclo de vida; detectar defectos temprano reduce exponencialmente el retrabajo.</a:t>
            </a:r>
          </a:p>
          <a:p>
            <a:pPr marL="171450" indent="-171450" algn="just">
              <a:lnSpc>
                <a:spcPct val="107000"/>
              </a:lnSpc>
              <a:spcAft>
                <a:spcPts val="150"/>
              </a:spcAft>
              <a:buChar char="▪"/>
            </a:pPr>
            <a:r>
              <a:rPr lang="es-CO" sz="1200" dirty="0">
                <a:solidFill>
                  <a:srgbClr val="1A2F5A"/>
                </a:solidFill>
                <a:latin typeface="Calibri"/>
              </a:rPr>
              <a:t>PVC – Porcentaje de Variación de Costo: PVC = (1 − CR/CP) × 100. Mide la eficiencia en el uso del presupuesto planificado.</a:t>
            </a:r>
          </a:p>
          <a:p>
            <a:pPr marL="171450" indent="-171450" algn="just">
              <a:lnSpc>
                <a:spcPct val="107000"/>
              </a:lnSpc>
              <a:spcAft>
                <a:spcPts val="150"/>
              </a:spcAft>
              <a:buChar char="▪"/>
            </a:pPr>
            <a:r>
              <a:rPr lang="es-CO" sz="1200" dirty="0">
                <a:solidFill>
                  <a:srgbClr val="1A2F5A"/>
                </a:solidFill>
                <a:latin typeface="Calibri"/>
              </a:rPr>
              <a:t>PCS – Porcentaje de Clientes Satisfechos: PCS = (Total Clientes − Clientes con Inconformidad) / Total Clientes × 100.</a:t>
            </a:r>
          </a:p>
          <a:p>
            <a:pPr marL="171450" indent="-171450" algn="just">
              <a:lnSpc>
                <a:spcPct val="107000"/>
              </a:lnSpc>
              <a:spcAft>
                <a:spcPts val="150"/>
              </a:spcAft>
              <a:buChar char="▪"/>
            </a:pPr>
            <a:r>
              <a:rPr lang="es-CO" sz="1200" dirty="0">
                <a:solidFill>
                  <a:srgbClr val="1A2F5A"/>
                </a:solidFill>
                <a:latin typeface="Calibri"/>
              </a:rPr>
              <a:t>La pirámide PSP → TSP → CMMI garantiza trazabilidad desde el trabajo individual del ingeniero hasta los indicadores de negocio de la dirección.</a:t>
            </a:r>
          </a:p>
          <a:p>
            <a:pPr algn="just">
              <a:lnSpc>
                <a:spcPct val="107000"/>
              </a:lnSpc>
              <a:spcAft>
                <a:spcPts val="150"/>
              </a:spcAft>
            </a:pPr>
            <a:endParaRPr lang="es-CO" sz="1200" dirty="0">
              <a:solidFill>
                <a:srgbClr val="1A2F5A"/>
              </a:solidFill>
              <a:latin typeface="Calibri"/>
            </a:endParaRPr>
          </a:p>
          <a:p>
            <a:pPr algn="just">
              <a:lnSpc>
                <a:spcPct val="107000"/>
              </a:lnSpc>
              <a:spcAft>
                <a:spcPts val="150"/>
              </a:spcAft>
            </a:pPr>
            <a:r>
              <a:rPr lang="es-CO" sz="1200" dirty="0"/>
              <a:t>Fenton y Bieman (2014) establecen que la calidad del software se puede medir en términos de densidad de defectos, pero este enfoque es insuficiente si no se complementa con métricas económicas como el costo de calidad y la variación presupuestal. La pirámide de métricas PSP → TSP → CMMI garantiza la trazabilidad desde el trabajo individual del ingeniero hasta los indicadores de negocio que interesan a la dirección. El uso de instrumentos de recolección estandarizados (fichas de registro de datos y cuestionarios de satisfacción) es indispensable para que estas métricas sean comparables entre proyectos y entre periodos de tiempo.</a:t>
            </a:r>
            <a:endParaRPr lang="es-CO" sz="1200" dirty="0">
              <a:solidFill>
                <a:srgbClr val="1A2F5A"/>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502920"/>
          </a:xfrm>
          <a:prstGeom prst="rect">
            <a:avLst/>
          </a:prstGeom>
          <a:noFill/>
          <a:ln/>
        </p:spPr>
        <p:txBody>
          <a:bodyPr wrap="square" rtlCol="0" anchor="ctr"/>
          <a:lstStyle/>
          <a:p>
            <a:pPr marL="0" indent="0">
              <a:buNone/>
            </a:pPr>
            <a:r>
              <a:rPr lang="es-CO" sz="1800" b="1" noProof="0" dirty="0">
                <a:solidFill>
                  <a:srgbClr val="0D1F4E"/>
                </a:solidFill>
              </a:rPr>
              <a:t>Cierre y proyección a la práctica profesional</a:t>
            </a:r>
            <a:endParaRPr lang="es-CO" sz="1800" noProof="0" dirty="0"/>
          </a:p>
        </p:txBody>
      </p:sp>
      <p:sp>
        <p:nvSpPr>
          <p:cNvPr id="10" name="Shape 6"/>
          <p:cNvSpPr/>
          <p:nvPr/>
        </p:nvSpPr>
        <p:spPr>
          <a:xfrm>
            <a:off x="256032" y="1298448"/>
            <a:ext cx="4160520" cy="1554480"/>
          </a:xfrm>
          <a:prstGeom prst="rect">
            <a:avLst/>
          </a:prstGeom>
          <a:solidFill>
            <a:srgbClr val="0D1F4E"/>
          </a:solidFill>
          <a:ln w="19050">
            <a:solidFill>
              <a:srgbClr val="C9A227"/>
            </a:solidFill>
            <a:prstDash val="solid"/>
          </a:ln>
        </p:spPr>
        <p:txBody>
          <a:bodyPr/>
          <a:lstStyle/>
          <a:p>
            <a:endParaRPr lang="es-CO" noProof="0" dirty="0"/>
          </a:p>
        </p:txBody>
      </p:sp>
      <p:sp>
        <p:nvSpPr>
          <p:cNvPr id="11" name="Text 7"/>
          <p:cNvSpPr/>
          <p:nvPr/>
        </p:nvSpPr>
        <p:spPr>
          <a:xfrm>
            <a:off x="438912" y="1435608"/>
            <a:ext cx="3749040" cy="365760"/>
          </a:xfrm>
          <a:prstGeom prst="rect">
            <a:avLst/>
          </a:prstGeom>
          <a:noFill/>
          <a:ln/>
        </p:spPr>
        <p:txBody>
          <a:bodyPr wrap="square" rtlCol="0" anchor="ctr"/>
          <a:lstStyle/>
          <a:p>
            <a:pPr marL="0" indent="0">
              <a:buNone/>
            </a:pPr>
            <a:r>
              <a:rPr lang="es-CO" sz="1300" b="1" noProof="0" dirty="0">
                <a:solidFill>
                  <a:srgbClr val="C9A227"/>
                </a:solidFill>
              </a:rPr>
              <a:t>Síntesis</a:t>
            </a:r>
            <a:endParaRPr lang="es-CO" sz="1300" noProof="0" dirty="0"/>
          </a:p>
        </p:txBody>
      </p:sp>
      <p:sp>
        <p:nvSpPr>
          <p:cNvPr id="12" name="Text 8"/>
          <p:cNvSpPr/>
          <p:nvPr/>
        </p:nvSpPr>
        <p:spPr>
          <a:xfrm>
            <a:off x="438912" y="1847088"/>
            <a:ext cx="3840480" cy="868680"/>
          </a:xfrm>
          <a:prstGeom prst="rect">
            <a:avLst/>
          </a:prstGeom>
          <a:noFill/>
          <a:ln/>
        </p:spPr>
        <p:txBody>
          <a:bodyPr wrap="square" rtlCol="0" anchor="ctr"/>
          <a:lstStyle/>
          <a:p>
            <a:pPr marL="0" indent="0">
              <a:buNone/>
            </a:pPr>
            <a:r>
              <a:rPr lang="es-CO" sz="1050" noProof="0" dirty="0">
                <a:solidFill>
                  <a:srgbClr val="FFFFFF"/>
                </a:solidFill>
              </a:rPr>
              <a:t>IEEE 830, ISO/IEC 12207 y el modelo procedimental de requisitos conforman un conjunto integrado para la calidad.</a:t>
            </a:r>
            <a:endParaRPr lang="es-CO" sz="1050" noProof="0" dirty="0"/>
          </a:p>
        </p:txBody>
      </p:sp>
      <p:sp>
        <p:nvSpPr>
          <p:cNvPr id="13" name="Shape 9"/>
          <p:cNvSpPr/>
          <p:nvPr/>
        </p:nvSpPr>
        <p:spPr>
          <a:xfrm>
            <a:off x="4690872" y="1298448"/>
            <a:ext cx="4160520" cy="1554480"/>
          </a:xfrm>
          <a:prstGeom prst="rect">
            <a:avLst/>
          </a:prstGeom>
          <a:solidFill>
            <a:srgbClr val="1C3270"/>
          </a:solidFill>
          <a:ln w="19050">
            <a:solidFill>
              <a:srgbClr val="C9A227"/>
            </a:solidFill>
            <a:prstDash val="solid"/>
          </a:ln>
        </p:spPr>
        <p:txBody>
          <a:bodyPr/>
          <a:lstStyle/>
          <a:p>
            <a:endParaRPr lang="es-CO" noProof="0" dirty="0"/>
          </a:p>
        </p:txBody>
      </p:sp>
      <p:sp>
        <p:nvSpPr>
          <p:cNvPr id="14" name="Text 10"/>
          <p:cNvSpPr/>
          <p:nvPr/>
        </p:nvSpPr>
        <p:spPr>
          <a:xfrm>
            <a:off x="4873752" y="1435608"/>
            <a:ext cx="3749040" cy="365760"/>
          </a:xfrm>
          <a:prstGeom prst="rect">
            <a:avLst/>
          </a:prstGeom>
          <a:noFill/>
          <a:ln/>
        </p:spPr>
        <p:txBody>
          <a:bodyPr wrap="square" rtlCol="0" anchor="ctr"/>
          <a:lstStyle/>
          <a:p>
            <a:pPr marL="0" indent="0">
              <a:buNone/>
            </a:pPr>
            <a:r>
              <a:rPr lang="es-CO" sz="1300" b="1" noProof="0" dirty="0">
                <a:solidFill>
                  <a:srgbClr val="C9A227"/>
                </a:solidFill>
              </a:rPr>
              <a:t>Beneficios</a:t>
            </a:r>
            <a:endParaRPr lang="es-CO" sz="1300" noProof="0" dirty="0"/>
          </a:p>
        </p:txBody>
      </p:sp>
      <p:sp>
        <p:nvSpPr>
          <p:cNvPr id="15" name="Text 11"/>
          <p:cNvSpPr/>
          <p:nvPr/>
        </p:nvSpPr>
        <p:spPr>
          <a:xfrm>
            <a:off x="4873752" y="1847088"/>
            <a:ext cx="3840480" cy="868680"/>
          </a:xfrm>
          <a:prstGeom prst="rect">
            <a:avLst/>
          </a:prstGeom>
          <a:noFill/>
          <a:ln/>
        </p:spPr>
        <p:txBody>
          <a:bodyPr wrap="square" rtlCol="0" anchor="ctr"/>
          <a:lstStyle/>
          <a:p>
            <a:pPr marL="0" indent="0">
              <a:buNone/>
            </a:pPr>
            <a:r>
              <a:rPr lang="es-CO" sz="1050" noProof="0" dirty="0">
                <a:solidFill>
                  <a:srgbClr val="FFFFFF"/>
                </a:solidFill>
              </a:rPr>
              <a:t>Menos defectos, mejor trazabilidad, mayor alineación con el negocio y reducción del costo de calidad.</a:t>
            </a:r>
            <a:endParaRPr lang="es-CO" sz="1050" noProof="0" dirty="0"/>
          </a:p>
        </p:txBody>
      </p:sp>
      <p:sp>
        <p:nvSpPr>
          <p:cNvPr id="16" name="Shape 12"/>
          <p:cNvSpPr/>
          <p:nvPr/>
        </p:nvSpPr>
        <p:spPr>
          <a:xfrm>
            <a:off x="256032" y="2990088"/>
            <a:ext cx="4160520" cy="1554480"/>
          </a:xfrm>
          <a:prstGeom prst="rect">
            <a:avLst/>
          </a:prstGeom>
          <a:solidFill>
            <a:srgbClr val="1A6B54"/>
          </a:solidFill>
          <a:ln w="19050">
            <a:solidFill>
              <a:srgbClr val="C9A227"/>
            </a:solidFill>
            <a:prstDash val="solid"/>
          </a:ln>
        </p:spPr>
        <p:txBody>
          <a:bodyPr/>
          <a:lstStyle/>
          <a:p>
            <a:endParaRPr lang="es-CO" noProof="0" dirty="0"/>
          </a:p>
        </p:txBody>
      </p:sp>
      <p:sp>
        <p:nvSpPr>
          <p:cNvPr id="17" name="Text 13"/>
          <p:cNvSpPr/>
          <p:nvPr/>
        </p:nvSpPr>
        <p:spPr>
          <a:xfrm>
            <a:off x="438912" y="3127248"/>
            <a:ext cx="3749040" cy="365760"/>
          </a:xfrm>
          <a:prstGeom prst="rect">
            <a:avLst/>
          </a:prstGeom>
          <a:noFill/>
          <a:ln/>
        </p:spPr>
        <p:txBody>
          <a:bodyPr wrap="square" rtlCol="0" anchor="ctr"/>
          <a:lstStyle/>
          <a:p>
            <a:pPr marL="0" indent="0">
              <a:buNone/>
            </a:pPr>
            <a:r>
              <a:rPr lang="es-CO" sz="1300" b="1" noProof="0" dirty="0">
                <a:solidFill>
                  <a:srgbClr val="C9A227"/>
                </a:solidFill>
              </a:rPr>
              <a:t>Aplicabilidad</a:t>
            </a:r>
            <a:endParaRPr lang="es-CO" sz="1300" noProof="0" dirty="0"/>
          </a:p>
        </p:txBody>
      </p:sp>
      <p:sp>
        <p:nvSpPr>
          <p:cNvPr id="18" name="Text 14"/>
          <p:cNvSpPr/>
          <p:nvPr/>
        </p:nvSpPr>
        <p:spPr>
          <a:xfrm>
            <a:off x="438912" y="3538728"/>
            <a:ext cx="3840480" cy="868680"/>
          </a:xfrm>
          <a:prstGeom prst="rect">
            <a:avLst/>
          </a:prstGeom>
          <a:noFill/>
          <a:ln/>
        </p:spPr>
        <p:txBody>
          <a:bodyPr wrap="square" rtlCol="0" anchor="ctr"/>
          <a:lstStyle/>
          <a:p>
            <a:pPr marL="0" indent="0">
              <a:buNone/>
            </a:pPr>
            <a:r>
              <a:rPr lang="es-CO" sz="1050" noProof="0" dirty="0">
                <a:solidFill>
                  <a:srgbClr val="FFFFFF"/>
                </a:solidFill>
              </a:rPr>
              <a:t>Desde pymes de software hasta grandes organizaciones globales: startups, bancos, telecomunicaciones.</a:t>
            </a:r>
            <a:endParaRPr lang="es-CO" sz="1050" noProof="0" dirty="0"/>
          </a:p>
        </p:txBody>
      </p:sp>
      <p:sp>
        <p:nvSpPr>
          <p:cNvPr id="19" name="Shape 15"/>
          <p:cNvSpPr/>
          <p:nvPr/>
        </p:nvSpPr>
        <p:spPr>
          <a:xfrm>
            <a:off x="4690872" y="2990088"/>
            <a:ext cx="4160520" cy="1554480"/>
          </a:xfrm>
          <a:prstGeom prst="rect">
            <a:avLst/>
          </a:prstGeom>
          <a:solidFill>
            <a:srgbClr val="6B1A1A"/>
          </a:solidFill>
          <a:ln w="19050">
            <a:solidFill>
              <a:srgbClr val="C9A227"/>
            </a:solidFill>
            <a:prstDash val="solid"/>
          </a:ln>
        </p:spPr>
        <p:txBody>
          <a:bodyPr/>
          <a:lstStyle/>
          <a:p>
            <a:endParaRPr lang="es-CO" noProof="0" dirty="0"/>
          </a:p>
        </p:txBody>
      </p:sp>
      <p:sp>
        <p:nvSpPr>
          <p:cNvPr id="20" name="Text 16"/>
          <p:cNvSpPr/>
          <p:nvPr/>
        </p:nvSpPr>
        <p:spPr>
          <a:xfrm>
            <a:off x="4873752" y="3127248"/>
            <a:ext cx="3749040" cy="365760"/>
          </a:xfrm>
          <a:prstGeom prst="rect">
            <a:avLst/>
          </a:prstGeom>
          <a:noFill/>
          <a:ln/>
        </p:spPr>
        <p:txBody>
          <a:bodyPr wrap="square" rtlCol="0" anchor="ctr"/>
          <a:lstStyle/>
          <a:p>
            <a:pPr marL="0" indent="0">
              <a:buNone/>
            </a:pPr>
            <a:r>
              <a:rPr lang="es-CO" sz="1300" b="1" noProof="0" dirty="0">
                <a:solidFill>
                  <a:srgbClr val="C9A227"/>
                </a:solidFill>
              </a:rPr>
              <a:t>Próximos pasos</a:t>
            </a:r>
            <a:endParaRPr lang="es-CO" sz="1300" noProof="0" dirty="0"/>
          </a:p>
        </p:txBody>
      </p:sp>
      <p:sp>
        <p:nvSpPr>
          <p:cNvPr id="21" name="Text 17"/>
          <p:cNvSpPr/>
          <p:nvPr/>
        </p:nvSpPr>
        <p:spPr>
          <a:xfrm>
            <a:off x="4873752" y="3538728"/>
            <a:ext cx="3840480" cy="868680"/>
          </a:xfrm>
          <a:prstGeom prst="rect">
            <a:avLst/>
          </a:prstGeom>
          <a:noFill/>
          <a:ln/>
        </p:spPr>
        <p:txBody>
          <a:bodyPr wrap="square" rtlCol="0" anchor="ctr"/>
          <a:lstStyle/>
          <a:p>
            <a:pPr marL="0" indent="0">
              <a:buNone/>
            </a:pPr>
            <a:r>
              <a:rPr lang="es-CO" sz="1050" noProof="0" dirty="0">
                <a:solidFill>
                  <a:srgbClr val="FFFFFF"/>
                </a:solidFill>
              </a:rPr>
              <a:t>Profundizar en plantillas, herramientas y métricas de requisitos integradas con modelos SPI.</a:t>
            </a:r>
            <a:endParaRPr lang="es-CO" sz="105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61237">
              <a:alpha val="70000"/>
            </a:srgbClr>
          </a:solidFill>
          <a:ln w="12700">
            <a:solidFill>
              <a:srgbClr val="061237">
                <a:alpha val="70000"/>
              </a:srgbClr>
            </a:solidFill>
            <a:prstDash val="solid"/>
          </a:ln>
        </p:spPr>
        <p:txBody>
          <a:bodyPr/>
          <a:lstStyle/>
          <a:p>
            <a:endParaRPr lang="es-CO" noProof="0" dirty="0"/>
          </a:p>
        </p:txBody>
      </p:sp>
      <p:sp>
        <p:nvSpPr>
          <p:cNvPr id="4" name="Shape 1"/>
          <p:cNvSpPr/>
          <p:nvPr/>
        </p:nvSpPr>
        <p:spPr>
          <a:xfrm rot="-2100000">
            <a:off x="6583680" y="3474720"/>
            <a:ext cx="3657600" cy="164592"/>
          </a:xfrm>
          <a:prstGeom prst="rect">
            <a:avLst/>
          </a:prstGeom>
          <a:solidFill>
            <a:srgbClr val="C9A227"/>
          </a:solidFill>
          <a:ln w="12700">
            <a:solidFill>
              <a:srgbClr val="C9A227"/>
            </a:solidFill>
            <a:prstDash val="solid"/>
          </a:ln>
        </p:spPr>
        <p:txBody>
          <a:bodyPr/>
          <a:lstStyle/>
          <a:p>
            <a:endParaRPr lang="es-CO" noProof="0" dirty="0"/>
          </a:p>
        </p:txBody>
      </p:sp>
      <p:sp>
        <p:nvSpPr>
          <p:cNvPr id="5" name="Shape 2"/>
          <p:cNvSpPr/>
          <p:nvPr/>
        </p:nvSpPr>
        <p:spPr>
          <a:xfrm>
            <a:off x="7772400" y="3474720"/>
            <a:ext cx="1005840" cy="1005840"/>
          </a:xfrm>
          <a:prstGeom prst="ellipse">
            <a:avLst/>
          </a:prstGeom>
          <a:solidFill>
            <a:srgbClr val="C9A227"/>
          </a:solidFill>
          <a:ln w="38100">
            <a:solidFill>
              <a:srgbClr val="B8860B"/>
            </a:solidFill>
            <a:prstDash val="solid"/>
          </a:ln>
        </p:spPr>
        <p:txBody>
          <a:bodyPr/>
          <a:lstStyle/>
          <a:p>
            <a:endParaRPr lang="es-CO" noProof="0" dirty="0"/>
          </a:p>
        </p:txBody>
      </p:sp>
      <p:sp>
        <p:nvSpPr>
          <p:cNvPr id="6" name="Text 3"/>
          <p:cNvSpPr/>
          <p:nvPr/>
        </p:nvSpPr>
        <p:spPr>
          <a:xfrm>
            <a:off x="7772400" y="3474720"/>
            <a:ext cx="1005840" cy="1005840"/>
          </a:xfrm>
          <a:prstGeom prst="rect">
            <a:avLst/>
          </a:prstGeom>
          <a:noFill/>
          <a:ln/>
        </p:spPr>
        <p:txBody>
          <a:bodyPr wrap="square" rtlCol="0" anchor="ctr"/>
          <a:lstStyle/>
          <a:p>
            <a:pPr marL="0" indent="0" algn="ctr">
              <a:buNone/>
            </a:pPr>
            <a:r>
              <a:rPr lang="es-CO" sz="700" b="1" noProof="0" dirty="0">
                <a:solidFill>
                  <a:srgbClr val="061237"/>
                </a:solidFill>
              </a:rPr>
              <a:t>ALTA</a:t>
            </a:r>
            <a:endParaRPr lang="es-CO" sz="700" noProof="0" dirty="0"/>
          </a:p>
          <a:p>
            <a:pPr marL="0" indent="0" algn="ctr">
              <a:buNone/>
            </a:pPr>
            <a:r>
              <a:rPr lang="es-CO" sz="700" b="1" noProof="0" dirty="0">
                <a:solidFill>
                  <a:srgbClr val="061237"/>
                </a:solidFill>
              </a:rPr>
              <a:t>CALIDAD</a:t>
            </a:r>
            <a:endParaRPr lang="es-CO" sz="700" noProof="0" dirty="0"/>
          </a:p>
        </p:txBody>
      </p:sp>
      <p:sp>
        <p:nvSpPr>
          <p:cNvPr id="7" name="Shape 4"/>
          <p:cNvSpPr/>
          <p:nvPr/>
        </p:nvSpPr>
        <p:spPr>
          <a:xfrm>
            <a:off x="0" y="4846320"/>
            <a:ext cx="9144000" cy="297180"/>
          </a:xfrm>
          <a:prstGeom prst="rect">
            <a:avLst/>
          </a:prstGeom>
          <a:solidFill>
            <a:srgbClr val="061237"/>
          </a:solidFill>
          <a:ln w="12700">
            <a:solidFill>
              <a:srgbClr val="061237"/>
            </a:solidFill>
            <a:prstDash val="solid"/>
          </a:ln>
        </p:spPr>
        <p:txBody>
          <a:bodyPr/>
          <a:lstStyle/>
          <a:p>
            <a:endParaRPr lang="es-CO" noProof="0" dirty="0"/>
          </a:p>
        </p:txBody>
      </p:sp>
      <p:sp>
        <p:nvSpPr>
          <p:cNvPr id="8" name="Text 5"/>
          <p:cNvSpPr/>
          <p:nvPr/>
        </p:nvSpPr>
        <p:spPr>
          <a:xfrm>
            <a:off x="137160" y="4864608"/>
            <a:ext cx="27432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6"/>
          <p:cNvSpPr/>
          <p:nvPr/>
        </p:nvSpPr>
        <p:spPr>
          <a:xfrm>
            <a:off x="320040" y="201168"/>
            <a:ext cx="2743200" cy="365760"/>
          </a:xfrm>
          <a:prstGeom prst="rect">
            <a:avLst/>
          </a:prstGeom>
          <a:noFill/>
          <a:ln/>
        </p:spPr>
        <p:txBody>
          <a:bodyPr wrap="square" rtlCol="0" anchor="ctr"/>
          <a:lstStyle/>
          <a:p>
            <a:pPr marL="0" indent="0">
              <a:buNone/>
            </a:pPr>
            <a:r>
              <a:rPr lang="es-CO" sz="1300" b="1" noProof="0" dirty="0">
                <a:solidFill>
                  <a:srgbClr val="FFFFFF"/>
                </a:solidFill>
              </a:rPr>
              <a:t>UNIMINUTO</a:t>
            </a:r>
            <a:endParaRPr lang="es-CO" sz="1300" noProof="0" dirty="0"/>
          </a:p>
        </p:txBody>
      </p:sp>
      <p:sp>
        <p:nvSpPr>
          <p:cNvPr id="10" name="Text 7"/>
          <p:cNvSpPr/>
          <p:nvPr/>
        </p:nvSpPr>
        <p:spPr>
          <a:xfrm>
            <a:off x="914400" y="1737360"/>
            <a:ext cx="7315200" cy="822960"/>
          </a:xfrm>
          <a:prstGeom prst="rect">
            <a:avLst/>
          </a:prstGeom>
          <a:noFill/>
          <a:ln/>
        </p:spPr>
        <p:txBody>
          <a:bodyPr wrap="square" rtlCol="0" anchor="ctr"/>
          <a:lstStyle/>
          <a:p>
            <a:pPr marL="0" indent="0" algn="ctr">
              <a:buNone/>
            </a:pPr>
            <a:r>
              <a:rPr lang="es-CO" sz="3200" b="1" noProof="0" dirty="0">
                <a:solidFill>
                  <a:srgbClr val="C9A227"/>
                </a:solidFill>
                <a:latin typeface="Calibri" pitchFamily="34" charset="0"/>
                <a:ea typeface="Calibri" pitchFamily="34" charset="-122"/>
                <a:cs typeface="Calibri" pitchFamily="34" charset="-120"/>
              </a:rPr>
              <a:t>EJERCICIOS PRÁCTICOS</a:t>
            </a:r>
            <a:endParaRPr lang="es-CO" sz="3200" noProof="0" dirty="0"/>
          </a:p>
        </p:txBody>
      </p:sp>
      <p:sp>
        <p:nvSpPr>
          <p:cNvPr id="11" name="Text 8"/>
          <p:cNvSpPr/>
          <p:nvPr/>
        </p:nvSpPr>
        <p:spPr>
          <a:xfrm>
            <a:off x="1371600" y="2606040"/>
            <a:ext cx="6400800" cy="457200"/>
          </a:xfrm>
          <a:prstGeom prst="rect">
            <a:avLst/>
          </a:prstGeom>
          <a:noFill/>
          <a:ln/>
        </p:spPr>
        <p:txBody>
          <a:bodyPr wrap="square" rtlCol="0" anchor="ctr"/>
          <a:lstStyle/>
          <a:p>
            <a:pPr marL="0" indent="0" algn="ctr">
              <a:buNone/>
            </a:pPr>
            <a:r>
              <a:rPr lang="es-CO" sz="1600" i="1" noProof="0" dirty="0">
                <a:solidFill>
                  <a:srgbClr val="FFFFFF"/>
                </a:solidFill>
              </a:rPr>
              <a:t>Especificación de requisitos del software</a:t>
            </a:r>
            <a:endParaRPr lang="es-CO" sz="1600" noProof="0" dirty="0"/>
          </a:p>
        </p:txBody>
      </p:sp>
      <p:sp>
        <p:nvSpPr>
          <p:cNvPr id="12" name="Text 9"/>
          <p:cNvSpPr/>
          <p:nvPr/>
        </p:nvSpPr>
        <p:spPr>
          <a:xfrm>
            <a:off x="1371600" y="3108960"/>
            <a:ext cx="6400800" cy="365760"/>
          </a:xfrm>
          <a:prstGeom prst="rect">
            <a:avLst/>
          </a:prstGeom>
          <a:noFill/>
          <a:ln/>
        </p:spPr>
        <p:txBody>
          <a:bodyPr wrap="square" rtlCol="0" anchor="ctr"/>
          <a:lstStyle/>
          <a:p>
            <a:pPr marL="0" indent="0" algn="ctr">
              <a:buNone/>
            </a:pPr>
            <a:r>
              <a:rPr lang="es-CO" sz="1100" noProof="0" dirty="0">
                <a:solidFill>
                  <a:srgbClr val="AACCFF"/>
                </a:solidFill>
              </a:rPr>
              <a:t>Estándares y Métricas de Calidad en el Desarrollo de Software</a:t>
            </a:r>
            <a:endParaRPr lang="es-CO" sz="1100" noProof="0" dirty="0"/>
          </a:p>
        </p:txBody>
      </p:sp>
      <p:sp>
        <p:nvSpPr>
          <p:cNvPr id="13" name="Shape 10"/>
          <p:cNvSpPr/>
          <p:nvPr/>
        </p:nvSpPr>
        <p:spPr>
          <a:xfrm>
            <a:off x="2743200" y="2584935"/>
            <a:ext cx="3657600" cy="54864"/>
          </a:xfrm>
          <a:prstGeom prst="rect">
            <a:avLst/>
          </a:prstGeom>
          <a:solidFill>
            <a:srgbClr val="C9A227"/>
          </a:solidFill>
          <a:ln w="12700">
            <a:solidFill>
              <a:srgbClr val="C9A227"/>
            </a:solidFill>
            <a:prstDash val="solid"/>
          </a:ln>
        </p:spPr>
        <p:txBody>
          <a:bodyPr/>
          <a:lstStyle/>
          <a:p>
            <a:endParaRPr lang="es-CO"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914400" cy="411480"/>
          </a:xfrm>
          <a:prstGeom prst="rect">
            <a:avLst/>
          </a:prstGeom>
          <a:solidFill>
            <a:srgbClr val="0D1F4E"/>
          </a:solidFill>
          <a:ln w="12700">
            <a:solidFill>
              <a:srgbClr val="0D1F4E"/>
            </a:solidFill>
            <a:prstDash val="solid"/>
          </a:ln>
        </p:spPr>
        <p:txBody>
          <a:bodyPr/>
          <a:lstStyle/>
          <a:p>
            <a:endParaRPr lang="es-CO" noProof="0" dirty="0"/>
          </a:p>
        </p:txBody>
      </p:sp>
      <p:sp>
        <p:nvSpPr>
          <p:cNvPr id="10" name="Text 6"/>
          <p:cNvSpPr/>
          <p:nvPr/>
        </p:nvSpPr>
        <p:spPr>
          <a:xfrm>
            <a:off x="274320" y="658368"/>
            <a:ext cx="914400" cy="411480"/>
          </a:xfrm>
          <a:prstGeom prst="rect">
            <a:avLst/>
          </a:prstGeom>
          <a:noFill/>
          <a:ln/>
        </p:spPr>
        <p:txBody>
          <a:bodyPr wrap="square" rtlCol="0" anchor="ctr"/>
          <a:lstStyle/>
          <a:p>
            <a:pPr marL="0" indent="0" algn="ctr">
              <a:buNone/>
            </a:pPr>
            <a:r>
              <a:rPr lang="es-CO" sz="1200" b="1" noProof="0" dirty="0">
                <a:solidFill>
                  <a:srgbClr val="C9A227"/>
                </a:solidFill>
              </a:rPr>
              <a:t>EJ. 1</a:t>
            </a:r>
            <a:endParaRPr lang="es-CO" sz="1200" noProof="0" dirty="0"/>
          </a:p>
        </p:txBody>
      </p:sp>
      <p:sp>
        <p:nvSpPr>
          <p:cNvPr id="11" name="Text 7"/>
          <p:cNvSpPr/>
          <p:nvPr/>
        </p:nvSpPr>
        <p:spPr>
          <a:xfrm>
            <a:off x="1325880" y="658368"/>
            <a:ext cx="7498080" cy="411480"/>
          </a:xfrm>
          <a:prstGeom prst="rect">
            <a:avLst/>
          </a:prstGeom>
          <a:noFill/>
          <a:ln/>
        </p:spPr>
        <p:txBody>
          <a:bodyPr wrap="square" rtlCol="0" anchor="ctr"/>
          <a:lstStyle/>
          <a:p>
            <a:pPr marL="0" indent="0">
              <a:buNone/>
            </a:pPr>
            <a:r>
              <a:rPr lang="es-CO" sz="1400" b="1" noProof="0" dirty="0">
                <a:solidFill>
                  <a:srgbClr val="0D1F4E"/>
                </a:solidFill>
              </a:rPr>
              <a:t>Aplicación del modelo procedimental a un sistema de citas médicas en línea</a:t>
            </a:r>
            <a:endParaRPr lang="es-CO" sz="1400" noProof="0" dirty="0"/>
          </a:p>
        </p:txBody>
      </p:sp>
      <p:sp>
        <p:nvSpPr>
          <p:cNvPr id="12" name="Shape 8"/>
          <p:cNvSpPr/>
          <p:nvPr/>
        </p:nvSpPr>
        <p:spPr>
          <a:xfrm>
            <a:off x="274320" y="1170432"/>
            <a:ext cx="8595360" cy="475488"/>
          </a:xfrm>
          <a:prstGeom prst="rect">
            <a:avLst/>
          </a:prstGeom>
          <a:solidFill>
            <a:srgbClr val="1C3270"/>
          </a:solidFill>
          <a:ln w="12700">
            <a:solidFill>
              <a:srgbClr val="1C3270"/>
            </a:solidFill>
            <a:prstDash val="solid"/>
          </a:ln>
        </p:spPr>
        <p:txBody>
          <a:bodyPr/>
          <a:lstStyle/>
          <a:p>
            <a:endParaRPr lang="es-CO" noProof="0" dirty="0"/>
          </a:p>
        </p:txBody>
      </p:sp>
      <p:sp>
        <p:nvSpPr>
          <p:cNvPr id="13" name="Text 9"/>
          <p:cNvSpPr/>
          <p:nvPr/>
        </p:nvSpPr>
        <p:spPr>
          <a:xfrm>
            <a:off x="274320" y="1170432"/>
            <a:ext cx="8595360" cy="475488"/>
          </a:xfrm>
          <a:prstGeom prst="rect">
            <a:avLst/>
          </a:prstGeom>
          <a:noFill/>
          <a:ln/>
        </p:spPr>
        <p:txBody>
          <a:bodyPr wrap="square" rtlCol="0" anchor="ctr"/>
          <a:lstStyle/>
          <a:p>
            <a:pPr marL="0" indent="0" algn="ctr">
              <a:buNone/>
            </a:pPr>
            <a:r>
              <a:rPr lang="es-CO" sz="1300" b="1" noProof="0" dirty="0">
                <a:solidFill>
                  <a:srgbClr val="FFFFFF"/>
                </a:solidFill>
              </a:rPr>
              <a:t>ESCENARIO</a:t>
            </a:r>
            <a:endParaRPr lang="es-CO" sz="1300" noProof="0" dirty="0"/>
          </a:p>
        </p:txBody>
      </p:sp>
      <p:sp>
        <p:nvSpPr>
          <p:cNvPr id="14" name="Text 10"/>
          <p:cNvSpPr/>
          <p:nvPr/>
        </p:nvSpPr>
        <p:spPr>
          <a:xfrm>
            <a:off x="320040" y="1737360"/>
            <a:ext cx="8503920" cy="822960"/>
          </a:xfrm>
          <a:prstGeom prst="rect">
            <a:avLst/>
          </a:prstGeom>
          <a:noFill/>
          <a:ln/>
        </p:spPr>
        <p:txBody>
          <a:bodyPr wrap="square" rtlCol="0" anchor="ctr"/>
          <a:lstStyle/>
          <a:p>
            <a:pPr marL="0" indent="0">
              <a:buNone/>
            </a:pPr>
            <a:r>
              <a:rPr lang="es-CO" sz="1050" noProof="0" dirty="0">
                <a:solidFill>
                  <a:srgbClr val="2C3E50"/>
                </a:solidFill>
              </a:rPr>
              <a:t>Desarrollar un sistema de citas médicas en línea para una clínica privada que permita a pacientes agendar, reprogramar y cancelar citas con médicos desde web o móvil. Se usará en escenarios de recepción física, portal web de pacientes y módulo interno para médicos. Los usuarios principales son pacientes, recepcionistas, médicos y administradores de agenda.</a:t>
            </a:r>
            <a:endParaRPr lang="es-CO" sz="1050" noProof="0" dirty="0"/>
          </a:p>
        </p:txBody>
      </p:sp>
      <p:sp>
        <p:nvSpPr>
          <p:cNvPr id="15" name="Shape 11"/>
          <p:cNvSpPr/>
          <p:nvPr/>
        </p:nvSpPr>
        <p:spPr>
          <a:xfrm>
            <a:off x="274320" y="2697480"/>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16" name="Text 12"/>
          <p:cNvSpPr/>
          <p:nvPr/>
        </p:nvSpPr>
        <p:spPr>
          <a:xfrm>
            <a:off x="274320" y="2697480"/>
            <a:ext cx="301752" cy="301752"/>
          </a:xfrm>
          <a:prstGeom prst="rect">
            <a:avLst/>
          </a:prstGeom>
          <a:noFill/>
          <a:ln/>
        </p:spPr>
        <p:txBody>
          <a:bodyPr wrap="square" rtlCol="0" anchor="ctr"/>
          <a:lstStyle/>
          <a:p>
            <a:pPr marL="0" indent="0" algn="ctr">
              <a:buNone/>
            </a:pPr>
            <a:r>
              <a:rPr lang="es-CO" sz="1000" b="1" noProof="0" dirty="0">
                <a:solidFill>
                  <a:srgbClr val="061237"/>
                </a:solidFill>
              </a:rPr>
              <a:t>1</a:t>
            </a:r>
            <a:endParaRPr lang="es-CO" sz="1000" noProof="0" dirty="0"/>
          </a:p>
        </p:txBody>
      </p:sp>
      <p:sp>
        <p:nvSpPr>
          <p:cNvPr id="17" name="Text 13"/>
          <p:cNvSpPr/>
          <p:nvPr/>
        </p:nvSpPr>
        <p:spPr>
          <a:xfrm>
            <a:off x="685800" y="2651760"/>
            <a:ext cx="8138160" cy="384048"/>
          </a:xfrm>
          <a:prstGeom prst="rect">
            <a:avLst/>
          </a:prstGeom>
          <a:noFill/>
          <a:ln/>
        </p:spPr>
        <p:txBody>
          <a:bodyPr wrap="square" rtlCol="0" anchor="ctr"/>
          <a:lstStyle/>
          <a:p>
            <a:pPr marL="0" indent="0">
              <a:buNone/>
            </a:pPr>
            <a:r>
              <a:rPr lang="es-CO" sz="1050" noProof="0" dirty="0">
                <a:solidFill>
                  <a:srgbClr val="2C3E50"/>
                </a:solidFill>
              </a:rPr>
              <a:t>Contextualización: Describir para qué se usará, en qué escenarios y quiénes lo usarán.</a:t>
            </a:r>
            <a:endParaRPr lang="es-CO" sz="1050" noProof="0" dirty="0"/>
          </a:p>
        </p:txBody>
      </p:sp>
      <p:sp>
        <p:nvSpPr>
          <p:cNvPr id="18" name="Shape 14"/>
          <p:cNvSpPr/>
          <p:nvPr/>
        </p:nvSpPr>
        <p:spPr>
          <a:xfrm>
            <a:off x="274320" y="3108960"/>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19" name="Text 15"/>
          <p:cNvSpPr/>
          <p:nvPr/>
        </p:nvSpPr>
        <p:spPr>
          <a:xfrm>
            <a:off x="274320" y="3108960"/>
            <a:ext cx="301752" cy="301752"/>
          </a:xfrm>
          <a:prstGeom prst="rect">
            <a:avLst/>
          </a:prstGeom>
          <a:noFill/>
          <a:ln/>
        </p:spPr>
        <p:txBody>
          <a:bodyPr wrap="square" rtlCol="0" anchor="ctr"/>
          <a:lstStyle/>
          <a:p>
            <a:pPr marL="0" indent="0" algn="ctr">
              <a:buNone/>
            </a:pPr>
            <a:r>
              <a:rPr lang="es-CO" sz="1000" b="1" noProof="0" dirty="0">
                <a:solidFill>
                  <a:srgbClr val="061237"/>
                </a:solidFill>
              </a:rPr>
              <a:t>2</a:t>
            </a:r>
            <a:endParaRPr lang="es-CO" sz="1000" noProof="0" dirty="0"/>
          </a:p>
        </p:txBody>
      </p:sp>
      <p:sp>
        <p:nvSpPr>
          <p:cNvPr id="20" name="Text 16"/>
          <p:cNvSpPr/>
          <p:nvPr/>
        </p:nvSpPr>
        <p:spPr>
          <a:xfrm>
            <a:off x="685800" y="3063240"/>
            <a:ext cx="8138160" cy="384048"/>
          </a:xfrm>
          <a:prstGeom prst="rect">
            <a:avLst/>
          </a:prstGeom>
          <a:noFill/>
          <a:ln/>
        </p:spPr>
        <p:txBody>
          <a:bodyPr wrap="square" rtlCol="0" anchor="ctr"/>
          <a:lstStyle/>
          <a:p>
            <a:pPr marL="0" indent="0">
              <a:buNone/>
            </a:pPr>
            <a:r>
              <a:rPr lang="es-CO" sz="1050" noProof="0" dirty="0">
                <a:solidFill>
                  <a:srgbClr val="2C3E50"/>
                </a:solidFill>
              </a:rPr>
              <a:t>Escenarios y usuarios: Tabla de escenarios (código, nombre, descripción) y tabla de usuarios (código, rol, uso).</a:t>
            </a:r>
            <a:endParaRPr lang="es-CO" sz="1050" noProof="0" dirty="0"/>
          </a:p>
        </p:txBody>
      </p:sp>
      <p:sp>
        <p:nvSpPr>
          <p:cNvPr id="21" name="Shape 17"/>
          <p:cNvSpPr/>
          <p:nvPr/>
        </p:nvSpPr>
        <p:spPr>
          <a:xfrm>
            <a:off x="274320" y="3520440"/>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2" name="Text 18"/>
          <p:cNvSpPr/>
          <p:nvPr/>
        </p:nvSpPr>
        <p:spPr>
          <a:xfrm>
            <a:off x="274320" y="3520440"/>
            <a:ext cx="301752" cy="301752"/>
          </a:xfrm>
          <a:prstGeom prst="rect">
            <a:avLst/>
          </a:prstGeom>
          <a:noFill/>
          <a:ln/>
        </p:spPr>
        <p:txBody>
          <a:bodyPr wrap="square" rtlCol="0" anchor="ctr"/>
          <a:lstStyle/>
          <a:p>
            <a:pPr marL="0" indent="0" algn="ctr">
              <a:buNone/>
            </a:pPr>
            <a:r>
              <a:rPr lang="es-CO" sz="1000" b="1" noProof="0" dirty="0">
                <a:solidFill>
                  <a:srgbClr val="061237"/>
                </a:solidFill>
              </a:rPr>
              <a:t>3</a:t>
            </a:r>
            <a:endParaRPr lang="es-CO" sz="1000" noProof="0" dirty="0"/>
          </a:p>
        </p:txBody>
      </p:sp>
      <p:sp>
        <p:nvSpPr>
          <p:cNvPr id="23" name="Text 19"/>
          <p:cNvSpPr/>
          <p:nvPr/>
        </p:nvSpPr>
        <p:spPr>
          <a:xfrm>
            <a:off x="685800" y="3474720"/>
            <a:ext cx="8138160" cy="384048"/>
          </a:xfrm>
          <a:prstGeom prst="rect">
            <a:avLst/>
          </a:prstGeom>
          <a:noFill/>
          <a:ln/>
        </p:spPr>
        <p:txBody>
          <a:bodyPr wrap="square" rtlCol="0" anchor="ctr"/>
          <a:lstStyle/>
          <a:p>
            <a:pPr marL="0" indent="0">
              <a:buNone/>
            </a:pPr>
            <a:r>
              <a:rPr lang="es-CO" sz="1050" noProof="0" dirty="0" err="1">
                <a:solidFill>
                  <a:srgbClr val="2C3E50"/>
                </a:solidFill>
              </a:rPr>
              <a:t>Stakeholders</a:t>
            </a:r>
            <a:r>
              <a:rPr lang="es-CO" sz="1050" noProof="0" dirty="0">
                <a:solidFill>
                  <a:srgbClr val="2C3E50"/>
                </a:solidFill>
              </a:rPr>
              <a:t>: Listar actores de la institución usuaria y del equipo de proyecto.</a:t>
            </a:r>
            <a:endParaRPr lang="es-CO" sz="1050" noProof="0" dirty="0"/>
          </a:p>
        </p:txBody>
      </p:sp>
      <p:sp>
        <p:nvSpPr>
          <p:cNvPr id="24" name="Shape 20"/>
          <p:cNvSpPr/>
          <p:nvPr/>
        </p:nvSpPr>
        <p:spPr>
          <a:xfrm>
            <a:off x="274320" y="3931920"/>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5" name="Text 21"/>
          <p:cNvSpPr/>
          <p:nvPr/>
        </p:nvSpPr>
        <p:spPr>
          <a:xfrm>
            <a:off x="274320" y="3931920"/>
            <a:ext cx="301752" cy="301752"/>
          </a:xfrm>
          <a:prstGeom prst="rect">
            <a:avLst/>
          </a:prstGeom>
          <a:noFill/>
          <a:ln/>
        </p:spPr>
        <p:txBody>
          <a:bodyPr wrap="square" rtlCol="0" anchor="ctr"/>
          <a:lstStyle/>
          <a:p>
            <a:pPr marL="0" indent="0" algn="ctr">
              <a:buNone/>
            </a:pPr>
            <a:r>
              <a:rPr lang="es-CO" sz="1000" b="1" noProof="0" dirty="0">
                <a:solidFill>
                  <a:srgbClr val="061237"/>
                </a:solidFill>
              </a:rPr>
              <a:t>4</a:t>
            </a:r>
            <a:endParaRPr lang="es-CO" sz="1000" noProof="0" dirty="0"/>
          </a:p>
        </p:txBody>
      </p:sp>
      <p:sp>
        <p:nvSpPr>
          <p:cNvPr id="26" name="Text 22"/>
          <p:cNvSpPr/>
          <p:nvPr/>
        </p:nvSpPr>
        <p:spPr>
          <a:xfrm>
            <a:off x="685800" y="3886200"/>
            <a:ext cx="8138160" cy="384048"/>
          </a:xfrm>
          <a:prstGeom prst="rect">
            <a:avLst/>
          </a:prstGeom>
          <a:noFill/>
          <a:ln/>
        </p:spPr>
        <p:txBody>
          <a:bodyPr wrap="square" rtlCol="0" anchor="ctr"/>
          <a:lstStyle/>
          <a:p>
            <a:pPr marL="0" indent="0">
              <a:buNone/>
            </a:pPr>
            <a:r>
              <a:rPr lang="es-CO" sz="1050" noProof="0" dirty="0">
                <a:solidFill>
                  <a:srgbClr val="2C3E50"/>
                </a:solidFill>
              </a:rPr>
              <a:t>Educción: Mínimo 5 preguntas para entrevistar a un tipo de usuario + breve acta con hallazgos.</a:t>
            </a:r>
            <a:endParaRPr lang="es-CO" sz="1050" noProof="0" dirty="0"/>
          </a:p>
        </p:txBody>
      </p:sp>
      <p:sp>
        <p:nvSpPr>
          <p:cNvPr id="27" name="Shape 23"/>
          <p:cNvSpPr/>
          <p:nvPr/>
        </p:nvSpPr>
        <p:spPr>
          <a:xfrm>
            <a:off x="274320" y="4343400"/>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8" name="Text 24"/>
          <p:cNvSpPr/>
          <p:nvPr/>
        </p:nvSpPr>
        <p:spPr>
          <a:xfrm>
            <a:off x="274320" y="4343400"/>
            <a:ext cx="301752" cy="301752"/>
          </a:xfrm>
          <a:prstGeom prst="rect">
            <a:avLst/>
          </a:prstGeom>
          <a:noFill/>
          <a:ln/>
        </p:spPr>
        <p:txBody>
          <a:bodyPr wrap="square" rtlCol="0" anchor="ctr"/>
          <a:lstStyle/>
          <a:p>
            <a:pPr marL="0" indent="0" algn="ctr">
              <a:buNone/>
            </a:pPr>
            <a:r>
              <a:rPr lang="es-CO" sz="1000" b="1" noProof="0" dirty="0">
                <a:solidFill>
                  <a:srgbClr val="061237"/>
                </a:solidFill>
              </a:rPr>
              <a:t>5</a:t>
            </a:r>
            <a:endParaRPr lang="es-CO" sz="1000" noProof="0" dirty="0"/>
          </a:p>
        </p:txBody>
      </p:sp>
      <p:sp>
        <p:nvSpPr>
          <p:cNvPr id="29" name="Text 25"/>
          <p:cNvSpPr/>
          <p:nvPr/>
        </p:nvSpPr>
        <p:spPr>
          <a:xfrm>
            <a:off x="685800" y="4297680"/>
            <a:ext cx="8138160" cy="384048"/>
          </a:xfrm>
          <a:prstGeom prst="rect">
            <a:avLst/>
          </a:prstGeom>
          <a:noFill/>
          <a:ln/>
        </p:spPr>
        <p:txBody>
          <a:bodyPr wrap="square" rtlCol="0" anchor="ctr"/>
          <a:lstStyle/>
          <a:p>
            <a:pPr marL="0" indent="0">
              <a:buNone/>
            </a:pPr>
            <a:r>
              <a:rPr lang="es-CO" sz="1050" noProof="0" dirty="0">
                <a:solidFill>
                  <a:srgbClr val="2C3E50"/>
                </a:solidFill>
              </a:rPr>
              <a:t>Especificación: Catálogo con al menos 5 RF (RF01–RF05) y ficha completa para uno de ellos.</a:t>
            </a:r>
            <a:endParaRPr lang="es-CO" sz="105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1280160" cy="411480"/>
          </a:xfrm>
          <a:prstGeom prst="rect">
            <a:avLst/>
          </a:prstGeom>
          <a:solidFill>
            <a:srgbClr val="2E7D32"/>
          </a:solidFill>
          <a:ln w="12700">
            <a:solidFill>
              <a:srgbClr val="2E7D32"/>
            </a:solidFill>
            <a:prstDash val="solid"/>
          </a:ln>
        </p:spPr>
        <p:txBody>
          <a:bodyPr/>
          <a:lstStyle/>
          <a:p>
            <a:endParaRPr lang="es-CO" noProof="0" dirty="0"/>
          </a:p>
        </p:txBody>
      </p:sp>
      <p:sp>
        <p:nvSpPr>
          <p:cNvPr id="10" name="Text 6"/>
          <p:cNvSpPr/>
          <p:nvPr/>
        </p:nvSpPr>
        <p:spPr>
          <a:xfrm>
            <a:off x="274320" y="658368"/>
            <a:ext cx="1280160" cy="411480"/>
          </a:xfrm>
          <a:prstGeom prst="rect">
            <a:avLst/>
          </a:prstGeom>
          <a:noFill/>
          <a:ln/>
        </p:spPr>
        <p:txBody>
          <a:bodyPr wrap="square" rtlCol="0" anchor="ctr"/>
          <a:lstStyle/>
          <a:p>
            <a:pPr marL="0" indent="0" algn="ctr">
              <a:buNone/>
            </a:pPr>
            <a:r>
              <a:rPr lang="es-CO" sz="1100" b="1" noProof="0" dirty="0">
                <a:solidFill>
                  <a:srgbClr val="FFFFFF"/>
                </a:solidFill>
              </a:rPr>
              <a:t>RESPUESTA</a:t>
            </a:r>
            <a:endParaRPr lang="es-CO" sz="1100" noProof="0" dirty="0"/>
          </a:p>
        </p:txBody>
      </p:sp>
      <p:sp>
        <p:nvSpPr>
          <p:cNvPr id="11" name="Text 7"/>
          <p:cNvSpPr/>
          <p:nvPr/>
        </p:nvSpPr>
        <p:spPr>
          <a:xfrm>
            <a:off x="1691640" y="658368"/>
            <a:ext cx="7132320" cy="411480"/>
          </a:xfrm>
          <a:prstGeom prst="rect">
            <a:avLst/>
          </a:prstGeom>
          <a:noFill/>
          <a:ln/>
        </p:spPr>
        <p:txBody>
          <a:bodyPr wrap="square" rtlCol="0" anchor="ctr"/>
          <a:lstStyle/>
          <a:p>
            <a:pPr marL="0" indent="0">
              <a:buNone/>
            </a:pPr>
            <a:r>
              <a:rPr lang="es-CO" sz="1300" b="1" noProof="0" dirty="0">
                <a:solidFill>
                  <a:srgbClr val="0D1F4E"/>
                </a:solidFill>
              </a:rPr>
              <a:t>Ejercicio 1 — Contextualización, Escenarios y </a:t>
            </a:r>
            <a:r>
              <a:rPr lang="es-CO" sz="1300" b="1" noProof="0" dirty="0" err="1">
                <a:solidFill>
                  <a:srgbClr val="0D1F4E"/>
                </a:solidFill>
              </a:rPr>
              <a:t>Stakeholders</a:t>
            </a:r>
            <a:endParaRPr lang="es-CO" sz="1300" noProof="0" dirty="0"/>
          </a:p>
        </p:txBody>
      </p:sp>
      <p:sp>
        <p:nvSpPr>
          <p:cNvPr id="12" name="Text 8"/>
          <p:cNvSpPr/>
          <p:nvPr/>
        </p:nvSpPr>
        <p:spPr>
          <a:xfrm>
            <a:off x="320040" y="1170432"/>
            <a:ext cx="8412480" cy="274320"/>
          </a:xfrm>
          <a:prstGeom prst="rect">
            <a:avLst/>
          </a:prstGeom>
          <a:noFill/>
          <a:ln/>
        </p:spPr>
        <p:txBody>
          <a:bodyPr wrap="square" rtlCol="0" anchor="ctr"/>
          <a:lstStyle/>
          <a:p>
            <a:pPr marL="0" indent="0">
              <a:buNone/>
            </a:pPr>
            <a:r>
              <a:rPr lang="es-CO" sz="1100" b="1" noProof="0" dirty="0">
                <a:solidFill>
                  <a:srgbClr val="0D1F4E"/>
                </a:solidFill>
              </a:rPr>
              <a:t>Contextualización</a:t>
            </a:r>
            <a:endParaRPr lang="es-CO" sz="1100" noProof="0" dirty="0"/>
          </a:p>
        </p:txBody>
      </p:sp>
      <p:sp>
        <p:nvSpPr>
          <p:cNvPr id="13" name="Text 9"/>
          <p:cNvSpPr/>
          <p:nvPr/>
        </p:nvSpPr>
        <p:spPr>
          <a:xfrm>
            <a:off x="320040" y="1463040"/>
            <a:ext cx="8503920" cy="457200"/>
          </a:xfrm>
          <a:prstGeom prst="rect">
            <a:avLst/>
          </a:prstGeom>
          <a:noFill/>
          <a:ln/>
        </p:spPr>
        <p:txBody>
          <a:bodyPr wrap="square" rtlCol="0" anchor="ctr"/>
          <a:lstStyle/>
          <a:p>
            <a:pPr marL="0" indent="0">
              <a:buNone/>
            </a:pPr>
            <a:r>
              <a:rPr lang="es-CO" sz="1000" noProof="0" dirty="0">
                <a:solidFill>
                  <a:srgbClr val="2C3E50"/>
                </a:solidFill>
              </a:rPr>
              <a:t>El sistema de citas médicas en línea permitirá a pacientes agendar, reprogramar y cancelar citas con médicos de una clínica privada, desde web o móvil, en escenarios de recepción, portal web de pacientes y panel del médico.</a:t>
            </a:r>
            <a:endParaRPr lang="es-CO" sz="1000" noProof="0" dirty="0"/>
          </a:p>
        </p:txBody>
      </p:sp>
      <p:sp>
        <p:nvSpPr>
          <p:cNvPr id="14" name="Text 10"/>
          <p:cNvSpPr/>
          <p:nvPr/>
        </p:nvSpPr>
        <p:spPr>
          <a:xfrm>
            <a:off x="320040" y="1993392"/>
            <a:ext cx="4114800" cy="274320"/>
          </a:xfrm>
          <a:prstGeom prst="rect">
            <a:avLst/>
          </a:prstGeom>
          <a:noFill/>
          <a:ln/>
        </p:spPr>
        <p:txBody>
          <a:bodyPr wrap="square" rtlCol="0" anchor="ctr"/>
          <a:lstStyle/>
          <a:p>
            <a:pPr marL="0" indent="0">
              <a:buNone/>
            </a:pPr>
            <a:r>
              <a:rPr lang="es-CO" sz="1100" b="1" noProof="0" dirty="0">
                <a:solidFill>
                  <a:srgbClr val="0D1F4E"/>
                </a:solidFill>
              </a:rPr>
              <a:t>Tabla de Escenarios</a:t>
            </a:r>
            <a:endParaRPr lang="es-CO" sz="1100" noProof="0" dirty="0"/>
          </a:p>
        </p:txBody>
      </p:sp>
      <p:graphicFrame>
        <p:nvGraphicFramePr>
          <p:cNvPr id="18" name="Table 0"/>
          <p:cNvGraphicFramePr>
            <a:graphicFrameLocks noGrp="1"/>
          </p:cNvGraphicFramePr>
          <p:nvPr>
            <p:extLst>
              <p:ext uri="{D42A27DB-BD31-4B8C-83A1-F6EECF244321}">
                <p14:modId xmlns:p14="http://schemas.microsoft.com/office/powerpoint/2010/main" val="3467439115"/>
              </p:ext>
            </p:extLst>
          </p:nvPr>
        </p:nvGraphicFramePr>
        <p:xfrm>
          <a:off x="320040" y="2304288"/>
          <a:ext cx="4114800" cy="1451610"/>
        </p:xfrm>
        <a:graphic>
          <a:graphicData uri="http://schemas.openxmlformats.org/drawingml/2006/table">
            <a:tbl>
              <a:tblPr/>
              <a:tblGrid>
                <a:gridCol w="640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08610">
                <a:tc>
                  <a:txBody>
                    <a:bodyPr/>
                    <a:lstStyle/>
                    <a:p>
                      <a:pPr marL="0" indent="0">
                        <a:buNone/>
                      </a:pPr>
                      <a:r>
                        <a:rPr lang="es-CO" sz="950" b="1" noProof="0" dirty="0">
                          <a:solidFill>
                            <a:srgbClr val="FFFFFF"/>
                          </a:solidFill>
                        </a:rPr>
                        <a:t>Código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Escenario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Descripción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extLst>
                  <a:ext uri="{0D108BD9-81ED-4DB2-BD59-A6C34878D82A}">
                    <a16:rowId xmlns:a16="http://schemas.microsoft.com/office/drawing/2014/main" val="10000"/>
                  </a:ext>
                </a:extLst>
              </a:tr>
              <a:tr h="308610">
                <a:tc>
                  <a:txBody>
                    <a:bodyPr/>
                    <a:lstStyle/>
                    <a:p>
                      <a:pPr marL="0" indent="0">
                        <a:buNone/>
                      </a:pPr>
                      <a:r>
                        <a:rPr lang="es-CO" sz="950" noProof="0" dirty="0">
                          <a:solidFill>
                            <a:srgbClr val="000000"/>
                          </a:solidFill>
                        </a:rPr>
                        <a:t>E1</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Portal de pacientes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Web/móvil para gestionar citas propias.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08610">
                <a:tc>
                  <a:txBody>
                    <a:bodyPr/>
                    <a:lstStyle/>
                    <a:p>
                      <a:pPr marL="0" indent="0">
                        <a:buNone/>
                      </a:pPr>
                      <a:r>
                        <a:rPr lang="es-CO" sz="950" noProof="0" dirty="0">
                          <a:solidFill>
                            <a:srgbClr val="000000"/>
                          </a:solidFill>
                        </a:rPr>
                        <a:t>E2</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Módulo de recepción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Gestión de citas presenciales y telefónicas.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08610">
                <a:tc>
                  <a:txBody>
                    <a:bodyPr/>
                    <a:lstStyle/>
                    <a:p>
                      <a:pPr marL="0" indent="0">
                        <a:buNone/>
                      </a:pPr>
                      <a:r>
                        <a:rPr lang="es-CO" sz="950" noProof="0" dirty="0">
                          <a:solidFill>
                            <a:srgbClr val="000000"/>
                          </a:solidFill>
                        </a:rPr>
                        <a:t>E3</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Panel del médico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Consulta de agenda y confirmación de asistencia.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1"/>
          <p:cNvSpPr/>
          <p:nvPr/>
        </p:nvSpPr>
        <p:spPr>
          <a:xfrm>
            <a:off x="4663440" y="1993392"/>
            <a:ext cx="4160520" cy="274320"/>
          </a:xfrm>
          <a:prstGeom prst="rect">
            <a:avLst/>
          </a:prstGeom>
          <a:noFill/>
          <a:ln/>
        </p:spPr>
        <p:txBody>
          <a:bodyPr wrap="square" rtlCol="0" anchor="ctr"/>
          <a:lstStyle/>
          <a:p>
            <a:pPr marL="0" indent="0">
              <a:buNone/>
            </a:pPr>
            <a:r>
              <a:rPr lang="es-CO" sz="1100" b="1" noProof="0" dirty="0">
                <a:solidFill>
                  <a:srgbClr val="0D1F4E"/>
                </a:solidFill>
              </a:rPr>
              <a:t>Tabla de Usuarios</a:t>
            </a:r>
            <a:endParaRPr lang="es-CO" sz="1100" noProof="0" dirty="0"/>
          </a:p>
        </p:txBody>
      </p:sp>
      <p:graphicFrame>
        <p:nvGraphicFramePr>
          <p:cNvPr id="35" name="Table 1"/>
          <p:cNvGraphicFramePr>
            <a:graphicFrameLocks noGrp="1"/>
          </p:cNvGraphicFramePr>
          <p:nvPr>
            <p:extLst>
              <p:ext uri="{D42A27DB-BD31-4B8C-83A1-F6EECF244321}">
                <p14:modId xmlns:p14="http://schemas.microsoft.com/office/powerpoint/2010/main" val="876269919"/>
              </p:ext>
            </p:extLst>
          </p:nvPr>
        </p:nvGraphicFramePr>
        <p:xfrm>
          <a:off x="4663440" y="2304288"/>
          <a:ext cx="4160520" cy="1234440"/>
        </p:xfrm>
        <a:graphic>
          <a:graphicData uri="http://schemas.openxmlformats.org/drawingml/2006/table">
            <a:tbl>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08610">
                <a:tc>
                  <a:txBody>
                    <a:bodyPr/>
                    <a:lstStyle/>
                    <a:p>
                      <a:pPr marL="0" indent="0">
                        <a:buNone/>
                      </a:pPr>
                      <a:r>
                        <a:rPr lang="es-CO" sz="950" b="1" noProof="0" dirty="0">
                          <a:solidFill>
                            <a:srgbClr val="FFFFFF"/>
                          </a:solidFill>
                        </a:rPr>
                        <a:t>Código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tc>
                  <a:txBody>
                    <a:bodyPr/>
                    <a:lstStyle/>
                    <a:p>
                      <a:pPr marL="0" indent="0">
                        <a:buNone/>
                      </a:pPr>
                      <a:r>
                        <a:rPr lang="es-CO" sz="950" b="1" noProof="0" dirty="0">
                          <a:solidFill>
                            <a:srgbClr val="FFFFFF"/>
                          </a:solidFill>
                        </a:rPr>
                        <a:t>Rol</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tc>
                  <a:txBody>
                    <a:bodyPr/>
                    <a:lstStyle/>
                    <a:p>
                      <a:pPr marL="0" indent="0">
                        <a:buNone/>
                      </a:pPr>
                      <a:r>
                        <a:rPr lang="es-CO" sz="950" b="1" noProof="0" dirty="0">
                          <a:solidFill>
                            <a:srgbClr val="FFFFFF"/>
                          </a:solidFill>
                        </a:rPr>
                        <a:t>Uso del sistema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extLst>
                  <a:ext uri="{0D108BD9-81ED-4DB2-BD59-A6C34878D82A}">
                    <a16:rowId xmlns:a16="http://schemas.microsoft.com/office/drawing/2014/main" val="10000"/>
                  </a:ext>
                </a:extLst>
              </a:tr>
              <a:tr h="308610">
                <a:tc>
                  <a:txBody>
                    <a:bodyPr/>
                    <a:lstStyle/>
                    <a:p>
                      <a:pPr marL="0" indent="0">
                        <a:buNone/>
                      </a:pPr>
                      <a:r>
                        <a:rPr lang="es-CO" sz="950" noProof="0" dirty="0">
                          <a:solidFill>
                            <a:srgbClr val="000000"/>
                          </a:solidFill>
                        </a:rPr>
                        <a:t>U001</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Paciente</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Solicitar, reprogramar y cancelar citas.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08610">
                <a:tc>
                  <a:txBody>
                    <a:bodyPr/>
                    <a:lstStyle/>
                    <a:p>
                      <a:pPr marL="0" indent="0">
                        <a:buNone/>
                      </a:pPr>
                      <a:r>
                        <a:rPr lang="es-CO" sz="950" noProof="0" dirty="0">
                          <a:solidFill>
                            <a:srgbClr val="000000"/>
                          </a:solidFill>
                        </a:rPr>
                        <a:t>U002</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Recepcionista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Registrar citas y gestionar lista de espera.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08610">
                <a:tc>
                  <a:txBody>
                    <a:bodyPr/>
                    <a:lstStyle/>
                    <a:p>
                      <a:pPr marL="0" indent="0">
                        <a:buNone/>
                      </a:pPr>
                      <a:r>
                        <a:rPr lang="es-CO" sz="950" noProof="0" dirty="0">
                          <a:solidFill>
                            <a:srgbClr val="000000"/>
                          </a:solidFill>
                        </a:rPr>
                        <a:t>U003</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Médico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Revisar agenda y registrar atención.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Text 12"/>
          <p:cNvSpPr/>
          <p:nvPr/>
        </p:nvSpPr>
        <p:spPr>
          <a:xfrm>
            <a:off x="320040" y="3639312"/>
            <a:ext cx="8412480" cy="274320"/>
          </a:xfrm>
          <a:prstGeom prst="rect">
            <a:avLst/>
          </a:prstGeom>
          <a:noFill/>
          <a:ln/>
        </p:spPr>
        <p:txBody>
          <a:bodyPr wrap="square" rtlCol="0" anchor="ctr"/>
          <a:lstStyle/>
          <a:p>
            <a:pPr marL="0" indent="0">
              <a:buNone/>
            </a:pPr>
            <a:r>
              <a:rPr lang="es-CO" sz="1100" b="1" noProof="0" dirty="0" err="1">
                <a:solidFill>
                  <a:srgbClr val="0D1F4E"/>
                </a:solidFill>
              </a:rPr>
              <a:t>Stakeholders</a:t>
            </a:r>
            <a:endParaRPr lang="es-CO" sz="1100" noProof="0" dirty="0"/>
          </a:p>
        </p:txBody>
      </p:sp>
      <p:graphicFrame>
        <p:nvGraphicFramePr>
          <p:cNvPr id="52" name="Table 2"/>
          <p:cNvGraphicFramePr>
            <a:graphicFrameLocks noGrp="1"/>
          </p:cNvGraphicFramePr>
          <p:nvPr>
            <p:extLst>
              <p:ext uri="{D42A27DB-BD31-4B8C-83A1-F6EECF244321}">
                <p14:modId xmlns:p14="http://schemas.microsoft.com/office/powerpoint/2010/main" val="490315414"/>
              </p:ext>
            </p:extLst>
          </p:nvPr>
        </p:nvGraphicFramePr>
        <p:xfrm>
          <a:off x="320040" y="3950208"/>
          <a:ext cx="8549640" cy="868680"/>
        </p:xfrm>
        <a:graphic>
          <a:graphicData uri="http://schemas.openxmlformats.org/drawingml/2006/table">
            <a:tbl>
              <a:tblPr/>
              <a:tblGrid>
                <a:gridCol w="4279392">
                  <a:extLst>
                    <a:ext uri="{9D8B030D-6E8A-4147-A177-3AD203B41FA5}">
                      <a16:colId xmlns:a16="http://schemas.microsoft.com/office/drawing/2014/main" val="20000"/>
                    </a:ext>
                  </a:extLst>
                </a:gridCol>
                <a:gridCol w="4270248">
                  <a:extLst>
                    <a:ext uri="{9D8B030D-6E8A-4147-A177-3AD203B41FA5}">
                      <a16:colId xmlns:a16="http://schemas.microsoft.com/office/drawing/2014/main" val="20001"/>
                    </a:ext>
                  </a:extLst>
                </a:gridCol>
              </a:tblGrid>
              <a:tr h="434340">
                <a:tc>
                  <a:txBody>
                    <a:bodyPr/>
                    <a:lstStyle/>
                    <a:p>
                      <a:pPr marL="0" indent="0">
                        <a:buNone/>
                      </a:pPr>
                      <a:r>
                        <a:rPr lang="es-CO" sz="950" b="1" noProof="0" dirty="0">
                          <a:solidFill>
                            <a:srgbClr val="FFFFFF"/>
                          </a:solidFill>
                        </a:rPr>
                        <a:t>Institución Usuaria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Equipo de Proyecto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extLst>
                  <a:ext uri="{0D108BD9-81ED-4DB2-BD59-A6C34878D82A}">
                    <a16:rowId xmlns:a16="http://schemas.microsoft.com/office/drawing/2014/main" val="10000"/>
                  </a:ext>
                </a:extLst>
              </a:tr>
              <a:tr h="434340">
                <a:tc>
                  <a:txBody>
                    <a:bodyPr/>
                    <a:lstStyle/>
                    <a:p>
                      <a:pPr marL="0" indent="0">
                        <a:buNone/>
                      </a:pPr>
                      <a:r>
                        <a:rPr lang="es-CO" sz="950" noProof="0" dirty="0">
                          <a:solidFill>
                            <a:srgbClr val="000000"/>
                          </a:solidFill>
                        </a:rPr>
                        <a:t>Director médico, Coordinador de atención al paciente,</a:t>
                      </a:r>
                      <a:endParaRPr lang="es-CO" sz="950" noProof="0" dirty="0"/>
                    </a:p>
                    <a:p>
                      <a:pPr marL="0" indent="0">
                        <a:buNone/>
                      </a:pPr>
                      <a:r>
                        <a:rPr lang="es-CO" sz="950" noProof="0" dirty="0">
                          <a:solidFill>
                            <a:srgbClr val="000000"/>
                          </a:solidFill>
                        </a:rPr>
                        <a:t>Responsable delegado del proyecto.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Jefe de proyecto, Analista de requisitos,</a:t>
                      </a:r>
                      <a:endParaRPr lang="es-CO" sz="950" noProof="0" dirty="0"/>
                    </a:p>
                    <a:p>
                      <a:pPr marL="0" indent="0">
                        <a:buNone/>
                      </a:pPr>
                      <a:r>
                        <a:rPr lang="es-CO" sz="950" noProof="0" dirty="0">
                          <a:solidFill>
                            <a:srgbClr val="000000"/>
                          </a:solidFill>
                        </a:rPr>
                        <a:t>Arquitecto de software.</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1280160" cy="411480"/>
          </a:xfrm>
          <a:prstGeom prst="rect">
            <a:avLst/>
          </a:prstGeom>
          <a:solidFill>
            <a:srgbClr val="2E7D32"/>
          </a:solidFill>
          <a:ln w="12700">
            <a:solidFill>
              <a:srgbClr val="2E7D32"/>
            </a:solidFill>
            <a:prstDash val="solid"/>
          </a:ln>
        </p:spPr>
        <p:txBody>
          <a:bodyPr/>
          <a:lstStyle/>
          <a:p>
            <a:endParaRPr lang="es-CO" noProof="0" dirty="0"/>
          </a:p>
        </p:txBody>
      </p:sp>
      <p:sp>
        <p:nvSpPr>
          <p:cNvPr id="10" name="Text 6"/>
          <p:cNvSpPr/>
          <p:nvPr/>
        </p:nvSpPr>
        <p:spPr>
          <a:xfrm>
            <a:off x="274320" y="658368"/>
            <a:ext cx="1280160" cy="411480"/>
          </a:xfrm>
          <a:prstGeom prst="rect">
            <a:avLst/>
          </a:prstGeom>
          <a:noFill/>
          <a:ln/>
        </p:spPr>
        <p:txBody>
          <a:bodyPr wrap="square" rtlCol="0" anchor="ctr"/>
          <a:lstStyle/>
          <a:p>
            <a:pPr marL="0" indent="0" algn="ctr">
              <a:buNone/>
            </a:pPr>
            <a:r>
              <a:rPr lang="es-CO" sz="1100" b="1" noProof="0" dirty="0">
                <a:solidFill>
                  <a:srgbClr val="FFFFFF"/>
                </a:solidFill>
              </a:rPr>
              <a:t>RESPUESTA</a:t>
            </a:r>
            <a:endParaRPr lang="es-CO" sz="1100" noProof="0" dirty="0"/>
          </a:p>
        </p:txBody>
      </p:sp>
      <p:sp>
        <p:nvSpPr>
          <p:cNvPr id="11" name="Text 7"/>
          <p:cNvSpPr/>
          <p:nvPr/>
        </p:nvSpPr>
        <p:spPr>
          <a:xfrm>
            <a:off x="1691640" y="658368"/>
            <a:ext cx="7132320" cy="411480"/>
          </a:xfrm>
          <a:prstGeom prst="rect">
            <a:avLst/>
          </a:prstGeom>
          <a:noFill/>
          <a:ln/>
        </p:spPr>
        <p:txBody>
          <a:bodyPr wrap="square" rtlCol="0" anchor="ctr"/>
          <a:lstStyle/>
          <a:p>
            <a:pPr marL="0" indent="0">
              <a:buNone/>
            </a:pPr>
            <a:r>
              <a:rPr lang="es-CO" sz="1300" b="1" noProof="0" dirty="0">
                <a:solidFill>
                  <a:srgbClr val="0D1F4E"/>
                </a:solidFill>
              </a:rPr>
              <a:t>Ejercicio 1 — Educción y Especificación</a:t>
            </a:r>
            <a:endParaRPr lang="es-CO" sz="1300" noProof="0" dirty="0"/>
          </a:p>
        </p:txBody>
      </p:sp>
      <p:sp>
        <p:nvSpPr>
          <p:cNvPr id="12" name="Text 8"/>
          <p:cNvSpPr/>
          <p:nvPr/>
        </p:nvSpPr>
        <p:spPr>
          <a:xfrm>
            <a:off x="320040" y="1170432"/>
            <a:ext cx="5029200" cy="292608"/>
          </a:xfrm>
          <a:prstGeom prst="rect">
            <a:avLst/>
          </a:prstGeom>
          <a:noFill/>
          <a:ln/>
        </p:spPr>
        <p:txBody>
          <a:bodyPr wrap="square" rtlCol="0" anchor="ctr"/>
          <a:lstStyle/>
          <a:p>
            <a:pPr marL="0" indent="0">
              <a:buNone/>
            </a:pPr>
            <a:r>
              <a:rPr lang="es-CO" sz="1100" b="1" noProof="0" dirty="0">
                <a:solidFill>
                  <a:srgbClr val="0D1F4E"/>
                </a:solidFill>
              </a:rPr>
              <a:t>Educción — Preguntas clave (Recepcionista)</a:t>
            </a:r>
            <a:endParaRPr lang="es-CO" sz="1100" noProof="0" dirty="0"/>
          </a:p>
        </p:txBody>
      </p:sp>
      <p:sp>
        <p:nvSpPr>
          <p:cNvPr id="13" name="Text 9"/>
          <p:cNvSpPr/>
          <p:nvPr/>
        </p:nvSpPr>
        <p:spPr>
          <a:xfrm>
            <a:off x="320040" y="1481328"/>
            <a:ext cx="4937760" cy="1417320"/>
          </a:xfrm>
          <a:prstGeom prst="rect">
            <a:avLst/>
          </a:prstGeom>
          <a:noFill/>
          <a:ln/>
        </p:spPr>
        <p:txBody>
          <a:bodyPr wrap="square" rtlCol="0" anchor="ctr"/>
          <a:lstStyle/>
          <a:p>
            <a:pPr marL="342900" indent="-342900">
              <a:spcAft>
                <a:spcPts val="300"/>
              </a:spcAft>
              <a:buSzPct val="100000"/>
              <a:buChar char="•"/>
            </a:pPr>
            <a:r>
              <a:rPr lang="es-CO" sz="950" noProof="0" dirty="0">
                <a:solidFill>
                  <a:srgbClr val="2C3E50"/>
                </a:solidFill>
              </a:rPr>
              <a:t>P1: ¿Qué información mínima necesita registrar para agendar una cita?</a:t>
            </a:r>
            <a:endParaRPr lang="es-CO" sz="950" noProof="0" dirty="0"/>
          </a:p>
          <a:p>
            <a:pPr marL="342900" indent="-342900">
              <a:spcAft>
                <a:spcPts val="300"/>
              </a:spcAft>
              <a:buSzPct val="100000"/>
              <a:buChar char="•"/>
            </a:pPr>
            <a:r>
              <a:rPr lang="es-CO" sz="950" noProof="0" dirty="0">
                <a:solidFill>
                  <a:srgbClr val="2C3E50"/>
                </a:solidFill>
              </a:rPr>
              <a:t>P2: ¿Cómo verifica la disponibilidad del médico por especialidad?</a:t>
            </a:r>
            <a:endParaRPr lang="es-CO" sz="950" noProof="0" dirty="0"/>
          </a:p>
          <a:p>
            <a:pPr marL="342900" indent="-342900">
              <a:spcAft>
                <a:spcPts val="300"/>
              </a:spcAft>
              <a:buSzPct val="100000"/>
              <a:buChar char="•"/>
            </a:pPr>
            <a:r>
              <a:rPr lang="es-CO" sz="950" noProof="0" dirty="0">
                <a:solidFill>
                  <a:srgbClr val="2C3E50"/>
                </a:solidFill>
              </a:rPr>
              <a:t>P3: ¿Qué ocurre si el paciente no asiste a su cita? ¿Se genera un registro?</a:t>
            </a:r>
            <a:endParaRPr lang="es-CO" sz="950" noProof="0" dirty="0"/>
          </a:p>
          <a:p>
            <a:pPr marL="342900" indent="-342900">
              <a:spcAft>
                <a:spcPts val="300"/>
              </a:spcAft>
              <a:buSzPct val="100000"/>
              <a:buChar char="•"/>
            </a:pPr>
            <a:r>
              <a:rPr lang="es-CO" sz="950" noProof="0" dirty="0">
                <a:solidFill>
                  <a:srgbClr val="2C3E50"/>
                </a:solidFill>
              </a:rPr>
              <a:t>P4: ¿Cómo gestiona actualmente la lista de espera y citas duplicadas?</a:t>
            </a:r>
            <a:endParaRPr lang="es-CO" sz="950" noProof="0" dirty="0"/>
          </a:p>
          <a:p>
            <a:pPr marL="342900" indent="-342900">
              <a:spcAft>
                <a:spcPts val="300"/>
              </a:spcAft>
              <a:buSzPct val="100000"/>
              <a:buChar char="•"/>
            </a:pPr>
            <a:r>
              <a:rPr lang="es-CO" sz="950" noProof="0" dirty="0">
                <a:solidFill>
                  <a:srgbClr val="2C3E50"/>
                </a:solidFill>
              </a:rPr>
              <a:t>P5: ¿Qué tipo de notificaciones envía al paciente (correo, SMS)?</a:t>
            </a:r>
            <a:endParaRPr lang="es-CO" sz="950" noProof="0" dirty="0"/>
          </a:p>
          <a:p>
            <a:pPr marL="0" indent="0">
              <a:spcAft>
                <a:spcPts val="300"/>
              </a:spcAft>
              <a:buNone/>
            </a:pPr>
            <a:endParaRPr lang="es-CO" sz="950" noProof="0" dirty="0"/>
          </a:p>
        </p:txBody>
      </p:sp>
      <p:sp>
        <p:nvSpPr>
          <p:cNvPr id="14" name="Text 10"/>
          <p:cNvSpPr/>
          <p:nvPr/>
        </p:nvSpPr>
        <p:spPr>
          <a:xfrm>
            <a:off x="5394960" y="1170432"/>
            <a:ext cx="3474720" cy="292608"/>
          </a:xfrm>
          <a:prstGeom prst="rect">
            <a:avLst/>
          </a:prstGeom>
          <a:noFill/>
          <a:ln/>
        </p:spPr>
        <p:txBody>
          <a:bodyPr wrap="square" rtlCol="0" anchor="ctr"/>
          <a:lstStyle/>
          <a:p>
            <a:pPr marL="0" indent="0">
              <a:buNone/>
            </a:pPr>
            <a:r>
              <a:rPr lang="es-CO" sz="1100" b="1" noProof="0" dirty="0">
                <a:solidFill>
                  <a:srgbClr val="0D1F4E"/>
                </a:solidFill>
              </a:rPr>
              <a:t>Acta de Entrevista (resumen)</a:t>
            </a:r>
            <a:endParaRPr lang="es-CO" sz="1100" noProof="0" dirty="0"/>
          </a:p>
        </p:txBody>
      </p:sp>
      <p:sp>
        <p:nvSpPr>
          <p:cNvPr id="15" name="Shape 11"/>
          <p:cNvSpPr/>
          <p:nvPr/>
        </p:nvSpPr>
        <p:spPr>
          <a:xfrm>
            <a:off x="5394960" y="1481328"/>
            <a:ext cx="3474720" cy="1298448"/>
          </a:xfrm>
          <a:prstGeom prst="rect">
            <a:avLst/>
          </a:prstGeom>
          <a:solidFill>
            <a:srgbClr val="F4F5F7"/>
          </a:solidFill>
          <a:ln w="12700">
            <a:solidFill>
              <a:srgbClr val="CADCFC"/>
            </a:solidFill>
            <a:prstDash val="solid"/>
          </a:ln>
        </p:spPr>
        <p:txBody>
          <a:bodyPr/>
          <a:lstStyle/>
          <a:p>
            <a:endParaRPr lang="es-CO" noProof="0" dirty="0"/>
          </a:p>
        </p:txBody>
      </p:sp>
      <p:sp>
        <p:nvSpPr>
          <p:cNvPr id="16" name="Text 12"/>
          <p:cNvSpPr/>
          <p:nvPr/>
        </p:nvSpPr>
        <p:spPr>
          <a:xfrm>
            <a:off x="5486400" y="1554480"/>
            <a:ext cx="3291840" cy="1225296"/>
          </a:xfrm>
          <a:prstGeom prst="rect">
            <a:avLst/>
          </a:prstGeom>
          <a:noFill/>
          <a:ln/>
        </p:spPr>
        <p:txBody>
          <a:bodyPr wrap="square" rtlCol="0" anchor="ctr"/>
          <a:lstStyle/>
          <a:p>
            <a:pPr marL="0" indent="0">
              <a:buNone/>
            </a:pPr>
            <a:r>
              <a:rPr lang="es-CO" sz="950" noProof="0" dirty="0">
                <a:solidFill>
                  <a:srgbClr val="2C3E50"/>
                </a:solidFill>
              </a:rPr>
              <a:t>Entrevistada: Recepcionista</a:t>
            </a:r>
            <a:endParaRPr lang="es-CO" sz="950" noProof="0" dirty="0"/>
          </a:p>
          <a:p>
            <a:pPr marL="0" indent="0">
              <a:buNone/>
            </a:pPr>
            <a:r>
              <a:rPr lang="es-CO" sz="950" noProof="0" dirty="0">
                <a:solidFill>
                  <a:srgbClr val="2C3E50"/>
                </a:solidFill>
              </a:rPr>
              <a:t>Hallazgos clave:</a:t>
            </a:r>
            <a:endParaRPr lang="es-CO" sz="950" noProof="0" dirty="0"/>
          </a:p>
          <a:p>
            <a:pPr marL="0" indent="0">
              <a:buNone/>
            </a:pPr>
            <a:r>
              <a:rPr lang="es-CO" sz="950" noProof="0" dirty="0">
                <a:solidFill>
                  <a:srgbClr val="2C3E50"/>
                </a:solidFill>
              </a:rPr>
              <a:t>• Vista única: disponibilidad por médico y especialidad.</a:t>
            </a:r>
            <a:endParaRPr lang="es-CO" sz="950" noProof="0" dirty="0"/>
          </a:p>
          <a:p>
            <a:pPr marL="0" indent="0">
              <a:buNone/>
            </a:pPr>
            <a:r>
              <a:rPr lang="es-CO" sz="950" noProof="0" dirty="0">
                <a:solidFill>
                  <a:srgbClr val="2C3E50"/>
                </a:solidFill>
              </a:rPr>
              <a:t>• Datos mínimos del paciente para registrar cita.</a:t>
            </a:r>
            <a:endParaRPr lang="es-CO" sz="950" noProof="0" dirty="0"/>
          </a:p>
          <a:p>
            <a:pPr marL="0" indent="0">
              <a:buNone/>
            </a:pPr>
            <a:r>
              <a:rPr lang="es-CO" sz="950" noProof="0" dirty="0">
                <a:solidFill>
                  <a:srgbClr val="2C3E50"/>
                </a:solidFill>
              </a:rPr>
              <a:t>• Alerta automática ante citas duplicadas.</a:t>
            </a:r>
            <a:endParaRPr lang="es-CO" sz="950" noProof="0" dirty="0"/>
          </a:p>
          <a:p>
            <a:pPr marL="0" indent="0">
              <a:buNone/>
            </a:pPr>
            <a:r>
              <a:rPr lang="es-CO" sz="950" noProof="0" dirty="0">
                <a:solidFill>
                  <a:srgbClr val="2C3E50"/>
                </a:solidFill>
              </a:rPr>
              <a:t>• Listado en tiempo real de pacientes en sala de espera.</a:t>
            </a:r>
            <a:endParaRPr lang="es-CO" sz="950" noProof="0" dirty="0"/>
          </a:p>
        </p:txBody>
      </p:sp>
      <p:sp>
        <p:nvSpPr>
          <p:cNvPr id="17" name="Text 13"/>
          <p:cNvSpPr/>
          <p:nvPr/>
        </p:nvSpPr>
        <p:spPr>
          <a:xfrm>
            <a:off x="320040" y="2919045"/>
            <a:ext cx="5029200" cy="274320"/>
          </a:xfrm>
          <a:prstGeom prst="rect">
            <a:avLst/>
          </a:prstGeom>
          <a:noFill/>
          <a:ln/>
        </p:spPr>
        <p:txBody>
          <a:bodyPr wrap="square" rtlCol="0" anchor="ctr"/>
          <a:lstStyle/>
          <a:p>
            <a:pPr marL="0" indent="0">
              <a:buNone/>
            </a:pPr>
            <a:r>
              <a:rPr lang="es-CO" sz="1100" b="1" noProof="0" dirty="0">
                <a:solidFill>
                  <a:srgbClr val="0D1F4E"/>
                </a:solidFill>
              </a:rPr>
              <a:t>Catálogo de Requisitos Funcionales</a:t>
            </a:r>
            <a:endParaRPr lang="es-CO" sz="1100" noProof="0" dirty="0"/>
          </a:p>
        </p:txBody>
      </p:sp>
      <p:graphicFrame>
        <p:nvGraphicFramePr>
          <p:cNvPr id="19" name="Table 0"/>
          <p:cNvGraphicFramePr>
            <a:graphicFrameLocks noGrp="1"/>
          </p:cNvGraphicFramePr>
          <p:nvPr>
            <p:extLst>
              <p:ext uri="{D42A27DB-BD31-4B8C-83A1-F6EECF244321}">
                <p14:modId xmlns:p14="http://schemas.microsoft.com/office/powerpoint/2010/main" val="2044305176"/>
              </p:ext>
            </p:extLst>
          </p:nvPr>
        </p:nvGraphicFramePr>
        <p:xfrm>
          <a:off x="320040" y="3342482"/>
          <a:ext cx="5029200" cy="1417320"/>
        </p:xfrm>
        <a:graphic>
          <a:graphicData uri="http://schemas.openxmlformats.org/drawingml/2006/table">
            <a:tbl>
              <a:tblPr/>
              <a:tblGrid>
                <a:gridCol w="1005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236220">
                <a:tc>
                  <a:txBody>
                    <a:bodyPr/>
                    <a:lstStyle/>
                    <a:p>
                      <a:pPr marL="0" indent="0">
                        <a:buNone/>
                      </a:pPr>
                      <a:r>
                        <a:rPr lang="es-CO" sz="950" b="1" noProof="0" dirty="0">
                          <a:solidFill>
                            <a:srgbClr val="FFFFFF"/>
                          </a:solidFill>
                        </a:rPr>
                        <a:t>Código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Nombre del Requisito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extLst>
                  <a:ext uri="{0D108BD9-81ED-4DB2-BD59-A6C34878D82A}">
                    <a16:rowId xmlns:a16="http://schemas.microsoft.com/office/drawing/2014/main" val="10000"/>
                  </a:ext>
                </a:extLst>
              </a:tr>
              <a:tr h="236220">
                <a:tc>
                  <a:txBody>
                    <a:bodyPr/>
                    <a:lstStyle/>
                    <a:p>
                      <a:pPr marL="0" indent="0">
                        <a:buNone/>
                      </a:pPr>
                      <a:r>
                        <a:rPr lang="es-CO" sz="950" noProof="0" dirty="0">
                          <a:solidFill>
                            <a:srgbClr val="000000"/>
                          </a:solidFill>
                        </a:rPr>
                        <a:t>RF01</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Registrar cita médica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36220">
                <a:tc>
                  <a:txBody>
                    <a:bodyPr/>
                    <a:lstStyle/>
                    <a:p>
                      <a:pPr marL="0" indent="0">
                        <a:buNone/>
                      </a:pPr>
                      <a:r>
                        <a:rPr lang="es-CO" sz="950" noProof="0" dirty="0">
                          <a:solidFill>
                            <a:srgbClr val="000000"/>
                          </a:solidFill>
                        </a:rPr>
                        <a:t>RF02</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Reprogramar cita médica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36220">
                <a:tc>
                  <a:txBody>
                    <a:bodyPr/>
                    <a:lstStyle/>
                    <a:p>
                      <a:pPr marL="0" indent="0">
                        <a:buNone/>
                      </a:pPr>
                      <a:r>
                        <a:rPr lang="es-CO" sz="950" noProof="0" dirty="0">
                          <a:solidFill>
                            <a:srgbClr val="000000"/>
                          </a:solidFill>
                        </a:rPr>
                        <a:t>RF03</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Cancelar cita médica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236220">
                <a:tc>
                  <a:txBody>
                    <a:bodyPr/>
                    <a:lstStyle/>
                    <a:p>
                      <a:pPr marL="0" indent="0">
                        <a:buNone/>
                      </a:pPr>
                      <a:r>
                        <a:rPr lang="es-CO" sz="950" noProof="0" dirty="0">
                          <a:solidFill>
                            <a:srgbClr val="000000"/>
                          </a:solidFill>
                        </a:rPr>
                        <a:t>RF04</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Consultar agenda por médico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236220">
                <a:tc>
                  <a:txBody>
                    <a:bodyPr/>
                    <a:lstStyle/>
                    <a:p>
                      <a:pPr marL="0" indent="0">
                        <a:buNone/>
                      </a:pPr>
                      <a:r>
                        <a:rPr lang="es-CO" sz="950" noProof="0" dirty="0">
                          <a:solidFill>
                            <a:srgbClr val="000000"/>
                          </a:solidFill>
                        </a:rPr>
                        <a:t>RF05</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Gestionar lista de espera</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Text 14"/>
          <p:cNvSpPr/>
          <p:nvPr/>
        </p:nvSpPr>
        <p:spPr>
          <a:xfrm>
            <a:off x="5394960" y="2799467"/>
            <a:ext cx="3474720" cy="274320"/>
          </a:xfrm>
          <a:prstGeom prst="rect">
            <a:avLst/>
          </a:prstGeom>
          <a:noFill/>
          <a:ln/>
        </p:spPr>
        <p:txBody>
          <a:bodyPr wrap="square" rtlCol="0" anchor="ctr"/>
          <a:lstStyle/>
          <a:p>
            <a:pPr marL="0" indent="0">
              <a:buNone/>
            </a:pPr>
            <a:r>
              <a:rPr lang="es-CO" sz="1100" b="1" noProof="0" dirty="0">
                <a:solidFill>
                  <a:srgbClr val="0D1F4E"/>
                </a:solidFill>
              </a:rPr>
              <a:t>Ficha RF01 — Registrar cita médica</a:t>
            </a:r>
            <a:endParaRPr lang="es-CO" sz="1100" noProof="0" dirty="0"/>
          </a:p>
        </p:txBody>
      </p:sp>
      <p:graphicFrame>
        <p:nvGraphicFramePr>
          <p:cNvPr id="37" name="Table 1"/>
          <p:cNvGraphicFramePr>
            <a:graphicFrameLocks noGrp="1"/>
          </p:cNvGraphicFramePr>
          <p:nvPr>
            <p:extLst>
              <p:ext uri="{D42A27DB-BD31-4B8C-83A1-F6EECF244321}">
                <p14:modId xmlns:p14="http://schemas.microsoft.com/office/powerpoint/2010/main" val="1591655223"/>
              </p:ext>
            </p:extLst>
          </p:nvPr>
        </p:nvGraphicFramePr>
        <p:xfrm>
          <a:off x="5394960" y="3061129"/>
          <a:ext cx="3474720" cy="1746504"/>
        </p:xfrm>
        <a:graphic>
          <a:graphicData uri="http://schemas.openxmlformats.org/drawingml/2006/table">
            <a:tbl>
              <a:tblPr/>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83464">
                <a:tc>
                  <a:txBody>
                    <a:bodyPr/>
                    <a:lstStyle/>
                    <a:p>
                      <a:pPr marL="0" indent="0">
                        <a:buNone/>
                      </a:pPr>
                      <a:r>
                        <a:rPr lang="es-CO" sz="900" b="1" noProof="0" dirty="0">
                          <a:solidFill>
                            <a:srgbClr val="FFFFFF"/>
                          </a:solidFill>
                        </a:rPr>
                        <a:t>Campo</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tc>
                  <a:txBody>
                    <a:bodyPr/>
                    <a:lstStyle/>
                    <a:p>
                      <a:pPr marL="0" indent="0">
                        <a:buNone/>
                      </a:pPr>
                      <a:r>
                        <a:rPr lang="es-CO" sz="900" b="1" noProof="0" dirty="0">
                          <a:solidFill>
                            <a:srgbClr val="FFFFFF"/>
                          </a:solidFill>
                        </a:rPr>
                        <a:t>Detalle</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3270"/>
                    </a:solidFill>
                  </a:tcPr>
                </a:tc>
                <a:extLst>
                  <a:ext uri="{0D108BD9-81ED-4DB2-BD59-A6C34878D82A}">
                    <a16:rowId xmlns:a16="http://schemas.microsoft.com/office/drawing/2014/main" val="10000"/>
                  </a:ext>
                </a:extLst>
              </a:tr>
              <a:tr h="283464">
                <a:tc>
                  <a:txBody>
                    <a:bodyPr/>
                    <a:lstStyle/>
                    <a:p>
                      <a:pPr marL="0" indent="0">
                        <a:buNone/>
                      </a:pPr>
                      <a:r>
                        <a:rPr lang="es-CO" sz="900" noProof="0" dirty="0">
                          <a:solidFill>
                            <a:srgbClr val="000000"/>
                          </a:solidFill>
                        </a:rPr>
                        <a:t>Precondición</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00" noProof="0" dirty="0">
                          <a:solidFill>
                            <a:srgbClr val="000000"/>
                          </a:solidFill>
                        </a:rPr>
                        <a:t>Paciente registrado; médico con agenda configurada.</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s-CO" sz="900" noProof="0" dirty="0" err="1">
                          <a:solidFill>
                            <a:srgbClr val="000000"/>
                          </a:solidFill>
                        </a:rPr>
                        <a:t>Poscondición</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00" noProof="0" dirty="0">
                          <a:solidFill>
                            <a:srgbClr val="000000"/>
                          </a:solidFill>
                        </a:rPr>
                        <a:t>Cita con estado 'Programada'; confirmación enviada.</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s-CO" sz="900" noProof="0" dirty="0">
                          <a:solidFill>
                            <a:srgbClr val="000000"/>
                          </a:solidFill>
                        </a:rPr>
                        <a:t>Flujo principal</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00" noProof="0" dirty="0">
                          <a:solidFill>
                            <a:srgbClr val="000000"/>
                          </a:solidFill>
                        </a:rPr>
                        <a:t>Seleccionar especialidad, médico, fecha y hora; confirmar.</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s-CO" sz="900" noProof="0" dirty="0">
                          <a:solidFill>
                            <a:srgbClr val="000000"/>
                          </a:solidFill>
                        </a:rPr>
                        <a:t>Flujo alternativo</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00" noProof="0" dirty="0">
                          <a:solidFill>
                            <a:srgbClr val="000000"/>
                          </a:solidFill>
                        </a:rPr>
                        <a:t>Sin disponibilidad → Sugerir fecha alternativa.</a:t>
                      </a:r>
                      <a:endParaRPr lang="es-CO" sz="90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411480"/>
          </a:xfrm>
          <a:prstGeom prst="rect">
            <a:avLst/>
          </a:prstGeom>
          <a:noFill/>
          <a:ln/>
        </p:spPr>
        <p:txBody>
          <a:bodyPr wrap="square" rtlCol="0" anchor="ctr"/>
          <a:lstStyle/>
          <a:p>
            <a:pPr marL="0" indent="0">
              <a:buNone/>
            </a:pPr>
            <a:r>
              <a:rPr lang="es-CO" sz="1600" b="1" noProof="0" dirty="0">
                <a:solidFill>
                  <a:srgbClr val="0D1F4E"/>
                </a:solidFill>
              </a:rPr>
              <a:t>Ejercicio 1 — Criterios de evaluación</a:t>
            </a:r>
            <a:endParaRPr lang="es-CO" sz="1600" noProof="0" dirty="0"/>
          </a:p>
        </p:txBody>
      </p:sp>
      <p:sp>
        <p:nvSpPr>
          <p:cNvPr id="10" name="Shape 6"/>
          <p:cNvSpPr/>
          <p:nvPr/>
        </p:nvSpPr>
        <p:spPr>
          <a:xfrm>
            <a:off x="274320" y="1207008"/>
            <a:ext cx="804672" cy="621792"/>
          </a:xfrm>
          <a:prstGeom prst="rect">
            <a:avLst/>
          </a:prstGeom>
          <a:solidFill>
            <a:srgbClr val="0D1F4E"/>
          </a:solidFill>
          <a:ln w="19050">
            <a:solidFill>
              <a:srgbClr val="C9A227"/>
            </a:solidFill>
            <a:prstDash val="solid"/>
          </a:ln>
        </p:spPr>
        <p:txBody>
          <a:bodyPr/>
          <a:lstStyle/>
          <a:p>
            <a:endParaRPr lang="es-CO" noProof="0" dirty="0"/>
          </a:p>
        </p:txBody>
      </p:sp>
      <p:sp>
        <p:nvSpPr>
          <p:cNvPr id="11" name="Text 7"/>
          <p:cNvSpPr/>
          <p:nvPr/>
        </p:nvSpPr>
        <p:spPr>
          <a:xfrm>
            <a:off x="274320" y="1207008"/>
            <a:ext cx="804672" cy="621792"/>
          </a:xfrm>
          <a:prstGeom prst="rect">
            <a:avLst/>
          </a:prstGeom>
          <a:noFill/>
          <a:ln/>
        </p:spPr>
        <p:txBody>
          <a:bodyPr wrap="square" rtlCol="0" anchor="ctr"/>
          <a:lstStyle/>
          <a:p>
            <a:pPr marL="0" indent="0" algn="ctr">
              <a:buNone/>
            </a:pPr>
            <a:r>
              <a:rPr lang="es-CO" sz="1600" b="1" noProof="0" dirty="0">
                <a:solidFill>
                  <a:srgbClr val="C9A227"/>
                </a:solidFill>
              </a:rPr>
              <a:t>25%</a:t>
            </a:r>
            <a:endParaRPr lang="es-CO" sz="1600" noProof="0" dirty="0"/>
          </a:p>
        </p:txBody>
      </p:sp>
      <p:sp>
        <p:nvSpPr>
          <p:cNvPr id="12" name="Shape 8"/>
          <p:cNvSpPr/>
          <p:nvPr/>
        </p:nvSpPr>
        <p:spPr>
          <a:xfrm>
            <a:off x="1188720" y="1207008"/>
            <a:ext cx="7680960" cy="621792"/>
          </a:xfrm>
          <a:prstGeom prst="rect">
            <a:avLst/>
          </a:prstGeom>
          <a:solidFill>
            <a:srgbClr val="F4F5F7"/>
          </a:solidFill>
          <a:ln w="12700">
            <a:solidFill>
              <a:srgbClr val="CADCFC"/>
            </a:solidFill>
            <a:prstDash val="solid"/>
          </a:ln>
        </p:spPr>
        <p:txBody>
          <a:bodyPr/>
          <a:lstStyle/>
          <a:p>
            <a:endParaRPr lang="es-CO" noProof="0" dirty="0"/>
          </a:p>
        </p:txBody>
      </p:sp>
      <p:sp>
        <p:nvSpPr>
          <p:cNvPr id="13" name="Text 9"/>
          <p:cNvSpPr/>
          <p:nvPr/>
        </p:nvSpPr>
        <p:spPr>
          <a:xfrm>
            <a:off x="1325880" y="1243584"/>
            <a:ext cx="7406640" cy="274320"/>
          </a:xfrm>
          <a:prstGeom prst="rect">
            <a:avLst/>
          </a:prstGeom>
          <a:noFill/>
          <a:ln/>
        </p:spPr>
        <p:txBody>
          <a:bodyPr wrap="square" rtlCol="0" anchor="ctr"/>
          <a:lstStyle/>
          <a:p>
            <a:pPr marL="0" indent="0">
              <a:buNone/>
            </a:pPr>
            <a:r>
              <a:rPr lang="es-CO" sz="1100" b="1" noProof="0" dirty="0">
                <a:solidFill>
                  <a:srgbClr val="0D1F4E"/>
                </a:solidFill>
              </a:rPr>
              <a:t>Claridad del contexto y escenarios</a:t>
            </a:r>
            <a:endParaRPr lang="es-CO" sz="1100" noProof="0" dirty="0"/>
          </a:p>
        </p:txBody>
      </p:sp>
      <p:sp>
        <p:nvSpPr>
          <p:cNvPr id="14" name="Text 10"/>
          <p:cNvSpPr/>
          <p:nvPr/>
        </p:nvSpPr>
        <p:spPr>
          <a:xfrm>
            <a:off x="1325880" y="1517904"/>
            <a:ext cx="7406640" cy="274320"/>
          </a:xfrm>
          <a:prstGeom prst="rect">
            <a:avLst/>
          </a:prstGeom>
          <a:noFill/>
          <a:ln/>
        </p:spPr>
        <p:txBody>
          <a:bodyPr wrap="square" rtlCol="0" anchor="ctr"/>
          <a:lstStyle/>
          <a:p>
            <a:pPr marL="0" indent="0">
              <a:buNone/>
            </a:pPr>
            <a:r>
              <a:rPr lang="es-CO" sz="950" noProof="0" dirty="0">
                <a:solidFill>
                  <a:srgbClr val="34495E"/>
                </a:solidFill>
              </a:rPr>
              <a:t>El problema está bien delimitado y los escenarios son coherentes con el dominio.</a:t>
            </a:r>
            <a:endParaRPr lang="es-CO" sz="950" noProof="0" dirty="0"/>
          </a:p>
        </p:txBody>
      </p:sp>
      <p:sp>
        <p:nvSpPr>
          <p:cNvPr id="15" name="Shape 11"/>
          <p:cNvSpPr/>
          <p:nvPr/>
        </p:nvSpPr>
        <p:spPr>
          <a:xfrm>
            <a:off x="274320" y="1938528"/>
            <a:ext cx="804672" cy="621792"/>
          </a:xfrm>
          <a:prstGeom prst="rect">
            <a:avLst/>
          </a:prstGeom>
          <a:solidFill>
            <a:srgbClr val="0D1F4E"/>
          </a:solidFill>
          <a:ln w="19050">
            <a:solidFill>
              <a:srgbClr val="C9A227"/>
            </a:solidFill>
            <a:prstDash val="solid"/>
          </a:ln>
        </p:spPr>
        <p:txBody>
          <a:bodyPr/>
          <a:lstStyle/>
          <a:p>
            <a:endParaRPr lang="es-CO" noProof="0" dirty="0"/>
          </a:p>
        </p:txBody>
      </p:sp>
      <p:sp>
        <p:nvSpPr>
          <p:cNvPr id="16" name="Text 12"/>
          <p:cNvSpPr/>
          <p:nvPr/>
        </p:nvSpPr>
        <p:spPr>
          <a:xfrm>
            <a:off x="274320" y="1938528"/>
            <a:ext cx="804672" cy="621792"/>
          </a:xfrm>
          <a:prstGeom prst="rect">
            <a:avLst/>
          </a:prstGeom>
          <a:noFill/>
          <a:ln/>
        </p:spPr>
        <p:txBody>
          <a:bodyPr wrap="square" rtlCol="0" anchor="ctr"/>
          <a:lstStyle/>
          <a:p>
            <a:pPr marL="0" indent="0" algn="ctr">
              <a:buNone/>
            </a:pPr>
            <a:r>
              <a:rPr lang="es-CO" sz="1600" b="1" noProof="0" dirty="0">
                <a:solidFill>
                  <a:srgbClr val="C9A227"/>
                </a:solidFill>
              </a:rPr>
              <a:t>20%</a:t>
            </a:r>
            <a:endParaRPr lang="es-CO" sz="1600" noProof="0" dirty="0"/>
          </a:p>
        </p:txBody>
      </p:sp>
      <p:sp>
        <p:nvSpPr>
          <p:cNvPr id="17" name="Shape 13"/>
          <p:cNvSpPr/>
          <p:nvPr/>
        </p:nvSpPr>
        <p:spPr>
          <a:xfrm>
            <a:off x="1188720" y="1938528"/>
            <a:ext cx="7680960" cy="621792"/>
          </a:xfrm>
          <a:prstGeom prst="rect">
            <a:avLst/>
          </a:prstGeom>
          <a:solidFill>
            <a:srgbClr val="F4F5F7"/>
          </a:solidFill>
          <a:ln w="12700">
            <a:solidFill>
              <a:srgbClr val="CADCFC"/>
            </a:solidFill>
            <a:prstDash val="solid"/>
          </a:ln>
        </p:spPr>
        <p:txBody>
          <a:bodyPr/>
          <a:lstStyle/>
          <a:p>
            <a:endParaRPr lang="es-CO" noProof="0" dirty="0"/>
          </a:p>
        </p:txBody>
      </p:sp>
      <p:sp>
        <p:nvSpPr>
          <p:cNvPr id="18" name="Text 14"/>
          <p:cNvSpPr/>
          <p:nvPr/>
        </p:nvSpPr>
        <p:spPr>
          <a:xfrm>
            <a:off x="1325880" y="1975104"/>
            <a:ext cx="7406640" cy="274320"/>
          </a:xfrm>
          <a:prstGeom prst="rect">
            <a:avLst/>
          </a:prstGeom>
          <a:noFill/>
          <a:ln/>
        </p:spPr>
        <p:txBody>
          <a:bodyPr wrap="square" rtlCol="0" anchor="ctr"/>
          <a:lstStyle/>
          <a:p>
            <a:pPr marL="0" indent="0">
              <a:buNone/>
            </a:pPr>
            <a:r>
              <a:rPr lang="es-CO" sz="1100" b="1" noProof="0" dirty="0">
                <a:solidFill>
                  <a:srgbClr val="0D1F4E"/>
                </a:solidFill>
              </a:rPr>
              <a:t>Identificación de </a:t>
            </a:r>
            <a:r>
              <a:rPr lang="es-CO" sz="1100" b="1" i="1" noProof="0" dirty="0" err="1">
                <a:solidFill>
                  <a:srgbClr val="0D1F4E"/>
                </a:solidFill>
              </a:rPr>
              <a:t>stakeholders</a:t>
            </a:r>
            <a:endParaRPr lang="es-CO" sz="1100" i="1" noProof="0" dirty="0"/>
          </a:p>
        </p:txBody>
      </p:sp>
      <p:sp>
        <p:nvSpPr>
          <p:cNvPr id="19" name="Text 15"/>
          <p:cNvSpPr/>
          <p:nvPr/>
        </p:nvSpPr>
        <p:spPr>
          <a:xfrm>
            <a:off x="1325880" y="2249424"/>
            <a:ext cx="7406640" cy="274320"/>
          </a:xfrm>
          <a:prstGeom prst="rect">
            <a:avLst/>
          </a:prstGeom>
          <a:noFill/>
          <a:ln/>
        </p:spPr>
        <p:txBody>
          <a:bodyPr wrap="square" rtlCol="0" anchor="ctr"/>
          <a:lstStyle/>
          <a:p>
            <a:pPr marL="0" indent="0">
              <a:buNone/>
            </a:pPr>
            <a:r>
              <a:rPr lang="es-CO" sz="950" noProof="0" dirty="0">
                <a:solidFill>
                  <a:srgbClr val="34495E"/>
                </a:solidFill>
              </a:rPr>
              <a:t>Los actores clave están correctamente clasificados entre institución usuaria y equipo de proyecto.</a:t>
            </a:r>
            <a:endParaRPr lang="es-CO" sz="950" noProof="0" dirty="0"/>
          </a:p>
        </p:txBody>
      </p:sp>
      <p:sp>
        <p:nvSpPr>
          <p:cNvPr id="20" name="Shape 16"/>
          <p:cNvSpPr/>
          <p:nvPr/>
        </p:nvSpPr>
        <p:spPr>
          <a:xfrm>
            <a:off x="274320" y="2670048"/>
            <a:ext cx="804672" cy="621792"/>
          </a:xfrm>
          <a:prstGeom prst="rect">
            <a:avLst/>
          </a:prstGeom>
          <a:solidFill>
            <a:srgbClr val="0D1F4E"/>
          </a:solidFill>
          <a:ln w="19050">
            <a:solidFill>
              <a:srgbClr val="C9A227"/>
            </a:solidFill>
            <a:prstDash val="solid"/>
          </a:ln>
        </p:spPr>
        <p:txBody>
          <a:bodyPr/>
          <a:lstStyle/>
          <a:p>
            <a:endParaRPr lang="es-CO" noProof="0" dirty="0"/>
          </a:p>
        </p:txBody>
      </p:sp>
      <p:sp>
        <p:nvSpPr>
          <p:cNvPr id="21" name="Text 17"/>
          <p:cNvSpPr/>
          <p:nvPr/>
        </p:nvSpPr>
        <p:spPr>
          <a:xfrm>
            <a:off x="274320" y="2670048"/>
            <a:ext cx="804672" cy="621792"/>
          </a:xfrm>
          <a:prstGeom prst="rect">
            <a:avLst/>
          </a:prstGeom>
          <a:noFill/>
          <a:ln/>
        </p:spPr>
        <p:txBody>
          <a:bodyPr wrap="square" rtlCol="0" anchor="ctr"/>
          <a:lstStyle/>
          <a:p>
            <a:pPr marL="0" indent="0" algn="ctr">
              <a:buNone/>
            </a:pPr>
            <a:r>
              <a:rPr lang="es-CO" sz="1600" b="1" noProof="0" dirty="0">
                <a:solidFill>
                  <a:srgbClr val="C9A227"/>
                </a:solidFill>
              </a:rPr>
              <a:t>20%</a:t>
            </a:r>
            <a:endParaRPr lang="es-CO" sz="1600" noProof="0" dirty="0"/>
          </a:p>
        </p:txBody>
      </p:sp>
      <p:sp>
        <p:nvSpPr>
          <p:cNvPr id="22" name="Shape 18"/>
          <p:cNvSpPr/>
          <p:nvPr/>
        </p:nvSpPr>
        <p:spPr>
          <a:xfrm>
            <a:off x="1188720" y="2670048"/>
            <a:ext cx="7680960" cy="621792"/>
          </a:xfrm>
          <a:prstGeom prst="rect">
            <a:avLst/>
          </a:prstGeom>
          <a:solidFill>
            <a:srgbClr val="F4F5F7"/>
          </a:solidFill>
          <a:ln w="12700">
            <a:solidFill>
              <a:srgbClr val="CADCFC"/>
            </a:solidFill>
            <a:prstDash val="solid"/>
          </a:ln>
        </p:spPr>
        <p:txBody>
          <a:bodyPr/>
          <a:lstStyle/>
          <a:p>
            <a:endParaRPr lang="es-CO" noProof="0" dirty="0"/>
          </a:p>
        </p:txBody>
      </p:sp>
      <p:sp>
        <p:nvSpPr>
          <p:cNvPr id="23" name="Text 19"/>
          <p:cNvSpPr/>
          <p:nvPr/>
        </p:nvSpPr>
        <p:spPr>
          <a:xfrm>
            <a:off x="1325880" y="2706624"/>
            <a:ext cx="7406640" cy="274320"/>
          </a:xfrm>
          <a:prstGeom prst="rect">
            <a:avLst/>
          </a:prstGeom>
          <a:noFill/>
          <a:ln/>
        </p:spPr>
        <p:txBody>
          <a:bodyPr wrap="square" rtlCol="0" anchor="ctr"/>
          <a:lstStyle/>
          <a:p>
            <a:pPr marL="0" indent="0">
              <a:buNone/>
            </a:pPr>
            <a:r>
              <a:rPr lang="es-CO" sz="1100" b="1" noProof="0" dirty="0">
                <a:solidFill>
                  <a:srgbClr val="0D1F4E"/>
                </a:solidFill>
              </a:rPr>
              <a:t>Calidad de la educción</a:t>
            </a:r>
            <a:endParaRPr lang="es-CO" sz="1100" noProof="0" dirty="0"/>
          </a:p>
        </p:txBody>
      </p:sp>
      <p:sp>
        <p:nvSpPr>
          <p:cNvPr id="24" name="Text 20"/>
          <p:cNvSpPr/>
          <p:nvPr/>
        </p:nvSpPr>
        <p:spPr>
          <a:xfrm>
            <a:off x="1325880" y="2980944"/>
            <a:ext cx="7406640" cy="274320"/>
          </a:xfrm>
          <a:prstGeom prst="rect">
            <a:avLst/>
          </a:prstGeom>
          <a:noFill/>
          <a:ln/>
        </p:spPr>
        <p:txBody>
          <a:bodyPr wrap="square" rtlCol="0" anchor="ctr"/>
          <a:lstStyle/>
          <a:p>
            <a:pPr marL="0" indent="0">
              <a:buNone/>
            </a:pPr>
            <a:r>
              <a:rPr lang="es-CO" sz="950" noProof="0" dirty="0">
                <a:solidFill>
                  <a:srgbClr val="34495E"/>
                </a:solidFill>
              </a:rPr>
              <a:t>Las preguntas y el acta de entrevista reflejan comprensión real del proceso de negocio.</a:t>
            </a:r>
            <a:endParaRPr lang="es-CO" sz="950" noProof="0" dirty="0"/>
          </a:p>
        </p:txBody>
      </p:sp>
      <p:sp>
        <p:nvSpPr>
          <p:cNvPr id="25" name="Shape 21"/>
          <p:cNvSpPr/>
          <p:nvPr/>
        </p:nvSpPr>
        <p:spPr>
          <a:xfrm>
            <a:off x="274320" y="3401568"/>
            <a:ext cx="804672" cy="621792"/>
          </a:xfrm>
          <a:prstGeom prst="rect">
            <a:avLst/>
          </a:prstGeom>
          <a:solidFill>
            <a:srgbClr val="0D1F4E"/>
          </a:solidFill>
          <a:ln w="19050">
            <a:solidFill>
              <a:srgbClr val="C9A227"/>
            </a:solidFill>
            <a:prstDash val="solid"/>
          </a:ln>
        </p:spPr>
        <p:txBody>
          <a:bodyPr/>
          <a:lstStyle/>
          <a:p>
            <a:endParaRPr lang="es-CO" noProof="0" dirty="0"/>
          </a:p>
        </p:txBody>
      </p:sp>
      <p:sp>
        <p:nvSpPr>
          <p:cNvPr id="26" name="Text 22"/>
          <p:cNvSpPr/>
          <p:nvPr/>
        </p:nvSpPr>
        <p:spPr>
          <a:xfrm>
            <a:off x="274320" y="3401568"/>
            <a:ext cx="804672" cy="621792"/>
          </a:xfrm>
          <a:prstGeom prst="rect">
            <a:avLst/>
          </a:prstGeom>
          <a:noFill/>
          <a:ln/>
        </p:spPr>
        <p:txBody>
          <a:bodyPr wrap="square" rtlCol="0" anchor="ctr"/>
          <a:lstStyle/>
          <a:p>
            <a:pPr marL="0" indent="0" algn="ctr">
              <a:buNone/>
            </a:pPr>
            <a:r>
              <a:rPr lang="es-CO" sz="1600" b="1" noProof="0" dirty="0">
                <a:solidFill>
                  <a:srgbClr val="C9A227"/>
                </a:solidFill>
              </a:rPr>
              <a:t>25%</a:t>
            </a:r>
            <a:endParaRPr lang="es-CO" sz="1600" noProof="0" dirty="0"/>
          </a:p>
        </p:txBody>
      </p:sp>
      <p:sp>
        <p:nvSpPr>
          <p:cNvPr id="27" name="Shape 23"/>
          <p:cNvSpPr/>
          <p:nvPr/>
        </p:nvSpPr>
        <p:spPr>
          <a:xfrm>
            <a:off x="1188720" y="3401568"/>
            <a:ext cx="7680960" cy="621792"/>
          </a:xfrm>
          <a:prstGeom prst="rect">
            <a:avLst/>
          </a:prstGeom>
          <a:solidFill>
            <a:srgbClr val="F4F5F7"/>
          </a:solidFill>
          <a:ln w="12700">
            <a:solidFill>
              <a:srgbClr val="CADCFC"/>
            </a:solidFill>
            <a:prstDash val="solid"/>
          </a:ln>
        </p:spPr>
        <p:txBody>
          <a:bodyPr/>
          <a:lstStyle/>
          <a:p>
            <a:endParaRPr lang="es-CO" noProof="0" dirty="0"/>
          </a:p>
        </p:txBody>
      </p:sp>
      <p:sp>
        <p:nvSpPr>
          <p:cNvPr id="28" name="Text 24"/>
          <p:cNvSpPr/>
          <p:nvPr/>
        </p:nvSpPr>
        <p:spPr>
          <a:xfrm>
            <a:off x="1325880" y="3438144"/>
            <a:ext cx="7406640" cy="274320"/>
          </a:xfrm>
          <a:prstGeom prst="rect">
            <a:avLst/>
          </a:prstGeom>
          <a:noFill/>
          <a:ln/>
        </p:spPr>
        <p:txBody>
          <a:bodyPr wrap="square" rtlCol="0" anchor="ctr"/>
          <a:lstStyle/>
          <a:p>
            <a:pPr marL="0" indent="0">
              <a:buNone/>
            </a:pPr>
            <a:r>
              <a:rPr lang="es-CO" sz="1100" b="1" noProof="0" dirty="0">
                <a:solidFill>
                  <a:srgbClr val="0D1F4E"/>
                </a:solidFill>
              </a:rPr>
              <a:t>Rigor en la especificación</a:t>
            </a:r>
            <a:endParaRPr lang="es-CO" sz="1100" noProof="0" dirty="0"/>
          </a:p>
        </p:txBody>
      </p:sp>
      <p:sp>
        <p:nvSpPr>
          <p:cNvPr id="29" name="Text 25"/>
          <p:cNvSpPr/>
          <p:nvPr/>
        </p:nvSpPr>
        <p:spPr>
          <a:xfrm>
            <a:off x="1325880" y="3712464"/>
            <a:ext cx="7406640" cy="274320"/>
          </a:xfrm>
          <a:prstGeom prst="rect">
            <a:avLst/>
          </a:prstGeom>
          <a:noFill/>
          <a:ln/>
        </p:spPr>
        <p:txBody>
          <a:bodyPr wrap="square" rtlCol="0" anchor="ctr"/>
          <a:lstStyle/>
          <a:p>
            <a:pPr marL="0" indent="0">
              <a:buNone/>
            </a:pPr>
            <a:r>
              <a:rPr lang="es-CO" sz="950" noProof="0" dirty="0">
                <a:solidFill>
                  <a:srgbClr val="34495E"/>
                </a:solidFill>
              </a:rPr>
              <a:t>Los requisitos funcionales son claros, consistentes y trazables al contexto definido.</a:t>
            </a:r>
            <a:endParaRPr lang="es-CO" sz="950" noProof="0" dirty="0"/>
          </a:p>
        </p:txBody>
      </p:sp>
      <p:sp>
        <p:nvSpPr>
          <p:cNvPr id="30" name="Shape 26"/>
          <p:cNvSpPr/>
          <p:nvPr/>
        </p:nvSpPr>
        <p:spPr>
          <a:xfrm>
            <a:off x="274320" y="4133088"/>
            <a:ext cx="804672" cy="621792"/>
          </a:xfrm>
          <a:prstGeom prst="rect">
            <a:avLst/>
          </a:prstGeom>
          <a:solidFill>
            <a:srgbClr val="0D1F4E"/>
          </a:solidFill>
          <a:ln w="19050">
            <a:solidFill>
              <a:srgbClr val="C9A227"/>
            </a:solidFill>
            <a:prstDash val="solid"/>
          </a:ln>
        </p:spPr>
        <p:txBody>
          <a:bodyPr/>
          <a:lstStyle/>
          <a:p>
            <a:endParaRPr lang="es-CO" noProof="0" dirty="0"/>
          </a:p>
        </p:txBody>
      </p:sp>
      <p:sp>
        <p:nvSpPr>
          <p:cNvPr id="31" name="Text 27"/>
          <p:cNvSpPr/>
          <p:nvPr/>
        </p:nvSpPr>
        <p:spPr>
          <a:xfrm>
            <a:off x="274320" y="4133088"/>
            <a:ext cx="804672" cy="621792"/>
          </a:xfrm>
          <a:prstGeom prst="rect">
            <a:avLst/>
          </a:prstGeom>
          <a:noFill/>
          <a:ln/>
        </p:spPr>
        <p:txBody>
          <a:bodyPr wrap="square" rtlCol="0" anchor="ctr"/>
          <a:lstStyle/>
          <a:p>
            <a:pPr marL="0" indent="0" algn="ctr">
              <a:buNone/>
            </a:pPr>
            <a:r>
              <a:rPr lang="es-CO" sz="1600" b="1" noProof="0" dirty="0">
                <a:solidFill>
                  <a:srgbClr val="C9A227"/>
                </a:solidFill>
              </a:rPr>
              <a:t>10%</a:t>
            </a:r>
            <a:endParaRPr lang="es-CO" sz="1600" noProof="0" dirty="0"/>
          </a:p>
        </p:txBody>
      </p:sp>
      <p:sp>
        <p:nvSpPr>
          <p:cNvPr id="32" name="Shape 28"/>
          <p:cNvSpPr/>
          <p:nvPr/>
        </p:nvSpPr>
        <p:spPr>
          <a:xfrm>
            <a:off x="1188720" y="4133088"/>
            <a:ext cx="7680960" cy="621792"/>
          </a:xfrm>
          <a:prstGeom prst="rect">
            <a:avLst/>
          </a:prstGeom>
          <a:solidFill>
            <a:srgbClr val="F4F5F7"/>
          </a:solidFill>
          <a:ln w="12700">
            <a:solidFill>
              <a:srgbClr val="CADCFC"/>
            </a:solidFill>
            <a:prstDash val="solid"/>
          </a:ln>
        </p:spPr>
        <p:txBody>
          <a:bodyPr/>
          <a:lstStyle/>
          <a:p>
            <a:endParaRPr lang="es-CO" noProof="0" dirty="0"/>
          </a:p>
        </p:txBody>
      </p:sp>
      <p:sp>
        <p:nvSpPr>
          <p:cNvPr id="33" name="Text 29"/>
          <p:cNvSpPr/>
          <p:nvPr/>
        </p:nvSpPr>
        <p:spPr>
          <a:xfrm>
            <a:off x="1325880" y="4169664"/>
            <a:ext cx="7406640" cy="274320"/>
          </a:xfrm>
          <a:prstGeom prst="rect">
            <a:avLst/>
          </a:prstGeom>
          <a:noFill/>
          <a:ln/>
        </p:spPr>
        <p:txBody>
          <a:bodyPr wrap="square" rtlCol="0" anchor="ctr"/>
          <a:lstStyle/>
          <a:p>
            <a:pPr marL="0" indent="0">
              <a:buNone/>
            </a:pPr>
            <a:r>
              <a:rPr lang="es-CO" sz="1100" b="1" noProof="0" dirty="0">
                <a:solidFill>
                  <a:srgbClr val="0D1F4E"/>
                </a:solidFill>
              </a:rPr>
              <a:t>Presentación y estructura</a:t>
            </a:r>
            <a:endParaRPr lang="es-CO" sz="1100" noProof="0" dirty="0"/>
          </a:p>
        </p:txBody>
      </p:sp>
      <p:sp>
        <p:nvSpPr>
          <p:cNvPr id="34" name="Text 30"/>
          <p:cNvSpPr/>
          <p:nvPr/>
        </p:nvSpPr>
        <p:spPr>
          <a:xfrm>
            <a:off x="1325880" y="4443984"/>
            <a:ext cx="7406640" cy="274320"/>
          </a:xfrm>
          <a:prstGeom prst="rect">
            <a:avLst/>
          </a:prstGeom>
          <a:noFill/>
          <a:ln/>
        </p:spPr>
        <p:txBody>
          <a:bodyPr wrap="square" rtlCol="0" anchor="ctr"/>
          <a:lstStyle/>
          <a:p>
            <a:pPr marL="0" indent="0">
              <a:buNone/>
            </a:pPr>
            <a:r>
              <a:rPr lang="es-CO" sz="950" noProof="0" dirty="0">
                <a:solidFill>
                  <a:srgbClr val="34495E"/>
                </a:solidFill>
              </a:rPr>
              <a:t>Uso correcto de tablas y plantillas inspiradas en el modelo procedimental.</a:t>
            </a:r>
            <a:endParaRPr lang="es-CO" sz="950" noProof="0" dirty="0"/>
          </a:p>
        </p:txBody>
      </p:sp>
      <p:sp>
        <p:nvSpPr>
          <p:cNvPr id="35" name="Shape 31"/>
          <p:cNvSpPr/>
          <p:nvPr/>
        </p:nvSpPr>
        <p:spPr>
          <a:xfrm>
            <a:off x="274320" y="4828032"/>
            <a:ext cx="8595360" cy="54864"/>
          </a:xfrm>
          <a:prstGeom prst="rect">
            <a:avLst/>
          </a:prstGeom>
          <a:solidFill>
            <a:srgbClr val="C9A227"/>
          </a:solidFill>
          <a:ln w="12700">
            <a:solidFill>
              <a:srgbClr val="C9A227"/>
            </a:solidFill>
            <a:prstDash val="solid"/>
          </a:ln>
        </p:spPr>
        <p:txBody>
          <a:bodyPr/>
          <a:lstStyle/>
          <a:p>
            <a:endParaRPr lang="es-CO"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914400" cy="411480"/>
          </a:xfrm>
          <a:prstGeom prst="rect">
            <a:avLst/>
          </a:prstGeom>
          <a:solidFill>
            <a:srgbClr val="0D1F4E"/>
          </a:solidFill>
          <a:ln w="12700">
            <a:solidFill>
              <a:srgbClr val="0D1F4E"/>
            </a:solidFill>
            <a:prstDash val="solid"/>
          </a:ln>
        </p:spPr>
        <p:txBody>
          <a:bodyPr/>
          <a:lstStyle/>
          <a:p>
            <a:endParaRPr lang="es-CO" noProof="0" dirty="0"/>
          </a:p>
        </p:txBody>
      </p:sp>
      <p:sp>
        <p:nvSpPr>
          <p:cNvPr id="10" name="Text 6"/>
          <p:cNvSpPr/>
          <p:nvPr/>
        </p:nvSpPr>
        <p:spPr>
          <a:xfrm>
            <a:off x="274320" y="658368"/>
            <a:ext cx="914400" cy="411480"/>
          </a:xfrm>
          <a:prstGeom prst="rect">
            <a:avLst/>
          </a:prstGeom>
          <a:noFill/>
          <a:ln/>
        </p:spPr>
        <p:txBody>
          <a:bodyPr wrap="square" rtlCol="0" anchor="ctr"/>
          <a:lstStyle/>
          <a:p>
            <a:pPr marL="0" indent="0" algn="ctr">
              <a:buNone/>
            </a:pPr>
            <a:r>
              <a:rPr lang="es-CO" sz="1200" b="1" noProof="0" dirty="0">
                <a:solidFill>
                  <a:srgbClr val="C9A227"/>
                </a:solidFill>
              </a:rPr>
              <a:t>EJ. 2</a:t>
            </a:r>
            <a:endParaRPr lang="es-CO" sz="1200" noProof="0" dirty="0"/>
          </a:p>
        </p:txBody>
      </p:sp>
      <p:sp>
        <p:nvSpPr>
          <p:cNvPr id="11" name="Text 7"/>
          <p:cNvSpPr/>
          <p:nvPr/>
        </p:nvSpPr>
        <p:spPr>
          <a:xfrm>
            <a:off x="1325880" y="658368"/>
            <a:ext cx="7498080" cy="411480"/>
          </a:xfrm>
          <a:prstGeom prst="rect">
            <a:avLst/>
          </a:prstGeom>
          <a:noFill/>
          <a:ln/>
        </p:spPr>
        <p:txBody>
          <a:bodyPr wrap="square" rtlCol="0" anchor="ctr"/>
          <a:lstStyle/>
          <a:p>
            <a:pPr marL="0" indent="0">
              <a:buNone/>
            </a:pPr>
            <a:r>
              <a:rPr lang="es-CO" sz="1300" b="1" noProof="0" dirty="0">
                <a:solidFill>
                  <a:srgbClr val="0D1F4E"/>
                </a:solidFill>
              </a:rPr>
              <a:t>Trazabilidad entre requisitos y métricas de calidad en un proyecto </a:t>
            </a:r>
            <a:r>
              <a:rPr lang="es-CO" sz="1300" b="1" noProof="0" dirty="0" err="1">
                <a:solidFill>
                  <a:srgbClr val="0D1F4E"/>
                </a:solidFill>
              </a:rPr>
              <a:t>fintech</a:t>
            </a:r>
            <a:endParaRPr lang="es-CO" sz="1300" noProof="0" dirty="0"/>
          </a:p>
        </p:txBody>
      </p:sp>
      <p:sp>
        <p:nvSpPr>
          <p:cNvPr id="12" name="Shape 8"/>
          <p:cNvSpPr/>
          <p:nvPr/>
        </p:nvSpPr>
        <p:spPr>
          <a:xfrm>
            <a:off x="274320" y="1797448"/>
            <a:ext cx="8595360" cy="457200"/>
          </a:xfrm>
          <a:prstGeom prst="rect">
            <a:avLst/>
          </a:prstGeom>
          <a:solidFill>
            <a:srgbClr val="1C3270"/>
          </a:solidFill>
          <a:ln w="12700">
            <a:solidFill>
              <a:srgbClr val="1C3270"/>
            </a:solidFill>
            <a:prstDash val="solid"/>
          </a:ln>
        </p:spPr>
        <p:txBody>
          <a:bodyPr/>
          <a:lstStyle/>
          <a:p>
            <a:endParaRPr lang="es-CO" noProof="0" dirty="0"/>
          </a:p>
        </p:txBody>
      </p:sp>
      <p:sp>
        <p:nvSpPr>
          <p:cNvPr id="13" name="Text 9"/>
          <p:cNvSpPr/>
          <p:nvPr/>
        </p:nvSpPr>
        <p:spPr>
          <a:xfrm>
            <a:off x="274320" y="1797448"/>
            <a:ext cx="8595360" cy="457200"/>
          </a:xfrm>
          <a:prstGeom prst="rect">
            <a:avLst/>
          </a:prstGeom>
          <a:noFill/>
          <a:ln/>
        </p:spPr>
        <p:txBody>
          <a:bodyPr wrap="square" rtlCol="0" anchor="ctr"/>
          <a:lstStyle/>
          <a:p>
            <a:pPr marL="0" indent="0" algn="ctr">
              <a:buNone/>
            </a:pPr>
            <a:r>
              <a:rPr lang="es-CO" sz="1200" b="1" noProof="0" dirty="0">
                <a:solidFill>
                  <a:srgbClr val="FFFFFF"/>
                </a:solidFill>
              </a:rPr>
              <a:t>ESCENARIO — App de pagos instantáneos </a:t>
            </a:r>
            <a:r>
              <a:rPr lang="es-CO" sz="1200" b="1" noProof="0" dirty="0" err="1">
                <a:solidFill>
                  <a:srgbClr val="FFFFFF"/>
                </a:solidFill>
              </a:rPr>
              <a:t>fintech</a:t>
            </a:r>
            <a:r>
              <a:rPr lang="es-CO" sz="1200" b="1" noProof="0" dirty="0">
                <a:solidFill>
                  <a:srgbClr val="FFFFFF"/>
                </a:solidFill>
              </a:rPr>
              <a:t> latinoamericana</a:t>
            </a:r>
            <a:endParaRPr lang="es-CO" sz="1200" noProof="0" dirty="0"/>
          </a:p>
        </p:txBody>
      </p:sp>
      <p:sp>
        <p:nvSpPr>
          <p:cNvPr id="14" name="Text 10"/>
          <p:cNvSpPr/>
          <p:nvPr/>
        </p:nvSpPr>
        <p:spPr>
          <a:xfrm>
            <a:off x="320040" y="2795438"/>
            <a:ext cx="8503920" cy="347472"/>
          </a:xfrm>
          <a:prstGeom prst="rect">
            <a:avLst/>
          </a:prstGeom>
          <a:noFill/>
          <a:ln/>
        </p:spPr>
        <p:txBody>
          <a:bodyPr wrap="square" rtlCol="0" anchor="ctr"/>
          <a:lstStyle/>
          <a:p>
            <a:pPr marL="0" indent="0">
              <a:buNone/>
            </a:pPr>
            <a:r>
              <a:rPr lang="es-CO" sz="1050" noProof="0" dirty="0">
                <a:solidFill>
                  <a:srgbClr val="2C3E50"/>
                </a:solidFill>
              </a:rPr>
              <a:t>Sistema que permite a usuarios enviar y recibir dinero entre cuentas bancarias y billeteras digitales en segundos. Usuarios: clientes finales, comercios afiliados y equipo antifraude.</a:t>
            </a:r>
            <a:endParaRPr lang="es-CO" sz="1050" noProof="0" dirty="0"/>
          </a:p>
        </p:txBody>
      </p:sp>
      <p:sp>
        <p:nvSpPr>
          <p:cNvPr id="15" name="Shape 11"/>
          <p:cNvSpPr/>
          <p:nvPr/>
        </p:nvSpPr>
        <p:spPr>
          <a:xfrm>
            <a:off x="274320" y="3197779"/>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16" name="Text 12"/>
          <p:cNvSpPr/>
          <p:nvPr/>
        </p:nvSpPr>
        <p:spPr>
          <a:xfrm>
            <a:off x="274320" y="3197781"/>
            <a:ext cx="301752" cy="301752"/>
          </a:xfrm>
          <a:prstGeom prst="rect">
            <a:avLst/>
          </a:prstGeom>
          <a:noFill/>
          <a:ln/>
        </p:spPr>
        <p:txBody>
          <a:bodyPr wrap="square" rtlCol="0" anchor="ctr"/>
          <a:lstStyle/>
          <a:p>
            <a:pPr marL="0" indent="0" algn="ctr">
              <a:buNone/>
            </a:pPr>
            <a:r>
              <a:rPr lang="es-CO" sz="1000" b="1" noProof="0" dirty="0">
                <a:solidFill>
                  <a:srgbClr val="061237"/>
                </a:solidFill>
              </a:rPr>
              <a:t>1</a:t>
            </a:r>
            <a:endParaRPr lang="es-CO" sz="1000" noProof="0" dirty="0"/>
          </a:p>
        </p:txBody>
      </p:sp>
      <p:sp>
        <p:nvSpPr>
          <p:cNvPr id="17" name="Text 13"/>
          <p:cNvSpPr/>
          <p:nvPr/>
        </p:nvSpPr>
        <p:spPr>
          <a:xfrm>
            <a:off x="685800" y="3186026"/>
            <a:ext cx="8138160" cy="347472"/>
          </a:xfrm>
          <a:prstGeom prst="rect">
            <a:avLst/>
          </a:prstGeom>
          <a:noFill/>
          <a:ln/>
        </p:spPr>
        <p:txBody>
          <a:bodyPr wrap="square" rtlCol="0" anchor="ctr"/>
          <a:lstStyle/>
          <a:p>
            <a:pPr marL="0" indent="0">
              <a:buNone/>
            </a:pPr>
            <a:r>
              <a:rPr lang="es-CO" sz="1050" noProof="0" dirty="0">
                <a:solidFill>
                  <a:srgbClr val="2C3E50"/>
                </a:solidFill>
              </a:rPr>
              <a:t>Seleccionar 5 requisitos funcionales críticos del sistema </a:t>
            </a:r>
            <a:r>
              <a:rPr lang="es-CO" sz="1050" i="1" noProof="0" dirty="0" err="1">
                <a:solidFill>
                  <a:srgbClr val="2C3E50"/>
                </a:solidFill>
              </a:rPr>
              <a:t>fintech</a:t>
            </a:r>
            <a:r>
              <a:rPr lang="es-CO" sz="1050" noProof="0" dirty="0">
                <a:solidFill>
                  <a:srgbClr val="2C3E50"/>
                </a:solidFill>
              </a:rPr>
              <a:t>.</a:t>
            </a:r>
            <a:endParaRPr lang="es-CO" sz="1050" noProof="0" dirty="0"/>
          </a:p>
        </p:txBody>
      </p:sp>
      <p:sp>
        <p:nvSpPr>
          <p:cNvPr id="18" name="Shape 14"/>
          <p:cNvSpPr/>
          <p:nvPr/>
        </p:nvSpPr>
        <p:spPr>
          <a:xfrm>
            <a:off x="274320" y="3604031"/>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19" name="Text 15"/>
          <p:cNvSpPr/>
          <p:nvPr/>
        </p:nvSpPr>
        <p:spPr>
          <a:xfrm>
            <a:off x="274320" y="3597508"/>
            <a:ext cx="301752" cy="301752"/>
          </a:xfrm>
          <a:prstGeom prst="rect">
            <a:avLst/>
          </a:prstGeom>
          <a:noFill/>
          <a:ln/>
        </p:spPr>
        <p:txBody>
          <a:bodyPr wrap="square" rtlCol="0" anchor="ctr"/>
          <a:lstStyle/>
          <a:p>
            <a:pPr marL="0" indent="0" algn="ctr">
              <a:buNone/>
            </a:pPr>
            <a:r>
              <a:rPr lang="es-CO" sz="1000" b="1" noProof="0" dirty="0">
                <a:solidFill>
                  <a:srgbClr val="061237"/>
                </a:solidFill>
              </a:rPr>
              <a:t>2</a:t>
            </a:r>
            <a:endParaRPr lang="es-CO" sz="1000" noProof="0" dirty="0"/>
          </a:p>
        </p:txBody>
      </p:sp>
      <p:sp>
        <p:nvSpPr>
          <p:cNvPr id="20" name="Text 16"/>
          <p:cNvSpPr/>
          <p:nvPr/>
        </p:nvSpPr>
        <p:spPr>
          <a:xfrm>
            <a:off x="685800" y="3605343"/>
            <a:ext cx="8138160" cy="329184"/>
          </a:xfrm>
          <a:prstGeom prst="rect">
            <a:avLst/>
          </a:prstGeom>
          <a:noFill/>
          <a:ln/>
        </p:spPr>
        <p:txBody>
          <a:bodyPr wrap="square" rtlCol="0" anchor="ctr"/>
          <a:lstStyle/>
          <a:p>
            <a:r>
              <a:rPr lang="es-CO" sz="1050" dirty="0">
                <a:solidFill>
                  <a:srgbClr val="2C3E50"/>
                </a:solidFill>
              </a:rPr>
              <a:t>Análisis de riesgos de requisitos deficientes: Para cada requisito, describa al menos un posible defecto derivado de una mala especificación (ambigüedad, omisión, inconsistencia).</a:t>
            </a:r>
          </a:p>
        </p:txBody>
      </p:sp>
      <p:sp>
        <p:nvSpPr>
          <p:cNvPr id="21" name="Shape 17"/>
          <p:cNvSpPr/>
          <p:nvPr/>
        </p:nvSpPr>
        <p:spPr>
          <a:xfrm>
            <a:off x="274320" y="3990694"/>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2" name="Text 18"/>
          <p:cNvSpPr/>
          <p:nvPr/>
        </p:nvSpPr>
        <p:spPr>
          <a:xfrm>
            <a:off x="274320" y="3990697"/>
            <a:ext cx="301752" cy="301752"/>
          </a:xfrm>
          <a:prstGeom prst="rect">
            <a:avLst/>
          </a:prstGeom>
          <a:noFill/>
          <a:ln/>
        </p:spPr>
        <p:txBody>
          <a:bodyPr wrap="square" rtlCol="0" anchor="ctr"/>
          <a:lstStyle/>
          <a:p>
            <a:pPr marL="0" indent="0" algn="ctr">
              <a:buNone/>
            </a:pPr>
            <a:r>
              <a:rPr lang="es-CO" sz="1000" b="1" noProof="0" dirty="0">
                <a:solidFill>
                  <a:srgbClr val="061237"/>
                </a:solidFill>
              </a:rPr>
              <a:t>3</a:t>
            </a:r>
            <a:endParaRPr lang="es-CO" sz="1000" noProof="0" dirty="0"/>
          </a:p>
        </p:txBody>
      </p:sp>
      <p:sp>
        <p:nvSpPr>
          <p:cNvPr id="23" name="Text 19"/>
          <p:cNvSpPr/>
          <p:nvPr/>
        </p:nvSpPr>
        <p:spPr>
          <a:xfrm>
            <a:off x="685800" y="3965880"/>
            <a:ext cx="8138160" cy="329184"/>
          </a:xfrm>
          <a:prstGeom prst="rect">
            <a:avLst/>
          </a:prstGeom>
          <a:noFill/>
          <a:ln/>
        </p:spPr>
        <p:txBody>
          <a:bodyPr wrap="square" rtlCol="0" anchor="ctr"/>
          <a:lstStyle/>
          <a:p>
            <a:r>
              <a:rPr lang="es-CO" sz="1050" dirty="0">
                <a:solidFill>
                  <a:srgbClr val="2C3E50"/>
                </a:solidFill>
              </a:rPr>
              <a:t>Vincular esos defectos con métricas: cantidad de defectos en el proceso de desarrollo, % costo de calidad (retrabajos, correcciones en producción) y satisfacción del cliente (%).</a:t>
            </a:r>
          </a:p>
        </p:txBody>
      </p:sp>
      <p:sp>
        <p:nvSpPr>
          <p:cNvPr id="24" name="Shape 20"/>
          <p:cNvSpPr/>
          <p:nvPr/>
        </p:nvSpPr>
        <p:spPr>
          <a:xfrm>
            <a:off x="274320" y="4370827"/>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5" name="Text 21"/>
          <p:cNvSpPr/>
          <p:nvPr/>
        </p:nvSpPr>
        <p:spPr>
          <a:xfrm>
            <a:off x="274320" y="4364296"/>
            <a:ext cx="301752" cy="301752"/>
          </a:xfrm>
          <a:prstGeom prst="rect">
            <a:avLst/>
          </a:prstGeom>
          <a:noFill/>
          <a:ln/>
        </p:spPr>
        <p:txBody>
          <a:bodyPr wrap="square" rtlCol="0" anchor="ctr"/>
          <a:lstStyle/>
          <a:p>
            <a:pPr marL="0" indent="0" algn="ctr">
              <a:buNone/>
            </a:pPr>
            <a:r>
              <a:rPr lang="es-CO" sz="1000" b="1" noProof="0" dirty="0">
                <a:solidFill>
                  <a:srgbClr val="061237"/>
                </a:solidFill>
              </a:rPr>
              <a:t>4</a:t>
            </a:r>
            <a:endParaRPr lang="es-CO" sz="1000" noProof="0" dirty="0"/>
          </a:p>
        </p:txBody>
      </p:sp>
      <p:sp>
        <p:nvSpPr>
          <p:cNvPr id="26" name="Text 22"/>
          <p:cNvSpPr/>
          <p:nvPr/>
        </p:nvSpPr>
        <p:spPr>
          <a:xfrm>
            <a:off x="685800" y="4359073"/>
            <a:ext cx="8138160" cy="301752"/>
          </a:xfrm>
          <a:prstGeom prst="rect">
            <a:avLst/>
          </a:prstGeom>
          <a:noFill/>
          <a:ln/>
        </p:spPr>
        <p:txBody>
          <a:bodyPr wrap="square" rtlCol="0" anchor="ctr"/>
          <a:lstStyle/>
          <a:p>
            <a:pPr marL="0" indent="0">
              <a:buNone/>
            </a:pPr>
            <a:r>
              <a:rPr lang="es-CO" sz="1050" noProof="0" dirty="0">
                <a:solidFill>
                  <a:srgbClr val="2C3E50"/>
                </a:solidFill>
              </a:rPr>
              <a:t>Proponer al menos 3 acciones de mejora del proceso de especificación alineadas con CMMI o ISO/IEC 12207.</a:t>
            </a:r>
            <a:endParaRPr lang="es-CO" sz="1050" noProof="0" dirty="0"/>
          </a:p>
        </p:txBody>
      </p:sp>
      <p:sp>
        <p:nvSpPr>
          <p:cNvPr id="28" name="CuadroTexto 27">
            <a:extLst>
              <a:ext uri="{FF2B5EF4-FFF2-40B4-BE49-F238E27FC236}">
                <a16:creationId xmlns:a16="http://schemas.microsoft.com/office/drawing/2014/main" id="{C87596A6-8895-6A7F-B45A-4BF5B55330ED}"/>
              </a:ext>
            </a:extLst>
          </p:cNvPr>
          <p:cNvSpPr txBox="1"/>
          <p:nvPr/>
        </p:nvSpPr>
        <p:spPr>
          <a:xfrm>
            <a:off x="267786" y="1379770"/>
            <a:ext cx="8595360" cy="253916"/>
          </a:xfrm>
          <a:prstGeom prst="rect">
            <a:avLst/>
          </a:prstGeom>
          <a:noFill/>
          <a:ln/>
        </p:spPr>
        <p:txBody>
          <a:bodyPr wrap="square" rtlCol="0" anchor="ctr"/>
          <a:lstStyle>
            <a:lvl1pPr indent="0">
              <a:buNone/>
              <a:defRPr sz="1050">
                <a:solidFill>
                  <a:srgbClr val="2C3E50"/>
                </a:solidFill>
              </a:defRPr>
            </a:lvl1pPr>
          </a:lstStyle>
          <a:p>
            <a:r>
              <a:rPr lang="es-CO" b="1" dirty="0"/>
              <a:t>Objetivo de aprendizaje</a:t>
            </a:r>
            <a:r>
              <a:rPr lang="es-CO" dirty="0"/>
              <a:t>: Analizar cómo la calidad de la especificación de requisitos impacta en métricas de calidad del proyecto, integrando conceptos de costo de calidad, defectos y satisfacción del cliente.</a:t>
            </a:r>
          </a:p>
        </p:txBody>
      </p:sp>
      <p:sp>
        <p:nvSpPr>
          <p:cNvPr id="29" name="Text 10">
            <a:extLst>
              <a:ext uri="{FF2B5EF4-FFF2-40B4-BE49-F238E27FC236}">
                <a16:creationId xmlns:a16="http://schemas.microsoft.com/office/drawing/2014/main" id="{37C83D3F-04C0-BFC6-C227-5F05FB374D1B}"/>
              </a:ext>
            </a:extLst>
          </p:cNvPr>
          <p:cNvSpPr/>
          <p:nvPr/>
        </p:nvSpPr>
        <p:spPr>
          <a:xfrm>
            <a:off x="322223" y="2386150"/>
            <a:ext cx="8503920" cy="347472"/>
          </a:xfrm>
          <a:prstGeom prst="rect">
            <a:avLst/>
          </a:prstGeom>
          <a:noFill/>
          <a:ln/>
        </p:spPr>
        <p:txBody>
          <a:bodyPr wrap="square" rtlCol="0" anchor="ctr"/>
          <a:lstStyle/>
          <a:p>
            <a:r>
              <a:rPr lang="es-CO" sz="1050" b="1" dirty="0">
                <a:solidFill>
                  <a:srgbClr val="2C3E50"/>
                </a:solidFill>
              </a:rPr>
              <a:t>Contexto</a:t>
            </a:r>
            <a:r>
              <a:rPr lang="es-CO" sz="1050" dirty="0">
                <a:solidFill>
                  <a:srgbClr val="2C3E50"/>
                </a:solidFill>
              </a:rPr>
              <a:t>: Suponga un proyecto para desarrollar una aplicación móvil de pagos instantáneos para una </a:t>
            </a:r>
            <a:r>
              <a:rPr lang="es-CO" sz="1050" dirty="0" err="1">
                <a:solidFill>
                  <a:srgbClr val="2C3E50"/>
                </a:solidFill>
              </a:rPr>
              <a:t>fintech</a:t>
            </a:r>
            <a:r>
              <a:rPr lang="es-CO" sz="1050" dirty="0">
                <a:solidFill>
                  <a:srgbClr val="2C3E50"/>
                </a:solidFill>
              </a:rPr>
              <a:t> latinoamericana. Describa brevemente el objetivo del sistema y sus principales usuarios.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1280160" cy="411480"/>
          </a:xfrm>
          <a:prstGeom prst="rect">
            <a:avLst/>
          </a:prstGeom>
          <a:solidFill>
            <a:srgbClr val="2E7D32"/>
          </a:solidFill>
          <a:ln w="12700">
            <a:solidFill>
              <a:srgbClr val="2E7D32"/>
            </a:solidFill>
            <a:prstDash val="solid"/>
          </a:ln>
        </p:spPr>
        <p:txBody>
          <a:bodyPr/>
          <a:lstStyle/>
          <a:p>
            <a:endParaRPr lang="es-CO" noProof="0" dirty="0"/>
          </a:p>
        </p:txBody>
      </p:sp>
      <p:sp>
        <p:nvSpPr>
          <p:cNvPr id="10" name="Text 6"/>
          <p:cNvSpPr/>
          <p:nvPr/>
        </p:nvSpPr>
        <p:spPr>
          <a:xfrm>
            <a:off x="274320" y="658368"/>
            <a:ext cx="1280160" cy="411480"/>
          </a:xfrm>
          <a:prstGeom prst="rect">
            <a:avLst/>
          </a:prstGeom>
          <a:noFill/>
          <a:ln/>
        </p:spPr>
        <p:txBody>
          <a:bodyPr wrap="square" rtlCol="0" anchor="ctr"/>
          <a:lstStyle/>
          <a:p>
            <a:pPr marL="0" indent="0" algn="ctr">
              <a:buNone/>
            </a:pPr>
            <a:r>
              <a:rPr lang="es-CO" sz="1100" b="1" noProof="0" dirty="0">
                <a:solidFill>
                  <a:srgbClr val="FFFFFF"/>
                </a:solidFill>
              </a:rPr>
              <a:t>RESPUESTA</a:t>
            </a:r>
            <a:endParaRPr lang="es-CO" sz="1100" noProof="0" dirty="0"/>
          </a:p>
        </p:txBody>
      </p:sp>
      <p:sp>
        <p:nvSpPr>
          <p:cNvPr id="11" name="Text 7"/>
          <p:cNvSpPr/>
          <p:nvPr/>
        </p:nvSpPr>
        <p:spPr>
          <a:xfrm>
            <a:off x="1691640" y="658368"/>
            <a:ext cx="7132320" cy="411480"/>
          </a:xfrm>
          <a:prstGeom prst="rect">
            <a:avLst/>
          </a:prstGeom>
          <a:noFill/>
          <a:ln/>
        </p:spPr>
        <p:txBody>
          <a:bodyPr wrap="square" rtlCol="0" anchor="ctr"/>
          <a:lstStyle/>
          <a:p>
            <a:pPr marL="0" indent="0">
              <a:buNone/>
            </a:pPr>
            <a:r>
              <a:rPr lang="es-CO" sz="1300" b="1" noProof="0" dirty="0">
                <a:solidFill>
                  <a:srgbClr val="0D1F4E"/>
                </a:solidFill>
              </a:rPr>
              <a:t>Ejercicio 2 — Requisitos críticos y riesgos de mala especificación</a:t>
            </a:r>
            <a:endParaRPr lang="es-CO" sz="1300" noProof="0" dirty="0"/>
          </a:p>
        </p:txBody>
      </p:sp>
      <p:graphicFrame>
        <p:nvGraphicFramePr>
          <p:cNvPr id="22" name="Table 0"/>
          <p:cNvGraphicFramePr>
            <a:graphicFrameLocks noGrp="1"/>
          </p:cNvGraphicFramePr>
          <p:nvPr>
            <p:extLst>
              <p:ext uri="{D42A27DB-BD31-4B8C-83A1-F6EECF244321}">
                <p14:modId xmlns:p14="http://schemas.microsoft.com/office/powerpoint/2010/main" val="3254915339"/>
              </p:ext>
            </p:extLst>
          </p:nvPr>
        </p:nvGraphicFramePr>
        <p:xfrm>
          <a:off x="274320" y="1170432"/>
          <a:ext cx="8595360" cy="3520440"/>
        </p:xfrm>
        <a:graphic>
          <a:graphicData uri="http://schemas.openxmlformats.org/drawingml/2006/table">
            <a:tbl>
              <a:tblPr/>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86740">
                <a:tc>
                  <a:txBody>
                    <a:bodyPr/>
                    <a:lstStyle/>
                    <a:p>
                      <a:pPr marL="0" indent="0">
                        <a:buNone/>
                      </a:pPr>
                      <a:r>
                        <a:rPr lang="es-CO" sz="950" b="1" noProof="0" dirty="0">
                          <a:solidFill>
                            <a:srgbClr val="FFFFFF"/>
                          </a:solidFill>
                        </a:rPr>
                        <a:t>Código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Requisito funcional</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tc>
                  <a:txBody>
                    <a:bodyPr/>
                    <a:lstStyle/>
                    <a:p>
                      <a:pPr marL="0" indent="0">
                        <a:buNone/>
                      </a:pPr>
                      <a:r>
                        <a:rPr lang="es-CO" sz="950" b="1" noProof="0" dirty="0">
                          <a:solidFill>
                            <a:srgbClr val="FFFFFF"/>
                          </a:solidFill>
                        </a:rPr>
                        <a:t>Riesgo de mala especificación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D1F4E"/>
                    </a:solidFill>
                  </a:tcPr>
                </a:tc>
                <a:extLst>
                  <a:ext uri="{0D108BD9-81ED-4DB2-BD59-A6C34878D82A}">
                    <a16:rowId xmlns:a16="http://schemas.microsoft.com/office/drawing/2014/main" val="10000"/>
                  </a:ext>
                </a:extLst>
              </a:tr>
              <a:tr h="586740">
                <a:tc>
                  <a:txBody>
                    <a:bodyPr/>
                    <a:lstStyle/>
                    <a:p>
                      <a:pPr marL="0" indent="0">
                        <a:buNone/>
                      </a:pPr>
                      <a:r>
                        <a:rPr lang="es-CO" sz="950" noProof="0" dirty="0">
                          <a:solidFill>
                            <a:srgbClr val="000000"/>
                          </a:solidFill>
                        </a:rPr>
                        <a:t>RF01</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Registrar usuario con validación de identidad</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Omisión: No especificar qué datos de identidad se validan puede generar registros duplicados o fraudulentos.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586740">
                <a:tc>
                  <a:txBody>
                    <a:bodyPr/>
                    <a:lstStyle/>
                    <a:p>
                      <a:pPr marL="0" indent="0">
                        <a:buNone/>
                      </a:pPr>
                      <a:r>
                        <a:rPr lang="es-CO" sz="950" noProof="0" dirty="0">
                          <a:solidFill>
                            <a:srgbClr val="000000"/>
                          </a:solidFill>
                        </a:rPr>
                        <a:t>RF02</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Vincular cuenta bancaria (integración con banco)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Ambigüedad: Sin precisar el manejo de errores de conexión, la vinculación puede quedar en estado inconsistente.</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586740">
                <a:tc>
                  <a:txBody>
                    <a:bodyPr/>
                    <a:lstStyle/>
                    <a:p>
                      <a:pPr marL="0" indent="0">
                        <a:buNone/>
                      </a:pPr>
                      <a:r>
                        <a:rPr lang="es-CO" sz="950" noProof="0" dirty="0">
                          <a:solidFill>
                            <a:srgbClr val="000000"/>
                          </a:solidFill>
                        </a:rPr>
                        <a:t>RF03</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Realizar pago P2P entre usuarios registrados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Inconsistencia: Sin detallar el flujo de error en transferencia, se pueden generar pagos duplicados.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586740">
                <a:tc>
                  <a:txBody>
                    <a:bodyPr/>
                    <a:lstStyle/>
                    <a:p>
                      <a:pPr marL="0" indent="0">
                        <a:buNone/>
                      </a:pPr>
                      <a:r>
                        <a:rPr lang="es-CO" sz="950" noProof="0" dirty="0">
                          <a:solidFill>
                            <a:srgbClr val="000000"/>
                          </a:solidFill>
                        </a:rPr>
                        <a:t>RF04</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Consultar historial de transacciones (fecha/monto)</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Omisión: No especificar filtros de rango genera consultas lentas o resultados incorrectos en producción.</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586740">
                <a:tc>
                  <a:txBody>
                    <a:bodyPr/>
                    <a:lstStyle/>
                    <a:p>
                      <a:pPr marL="0" indent="0">
                        <a:buNone/>
                      </a:pPr>
                      <a:r>
                        <a:rPr lang="es-CO" sz="950" noProof="0" dirty="0">
                          <a:solidFill>
                            <a:srgbClr val="000000"/>
                          </a:solidFill>
                        </a:rPr>
                        <a:t>RF05</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Bloquear cuenta ante sospecha de fraude</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s-CO" sz="950" noProof="0" dirty="0">
                          <a:solidFill>
                            <a:srgbClr val="000000"/>
                          </a:solidFill>
                        </a:rPr>
                        <a:t>Ambigüedad: Sin definir quién puede bloquear (usuario, sistema, antifraude), se producen bloqueos indebidos.</a:t>
                      </a:r>
                      <a:endParaRPr lang="es-CO" sz="950" noProof="0" dirty="0"/>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Shape 5"/>
          <p:cNvSpPr/>
          <p:nvPr/>
        </p:nvSpPr>
        <p:spPr>
          <a:xfrm>
            <a:off x="274320" y="658368"/>
            <a:ext cx="1280160" cy="411480"/>
          </a:xfrm>
          <a:prstGeom prst="rect">
            <a:avLst/>
          </a:prstGeom>
          <a:solidFill>
            <a:srgbClr val="2E7D32"/>
          </a:solidFill>
          <a:ln w="12700">
            <a:solidFill>
              <a:srgbClr val="2E7D32"/>
            </a:solidFill>
            <a:prstDash val="solid"/>
          </a:ln>
        </p:spPr>
        <p:txBody>
          <a:bodyPr/>
          <a:lstStyle/>
          <a:p>
            <a:endParaRPr lang="es-CO" noProof="0" dirty="0"/>
          </a:p>
        </p:txBody>
      </p:sp>
      <p:sp>
        <p:nvSpPr>
          <p:cNvPr id="10" name="Text 6"/>
          <p:cNvSpPr/>
          <p:nvPr/>
        </p:nvSpPr>
        <p:spPr>
          <a:xfrm>
            <a:off x="274320" y="658368"/>
            <a:ext cx="1280160" cy="411480"/>
          </a:xfrm>
          <a:prstGeom prst="rect">
            <a:avLst/>
          </a:prstGeom>
          <a:noFill/>
          <a:ln/>
        </p:spPr>
        <p:txBody>
          <a:bodyPr wrap="square" rtlCol="0" anchor="ctr"/>
          <a:lstStyle/>
          <a:p>
            <a:pPr marL="0" indent="0" algn="ctr">
              <a:buNone/>
            </a:pPr>
            <a:r>
              <a:rPr lang="es-CO" sz="1100" b="1" noProof="0" dirty="0">
                <a:solidFill>
                  <a:srgbClr val="FFFFFF"/>
                </a:solidFill>
              </a:rPr>
              <a:t>RESPUESTA</a:t>
            </a:r>
            <a:endParaRPr lang="es-CO" sz="1100" noProof="0" dirty="0"/>
          </a:p>
        </p:txBody>
      </p:sp>
      <p:sp>
        <p:nvSpPr>
          <p:cNvPr id="11" name="Text 7"/>
          <p:cNvSpPr/>
          <p:nvPr/>
        </p:nvSpPr>
        <p:spPr>
          <a:xfrm>
            <a:off x="1691640" y="658368"/>
            <a:ext cx="7132320" cy="411480"/>
          </a:xfrm>
          <a:prstGeom prst="rect">
            <a:avLst/>
          </a:prstGeom>
          <a:noFill/>
          <a:ln/>
        </p:spPr>
        <p:txBody>
          <a:bodyPr wrap="square" rtlCol="0" anchor="ctr"/>
          <a:lstStyle/>
          <a:p>
            <a:pPr marL="0" indent="0">
              <a:buNone/>
            </a:pPr>
            <a:r>
              <a:rPr lang="es-CO" sz="1300" b="1" noProof="0" dirty="0">
                <a:solidFill>
                  <a:srgbClr val="0D1F4E"/>
                </a:solidFill>
              </a:rPr>
              <a:t>Ejercicio 2 — Impacto en métricas y acciones de mejora</a:t>
            </a:r>
            <a:endParaRPr lang="es-CO" sz="1300" noProof="0" dirty="0"/>
          </a:p>
        </p:txBody>
      </p:sp>
      <p:sp>
        <p:nvSpPr>
          <p:cNvPr id="12" name="Text 8"/>
          <p:cNvSpPr/>
          <p:nvPr/>
        </p:nvSpPr>
        <p:spPr>
          <a:xfrm>
            <a:off x="320040" y="1170432"/>
            <a:ext cx="8412480" cy="292608"/>
          </a:xfrm>
          <a:prstGeom prst="rect">
            <a:avLst/>
          </a:prstGeom>
          <a:noFill/>
          <a:ln/>
        </p:spPr>
        <p:txBody>
          <a:bodyPr wrap="square" rtlCol="0" anchor="ctr"/>
          <a:lstStyle/>
          <a:p>
            <a:pPr marL="0" indent="0">
              <a:buNone/>
            </a:pPr>
            <a:r>
              <a:rPr lang="es-CO" sz="1200" b="1" noProof="0" dirty="0">
                <a:solidFill>
                  <a:srgbClr val="0D1F4E"/>
                </a:solidFill>
              </a:rPr>
              <a:t>Impacto en métricas de calidad</a:t>
            </a:r>
            <a:endParaRPr lang="es-CO" sz="1200" noProof="0" dirty="0"/>
          </a:p>
        </p:txBody>
      </p:sp>
      <p:sp>
        <p:nvSpPr>
          <p:cNvPr id="13" name="Shape 9"/>
          <p:cNvSpPr/>
          <p:nvPr/>
        </p:nvSpPr>
        <p:spPr>
          <a:xfrm>
            <a:off x="274320" y="1508760"/>
            <a:ext cx="2743200" cy="411480"/>
          </a:xfrm>
          <a:prstGeom prst="rect">
            <a:avLst/>
          </a:prstGeom>
          <a:solidFill>
            <a:srgbClr val="0D1F4E"/>
          </a:solidFill>
          <a:ln w="12700">
            <a:solidFill>
              <a:srgbClr val="0D1F4E"/>
            </a:solidFill>
            <a:prstDash val="solid"/>
          </a:ln>
        </p:spPr>
        <p:txBody>
          <a:bodyPr/>
          <a:lstStyle/>
          <a:p>
            <a:endParaRPr lang="es-CO" noProof="0" dirty="0"/>
          </a:p>
        </p:txBody>
      </p:sp>
      <p:sp>
        <p:nvSpPr>
          <p:cNvPr id="14" name="Text 10"/>
          <p:cNvSpPr/>
          <p:nvPr/>
        </p:nvSpPr>
        <p:spPr>
          <a:xfrm>
            <a:off x="274320" y="1508760"/>
            <a:ext cx="2743200" cy="411480"/>
          </a:xfrm>
          <a:prstGeom prst="rect">
            <a:avLst/>
          </a:prstGeom>
          <a:noFill/>
          <a:ln/>
        </p:spPr>
        <p:txBody>
          <a:bodyPr wrap="square" rtlCol="0" anchor="ctr"/>
          <a:lstStyle/>
          <a:p>
            <a:pPr marL="0" indent="0" algn="ctr">
              <a:buNone/>
            </a:pPr>
            <a:r>
              <a:rPr lang="es-CO" sz="1000" b="1" noProof="0" dirty="0">
                <a:solidFill>
                  <a:srgbClr val="FFFFFF"/>
                </a:solidFill>
              </a:rPr>
              <a:t>Cantidad de defectos</a:t>
            </a:r>
            <a:endParaRPr lang="es-CO" sz="1000" noProof="0" dirty="0"/>
          </a:p>
        </p:txBody>
      </p:sp>
      <p:sp>
        <p:nvSpPr>
          <p:cNvPr id="15" name="Shape 11"/>
          <p:cNvSpPr/>
          <p:nvPr/>
        </p:nvSpPr>
        <p:spPr>
          <a:xfrm>
            <a:off x="274320" y="1920240"/>
            <a:ext cx="2743200" cy="914400"/>
          </a:xfrm>
          <a:prstGeom prst="rect">
            <a:avLst/>
          </a:prstGeom>
          <a:solidFill>
            <a:srgbClr val="F4F5F7"/>
          </a:solidFill>
          <a:ln w="12700">
            <a:solidFill>
              <a:srgbClr val="CADCFC"/>
            </a:solidFill>
            <a:prstDash val="solid"/>
          </a:ln>
        </p:spPr>
        <p:txBody>
          <a:bodyPr/>
          <a:lstStyle/>
          <a:p>
            <a:endParaRPr lang="es-CO" noProof="0" dirty="0"/>
          </a:p>
        </p:txBody>
      </p:sp>
      <p:sp>
        <p:nvSpPr>
          <p:cNvPr id="16" name="Text 12"/>
          <p:cNvSpPr/>
          <p:nvPr/>
        </p:nvSpPr>
        <p:spPr>
          <a:xfrm>
            <a:off x="365760" y="1956816"/>
            <a:ext cx="2560320" cy="822960"/>
          </a:xfrm>
          <a:prstGeom prst="rect">
            <a:avLst/>
          </a:prstGeom>
          <a:noFill/>
          <a:ln/>
        </p:spPr>
        <p:txBody>
          <a:bodyPr wrap="square" rtlCol="0" anchor="t"/>
          <a:lstStyle/>
          <a:p>
            <a:pPr marL="0" indent="0">
              <a:buNone/>
            </a:pPr>
            <a:r>
              <a:rPr lang="es-CO" sz="950" noProof="0" dirty="0">
                <a:solidFill>
                  <a:srgbClr val="2C3E50"/>
                </a:solidFill>
              </a:rPr>
              <a:t>Ambigüedades en RF03 y RF05 se traducen en más defectos funcionales detectados en pruebas y producción, aumentando la densidad de defectos del proyecto.</a:t>
            </a:r>
            <a:endParaRPr lang="es-CO" sz="950" noProof="0" dirty="0"/>
          </a:p>
        </p:txBody>
      </p:sp>
      <p:sp>
        <p:nvSpPr>
          <p:cNvPr id="17" name="Shape 13"/>
          <p:cNvSpPr/>
          <p:nvPr/>
        </p:nvSpPr>
        <p:spPr>
          <a:xfrm>
            <a:off x="3200400" y="1508760"/>
            <a:ext cx="2743200" cy="411480"/>
          </a:xfrm>
          <a:prstGeom prst="rect">
            <a:avLst/>
          </a:prstGeom>
          <a:solidFill>
            <a:srgbClr val="1C3270"/>
          </a:solidFill>
          <a:ln w="12700">
            <a:solidFill>
              <a:srgbClr val="1C3270"/>
            </a:solidFill>
            <a:prstDash val="solid"/>
          </a:ln>
        </p:spPr>
        <p:txBody>
          <a:bodyPr/>
          <a:lstStyle/>
          <a:p>
            <a:endParaRPr lang="es-CO" noProof="0" dirty="0"/>
          </a:p>
        </p:txBody>
      </p:sp>
      <p:sp>
        <p:nvSpPr>
          <p:cNvPr id="18" name="Text 14"/>
          <p:cNvSpPr/>
          <p:nvPr/>
        </p:nvSpPr>
        <p:spPr>
          <a:xfrm>
            <a:off x="3200400" y="1508760"/>
            <a:ext cx="2743200" cy="411480"/>
          </a:xfrm>
          <a:prstGeom prst="rect">
            <a:avLst/>
          </a:prstGeom>
          <a:noFill/>
          <a:ln/>
        </p:spPr>
        <p:txBody>
          <a:bodyPr wrap="square" rtlCol="0" anchor="ctr"/>
          <a:lstStyle/>
          <a:p>
            <a:pPr marL="0" indent="0" algn="ctr">
              <a:buNone/>
            </a:pPr>
            <a:r>
              <a:rPr lang="es-CO" sz="1000" b="1" noProof="0" dirty="0">
                <a:solidFill>
                  <a:srgbClr val="FFFFFF"/>
                </a:solidFill>
              </a:rPr>
              <a:t>Costo de calidad (%)</a:t>
            </a:r>
            <a:endParaRPr lang="es-CO" sz="1000" noProof="0" dirty="0"/>
          </a:p>
        </p:txBody>
      </p:sp>
      <p:sp>
        <p:nvSpPr>
          <p:cNvPr id="19" name="Shape 15"/>
          <p:cNvSpPr/>
          <p:nvPr/>
        </p:nvSpPr>
        <p:spPr>
          <a:xfrm>
            <a:off x="3200400" y="1920240"/>
            <a:ext cx="2743200" cy="914400"/>
          </a:xfrm>
          <a:prstGeom prst="rect">
            <a:avLst/>
          </a:prstGeom>
          <a:solidFill>
            <a:srgbClr val="F4F5F7"/>
          </a:solidFill>
          <a:ln w="12700">
            <a:solidFill>
              <a:srgbClr val="CADCFC"/>
            </a:solidFill>
            <a:prstDash val="solid"/>
          </a:ln>
        </p:spPr>
        <p:txBody>
          <a:bodyPr/>
          <a:lstStyle/>
          <a:p>
            <a:endParaRPr lang="es-CO" noProof="0" dirty="0"/>
          </a:p>
        </p:txBody>
      </p:sp>
      <p:sp>
        <p:nvSpPr>
          <p:cNvPr id="20" name="Text 16"/>
          <p:cNvSpPr/>
          <p:nvPr/>
        </p:nvSpPr>
        <p:spPr>
          <a:xfrm>
            <a:off x="3291840" y="1956816"/>
            <a:ext cx="2560320" cy="822960"/>
          </a:xfrm>
          <a:prstGeom prst="rect">
            <a:avLst/>
          </a:prstGeom>
          <a:noFill/>
          <a:ln/>
        </p:spPr>
        <p:txBody>
          <a:bodyPr wrap="square" rtlCol="0" anchor="t"/>
          <a:lstStyle/>
          <a:p>
            <a:pPr marL="0" indent="0">
              <a:buNone/>
            </a:pPr>
            <a:r>
              <a:rPr lang="es-CO" sz="950" noProof="0" dirty="0">
                <a:solidFill>
                  <a:srgbClr val="2C3E50"/>
                </a:solidFill>
              </a:rPr>
              <a:t>Retrabajos, correcciones urgentes y compensaciones a clientes elevan el porcentaje de costo de calidad respecto al costo real del proyecto.</a:t>
            </a:r>
            <a:endParaRPr lang="es-CO" sz="950" noProof="0" dirty="0"/>
          </a:p>
        </p:txBody>
      </p:sp>
      <p:sp>
        <p:nvSpPr>
          <p:cNvPr id="21" name="Shape 17"/>
          <p:cNvSpPr/>
          <p:nvPr/>
        </p:nvSpPr>
        <p:spPr>
          <a:xfrm>
            <a:off x="6126480" y="1508760"/>
            <a:ext cx="2743200" cy="411480"/>
          </a:xfrm>
          <a:prstGeom prst="rect">
            <a:avLst/>
          </a:prstGeom>
          <a:solidFill>
            <a:srgbClr val="1A6B54"/>
          </a:solidFill>
          <a:ln w="12700">
            <a:solidFill>
              <a:srgbClr val="1A6B54"/>
            </a:solidFill>
            <a:prstDash val="solid"/>
          </a:ln>
        </p:spPr>
        <p:txBody>
          <a:bodyPr/>
          <a:lstStyle/>
          <a:p>
            <a:endParaRPr lang="es-CO" noProof="0" dirty="0"/>
          </a:p>
        </p:txBody>
      </p:sp>
      <p:sp>
        <p:nvSpPr>
          <p:cNvPr id="22" name="Text 18"/>
          <p:cNvSpPr/>
          <p:nvPr/>
        </p:nvSpPr>
        <p:spPr>
          <a:xfrm>
            <a:off x="6126480" y="1508760"/>
            <a:ext cx="2743200" cy="411480"/>
          </a:xfrm>
          <a:prstGeom prst="rect">
            <a:avLst/>
          </a:prstGeom>
          <a:noFill/>
          <a:ln/>
        </p:spPr>
        <p:txBody>
          <a:bodyPr wrap="square" rtlCol="0" anchor="ctr"/>
          <a:lstStyle/>
          <a:p>
            <a:pPr marL="0" indent="0" algn="ctr">
              <a:buNone/>
            </a:pPr>
            <a:r>
              <a:rPr lang="es-CO" sz="1000" b="1" noProof="0" dirty="0">
                <a:solidFill>
                  <a:srgbClr val="FFFFFF"/>
                </a:solidFill>
              </a:rPr>
              <a:t>Satisfacción del cliente (%)</a:t>
            </a:r>
            <a:endParaRPr lang="es-CO" sz="1000" noProof="0" dirty="0"/>
          </a:p>
        </p:txBody>
      </p:sp>
      <p:sp>
        <p:nvSpPr>
          <p:cNvPr id="23" name="Shape 19"/>
          <p:cNvSpPr/>
          <p:nvPr/>
        </p:nvSpPr>
        <p:spPr>
          <a:xfrm>
            <a:off x="6126480" y="1920240"/>
            <a:ext cx="2743200" cy="914400"/>
          </a:xfrm>
          <a:prstGeom prst="rect">
            <a:avLst/>
          </a:prstGeom>
          <a:solidFill>
            <a:srgbClr val="F4F5F7"/>
          </a:solidFill>
          <a:ln w="12700">
            <a:solidFill>
              <a:srgbClr val="CADCFC"/>
            </a:solidFill>
            <a:prstDash val="solid"/>
          </a:ln>
        </p:spPr>
        <p:txBody>
          <a:bodyPr/>
          <a:lstStyle/>
          <a:p>
            <a:endParaRPr lang="es-CO" noProof="0" dirty="0"/>
          </a:p>
        </p:txBody>
      </p:sp>
      <p:sp>
        <p:nvSpPr>
          <p:cNvPr id="24" name="Text 20"/>
          <p:cNvSpPr/>
          <p:nvPr/>
        </p:nvSpPr>
        <p:spPr>
          <a:xfrm>
            <a:off x="6217920" y="1956816"/>
            <a:ext cx="2560320" cy="822960"/>
          </a:xfrm>
          <a:prstGeom prst="rect">
            <a:avLst/>
          </a:prstGeom>
          <a:noFill/>
          <a:ln/>
        </p:spPr>
        <p:txBody>
          <a:bodyPr wrap="square" rtlCol="0" anchor="t"/>
          <a:lstStyle/>
          <a:p>
            <a:pPr marL="0" indent="0">
              <a:buNone/>
            </a:pPr>
            <a:r>
              <a:rPr lang="es-CO" sz="950" noProof="0" dirty="0">
                <a:solidFill>
                  <a:srgbClr val="2C3E50"/>
                </a:solidFill>
              </a:rPr>
              <a:t>Errores en pagos o bloqueos injustificados reducen directamente el % de clientes satisfechos, afectando la reputación de la </a:t>
            </a:r>
            <a:r>
              <a:rPr lang="es-CO" sz="950" i="1" noProof="0" dirty="0" err="1">
                <a:solidFill>
                  <a:srgbClr val="2C3E50"/>
                </a:solidFill>
              </a:rPr>
              <a:t>fintech</a:t>
            </a:r>
            <a:r>
              <a:rPr lang="es-CO" sz="950" noProof="0" dirty="0">
                <a:solidFill>
                  <a:srgbClr val="2C3E50"/>
                </a:solidFill>
              </a:rPr>
              <a:t>.</a:t>
            </a:r>
            <a:endParaRPr lang="es-CO" sz="950" noProof="0" dirty="0"/>
          </a:p>
        </p:txBody>
      </p:sp>
      <p:sp>
        <p:nvSpPr>
          <p:cNvPr id="25" name="Text 21"/>
          <p:cNvSpPr/>
          <p:nvPr/>
        </p:nvSpPr>
        <p:spPr>
          <a:xfrm>
            <a:off x="320040" y="2944368"/>
            <a:ext cx="8412480" cy="292608"/>
          </a:xfrm>
          <a:prstGeom prst="rect">
            <a:avLst/>
          </a:prstGeom>
          <a:noFill/>
          <a:ln/>
        </p:spPr>
        <p:txBody>
          <a:bodyPr wrap="square" rtlCol="0" anchor="ctr"/>
          <a:lstStyle/>
          <a:p>
            <a:pPr marL="0" indent="0">
              <a:buNone/>
            </a:pPr>
            <a:r>
              <a:rPr lang="es-CO" sz="1200" b="1" noProof="0" dirty="0">
                <a:solidFill>
                  <a:srgbClr val="0D1F4E"/>
                </a:solidFill>
              </a:rPr>
              <a:t>Acciones de mejora del proceso de especificación</a:t>
            </a:r>
            <a:endParaRPr lang="es-CO" sz="1200" noProof="0" dirty="0"/>
          </a:p>
        </p:txBody>
      </p:sp>
      <p:sp>
        <p:nvSpPr>
          <p:cNvPr id="26" name="Shape 22"/>
          <p:cNvSpPr/>
          <p:nvPr/>
        </p:nvSpPr>
        <p:spPr>
          <a:xfrm>
            <a:off x="274320" y="3374136"/>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27" name="Text 23"/>
          <p:cNvSpPr/>
          <p:nvPr/>
        </p:nvSpPr>
        <p:spPr>
          <a:xfrm>
            <a:off x="274320" y="3374136"/>
            <a:ext cx="301752" cy="301752"/>
          </a:xfrm>
          <a:prstGeom prst="rect">
            <a:avLst/>
          </a:prstGeom>
          <a:noFill/>
          <a:ln/>
        </p:spPr>
        <p:txBody>
          <a:bodyPr wrap="square" rtlCol="0" anchor="ctr"/>
          <a:lstStyle/>
          <a:p>
            <a:pPr marL="0" indent="0" algn="ctr">
              <a:buNone/>
            </a:pPr>
            <a:r>
              <a:rPr lang="es-CO" sz="1000" b="1" noProof="0" dirty="0">
                <a:solidFill>
                  <a:srgbClr val="061237"/>
                </a:solidFill>
              </a:rPr>
              <a:t>1</a:t>
            </a:r>
            <a:endParaRPr lang="es-CO" sz="1000" noProof="0" dirty="0"/>
          </a:p>
        </p:txBody>
      </p:sp>
      <p:sp>
        <p:nvSpPr>
          <p:cNvPr id="28" name="Text 24"/>
          <p:cNvSpPr/>
          <p:nvPr/>
        </p:nvSpPr>
        <p:spPr>
          <a:xfrm>
            <a:off x="685800" y="3310128"/>
            <a:ext cx="8321040" cy="256032"/>
          </a:xfrm>
          <a:prstGeom prst="rect">
            <a:avLst/>
          </a:prstGeom>
          <a:noFill/>
          <a:ln/>
        </p:spPr>
        <p:txBody>
          <a:bodyPr wrap="square" rtlCol="0" anchor="ctr"/>
          <a:lstStyle/>
          <a:p>
            <a:pPr marL="0" indent="0">
              <a:buNone/>
            </a:pPr>
            <a:r>
              <a:rPr lang="es-CO" sz="1050" b="1" noProof="0" dirty="0">
                <a:solidFill>
                  <a:srgbClr val="0D1F4E"/>
                </a:solidFill>
              </a:rPr>
              <a:t>Ficha de especificación estructurada: </a:t>
            </a:r>
            <a:endParaRPr lang="es-CO" sz="1050" noProof="0" dirty="0"/>
          </a:p>
        </p:txBody>
      </p:sp>
      <p:sp>
        <p:nvSpPr>
          <p:cNvPr id="29" name="Text 25"/>
          <p:cNvSpPr/>
          <p:nvPr/>
        </p:nvSpPr>
        <p:spPr>
          <a:xfrm>
            <a:off x="685800" y="3571386"/>
            <a:ext cx="8321040" cy="228600"/>
          </a:xfrm>
          <a:prstGeom prst="rect">
            <a:avLst/>
          </a:prstGeom>
          <a:noFill/>
          <a:ln/>
        </p:spPr>
        <p:txBody>
          <a:bodyPr wrap="square" rtlCol="0" anchor="ctr"/>
          <a:lstStyle/>
          <a:p>
            <a:r>
              <a:rPr lang="es-CO" sz="950" dirty="0">
                <a:solidFill>
                  <a:srgbClr val="34495E"/>
                </a:solidFill>
              </a:rPr>
              <a:t>Definir una plantilla de ficha de especificación de requisitos similar a la propuesta por Cornejo-Aparicio et al. (precondiciones, </a:t>
            </a:r>
            <a:r>
              <a:rPr lang="es-CO" sz="950" dirty="0" err="1">
                <a:solidFill>
                  <a:srgbClr val="34495E"/>
                </a:solidFill>
              </a:rPr>
              <a:t>poscondiciones</a:t>
            </a:r>
            <a:r>
              <a:rPr lang="es-CO" sz="950" dirty="0">
                <a:solidFill>
                  <a:srgbClr val="34495E"/>
                </a:solidFill>
              </a:rPr>
              <a:t>, flujos alternativos) para todos los requisitos críticos.</a:t>
            </a:r>
          </a:p>
        </p:txBody>
      </p:sp>
      <p:sp>
        <p:nvSpPr>
          <p:cNvPr id="30" name="Shape 26"/>
          <p:cNvSpPr/>
          <p:nvPr/>
        </p:nvSpPr>
        <p:spPr>
          <a:xfrm>
            <a:off x="274320" y="3895344"/>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31" name="Text 27"/>
          <p:cNvSpPr/>
          <p:nvPr/>
        </p:nvSpPr>
        <p:spPr>
          <a:xfrm>
            <a:off x="274320" y="3895344"/>
            <a:ext cx="301752" cy="301752"/>
          </a:xfrm>
          <a:prstGeom prst="rect">
            <a:avLst/>
          </a:prstGeom>
          <a:noFill/>
          <a:ln/>
        </p:spPr>
        <p:txBody>
          <a:bodyPr wrap="square" rtlCol="0" anchor="ctr"/>
          <a:lstStyle/>
          <a:p>
            <a:pPr marL="0" indent="0" algn="ctr">
              <a:buNone/>
            </a:pPr>
            <a:r>
              <a:rPr lang="es-CO" sz="1000" b="1" noProof="0" dirty="0">
                <a:solidFill>
                  <a:srgbClr val="061237"/>
                </a:solidFill>
              </a:rPr>
              <a:t>2</a:t>
            </a:r>
            <a:endParaRPr lang="es-CO" sz="1000" noProof="0" dirty="0"/>
          </a:p>
        </p:txBody>
      </p:sp>
      <p:sp>
        <p:nvSpPr>
          <p:cNvPr id="32" name="Text 28"/>
          <p:cNvSpPr/>
          <p:nvPr/>
        </p:nvSpPr>
        <p:spPr>
          <a:xfrm>
            <a:off x="685800" y="3877053"/>
            <a:ext cx="8321040" cy="256032"/>
          </a:xfrm>
          <a:prstGeom prst="rect">
            <a:avLst/>
          </a:prstGeom>
          <a:noFill/>
          <a:ln/>
        </p:spPr>
        <p:txBody>
          <a:bodyPr wrap="square" rtlCol="0" anchor="ctr"/>
          <a:lstStyle/>
          <a:p>
            <a:pPr marL="0" indent="0">
              <a:buNone/>
            </a:pPr>
            <a:r>
              <a:rPr lang="es-CO" sz="1050" b="1" noProof="0" dirty="0">
                <a:solidFill>
                  <a:srgbClr val="0D1F4E"/>
                </a:solidFill>
              </a:rPr>
              <a:t>Revisiones de pares + </a:t>
            </a:r>
            <a:r>
              <a:rPr lang="es-CO" sz="1050" b="1" i="1" noProof="0" dirty="0" err="1">
                <a:solidFill>
                  <a:srgbClr val="0D1F4E"/>
                </a:solidFill>
              </a:rPr>
              <a:t>checklist</a:t>
            </a:r>
            <a:r>
              <a:rPr lang="es-CO" sz="1050" b="1" noProof="0" dirty="0">
                <a:solidFill>
                  <a:srgbClr val="0D1F4E"/>
                </a:solidFill>
              </a:rPr>
              <a:t> (CMMI nivel 2–3): </a:t>
            </a:r>
            <a:endParaRPr lang="es-CO" sz="1050" noProof="0" dirty="0"/>
          </a:p>
        </p:txBody>
      </p:sp>
      <p:sp>
        <p:nvSpPr>
          <p:cNvPr id="33" name="Text 29"/>
          <p:cNvSpPr/>
          <p:nvPr/>
        </p:nvSpPr>
        <p:spPr>
          <a:xfrm>
            <a:off x="685800" y="4086063"/>
            <a:ext cx="8321040" cy="228600"/>
          </a:xfrm>
          <a:prstGeom prst="rect">
            <a:avLst/>
          </a:prstGeom>
          <a:noFill/>
          <a:ln/>
        </p:spPr>
        <p:txBody>
          <a:bodyPr wrap="square" rtlCol="0" anchor="ctr"/>
          <a:lstStyle/>
          <a:p>
            <a:r>
              <a:rPr lang="es-CO" sz="950" dirty="0">
                <a:solidFill>
                  <a:srgbClr val="34495E"/>
                </a:solidFill>
              </a:rPr>
              <a:t>Incorporar revisiones de pares y </a:t>
            </a:r>
            <a:r>
              <a:rPr lang="es-CO" sz="950" dirty="0" err="1">
                <a:solidFill>
                  <a:srgbClr val="34495E"/>
                </a:solidFill>
              </a:rPr>
              <a:t>checklists</a:t>
            </a:r>
            <a:r>
              <a:rPr lang="es-CO" sz="950" dirty="0">
                <a:solidFill>
                  <a:srgbClr val="34495E"/>
                </a:solidFill>
              </a:rPr>
              <a:t> de requisitos (inspirados en las “</a:t>
            </a:r>
            <a:r>
              <a:rPr lang="es-CO" sz="950" dirty="0" err="1">
                <a:solidFill>
                  <a:srgbClr val="34495E"/>
                </a:solidFill>
              </a:rPr>
              <a:t>checklist</a:t>
            </a:r>
            <a:r>
              <a:rPr lang="es-CO" sz="950" dirty="0">
                <a:solidFill>
                  <a:srgbClr val="34495E"/>
                </a:solidFill>
              </a:rPr>
              <a:t> de diseño y pruebas” usadas en CMMI/TSP) antes de congelar la SRS., alineadas con ISO/IEC 12207.</a:t>
            </a:r>
          </a:p>
        </p:txBody>
      </p:sp>
      <p:sp>
        <p:nvSpPr>
          <p:cNvPr id="34" name="Shape 30"/>
          <p:cNvSpPr/>
          <p:nvPr/>
        </p:nvSpPr>
        <p:spPr>
          <a:xfrm>
            <a:off x="274320" y="4416552"/>
            <a:ext cx="301752" cy="301752"/>
          </a:xfrm>
          <a:prstGeom prst="ellipse">
            <a:avLst/>
          </a:prstGeom>
          <a:solidFill>
            <a:srgbClr val="C9A227"/>
          </a:solidFill>
          <a:ln w="12700">
            <a:solidFill>
              <a:srgbClr val="B8860B"/>
            </a:solidFill>
            <a:prstDash val="solid"/>
          </a:ln>
        </p:spPr>
        <p:txBody>
          <a:bodyPr/>
          <a:lstStyle/>
          <a:p>
            <a:endParaRPr lang="es-CO" noProof="0" dirty="0"/>
          </a:p>
        </p:txBody>
      </p:sp>
      <p:sp>
        <p:nvSpPr>
          <p:cNvPr id="35" name="Text 31"/>
          <p:cNvSpPr/>
          <p:nvPr/>
        </p:nvSpPr>
        <p:spPr>
          <a:xfrm>
            <a:off x="274320" y="4416552"/>
            <a:ext cx="301752" cy="301752"/>
          </a:xfrm>
          <a:prstGeom prst="rect">
            <a:avLst/>
          </a:prstGeom>
          <a:noFill/>
          <a:ln/>
        </p:spPr>
        <p:txBody>
          <a:bodyPr wrap="square" rtlCol="0" anchor="ctr"/>
          <a:lstStyle/>
          <a:p>
            <a:pPr marL="0" indent="0" algn="ctr">
              <a:buNone/>
            </a:pPr>
            <a:r>
              <a:rPr lang="es-CO" sz="1000" b="1" noProof="0" dirty="0">
                <a:solidFill>
                  <a:srgbClr val="061237"/>
                </a:solidFill>
              </a:rPr>
              <a:t>3</a:t>
            </a:r>
            <a:endParaRPr lang="es-CO" sz="1000" noProof="0" dirty="0"/>
          </a:p>
        </p:txBody>
      </p:sp>
      <p:sp>
        <p:nvSpPr>
          <p:cNvPr id="36" name="Text 32"/>
          <p:cNvSpPr/>
          <p:nvPr/>
        </p:nvSpPr>
        <p:spPr>
          <a:xfrm>
            <a:off x="685800" y="4339482"/>
            <a:ext cx="8321040" cy="256032"/>
          </a:xfrm>
          <a:prstGeom prst="rect">
            <a:avLst/>
          </a:prstGeom>
          <a:noFill/>
          <a:ln/>
        </p:spPr>
        <p:txBody>
          <a:bodyPr wrap="square" rtlCol="0" anchor="ctr"/>
          <a:lstStyle/>
          <a:p>
            <a:pPr marL="0" indent="0">
              <a:buNone/>
            </a:pPr>
            <a:r>
              <a:rPr lang="es-CO" sz="1050" b="1" noProof="0" dirty="0">
                <a:solidFill>
                  <a:srgbClr val="0D1F4E"/>
                </a:solidFill>
              </a:rPr>
              <a:t>Métricas de trazabilidad de defectos: </a:t>
            </a:r>
            <a:endParaRPr lang="es-CO" sz="1050" noProof="0" dirty="0"/>
          </a:p>
        </p:txBody>
      </p:sp>
      <p:sp>
        <p:nvSpPr>
          <p:cNvPr id="37" name="Text 33"/>
          <p:cNvSpPr/>
          <p:nvPr/>
        </p:nvSpPr>
        <p:spPr>
          <a:xfrm>
            <a:off x="685800" y="4561554"/>
            <a:ext cx="8321040" cy="228600"/>
          </a:xfrm>
          <a:prstGeom prst="rect">
            <a:avLst/>
          </a:prstGeom>
          <a:noFill/>
          <a:ln/>
        </p:spPr>
        <p:txBody>
          <a:bodyPr wrap="square" rtlCol="0" anchor="ctr"/>
          <a:lstStyle/>
          <a:p>
            <a:r>
              <a:rPr lang="es-CO" sz="950" dirty="0">
                <a:solidFill>
                  <a:srgbClr val="34495E"/>
                </a:solidFill>
              </a:rPr>
              <a:t>Medir sistemáticamente defectos atribuibles a requisitos y el costo asociado, integrando estos indicadores en un proceso de mejora continua alineado con CMMI nivel 2–3 e ISO/IEC 12207.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411480"/>
          </a:xfrm>
          <a:prstGeom prst="rect">
            <a:avLst/>
          </a:prstGeom>
          <a:noFill/>
          <a:ln/>
        </p:spPr>
        <p:txBody>
          <a:bodyPr wrap="square" rtlCol="0" anchor="ctr"/>
          <a:lstStyle/>
          <a:p>
            <a:pPr marL="0" indent="0">
              <a:buNone/>
            </a:pPr>
            <a:r>
              <a:rPr lang="es-CO" sz="1600" b="1" noProof="0" dirty="0">
                <a:solidFill>
                  <a:srgbClr val="0D1F4E"/>
                </a:solidFill>
              </a:rPr>
              <a:t>Ejercicio 2 — Criterios de evaluación</a:t>
            </a:r>
            <a:endParaRPr lang="es-CO" sz="1600" noProof="0" dirty="0"/>
          </a:p>
        </p:txBody>
      </p:sp>
      <p:sp>
        <p:nvSpPr>
          <p:cNvPr id="10" name="Shape 6"/>
          <p:cNvSpPr/>
          <p:nvPr/>
        </p:nvSpPr>
        <p:spPr>
          <a:xfrm>
            <a:off x="274320" y="1207008"/>
            <a:ext cx="804672" cy="749808"/>
          </a:xfrm>
          <a:prstGeom prst="rect">
            <a:avLst/>
          </a:prstGeom>
          <a:solidFill>
            <a:srgbClr val="0D1F4E"/>
          </a:solidFill>
          <a:ln w="19050">
            <a:solidFill>
              <a:srgbClr val="C9A227"/>
            </a:solidFill>
            <a:prstDash val="solid"/>
          </a:ln>
        </p:spPr>
        <p:txBody>
          <a:bodyPr/>
          <a:lstStyle/>
          <a:p>
            <a:endParaRPr lang="es-CO" noProof="0" dirty="0"/>
          </a:p>
        </p:txBody>
      </p:sp>
      <p:sp>
        <p:nvSpPr>
          <p:cNvPr id="11" name="Text 7"/>
          <p:cNvSpPr/>
          <p:nvPr/>
        </p:nvSpPr>
        <p:spPr>
          <a:xfrm>
            <a:off x="274320" y="1207008"/>
            <a:ext cx="804672" cy="749808"/>
          </a:xfrm>
          <a:prstGeom prst="rect">
            <a:avLst/>
          </a:prstGeom>
          <a:noFill/>
          <a:ln/>
        </p:spPr>
        <p:txBody>
          <a:bodyPr wrap="square" rtlCol="0" anchor="ctr"/>
          <a:lstStyle/>
          <a:p>
            <a:pPr marL="0" indent="0" algn="ctr">
              <a:buNone/>
            </a:pPr>
            <a:r>
              <a:rPr lang="es-CO" sz="1800" b="1" noProof="0" dirty="0">
                <a:solidFill>
                  <a:srgbClr val="C9A227"/>
                </a:solidFill>
              </a:rPr>
              <a:t>20%</a:t>
            </a:r>
            <a:endParaRPr lang="es-CO" sz="1800" noProof="0" dirty="0"/>
          </a:p>
        </p:txBody>
      </p:sp>
      <p:sp>
        <p:nvSpPr>
          <p:cNvPr id="12" name="Shape 8"/>
          <p:cNvSpPr/>
          <p:nvPr/>
        </p:nvSpPr>
        <p:spPr>
          <a:xfrm>
            <a:off x="1188720" y="1207008"/>
            <a:ext cx="7680960" cy="749808"/>
          </a:xfrm>
          <a:prstGeom prst="rect">
            <a:avLst/>
          </a:prstGeom>
          <a:solidFill>
            <a:srgbClr val="F4F5F7"/>
          </a:solidFill>
          <a:ln w="12700">
            <a:solidFill>
              <a:srgbClr val="CADCFC"/>
            </a:solidFill>
            <a:prstDash val="solid"/>
          </a:ln>
        </p:spPr>
        <p:txBody>
          <a:bodyPr/>
          <a:lstStyle/>
          <a:p>
            <a:endParaRPr lang="es-CO" noProof="0" dirty="0"/>
          </a:p>
        </p:txBody>
      </p:sp>
      <p:sp>
        <p:nvSpPr>
          <p:cNvPr id="13" name="Text 9"/>
          <p:cNvSpPr/>
          <p:nvPr/>
        </p:nvSpPr>
        <p:spPr>
          <a:xfrm>
            <a:off x="1325880" y="1261872"/>
            <a:ext cx="7406640" cy="292608"/>
          </a:xfrm>
          <a:prstGeom prst="rect">
            <a:avLst/>
          </a:prstGeom>
          <a:noFill/>
          <a:ln/>
        </p:spPr>
        <p:txBody>
          <a:bodyPr wrap="square" rtlCol="0" anchor="ctr"/>
          <a:lstStyle/>
          <a:p>
            <a:pPr marL="0" indent="0">
              <a:buNone/>
            </a:pPr>
            <a:r>
              <a:rPr lang="es-CO" sz="1200" b="1" noProof="0" dirty="0">
                <a:solidFill>
                  <a:srgbClr val="0D1F4E"/>
                </a:solidFill>
              </a:rPr>
              <a:t>Identificación de requisitos críticos</a:t>
            </a:r>
            <a:endParaRPr lang="es-CO" sz="1200" noProof="0" dirty="0"/>
          </a:p>
        </p:txBody>
      </p:sp>
      <p:sp>
        <p:nvSpPr>
          <p:cNvPr id="14" name="Text 10"/>
          <p:cNvSpPr/>
          <p:nvPr/>
        </p:nvSpPr>
        <p:spPr>
          <a:xfrm>
            <a:off x="1325880" y="1591056"/>
            <a:ext cx="7406640" cy="292608"/>
          </a:xfrm>
          <a:prstGeom prst="rect">
            <a:avLst/>
          </a:prstGeom>
          <a:noFill/>
          <a:ln/>
        </p:spPr>
        <p:txBody>
          <a:bodyPr wrap="square" rtlCol="0" anchor="ctr"/>
          <a:lstStyle/>
          <a:p>
            <a:pPr marL="0" indent="0">
              <a:buNone/>
            </a:pPr>
            <a:r>
              <a:rPr lang="es-CO" sz="1000" noProof="0" dirty="0">
                <a:solidFill>
                  <a:srgbClr val="34495E"/>
                </a:solidFill>
              </a:rPr>
              <a:t>Requisitos bien elegidos y relevantes para el dominio </a:t>
            </a:r>
            <a:r>
              <a:rPr lang="es-CO" sz="1000" noProof="0" dirty="0" err="1">
                <a:solidFill>
                  <a:srgbClr val="34495E"/>
                </a:solidFill>
              </a:rPr>
              <a:t>fintech</a:t>
            </a:r>
            <a:r>
              <a:rPr lang="es-CO" sz="1000" noProof="0" dirty="0">
                <a:solidFill>
                  <a:srgbClr val="34495E"/>
                </a:solidFill>
              </a:rPr>
              <a:t> (pagos, fraude, identidad).</a:t>
            </a:r>
            <a:endParaRPr lang="es-CO" sz="1000" noProof="0" dirty="0"/>
          </a:p>
        </p:txBody>
      </p:sp>
      <p:sp>
        <p:nvSpPr>
          <p:cNvPr id="15" name="Shape 11"/>
          <p:cNvSpPr/>
          <p:nvPr/>
        </p:nvSpPr>
        <p:spPr>
          <a:xfrm>
            <a:off x="274320" y="2075688"/>
            <a:ext cx="804672" cy="749808"/>
          </a:xfrm>
          <a:prstGeom prst="rect">
            <a:avLst/>
          </a:prstGeom>
          <a:solidFill>
            <a:srgbClr val="0D1F4E"/>
          </a:solidFill>
          <a:ln w="19050">
            <a:solidFill>
              <a:srgbClr val="C9A227"/>
            </a:solidFill>
            <a:prstDash val="solid"/>
          </a:ln>
        </p:spPr>
        <p:txBody>
          <a:bodyPr/>
          <a:lstStyle/>
          <a:p>
            <a:endParaRPr lang="es-CO" noProof="0" dirty="0"/>
          </a:p>
        </p:txBody>
      </p:sp>
      <p:sp>
        <p:nvSpPr>
          <p:cNvPr id="16" name="Text 12"/>
          <p:cNvSpPr/>
          <p:nvPr/>
        </p:nvSpPr>
        <p:spPr>
          <a:xfrm>
            <a:off x="274320" y="2075688"/>
            <a:ext cx="804672" cy="749808"/>
          </a:xfrm>
          <a:prstGeom prst="rect">
            <a:avLst/>
          </a:prstGeom>
          <a:noFill/>
          <a:ln/>
        </p:spPr>
        <p:txBody>
          <a:bodyPr wrap="square" rtlCol="0" anchor="ctr"/>
          <a:lstStyle/>
          <a:p>
            <a:pPr marL="0" indent="0" algn="ctr">
              <a:buNone/>
            </a:pPr>
            <a:r>
              <a:rPr lang="es-CO" sz="1800" b="1" noProof="0" dirty="0">
                <a:solidFill>
                  <a:srgbClr val="C9A227"/>
                </a:solidFill>
              </a:rPr>
              <a:t>30%</a:t>
            </a:r>
            <a:endParaRPr lang="es-CO" sz="1800" noProof="0" dirty="0"/>
          </a:p>
        </p:txBody>
      </p:sp>
      <p:sp>
        <p:nvSpPr>
          <p:cNvPr id="17" name="Shape 13"/>
          <p:cNvSpPr/>
          <p:nvPr/>
        </p:nvSpPr>
        <p:spPr>
          <a:xfrm>
            <a:off x="1188720" y="2075688"/>
            <a:ext cx="7680960" cy="749808"/>
          </a:xfrm>
          <a:prstGeom prst="rect">
            <a:avLst/>
          </a:prstGeom>
          <a:solidFill>
            <a:srgbClr val="F4F5F7"/>
          </a:solidFill>
          <a:ln w="12700">
            <a:solidFill>
              <a:srgbClr val="CADCFC"/>
            </a:solidFill>
            <a:prstDash val="solid"/>
          </a:ln>
        </p:spPr>
        <p:txBody>
          <a:bodyPr/>
          <a:lstStyle/>
          <a:p>
            <a:endParaRPr lang="es-CO" noProof="0" dirty="0"/>
          </a:p>
        </p:txBody>
      </p:sp>
      <p:sp>
        <p:nvSpPr>
          <p:cNvPr id="18" name="Text 14"/>
          <p:cNvSpPr/>
          <p:nvPr/>
        </p:nvSpPr>
        <p:spPr>
          <a:xfrm>
            <a:off x="1325880" y="2130552"/>
            <a:ext cx="7406640" cy="292608"/>
          </a:xfrm>
          <a:prstGeom prst="rect">
            <a:avLst/>
          </a:prstGeom>
          <a:noFill/>
          <a:ln/>
        </p:spPr>
        <p:txBody>
          <a:bodyPr wrap="square" rtlCol="0" anchor="ctr"/>
          <a:lstStyle/>
          <a:p>
            <a:pPr marL="0" indent="0">
              <a:buNone/>
            </a:pPr>
            <a:r>
              <a:rPr lang="es-CO" sz="1200" b="1" noProof="0" dirty="0">
                <a:solidFill>
                  <a:srgbClr val="0D1F4E"/>
                </a:solidFill>
              </a:rPr>
              <a:t>Profundidad del análisis de riesgos</a:t>
            </a:r>
            <a:endParaRPr lang="es-CO" sz="1200" noProof="0" dirty="0"/>
          </a:p>
        </p:txBody>
      </p:sp>
      <p:sp>
        <p:nvSpPr>
          <p:cNvPr id="19" name="Text 15"/>
          <p:cNvSpPr/>
          <p:nvPr/>
        </p:nvSpPr>
        <p:spPr>
          <a:xfrm>
            <a:off x="1325880" y="2459736"/>
            <a:ext cx="7406640" cy="292608"/>
          </a:xfrm>
          <a:prstGeom prst="rect">
            <a:avLst/>
          </a:prstGeom>
          <a:noFill/>
          <a:ln/>
        </p:spPr>
        <p:txBody>
          <a:bodyPr wrap="square" rtlCol="0" anchor="ctr"/>
          <a:lstStyle/>
          <a:p>
            <a:pPr marL="0" indent="0">
              <a:buNone/>
            </a:pPr>
            <a:r>
              <a:rPr lang="es-CO" sz="1000" noProof="0" dirty="0">
                <a:solidFill>
                  <a:srgbClr val="34495E"/>
                </a:solidFill>
              </a:rPr>
              <a:t>Conexión clara y específica entre mala especificación (ambigüedad/omisión/inconsistencia) y tipo de defecto.</a:t>
            </a:r>
            <a:endParaRPr lang="es-CO" sz="1000" noProof="0" dirty="0"/>
          </a:p>
        </p:txBody>
      </p:sp>
      <p:sp>
        <p:nvSpPr>
          <p:cNvPr id="20" name="Shape 16"/>
          <p:cNvSpPr/>
          <p:nvPr/>
        </p:nvSpPr>
        <p:spPr>
          <a:xfrm>
            <a:off x="274320" y="2944368"/>
            <a:ext cx="804672" cy="749808"/>
          </a:xfrm>
          <a:prstGeom prst="rect">
            <a:avLst/>
          </a:prstGeom>
          <a:solidFill>
            <a:srgbClr val="0D1F4E"/>
          </a:solidFill>
          <a:ln w="19050">
            <a:solidFill>
              <a:srgbClr val="C9A227"/>
            </a:solidFill>
            <a:prstDash val="solid"/>
          </a:ln>
        </p:spPr>
        <p:txBody>
          <a:bodyPr/>
          <a:lstStyle/>
          <a:p>
            <a:endParaRPr lang="es-CO" noProof="0" dirty="0"/>
          </a:p>
        </p:txBody>
      </p:sp>
      <p:sp>
        <p:nvSpPr>
          <p:cNvPr id="21" name="Text 17"/>
          <p:cNvSpPr/>
          <p:nvPr/>
        </p:nvSpPr>
        <p:spPr>
          <a:xfrm>
            <a:off x="274320" y="2944368"/>
            <a:ext cx="804672" cy="749808"/>
          </a:xfrm>
          <a:prstGeom prst="rect">
            <a:avLst/>
          </a:prstGeom>
          <a:noFill/>
          <a:ln/>
        </p:spPr>
        <p:txBody>
          <a:bodyPr wrap="square" rtlCol="0" anchor="ctr"/>
          <a:lstStyle/>
          <a:p>
            <a:pPr marL="0" indent="0" algn="ctr">
              <a:buNone/>
            </a:pPr>
            <a:r>
              <a:rPr lang="es-CO" sz="1800" b="1" noProof="0" dirty="0">
                <a:solidFill>
                  <a:srgbClr val="C9A227"/>
                </a:solidFill>
              </a:rPr>
              <a:t>30%</a:t>
            </a:r>
            <a:endParaRPr lang="es-CO" sz="1800" noProof="0" dirty="0"/>
          </a:p>
        </p:txBody>
      </p:sp>
      <p:sp>
        <p:nvSpPr>
          <p:cNvPr id="22" name="Shape 18"/>
          <p:cNvSpPr/>
          <p:nvPr/>
        </p:nvSpPr>
        <p:spPr>
          <a:xfrm>
            <a:off x="1188720" y="2944368"/>
            <a:ext cx="7680960" cy="749808"/>
          </a:xfrm>
          <a:prstGeom prst="rect">
            <a:avLst/>
          </a:prstGeom>
          <a:solidFill>
            <a:srgbClr val="F4F5F7"/>
          </a:solidFill>
          <a:ln w="12700">
            <a:solidFill>
              <a:srgbClr val="CADCFC"/>
            </a:solidFill>
            <a:prstDash val="solid"/>
          </a:ln>
        </p:spPr>
        <p:txBody>
          <a:bodyPr/>
          <a:lstStyle/>
          <a:p>
            <a:endParaRPr lang="es-CO" noProof="0" dirty="0"/>
          </a:p>
        </p:txBody>
      </p:sp>
      <p:sp>
        <p:nvSpPr>
          <p:cNvPr id="23" name="Text 19"/>
          <p:cNvSpPr/>
          <p:nvPr/>
        </p:nvSpPr>
        <p:spPr>
          <a:xfrm>
            <a:off x="1325880" y="2999232"/>
            <a:ext cx="7406640" cy="292608"/>
          </a:xfrm>
          <a:prstGeom prst="rect">
            <a:avLst/>
          </a:prstGeom>
          <a:noFill/>
          <a:ln/>
        </p:spPr>
        <p:txBody>
          <a:bodyPr wrap="square" rtlCol="0" anchor="ctr"/>
          <a:lstStyle/>
          <a:p>
            <a:pPr marL="0" indent="0">
              <a:buNone/>
            </a:pPr>
            <a:r>
              <a:rPr lang="es-CO" sz="1200" b="1" noProof="0" dirty="0">
                <a:solidFill>
                  <a:srgbClr val="0D1F4E"/>
                </a:solidFill>
              </a:rPr>
              <a:t>Vinculación con métricas de calidad</a:t>
            </a:r>
            <a:endParaRPr lang="es-CO" sz="1200" noProof="0" dirty="0"/>
          </a:p>
        </p:txBody>
      </p:sp>
      <p:sp>
        <p:nvSpPr>
          <p:cNvPr id="24" name="Text 20"/>
          <p:cNvSpPr/>
          <p:nvPr/>
        </p:nvSpPr>
        <p:spPr>
          <a:xfrm>
            <a:off x="1325880" y="3328416"/>
            <a:ext cx="7406640" cy="292608"/>
          </a:xfrm>
          <a:prstGeom prst="rect">
            <a:avLst/>
          </a:prstGeom>
          <a:noFill/>
          <a:ln/>
        </p:spPr>
        <p:txBody>
          <a:bodyPr wrap="square" rtlCol="0" anchor="ctr"/>
          <a:lstStyle/>
          <a:p>
            <a:pPr marL="0" indent="0">
              <a:buNone/>
            </a:pPr>
            <a:r>
              <a:rPr lang="es-CO" sz="1000" noProof="0" dirty="0">
                <a:solidFill>
                  <a:srgbClr val="34495E"/>
                </a:solidFill>
              </a:rPr>
              <a:t>Relación explícita con indicadores: costo de calidad, cantidad de defectos y satisfacción del cliente.</a:t>
            </a:r>
            <a:endParaRPr lang="es-CO" sz="1000" noProof="0" dirty="0"/>
          </a:p>
        </p:txBody>
      </p:sp>
      <p:sp>
        <p:nvSpPr>
          <p:cNvPr id="25" name="Shape 21"/>
          <p:cNvSpPr/>
          <p:nvPr/>
        </p:nvSpPr>
        <p:spPr>
          <a:xfrm>
            <a:off x="274320" y="3813048"/>
            <a:ext cx="804672" cy="749808"/>
          </a:xfrm>
          <a:prstGeom prst="rect">
            <a:avLst/>
          </a:prstGeom>
          <a:solidFill>
            <a:srgbClr val="0D1F4E"/>
          </a:solidFill>
          <a:ln w="19050">
            <a:solidFill>
              <a:srgbClr val="C9A227"/>
            </a:solidFill>
            <a:prstDash val="solid"/>
          </a:ln>
        </p:spPr>
        <p:txBody>
          <a:bodyPr/>
          <a:lstStyle/>
          <a:p>
            <a:endParaRPr lang="es-CO" noProof="0" dirty="0"/>
          </a:p>
        </p:txBody>
      </p:sp>
      <p:sp>
        <p:nvSpPr>
          <p:cNvPr id="26" name="Text 22"/>
          <p:cNvSpPr/>
          <p:nvPr/>
        </p:nvSpPr>
        <p:spPr>
          <a:xfrm>
            <a:off x="274320" y="3813048"/>
            <a:ext cx="804672" cy="749808"/>
          </a:xfrm>
          <a:prstGeom prst="rect">
            <a:avLst/>
          </a:prstGeom>
          <a:noFill/>
          <a:ln/>
        </p:spPr>
        <p:txBody>
          <a:bodyPr wrap="square" rtlCol="0" anchor="ctr"/>
          <a:lstStyle/>
          <a:p>
            <a:pPr marL="0" indent="0" algn="ctr">
              <a:buNone/>
            </a:pPr>
            <a:r>
              <a:rPr lang="es-CO" sz="1800" b="1" noProof="0" dirty="0">
                <a:solidFill>
                  <a:srgbClr val="C9A227"/>
                </a:solidFill>
              </a:rPr>
              <a:t>20%</a:t>
            </a:r>
            <a:endParaRPr lang="es-CO" sz="1800" noProof="0" dirty="0"/>
          </a:p>
        </p:txBody>
      </p:sp>
      <p:sp>
        <p:nvSpPr>
          <p:cNvPr id="27" name="Shape 23"/>
          <p:cNvSpPr/>
          <p:nvPr/>
        </p:nvSpPr>
        <p:spPr>
          <a:xfrm>
            <a:off x="1188720" y="3813048"/>
            <a:ext cx="7680960" cy="749808"/>
          </a:xfrm>
          <a:prstGeom prst="rect">
            <a:avLst/>
          </a:prstGeom>
          <a:solidFill>
            <a:srgbClr val="F4F5F7"/>
          </a:solidFill>
          <a:ln w="12700">
            <a:solidFill>
              <a:srgbClr val="CADCFC"/>
            </a:solidFill>
            <a:prstDash val="solid"/>
          </a:ln>
        </p:spPr>
        <p:txBody>
          <a:bodyPr/>
          <a:lstStyle/>
          <a:p>
            <a:endParaRPr lang="es-CO" noProof="0" dirty="0"/>
          </a:p>
        </p:txBody>
      </p:sp>
      <p:sp>
        <p:nvSpPr>
          <p:cNvPr id="28" name="Text 24"/>
          <p:cNvSpPr/>
          <p:nvPr/>
        </p:nvSpPr>
        <p:spPr>
          <a:xfrm>
            <a:off x="1325880" y="3867912"/>
            <a:ext cx="7406640" cy="292608"/>
          </a:xfrm>
          <a:prstGeom prst="rect">
            <a:avLst/>
          </a:prstGeom>
          <a:noFill/>
          <a:ln/>
        </p:spPr>
        <p:txBody>
          <a:bodyPr wrap="square" rtlCol="0" anchor="ctr"/>
          <a:lstStyle/>
          <a:p>
            <a:pPr marL="0" indent="0">
              <a:buNone/>
            </a:pPr>
            <a:r>
              <a:rPr lang="es-CO" sz="1200" b="1" noProof="0" dirty="0">
                <a:solidFill>
                  <a:srgbClr val="0D1F4E"/>
                </a:solidFill>
              </a:rPr>
              <a:t>Calidad de las propuestas de mejora</a:t>
            </a:r>
            <a:endParaRPr lang="es-CO" sz="1200" noProof="0" dirty="0"/>
          </a:p>
        </p:txBody>
      </p:sp>
      <p:sp>
        <p:nvSpPr>
          <p:cNvPr id="29" name="Text 25"/>
          <p:cNvSpPr/>
          <p:nvPr/>
        </p:nvSpPr>
        <p:spPr>
          <a:xfrm>
            <a:off x="1325880" y="4197096"/>
            <a:ext cx="7406640" cy="292608"/>
          </a:xfrm>
          <a:prstGeom prst="rect">
            <a:avLst/>
          </a:prstGeom>
          <a:noFill/>
          <a:ln/>
        </p:spPr>
        <p:txBody>
          <a:bodyPr wrap="square" rtlCol="0" anchor="ctr"/>
          <a:lstStyle/>
          <a:p>
            <a:pPr marL="0" indent="0">
              <a:buNone/>
            </a:pPr>
            <a:r>
              <a:rPr lang="es-CO" sz="1000" noProof="0" dirty="0">
                <a:solidFill>
                  <a:srgbClr val="34495E"/>
                </a:solidFill>
              </a:rPr>
              <a:t>Acciones realistas y alineadas con CMMI, ISO/IEC 12207 u otro modelo SPI reconocido.</a:t>
            </a:r>
            <a:endParaRPr lang="es-CO" sz="100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594360"/>
            <a:ext cx="9144000" cy="4233672"/>
          </a:xfrm>
          <a:prstGeom prst="rect">
            <a:avLst/>
          </a:prstGeom>
          <a:solidFill>
            <a:srgbClr val="FFFFFF">
              <a:alpha val="90000"/>
            </a:srgbClr>
          </a:solidFill>
          <a:ln w="12700">
            <a:solidFill>
              <a:srgbClr val="FFFFFF">
                <a:alpha val="90000"/>
              </a:srgbClr>
            </a:solidFill>
            <a:prstDash val="solid"/>
          </a:ln>
        </p:spPr>
        <p:txBody>
          <a:bodyPr/>
          <a:lstStyle/>
          <a:p>
            <a:endParaRPr lang="es-CO" noProof="0" dirty="0"/>
          </a:p>
        </p:txBody>
      </p:sp>
      <p:pic>
        <p:nvPicPr>
          <p:cNvPr id="4" name="Image 1" descr="preencoded.png"/>
          <p:cNvPicPr>
            <a:picLocks noChangeAspect="1"/>
          </p:cNvPicPr>
          <p:nvPr/>
        </p:nvPicPr>
        <p:blipFill>
          <a:blip r:embed="rId4"/>
          <a:stretch>
            <a:fillRect/>
          </a:stretch>
        </p:blipFill>
        <p:spPr>
          <a:xfrm>
            <a:off x="0" y="0"/>
            <a:ext cx="9144000" cy="594360"/>
          </a:xfrm>
          <a:prstGeom prst="rect">
            <a:avLst/>
          </a:prstGeom>
        </p:spPr>
      </p:pic>
      <p:sp>
        <p:nvSpPr>
          <p:cNvPr id="5" name="Shape 1"/>
          <p:cNvSpPr/>
          <p:nvPr/>
        </p:nvSpPr>
        <p:spPr>
          <a:xfrm>
            <a:off x="8138160" y="73152"/>
            <a:ext cx="777240" cy="777240"/>
          </a:xfrm>
          <a:prstGeom prst="ellipse">
            <a:avLst/>
          </a:prstGeom>
          <a:solidFill>
            <a:srgbClr val="C9A227"/>
          </a:solidFill>
          <a:ln w="25400">
            <a:solidFill>
              <a:srgbClr val="B8860B"/>
            </a:solidFill>
            <a:prstDash val="solid"/>
          </a:ln>
        </p:spPr>
        <p:txBody>
          <a:bodyPr/>
          <a:lstStyle/>
          <a:p>
            <a:endParaRPr lang="es-CO" noProof="0" dirty="0"/>
          </a:p>
        </p:txBody>
      </p:sp>
      <p:sp>
        <p:nvSpPr>
          <p:cNvPr id="6" name="Text 2"/>
          <p:cNvSpPr/>
          <p:nvPr/>
        </p:nvSpPr>
        <p:spPr>
          <a:xfrm>
            <a:off x="8138160" y="73152"/>
            <a:ext cx="777240" cy="777240"/>
          </a:xfrm>
          <a:prstGeom prst="rect">
            <a:avLst/>
          </a:prstGeom>
          <a:noFill/>
          <a:ln/>
        </p:spPr>
        <p:txBody>
          <a:bodyPr wrap="square" rtlCol="0" anchor="ctr"/>
          <a:lstStyle/>
          <a:p>
            <a:pPr marL="0" indent="0" algn="ctr">
              <a:buNone/>
            </a:pPr>
            <a:r>
              <a:rPr lang="es-CO" sz="500" b="1" noProof="0" dirty="0">
                <a:solidFill>
                  <a:srgbClr val="061237"/>
                </a:solidFill>
              </a:rPr>
              <a:t>ALTA</a:t>
            </a:r>
            <a:endParaRPr lang="es-CO" sz="500" noProof="0" dirty="0"/>
          </a:p>
          <a:p>
            <a:pPr marL="0" indent="0" algn="ctr">
              <a:buNone/>
            </a:pPr>
            <a:r>
              <a:rPr lang="es-CO" sz="500" b="1" noProof="0" dirty="0">
                <a:solidFill>
                  <a:srgbClr val="061237"/>
                </a:solidFill>
              </a:rPr>
              <a:t>CALIDAD</a:t>
            </a:r>
            <a:endParaRPr lang="es-CO" sz="500" noProof="0" dirty="0"/>
          </a:p>
        </p:txBody>
      </p:sp>
      <p:sp>
        <p:nvSpPr>
          <p:cNvPr id="7" name="Shape 3"/>
          <p:cNvSpPr/>
          <p:nvPr/>
        </p:nvSpPr>
        <p:spPr>
          <a:xfrm>
            <a:off x="0" y="4828032"/>
            <a:ext cx="9144000" cy="315468"/>
          </a:xfrm>
          <a:prstGeom prst="rect">
            <a:avLst/>
          </a:prstGeom>
          <a:solidFill>
            <a:srgbClr val="061237"/>
          </a:solidFill>
          <a:ln w="12700">
            <a:solidFill>
              <a:srgbClr val="061237"/>
            </a:solidFill>
            <a:prstDash val="solid"/>
          </a:ln>
        </p:spPr>
        <p:txBody>
          <a:bodyPr/>
          <a:lstStyle/>
          <a:p>
            <a:endParaRPr lang="es-CO" noProof="0" dirty="0"/>
          </a:p>
        </p:txBody>
      </p:sp>
      <p:sp>
        <p:nvSpPr>
          <p:cNvPr id="8" name="Text 4"/>
          <p:cNvSpPr/>
          <p:nvPr/>
        </p:nvSpPr>
        <p:spPr>
          <a:xfrm>
            <a:off x="137160" y="4846320"/>
            <a:ext cx="18288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5"/>
          <p:cNvSpPr/>
          <p:nvPr/>
        </p:nvSpPr>
        <p:spPr>
          <a:xfrm>
            <a:off x="274320" y="658368"/>
            <a:ext cx="8595360" cy="457200"/>
          </a:xfrm>
          <a:prstGeom prst="rect">
            <a:avLst/>
          </a:prstGeom>
          <a:noFill/>
          <a:ln/>
        </p:spPr>
        <p:txBody>
          <a:bodyPr wrap="square" rtlCol="0" anchor="ctr"/>
          <a:lstStyle/>
          <a:p>
            <a:pPr marL="0" indent="0">
              <a:buNone/>
            </a:pPr>
            <a:r>
              <a:rPr lang="es-CO" sz="2200" b="1" noProof="0" dirty="0">
                <a:solidFill>
                  <a:srgbClr val="0D1F4E"/>
                </a:solidFill>
              </a:rPr>
              <a:t>Conclusiones</a:t>
            </a:r>
            <a:endParaRPr lang="es-CO" sz="2200" noProof="0" dirty="0"/>
          </a:p>
        </p:txBody>
      </p:sp>
      <p:sp>
        <p:nvSpPr>
          <p:cNvPr id="10" name="Shape 6"/>
          <p:cNvSpPr/>
          <p:nvPr/>
        </p:nvSpPr>
        <p:spPr>
          <a:xfrm>
            <a:off x="274320" y="1371600"/>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11" name="Text 7"/>
          <p:cNvSpPr/>
          <p:nvPr/>
        </p:nvSpPr>
        <p:spPr>
          <a:xfrm>
            <a:off x="475488" y="1261872"/>
            <a:ext cx="8366760" cy="530352"/>
          </a:xfrm>
          <a:prstGeom prst="rect">
            <a:avLst/>
          </a:prstGeom>
          <a:noFill/>
          <a:ln/>
        </p:spPr>
        <p:txBody>
          <a:bodyPr wrap="square" rtlCol="0" anchor="ctr"/>
          <a:lstStyle/>
          <a:p>
            <a:pPr marL="0" indent="0">
              <a:buNone/>
            </a:pPr>
            <a:r>
              <a:rPr lang="es-CO" sz="1050" noProof="0" dirty="0">
                <a:solidFill>
                  <a:srgbClr val="2C3E50"/>
                </a:solidFill>
              </a:rPr>
              <a:t>La especificación de requisitos es el primer y más importante mecanismo preventivo de calidad en el desarrollo de software.</a:t>
            </a:r>
            <a:endParaRPr lang="es-CO" sz="1050" noProof="0" dirty="0"/>
          </a:p>
        </p:txBody>
      </p:sp>
      <p:sp>
        <p:nvSpPr>
          <p:cNvPr id="12" name="Shape 8"/>
          <p:cNvSpPr/>
          <p:nvPr/>
        </p:nvSpPr>
        <p:spPr>
          <a:xfrm>
            <a:off x="274320" y="1956816"/>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13" name="Text 9"/>
          <p:cNvSpPr/>
          <p:nvPr/>
        </p:nvSpPr>
        <p:spPr>
          <a:xfrm>
            <a:off x="475488" y="1847088"/>
            <a:ext cx="8366760" cy="530352"/>
          </a:xfrm>
          <a:prstGeom prst="rect">
            <a:avLst/>
          </a:prstGeom>
          <a:noFill/>
          <a:ln/>
        </p:spPr>
        <p:txBody>
          <a:bodyPr wrap="square" rtlCol="0" anchor="ctr"/>
          <a:lstStyle/>
          <a:p>
            <a:pPr marL="0" indent="0">
              <a:buNone/>
            </a:pPr>
            <a:r>
              <a:rPr lang="es-CO" sz="1050" noProof="0" dirty="0">
                <a:solidFill>
                  <a:srgbClr val="2C3E50"/>
                </a:solidFill>
              </a:rPr>
              <a:t>IEEE 830 e ISO/IEC 12207 proveen el marco normativo; el modelo procedimental provee el cómo operacional para obtener requisitos funcionales.</a:t>
            </a:r>
            <a:endParaRPr lang="es-CO" sz="1050" noProof="0" dirty="0"/>
          </a:p>
        </p:txBody>
      </p:sp>
      <p:sp>
        <p:nvSpPr>
          <p:cNvPr id="14" name="Shape 10"/>
          <p:cNvSpPr/>
          <p:nvPr/>
        </p:nvSpPr>
        <p:spPr>
          <a:xfrm>
            <a:off x="274320" y="2542032"/>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15" name="Text 11"/>
          <p:cNvSpPr/>
          <p:nvPr/>
        </p:nvSpPr>
        <p:spPr>
          <a:xfrm>
            <a:off x="475488" y="2432304"/>
            <a:ext cx="8366760" cy="530352"/>
          </a:xfrm>
          <a:prstGeom prst="rect">
            <a:avLst/>
          </a:prstGeom>
          <a:noFill/>
          <a:ln/>
        </p:spPr>
        <p:txBody>
          <a:bodyPr wrap="square" rtlCol="0" anchor="ctr"/>
          <a:lstStyle/>
          <a:p>
            <a:pPr marL="0" indent="0">
              <a:buNone/>
            </a:pPr>
            <a:r>
              <a:rPr lang="es-CO" sz="1050" noProof="0" dirty="0">
                <a:solidFill>
                  <a:srgbClr val="2C3E50"/>
                </a:solidFill>
              </a:rPr>
              <a:t>Todos los modelos SPI (CMMI, MoProSoft, </a:t>
            </a:r>
            <a:r>
              <a:rPr lang="es-CO" sz="1050" noProof="0" dirty="0" err="1">
                <a:solidFill>
                  <a:srgbClr val="2C3E50"/>
                </a:solidFill>
              </a:rPr>
              <a:t>Competisoft</a:t>
            </a:r>
            <a:r>
              <a:rPr lang="es-CO" sz="1050" noProof="0" dirty="0">
                <a:solidFill>
                  <a:srgbClr val="2C3E50"/>
                </a:solidFill>
              </a:rPr>
              <a:t>, </a:t>
            </a:r>
            <a:r>
              <a:rPr lang="es-CO" sz="1050" noProof="0" dirty="0" err="1">
                <a:solidFill>
                  <a:srgbClr val="2C3E50"/>
                </a:solidFill>
              </a:rPr>
              <a:t>MPS.Br</a:t>
            </a:r>
            <a:r>
              <a:rPr lang="es-CO" sz="1050" noProof="0" dirty="0">
                <a:solidFill>
                  <a:srgbClr val="2C3E50"/>
                </a:solidFill>
              </a:rPr>
              <a:t>) exigen gestión formal de requisitos como capacidad transversal.</a:t>
            </a:r>
            <a:endParaRPr lang="es-CO" sz="1050" noProof="0" dirty="0"/>
          </a:p>
        </p:txBody>
      </p:sp>
      <p:sp>
        <p:nvSpPr>
          <p:cNvPr id="16" name="Shape 12"/>
          <p:cNvSpPr/>
          <p:nvPr/>
        </p:nvSpPr>
        <p:spPr>
          <a:xfrm>
            <a:off x="274320" y="3127248"/>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17" name="Text 13"/>
          <p:cNvSpPr/>
          <p:nvPr/>
        </p:nvSpPr>
        <p:spPr>
          <a:xfrm>
            <a:off x="475488" y="3017520"/>
            <a:ext cx="8366760" cy="530352"/>
          </a:xfrm>
          <a:prstGeom prst="rect">
            <a:avLst/>
          </a:prstGeom>
          <a:noFill/>
          <a:ln/>
        </p:spPr>
        <p:txBody>
          <a:bodyPr wrap="square" rtlCol="0" anchor="ctr"/>
          <a:lstStyle/>
          <a:p>
            <a:pPr marL="0" indent="0">
              <a:buNone/>
            </a:pPr>
            <a:r>
              <a:rPr lang="es-CO" sz="1050" noProof="0" dirty="0">
                <a:solidFill>
                  <a:srgbClr val="2C3E50"/>
                </a:solidFill>
              </a:rPr>
              <a:t>Requisitos deficientes incrementan la densidad de defectos, el costo de calidad y reducen la satisfacción del cliente.</a:t>
            </a:r>
            <a:endParaRPr lang="es-CO" sz="1050" noProof="0" dirty="0"/>
          </a:p>
        </p:txBody>
      </p:sp>
      <p:sp>
        <p:nvSpPr>
          <p:cNvPr id="18" name="Shape 14"/>
          <p:cNvSpPr/>
          <p:nvPr/>
        </p:nvSpPr>
        <p:spPr>
          <a:xfrm>
            <a:off x="274320" y="3712464"/>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19" name="Text 15"/>
          <p:cNvSpPr/>
          <p:nvPr/>
        </p:nvSpPr>
        <p:spPr>
          <a:xfrm>
            <a:off x="475488" y="3602736"/>
            <a:ext cx="8366760" cy="530352"/>
          </a:xfrm>
          <a:prstGeom prst="rect">
            <a:avLst/>
          </a:prstGeom>
          <a:noFill/>
          <a:ln/>
        </p:spPr>
        <p:txBody>
          <a:bodyPr wrap="square" rtlCol="0" anchor="ctr"/>
          <a:lstStyle/>
          <a:p>
            <a:pPr marL="0" indent="0">
              <a:buNone/>
            </a:pPr>
            <a:r>
              <a:rPr lang="es-CO" sz="1050" noProof="0" dirty="0">
                <a:solidFill>
                  <a:srgbClr val="2C3E50"/>
                </a:solidFill>
              </a:rPr>
              <a:t>El ciclo medir → analizar → ajustar → institucionalizar cierra el </a:t>
            </a:r>
            <a:r>
              <a:rPr lang="es-CO" sz="1050" noProof="0" dirty="0" err="1">
                <a:solidFill>
                  <a:srgbClr val="2C3E50"/>
                </a:solidFill>
              </a:rPr>
              <a:t>loop</a:t>
            </a:r>
            <a:r>
              <a:rPr lang="es-CO" sz="1050" noProof="0" dirty="0">
                <a:solidFill>
                  <a:srgbClr val="2C3E50"/>
                </a:solidFill>
              </a:rPr>
              <a:t> de mejora continua a partir de la especificación.</a:t>
            </a:r>
            <a:endParaRPr lang="es-CO" sz="1050" noProof="0" dirty="0"/>
          </a:p>
        </p:txBody>
      </p:sp>
      <p:sp>
        <p:nvSpPr>
          <p:cNvPr id="20" name="Shape 16"/>
          <p:cNvSpPr/>
          <p:nvPr/>
        </p:nvSpPr>
        <p:spPr>
          <a:xfrm>
            <a:off x="274320" y="4297680"/>
            <a:ext cx="64008" cy="347472"/>
          </a:xfrm>
          <a:prstGeom prst="rect">
            <a:avLst/>
          </a:prstGeom>
          <a:solidFill>
            <a:srgbClr val="C9A227"/>
          </a:solidFill>
          <a:ln w="12700">
            <a:solidFill>
              <a:srgbClr val="C9A227"/>
            </a:solidFill>
            <a:prstDash val="solid"/>
          </a:ln>
        </p:spPr>
        <p:txBody>
          <a:bodyPr/>
          <a:lstStyle/>
          <a:p>
            <a:endParaRPr lang="es-CO" noProof="0" dirty="0"/>
          </a:p>
        </p:txBody>
      </p:sp>
      <p:sp>
        <p:nvSpPr>
          <p:cNvPr id="21" name="Text 17"/>
          <p:cNvSpPr/>
          <p:nvPr/>
        </p:nvSpPr>
        <p:spPr>
          <a:xfrm>
            <a:off x="475488" y="4187952"/>
            <a:ext cx="8366760" cy="530352"/>
          </a:xfrm>
          <a:prstGeom prst="rect">
            <a:avLst/>
          </a:prstGeom>
          <a:noFill/>
          <a:ln/>
        </p:spPr>
        <p:txBody>
          <a:bodyPr wrap="square" rtlCol="0" anchor="ctr"/>
          <a:lstStyle/>
          <a:p>
            <a:pPr marL="0" indent="0">
              <a:buNone/>
            </a:pPr>
            <a:r>
              <a:rPr lang="es-CO" sz="1050" noProof="0" dirty="0">
                <a:solidFill>
                  <a:srgbClr val="2C3E50"/>
                </a:solidFill>
              </a:rPr>
              <a:t>El reto profesional es adaptar estos marcos a contextos reales manteniendo el equilibrio entre rigor y agilidad.</a:t>
            </a:r>
            <a:endParaRPr lang="es-CO" sz="105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61237">
              <a:alpha val="70000"/>
            </a:srgbClr>
          </a:solidFill>
          <a:ln w="12700">
            <a:solidFill>
              <a:srgbClr val="061237">
                <a:alpha val="70000"/>
              </a:srgbClr>
            </a:solidFill>
            <a:prstDash val="solid"/>
          </a:ln>
        </p:spPr>
        <p:txBody>
          <a:bodyPr/>
          <a:lstStyle/>
          <a:p>
            <a:endParaRPr lang="es-CO" noProof="0" dirty="0"/>
          </a:p>
        </p:txBody>
      </p:sp>
      <p:sp>
        <p:nvSpPr>
          <p:cNvPr id="4" name="Shape 1"/>
          <p:cNvSpPr/>
          <p:nvPr/>
        </p:nvSpPr>
        <p:spPr>
          <a:xfrm rot="-2100000">
            <a:off x="6583680" y="3474720"/>
            <a:ext cx="3657600" cy="164592"/>
          </a:xfrm>
          <a:prstGeom prst="rect">
            <a:avLst/>
          </a:prstGeom>
          <a:solidFill>
            <a:srgbClr val="C9A227"/>
          </a:solidFill>
          <a:ln w="12700">
            <a:solidFill>
              <a:srgbClr val="C9A227"/>
            </a:solidFill>
            <a:prstDash val="solid"/>
          </a:ln>
        </p:spPr>
        <p:txBody>
          <a:bodyPr/>
          <a:lstStyle/>
          <a:p>
            <a:endParaRPr lang="es-CO" noProof="0" dirty="0"/>
          </a:p>
        </p:txBody>
      </p:sp>
      <p:sp>
        <p:nvSpPr>
          <p:cNvPr id="5" name="Shape 2"/>
          <p:cNvSpPr/>
          <p:nvPr/>
        </p:nvSpPr>
        <p:spPr>
          <a:xfrm>
            <a:off x="7772400" y="3474720"/>
            <a:ext cx="1005840" cy="1005840"/>
          </a:xfrm>
          <a:prstGeom prst="ellipse">
            <a:avLst/>
          </a:prstGeom>
          <a:solidFill>
            <a:srgbClr val="C9A227"/>
          </a:solidFill>
          <a:ln w="38100">
            <a:solidFill>
              <a:srgbClr val="B8860B"/>
            </a:solidFill>
            <a:prstDash val="solid"/>
          </a:ln>
        </p:spPr>
        <p:txBody>
          <a:bodyPr/>
          <a:lstStyle/>
          <a:p>
            <a:endParaRPr lang="es-CO" noProof="0" dirty="0"/>
          </a:p>
        </p:txBody>
      </p:sp>
      <p:sp>
        <p:nvSpPr>
          <p:cNvPr id="6" name="Text 3"/>
          <p:cNvSpPr/>
          <p:nvPr/>
        </p:nvSpPr>
        <p:spPr>
          <a:xfrm>
            <a:off x="7772400" y="3474720"/>
            <a:ext cx="1005840" cy="1005840"/>
          </a:xfrm>
          <a:prstGeom prst="rect">
            <a:avLst/>
          </a:prstGeom>
          <a:noFill/>
          <a:ln/>
        </p:spPr>
        <p:txBody>
          <a:bodyPr wrap="square" rtlCol="0" anchor="ctr"/>
          <a:lstStyle/>
          <a:p>
            <a:pPr marL="0" indent="0" algn="ctr">
              <a:buNone/>
            </a:pPr>
            <a:r>
              <a:rPr lang="es-CO" sz="700" b="1" noProof="0" dirty="0">
                <a:solidFill>
                  <a:srgbClr val="061237"/>
                </a:solidFill>
              </a:rPr>
              <a:t>ALTA</a:t>
            </a:r>
            <a:endParaRPr lang="es-CO" sz="700" noProof="0" dirty="0"/>
          </a:p>
          <a:p>
            <a:pPr marL="0" indent="0" algn="ctr">
              <a:buNone/>
            </a:pPr>
            <a:r>
              <a:rPr lang="es-CO" sz="700" b="1" noProof="0" dirty="0">
                <a:solidFill>
                  <a:srgbClr val="061237"/>
                </a:solidFill>
              </a:rPr>
              <a:t>CALIDAD</a:t>
            </a:r>
            <a:endParaRPr lang="es-CO" sz="700" noProof="0" dirty="0"/>
          </a:p>
        </p:txBody>
      </p:sp>
      <p:sp>
        <p:nvSpPr>
          <p:cNvPr id="7" name="Shape 4"/>
          <p:cNvSpPr/>
          <p:nvPr/>
        </p:nvSpPr>
        <p:spPr>
          <a:xfrm>
            <a:off x="0" y="4846320"/>
            <a:ext cx="9144000" cy="297180"/>
          </a:xfrm>
          <a:prstGeom prst="rect">
            <a:avLst/>
          </a:prstGeom>
          <a:solidFill>
            <a:srgbClr val="061237"/>
          </a:solidFill>
          <a:ln w="12700">
            <a:solidFill>
              <a:srgbClr val="061237"/>
            </a:solidFill>
            <a:prstDash val="solid"/>
          </a:ln>
        </p:spPr>
        <p:txBody>
          <a:bodyPr/>
          <a:lstStyle/>
          <a:p>
            <a:endParaRPr lang="es-CO" noProof="0" dirty="0"/>
          </a:p>
        </p:txBody>
      </p:sp>
      <p:sp>
        <p:nvSpPr>
          <p:cNvPr id="8" name="Text 5"/>
          <p:cNvSpPr/>
          <p:nvPr/>
        </p:nvSpPr>
        <p:spPr>
          <a:xfrm>
            <a:off x="137160" y="4864608"/>
            <a:ext cx="2743200" cy="228600"/>
          </a:xfrm>
          <a:prstGeom prst="rect">
            <a:avLst/>
          </a:prstGeom>
          <a:noFill/>
          <a:ln/>
        </p:spPr>
        <p:txBody>
          <a:bodyPr wrap="square" rtlCol="0" anchor="ctr"/>
          <a:lstStyle/>
          <a:p>
            <a:pPr marL="0" indent="0">
              <a:buNone/>
            </a:pPr>
            <a:r>
              <a:rPr lang="es-CO" sz="700" b="1" noProof="0" dirty="0">
                <a:solidFill>
                  <a:srgbClr val="FFFFFF"/>
                </a:solidFill>
              </a:rPr>
              <a:t>UNIMINUTO</a:t>
            </a:r>
            <a:endParaRPr lang="es-CO" sz="700" noProof="0" dirty="0"/>
          </a:p>
        </p:txBody>
      </p:sp>
      <p:sp>
        <p:nvSpPr>
          <p:cNvPr id="9" name="Text 6"/>
          <p:cNvSpPr/>
          <p:nvPr/>
        </p:nvSpPr>
        <p:spPr>
          <a:xfrm>
            <a:off x="320040" y="201168"/>
            <a:ext cx="3200400" cy="365760"/>
          </a:xfrm>
          <a:prstGeom prst="rect">
            <a:avLst/>
          </a:prstGeom>
          <a:noFill/>
          <a:ln/>
        </p:spPr>
        <p:txBody>
          <a:bodyPr wrap="square" rtlCol="0" anchor="ctr"/>
          <a:lstStyle/>
          <a:p>
            <a:pPr marL="0" indent="0">
              <a:buNone/>
            </a:pPr>
            <a:r>
              <a:rPr lang="es-CO" sz="1300" b="1" noProof="0" dirty="0">
                <a:solidFill>
                  <a:srgbClr val="FFFFFF"/>
                </a:solidFill>
              </a:rPr>
              <a:t>UNIMINUTO</a:t>
            </a:r>
            <a:endParaRPr lang="es-CO" sz="1300" noProof="0" dirty="0"/>
          </a:p>
        </p:txBody>
      </p:sp>
      <p:sp>
        <p:nvSpPr>
          <p:cNvPr id="10" name="Text 7"/>
          <p:cNvSpPr/>
          <p:nvPr/>
        </p:nvSpPr>
        <p:spPr>
          <a:xfrm>
            <a:off x="320040" y="548640"/>
            <a:ext cx="4572000" cy="274320"/>
          </a:xfrm>
          <a:prstGeom prst="rect">
            <a:avLst/>
          </a:prstGeom>
          <a:noFill/>
          <a:ln/>
        </p:spPr>
        <p:txBody>
          <a:bodyPr wrap="square" rtlCol="0" anchor="ctr"/>
          <a:lstStyle/>
          <a:p>
            <a:pPr marL="0" indent="0">
              <a:buNone/>
            </a:pPr>
            <a:r>
              <a:rPr lang="es-CO" sz="750" i="1" noProof="0" dirty="0">
                <a:solidFill>
                  <a:srgbClr val="AACCFF"/>
                </a:solidFill>
              </a:rPr>
              <a:t>Dirección de Calidad en el Desarrollo de Software</a:t>
            </a:r>
            <a:endParaRPr lang="es-CO" sz="750" noProof="0" dirty="0"/>
          </a:p>
        </p:txBody>
      </p:sp>
      <p:sp>
        <p:nvSpPr>
          <p:cNvPr id="11" name="Text 8"/>
          <p:cNvSpPr/>
          <p:nvPr/>
        </p:nvSpPr>
        <p:spPr>
          <a:xfrm>
            <a:off x="457200" y="1554480"/>
            <a:ext cx="5943600" cy="731520"/>
          </a:xfrm>
          <a:prstGeom prst="rect">
            <a:avLst/>
          </a:prstGeom>
          <a:noFill/>
          <a:ln/>
        </p:spPr>
        <p:txBody>
          <a:bodyPr wrap="square" rtlCol="0" anchor="ctr"/>
          <a:lstStyle/>
          <a:p>
            <a:pPr marL="0" indent="0">
              <a:buNone/>
            </a:pPr>
            <a:r>
              <a:rPr lang="es-CO" sz="2400" b="1" noProof="0" dirty="0">
                <a:solidFill>
                  <a:srgbClr val="FFFFFF"/>
                </a:solidFill>
              </a:rPr>
              <a:t>Especificación de requisitos de software</a:t>
            </a:r>
            <a:endParaRPr lang="es-CO" sz="2400" noProof="0" dirty="0"/>
          </a:p>
        </p:txBody>
      </p:sp>
      <p:sp>
        <p:nvSpPr>
          <p:cNvPr id="12" name="Text 9"/>
          <p:cNvSpPr/>
          <p:nvPr/>
        </p:nvSpPr>
        <p:spPr>
          <a:xfrm>
            <a:off x="457200" y="2331720"/>
            <a:ext cx="4572000" cy="502920"/>
          </a:xfrm>
          <a:prstGeom prst="rect">
            <a:avLst/>
          </a:prstGeom>
          <a:noFill/>
          <a:ln/>
        </p:spPr>
        <p:txBody>
          <a:bodyPr wrap="square" rtlCol="0" anchor="ctr"/>
          <a:lstStyle/>
          <a:p>
            <a:pPr marL="0" indent="0">
              <a:buNone/>
            </a:pPr>
            <a:r>
              <a:rPr lang="es-CO" sz="2000" b="1" noProof="0" dirty="0">
                <a:solidFill>
                  <a:srgbClr val="C9A227"/>
                </a:solidFill>
              </a:rPr>
              <a:t>Muchas gracias</a:t>
            </a:r>
            <a:endParaRPr lang="es-CO" sz="2000" noProof="0" dirty="0"/>
          </a:p>
        </p:txBody>
      </p:sp>
      <p:sp>
        <p:nvSpPr>
          <p:cNvPr id="13" name="Text 10"/>
          <p:cNvSpPr/>
          <p:nvPr/>
        </p:nvSpPr>
        <p:spPr>
          <a:xfrm>
            <a:off x="457200" y="2926080"/>
            <a:ext cx="5943600" cy="502920"/>
          </a:xfrm>
          <a:prstGeom prst="rect">
            <a:avLst/>
          </a:prstGeom>
          <a:noFill/>
          <a:ln/>
        </p:spPr>
        <p:txBody>
          <a:bodyPr wrap="square" rtlCol="0" anchor="ctr"/>
          <a:lstStyle/>
          <a:p>
            <a:pPr marL="0" indent="0">
              <a:buNone/>
            </a:pPr>
            <a:r>
              <a:rPr lang="es-CO" sz="1100" i="1" noProof="0" dirty="0">
                <a:solidFill>
                  <a:srgbClr val="AACCFF"/>
                </a:solidFill>
              </a:rPr>
              <a:t>Estándares y Métricas de Calidad en el Desarrollo de Software</a:t>
            </a:r>
            <a:endParaRPr lang="es-CO" sz="1100" noProof="0" dirty="0"/>
          </a:p>
          <a:p>
            <a:pPr marL="0" indent="0">
              <a:buNone/>
            </a:pPr>
            <a:r>
              <a:rPr lang="es-CO" sz="1100" i="1" noProof="0" dirty="0">
                <a:solidFill>
                  <a:srgbClr val="AACCFF"/>
                </a:solidFill>
              </a:rPr>
              <a:t>Semana 4</a:t>
            </a:r>
            <a:endParaRPr lang="es-CO" sz="11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3214</Words>
  <Application>Microsoft Office PowerPoint</Application>
  <PresentationFormat>Presentación en pantalla (16:9)</PresentationFormat>
  <Paragraphs>506</Paragraphs>
  <Slides>26</Slides>
  <Notes>25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Century Gothic</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Métricas de Calidad: Indicadores Clave para la Toma de Decisiones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4 - Especificación de Requisitos y Calidad</dc:title>
  <dc:subject>PptxGenJS Presentation</dc:subject>
  <dc:creator>PptxGenJS</dc:creator>
  <cp:lastModifiedBy>Cesar Alfonso</cp:lastModifiedBy>
  <cp:revision>19</cp:revision>
  <dcterms:created xsi:type="dcterms:W3CDTF">2026-05-30T19:02:16Z</dcterms:created>
  <dcterms:modified xsi:type="dcterms:W3CDTF">2026-05-30T22:14:40Z</dcterms:modified>
</cp:coreProperties>
</file>