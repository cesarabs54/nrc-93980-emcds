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5" r:id="rId18"/>
    <p:sldId id="271" r:id="rId19"/>
    <p:sldId id="276" r:id="rId20"/>
    <p:sldId id="272" r:id="rId21"/>
    <p:sldId id="273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5055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2259-185C-6027-70B0-9375BD356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D7DAA9-5F2A-DBAE-EC52-F50983DEB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E31BD-2CD8-58B8-54BC-643CE8511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FFDE0-CE9D-7AA3-FC61-25E83A6010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6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D95A6-B373-1392-3874-B764EF57E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511E0-AF9E-443A-8A22-31927CD1A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96D51-C764-0A59-8931-62D591C1C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916CE-6E71-BF2C-E3AD-B62DAD2D2B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713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2429-F431-4357-C51E-B61A0AB2A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A1706-0F0F-6137-A73A-3300245B8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ADCE7-50DD-8C6F-560B-BD5250BE1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8F1B8-B631-4F29-2C00-BF83F04C5C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23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560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al caso de estudio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28600" y="33375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BEEF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Semana 4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Contenido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Contexto y fundamentos de la calidad de software.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 de CMMI en el modelo integrado.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y PSP como palancas sobre las personas.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Modelo integrado CMMI–TSP–PSP.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 metodológico del caso de estudio.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Métricas e indicadores de calidad utilizados.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Resultados cuantitativos.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Discusión e implicaciones para la industria.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y lecciones clave.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Ejercicios prácticos.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Fundamentos del aseguramiento de la calidad en software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234440"/>
            <a:ext cx="402336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50292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Calidad de producto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Asociada a características del software y satisfacción de necesidades del usuario.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402336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800600" y="13258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Calidad de proceso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64592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Necesidad de controlar normas, procesos y estándares para reducir errores.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65760" y="2743200"/>
            <a:ext cx="402336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2"/>
          <p:cNvSpPr/>
          <p:nvPr/>
        </p:nvSpPr>
        <p:spPr>
          <a:xfrm>
            <a:off x="365760" y="2743200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50292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Relación estándares–calidad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02920" y="3154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Correlación entre implementación de estándares y calidad del producto.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663440" y="2743200"/>
            <a:ext cx="64008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4800600" y="28346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 clave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00600" y="3154680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Densidad de defectos como indicador de calidad del software.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Rol de CMMI en el modelo integrado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CMMI como marco de procesos: mejores prácticas para desarrollo, mantenimiento y operación de productos y servicios.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Objetivo: obtener resultados medibles y repetibles mediante niveles de madurez (1 a 5).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Áreas de proceso relevantes: PP, PMC, RD, RM, TS, VER, VAL, MA, CM, PPQA (niveles 2 y 3).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Uso en la industria: más de 5.000 empresas certificadas, con foco en niveles 2 y 3 en el contexto latinoamericano.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3478235"/>
            <a:ext cx="1463040" cy="502920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457200" y="3478235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Inicial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148840" y="3393824"/>
            <a:ext cx="1463040" cy="5943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2148840" y="3386795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Gestionado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840480" y="3302384"/>
            <a:ext cx="1463040" cy="6858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3840480" y="3295355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Definido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532120" y="3210944"/>
            <a:ext cx="1463040" cy="777240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5532120" y="3203915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Cuantitativo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7223760" y="3112475"/>
            <a:ext cx="1463040" cy="868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7223760" y="3119504"/>
            <a:ext cx="1463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Optimizando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y PSP como palancas sobre las personas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PSP — Personal Software Process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169164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Proceso de auto-mejoramiento individual.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Controla tiempo, defectos y productividad personal.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Métricas básicas: tamaño, tiempo y defectos.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Permite estimar y planificar el trabajo propio con precisión.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1480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4846320" y="118872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— Team Software Process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69164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Proceso orientado a equipos de alto rendimiento.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Ciclos de lanzamiento y postmortem estructurado.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clave: calidad como foco en todas las fases.</a:t>
            </a:r>
            <a:endParaRPr lang="en-US" sz="1200" dirty="0"/>
          </a:p>
          <a:p>
            <a:pPr marL="342900" indent="-342900" algn="l"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Maximiza productividad y entrega a tiempo y dentro del presupuesto.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Modelo integrado CMMI–TSP–PSP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CMMI  </a:t>
            </a: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Administración — marco de procesos organizacionales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8229600" cy="8229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  </a:t>
            </a: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Equipo de ingenieros — procesos de equipo y lanzamientos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291840"/>
            <a:ext cx="8229600" cy="82296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640080" y="32918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PSP  </a:t>
            </a:r>
            <a:r>
              <a:rPr lang="en-US" sz="1200" dirty="0">
                <a:solidFill>
                  <a:srgbClr val="DDDDD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Ingeniero individual — autogestión, registro y mejora continua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389120" y="2029968"/>
            <a:ext cx="0" cy="182880"/>
          </a:xfrm>
          <a:prstGeom prst="line">
            <a:avLst/>
          </a:prstGeom>
          <a:noFill/>
          <a:ln w="25400">
            <a:solidFill>
              <a:srgbClr val="BB96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4389120" y="3081528"/>
            <a:ext cx="0" cy="182880"/>
          </a:xfrm>
          <a:prstGeom prst="line">
            <a:avLst/>
          </a:prstGeom>
          <a:noFill/>
          <a:ln w="25400">
            <a:solidFill>
              <a:srgbClr val="BB96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457200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Enfoque en talento humano: compromiso de las personas con el trabajo y la calidad como eje central.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 metodológico del caso de estudio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Tipo de estudio: cuantitativo, diseño pre-experimental con medición pre y post tratamiento.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Muestra: 22 proyectos de software en una consultora global; 11 pre-test y 11 post-test.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Criterios de selección: misma unidad de negocio (seguros), misma plataforma (.NET y Oracle), duración similar.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Hipótesis general: la integración del modelo de aseguramiento de calidad permite asegurar la calidad del proceso.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31520" y="2890910"/>
            <a:ext cx="2286000" cy="13716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PRE-TEST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(O1)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proyectos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2890910"/>
            <a:ext cx="228600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383280" y="3291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CMMI–TSP–PSP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890910"/>
            <a:ext cx="2286000" cy="13716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035040" y="32918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POST-TEST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(O2)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proyectos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035808" y="3576710"/>
            <a:ext cx="329184" cy="0"/>
          </a:xfrm>
          <a:prstGeom prst="line">
            <a:avLst/>
          </a:prstGeom>
          <a:noFill/>
          <a:ln w="31750">
            <a:solidFill>
              <a:srgbClr val="BB96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5687568" y="3576710"/>
            <a:ext cx="329184" cy="0"/>
          </a:xfrm>
          <a:prstGeom prst="line">
            <a:avLst/>
          </a:prstGeom>
          <a:noFill/>
          <a:ln w="31750">
            <a:solidFill>
              <a:srgbClr val="BB962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Métricas e indicadores de calidad utilizados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" y="1188720"/>
            <a:ext cx="73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74320" y="11887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PCC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1887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Costo de calidad — </a:t>
            </a: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CC / CR × 100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" y="14813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Porcentaje del costo de calidad respecto al costo real del proyecto.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2103120"/>
            <a:ext cx="73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274320" y="21031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CDP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21031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Defectos en el proyecto — </a:t>
            </a: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Σ(DE)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43000" y="23957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Suma de defectos en todas las fases del ciclo de vida.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3017520"/>
            <a:ext cx="73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274320" y="3017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PVC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30175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Variación de costo — </a:t>
            </a: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(CR − CP) / CP × 100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143000" y="33101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Porcentaje de desviación del costo real respecto al planificado.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3931920"/>
            <a:ext cx="7315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274320" y="39319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PCS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393192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Satisfacción del cliente — </a:t>
            </a: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clientes satisfechos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43000" y="4224528"/>
            <a:ext cx="75895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Porcentaje de clientes satisfechos según cuestionarios aplicados.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Resultados cuantitativos del modelo integrado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3931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Costo de calidad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(PCC máximo)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536192"/>
            <a:ext cx="192024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6576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5760" y="1810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19.85%</a:t>
            </a:r>
            <a:endParaRPr lang="en-US" sz="3200" dirty="0"/>
          </a:p>
        </p:txBody>
      </p:sp>
      <p:sp>
        <p:nvSpPr>
          <p:cNvPr id="11" name="Shape 8"/>
          <p:cNvSpPr/>
          <p:nvPr/>
        </p:nvSpPr>
        <p:spPr>
          <a:xfrm>
            <a:off x="2377440" y="1536192"/>
            <a:ext cx="192024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237744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77440" y="1810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7.41%</a:t>
            </a:r>
            <a:endParaRPr lang="en-US" sz="3200" dirty="0"/>
          </a:p>
        </p:txBody>
      </p:sp>
      <p:sp>
        <p:nvSpPr>
          <p:cNvPr id="14" name="Shape 11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Defectos por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proyecto (CDP máx.)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846320" y="1536192"/>
            <a:ext cx="1920240" cy="137160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484632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Antes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46320" y="1810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C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249</a:t>
            </a:r>
            <a:endParaRPr lang="en-US" sz="3200" dirty="0"/>
          </a:p>
        </p:txBody>
      </p:sp>
      <p:sp>
        <p:nvSpPr>
          <p:cNvPr id="19" name="Shape 16"/>
          <p:cNvSpPr/>
          <p:nvPr/>
        </p:nvSpPr>
        <p:spPr>
          <a:xfrm>
            <a:off x="6858000" y="1536192"/>
            <a:ext cx="192024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7"/>
          <p:cNvSpPr/>
          <p:nvPr/>
        </p:nvSpPr>
        <p:spPr>
          <a:xfrm>
            <a:off x="6858000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Después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858000" y="181051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7D3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95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365760" y="3108960"/>
            <a:ext cx="8412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Mejor control de costos: menor porcentaje de desviación respecto a la línea base en proyectos post-test.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Impacto global: incremento en rentabilidad del proyecto y satisfacción del cliente.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Discusión e implicaciones para la industria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Integración vs. enfoques aislados: combinar CMMI, TSP y PSP aborda proceso, equipo y persona de forma coherente.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Cultura de calidad: la formación y el seguimiento sistemático de métricas favorecen la mejora continua.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Transferibilidad: el modelo es especialmente relevante para organizaciones de servicios de TI y consultoría.</a:t>
            </a:r>
            <a:endParaRPr lang="en-US" sz="1400" dirty="0"/>
          </a:p>
          <a:p>
            <a:pPr marL="342900" indent="-342900" algn="l"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Desafíos: requiere inversión en capacitación, disciplina en el registro de datos y apoyo gerencial sostenido.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58000" cy="457200"/>
          </a:xfrm>
          <a:prstGeom prst="rect">
            <a:avLst/>
          </a:prstGeom>
          <a:solidFill>
            <a:srgbClr val="1C2D4E"/>
          </a:solidFill>
          <a:ln w="12700">
            <a:solidFill>
              <a:srgbClr val="1C2D4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37160" y="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Cierre y lecciones clave del caso de estudio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65760" y="118872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657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234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calidad del proceso impacta directamente en costo, defectos y satisfacción del cliente.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05740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21031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sistemáticamente (tiempo, tamaño, defectos, costos) es condición necesaria para mejorar.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92608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657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05840" y="2971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talento humano es el eje del modelo; las herramientas solo potencian su disciplina.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65760" y="3794760"/>
            <a:ext cx="502920" cy="50292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36576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05840" y="3840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enfoque puede complementarse con prácticas ágiles y DevOps en contextos actuales.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B962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EJERCICIOS PRÁCTICOS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EJ. 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228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 de un tablero de métricas basado en el caso CMMI–TSP–PSP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65760" y="713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ESCENARIO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1097279"/>
            <a:ext cx="8412480" cy="32426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s-CO" sz="1200" b="1" dirty="0"/>
              <a:t>Objetivo de aprendizaje</a:t>
            </a:r>
            <a:r>
              <a:rPr lang="es-CO" sz="1200" dirty="0"/>
              <a:t>: Comprender cómo operacionalizar las métricas del caso de estudio en un tablero de seguimiento para proyectos de software reales.</a:t>
            </a:r>
          </a:p>
          <a:p>
            <a:pPr algn="just"/>
            <a:endParaRPr lang="es-CO" sz="1200" b="1" dirty="0"/>
          </a:p>
          <a:p>
            <a:pPr algn="just"/>
            <a:r>
              <a:rPr lang="es-CO" sz="1200" b="1" dirty="0"/>
              <a:t>Instrucciones paso a paso: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O" sz="1200" b="1" dirty="0"/>
              <a:t>Seleccione un proyecto real o hipotético</a:t>
            </a:r>
            <a:r>
              <a:rPr lang="es-CO" sz="1200" dirty="0"/>
              <a:t> (por ejemplo, una API de pagos o una app móvil bancaria).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O" sz="1200" b="1" dirty="0"/>
              <a:t>Identifique al menos cuatro métricas</a:t>
            </a:r>
            <a:r>
              <a:rPr lang="es-CO" sz="1200" dirty="0"/>
              <a:t> inspiradas en el caso: PCC, CDP, PVC y PCS, adaptadas a su contexto.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O" sz="1200" b="1" dirty="0"/>
              <a:t>Defina para cada métrica:</a:t>
            </a:r>
            <a:r>
              <a:rPr lang="es-CO" sz="1200" dirty="0"/>
              <a:t> fórmula, fuente de datos, frecuencia de medición y responsable.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O" sz="1200" b="1" dirty="0"/>
              <a:t>Diseñe un esquema de tablero</a:t>
            </a:r>
            <a:r>
              <a:rPr lang="es-CO" sz="1200" dirty="0"/>
              <a:t> (puede ser en papel, Excel o una herramienta BI) que muestre la evolución de las métricas por iteración o </a:t>
            </a:r>
            <a:r>
              <a:rPr lang="es-CO" sz="1200" i="1" dirty="0" err="1"/>
              <a:t>release</a:t>
            </a:r>
            <a:r>
              <a:rPr lang="es-CO" sz="1200" dirty="0"/>
              <a:t>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s-CO" sz="1200" b="1" dirty="0"/>
              <a:t>Redacte un breve análisis</a:t>
            </a:r>
            <a:r>
              <a:rPr lang="es-CO" sz="1200" dirty="0"/>
              <a:t> (1 página) explicando cómo el tablero ayudaría a la gerencia a tomar decisiones sobre calidad y costos.</a:t>
            </a:r>
          </a:p>
          <a:p>
            <a:pPr algn="just"/>
            <a:endParaRPr lang="es-CO" sz="1200" dirty="0"/>
          </a:p>
          <a:p>
            <a:r>
              <a:rPr lang="es-CO" sz="1200" b="1" dirty="0"/>
              <a:t>Criterios de evaluación: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1" dirty="0"/>
              <a:t>Claridad y corrección de las fórmulas:</a:t>
            </a:r>
            <a:r>
              <a:rPr lang="es-CO" sz="1200" dirty="0"/>
              <a:t> adaptación adecuada de PCC, CDP, PVC y PCS.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1" dirty="0"/>
              <a:t>Coherencia entre métricas y contexto del proyecto:</a:t>
            </a:r>
            <a:r>
              <a:rPr lang="es-CO" sz="1200" dirty="0"/>
              <a:t> pertinencia de lo que se mide.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1" dirty="0"/>
              <a:t>Calidad del diseño del tablero:</a:t>
            </a:r>
            <a:r>
              <a:rPr lang="es-CO" sz="1200" dirty="0"/>
              <a:t> legibilidad, foco en decisiones, no solo en datos.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200" b="1" dirty="0"/>
              <a:t>Profundidad del análisis:</a:t>
            </a:r>
            <a:r>
              <a:rPr lang="es-CO" sz="1200" dirty="0"/>
              <a:t> capacidad de vincular métricas con acciones de mejora.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83FB-B642-6D04-24D6-DA6FAC077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C27D3B0-D757-4B02-0A7D-78A850A11E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36D2201-0EE3-039F-30EB-5D2E376850EB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55FA351-6BA0-989C-F140-B1F6BA5F8730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EJ. 1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0248631E-8B21-E524-B9AF-6D57D608AB2D}"/>
              </a:ext>
            </a:extLst>
          </p:cNvPr>
          <p:cNvSpPr/>
          <p:nvPr/>
        </p:nvSpPr>
        <p:spPr>
          <a:xfrm>
            <a:off x="1417320" y="228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Diseño de un tablero de métricas basado en el caso CMMI–TSP–PSP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FCB833E-9DAF-DF51-22CF-6D5D285C9B34}"/>
              </a:ext>
            </a:extLst>
          </p:cNvPr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17A526B-AE7B-0190-3915-A17147D619F7}"/>
              </a:ext>
            </a:extLst>
          </p:cNvPr>
          <p:cNvSpPr/>
          <p:nvPr/>
        </p:nvSpPr>
        <p:spPr>
          <a:xfrm>
            <a:off x="365760" y="71323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RESUESTA MODELO DETALLADA</a:t>
            </a:r>
            <a:endParaRPr lang="en-US" sz="11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C2F56F7-6332-CE56-DE5D-8A2AC3EE64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16" y="1599567"/>
            <a:ext cx="8376167" cy="2163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406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28600"/>
            <a:ext cx="146304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27432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74520" y="228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Ejercicio 1 – Respuesta modelo detallada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13716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74320" y="685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45920" y="685800"/>
            <a:ext cx="36576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645920" y="685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Fórmula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0" y="685800"/>
            <a:ext cx="18288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5303520" y="685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132320" y="685800"/>
            <a:ext cx="137160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7132320" y="68580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Frecuencia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74320" y="1005840"/>
            <a:ext cx="1371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32004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PCC-ecom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1645920" y="1005840"/>
            <a:ext cx="3657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69164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Costo corrección bugs / Costo total sprint × 100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303520" y="1005840"/>
            <a:ext cx="18288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5349240" y="1005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Jira + finanzas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132320" y="1005840"/>
            <a:ext cx="1371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7178040" y="1005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sprint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138988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0"/>
          <p:cNvSpPr/>
          <p:nvPr/>
        </p:nvSpPr>
        <p:spPr>
          <a:xfrm>
            <a:off x="320040" y="13898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CDP-ecom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1645920" y="1389888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2"/>
          <p:cNvSpPr/>
          <p:nvPr/>
        </p:nvSpPr>
        <p:spPr>
          <a:xfrm>
            <a:off x="1691640" y="1389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defectos QA + producción por sprint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303520" y="1389888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5349240" y="1389888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Jira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7132320" y="1389888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6"/>
          <p:cNvSpPr/>
          <p:nvPr/>
        </p:nvSpPr>
        <p:spPr>
          <a:xfrm>
            <a:off x="7178040" y="13898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sprint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74320" y="1773936"/>
            <a:ext cx="1371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8"/>
          <p:cNvSpPr/>
          <p:nvPr/>
        </p:nvSpPr>
        <p:spPr>
          <a:xfrm>
            <a:off x="320040" y="17739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PVC-ecom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1645920" y="1773936"/>
            <a:ext cx="3657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0"/>
          <p:cNvSpPr/>
          <p:nvPr/>
        </p:nvSpPr>
        <p:spPr>
          <a:xfrm>
            <a:off x="1691640" y="177393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(1 − Costo real / Costo planificado) × 100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303520" y="1773936"/>
            <a:ext cx="18288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2"/>
          <p:cNvSpPr/>
          <p:nvPr/>
        </p:nvSpPr>
        <p:spPr>
          <a:xfrm>
            <a:off x="5349240" y="177393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Time tracking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132320" y="1773936"/>
            <a:ext cx="1371600" cy="365760"/>
          </a:xfrm>
          <a:prstGeom prst="rect">
            <a:avLst/>
          </a:prstGeom>
          <a:solidFill>
            <a:srgbClr val="F5F7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4"/>
          <p:cNvSpPr/>
          <p:nvPr/>
        </p:nvSpPr>
        <p:spPr>
          <a:xfrm>
            <a:off x="7178040" y="177393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sprint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274320" y="215798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6"/>
          <p:cNvSpPr/>
          <p:nvPr/>
        </p:nvSpPr>
        <p:spPr>
          <a:xfrm>
            <a:off x="320040" y="2157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PCS-ecom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645920" y="2157984"/>
            <a:ext cx="3657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8"/>
          <p:cNvSpPr/>
          <p:nvPr/>
        </p:nvSpPr>
        <p:spPr>
          <a:xfrm>
            <a:off x="1691640" y="215798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clientes con CSAT ≥ 4/5 en encuestas in-app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5303520" y="2157984"/>
            <a:ext cx="18288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0"/>
          <p:cNvSpPr/>
          <p:nvPr/>
        </p:nvSpPr>
        <p:spPr>
          <a:xfrm>
            <a:off x="5349240" y="215798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Encuestas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7132320" y="2157984"/>
            <a:ext cx="13716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2"/>
          <p:cNvSpPr/>
          <p:nvPr/>
        </p:nvSpPr>
        <p:spPr>
          <a:xfrm>
            <a:off x="7178040" y="215798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Mensual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274320" y="2606040"/>
            <a:ext cx="859536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3333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 tablero con 4 gráficos de líneas por sprint + semáforo (verde/amarillo/rojo) permite a la gerencia detectar problemas de calidad y tomar decisiones de inversión en automatización y revisiones de código.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274320" y="321094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Fuente de </a:t>
            </a:r>
            <a:r>
              <a:rPr lang="en-US" sz="1000" b="1" dirty="0" err="1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datos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274320" y="3485268"/>
            <a:ext cx="8595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>
              <a:buSzPct val="100000"/>
            </a:pPr>
            <a:r>
              <a:rPr lang="es-CO" sz="1100" dirty="0"/>
              <a:t>Sistema de seguimiento de incidencias (Jira), herramienta de time tracking, módulo financiero y plataforma de encuestas. El tablero se diseña con cuatro gráficos de líneas por sprint y un resumen semaforizado (verde/amarillo/rojo) por métrica. En el análisis, el estudiante explica que un aumento de CDP y PCC combinado con caída de PCS indica problemas de calidad que justifican invertir en pruebas automatizadas y revisiones de código más estrictas, alineado con el enfoque del caso donde la reducción de defectos y costo de calidad se tradujo en mayor satisfacción del cliente.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EJ. 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417320" y="228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de integración progresiva de PSP y TSP en un equipo de desarrollo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1993394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365760" y="199339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INSTRUCCIONES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377442"/>
            <a:ext cx="8412480" cy="168812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 Describa brevemente un equipo de desarrollo (tamaño, tipo de proyecto, nivel de madurez actual).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 Seleccione 3 prácticas PSP (registro de tiempos, defectos, planificación personal) y 2 prácticas TSP (reuniones de lanzamiento/postmortem, registro de datos de equipo).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 Defina un plan de tres fases: Piloto, Expansión y Consolidación, indicando qué prácticas se introducen en cada fase.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 Especifique las métricas que se recogerán para evaluar el impacto (defectos por fase, cumplimiento de estimaciones, retrabajo).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 Identifique riesgos y acciones de mitigación, como resistencia al cambio o falta de herramientas.</a:t>
            </a:r>
            <a:endParaRPr lang="en-US" sz="12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AAE3E48-0372-11F5-27BA-6E21A74BFB46}"/>
              </a:ext>
            </a:extLst>
          </p:cNvPr>
          <p:cNvSpPr/>
          <p:nvPr/>
        </p:nvSpPr>
        <p:spPr>
          <a:xfrm>
            <a:off x="274320" y="979938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B9313DC-882C-07E3-0D91-74841017317B}"/>
              </a:ext>
            </a:extLst>
          </p:cNvPr>
          <p:cNvSpPr/>
          <p:nvPr/>
        </p:nvSpPr>
        <p:spPr>
          <a:xfrm>
            <a:off x="398583" y="985199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OBJETIVOS DE APRENDIZAJE</a:t>
            </a:r>
            <a:endParaRPr lang="en-US" sz="11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4172893-3E9F-0A5F-807E-D8334AE9105B}"/>
              </a:ext>
            </a:extLst>
          </p:cNvPr>
          <p:cNvSpPr txBox="1"/>
          <p:nvPr/>
        </p:nvSpPr>
        <p:spPr>
          <a:xfrm>
            <a:off x="365759" y="1321869"/>
            <a:ext cx="8166295" cy="513965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120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r>
              <a:rPr lang="es-CO" dirty="0"/>
              <a:t>Diseñar un plan realista para introducir prácticas de PSP y TSP en un equipo de desarrollo, considerando restricciones organizacionales.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6B0C5-165E-A220-001C-393AD327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95E3996-AE97-BD4E-B2E4-0A14AF151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90DD65F-AA2A-4838-3D43-09BA7157807F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8831C98-7FD5-16AC-EE22-D3CAA29139ED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EJ. 2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4113D78-2918-4EC7-FDD6-A88DA8AC6BDF}"/>
              </a:ext>
            </a:extLst>
          </p:cNvPr>
          <p:cNvSpPr/>
          <p:nvPr/>
        </p:nvSpPr>
        <p:spPr>
          <a:xfrm>
            <a:off x="1417320" y="228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de integración progresiva de PSP y TSP en un equipo de desarrollo</a:t>
            </a:r>
            <a:endParaRPr lang="en-US" sz="14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D14CE8E-CD37-A9AB-F873-BFC970D073B7}"/>
              </a:ext>
            </a:extLst>
          </p:cNvPr>
          <p:cNvSpPr/>
          <p:nvPr/>
        </p:nvSpPr>
        <p:spPr>
          <a:xfrm>
            <a:off x="274320" y="979938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69026AD8-8640-2D52-820D-43529FE185F5}"/>
              </a:ext>
            </a:extLst>
          </p:cNvPr>
          <p:cNvSpPr/>
          <p:nvPr/>
        </p:nvSpPr>
        <p:spPr>
          <a:xfrm>
            <a:off x="398583" y="985199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CRITERIOS DE EVALUACIÓN</a:t>
            </a:r>
            <a:endParaRPr lang="en-US" sz="11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167955E-8EAF-BFCD-495D-B43A6B02C905}"/>
              </a:ext>
            </a:extLst>
          </p:cNvPr>
          <p:cNvSpPr txBox="1"/>
          <p:nvPr/>
        </p:nvSpPr>
        <p:spPr>
          <a:xfrm>
            <a:off x="365759" y="1321869"/>
            <a:ext cx="8166295" cy="1249881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120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600" b="1" dirty="0"/>
              <a:t>Alineación con los conceptos de PSP y TSP</a:t>
            </a:r>
            <a:r>
              <a:rPr lang="es-CO" sz="1600" dirty="0"/>
              <a:t> descritos en el caso.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600" b="1" dirty="0"/>
              <a:t>Realismo del plan de fases</a:t>
            </a:r>
            <a:r>
              <a:rPr lang="es-CO" sz="1600" dirty="0"/>
              <a:t> respecto al contexto del equipo.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600" b="1" dirty="0"/>
              <a:t>Uso adecuado de métricas</a:t>
            </a:r>
            <a:r>
              <a:rPr lang="es-CO" sz="1600" dirty="0"/>
              <a:t> para evaluar el impacto.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sz="1600" b="1" dirty="0"/>
              <a:t>Identificación y tratamiento de riesgos</a:t>
            </a:r>
            <a:r>
              <a:rPr lang="es-CO" sz="1600" dirty="0"/>
              <a:t> de adopción.</a:t>
            </a:r>
          </a:p>
        </p:txBody>
      </p:sp>
    </p:spTree>
    <p:extLst>
      <p:ext uri="{BB962C8B-B14F-4D97-AF65-F5344CB8AC3E}">
        <p14:creationId xmlns:p14="http://schemas.microsoft.com/office/powerpoint/2010/main" val="2559998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74320" y="228600"/>
            <a:ext cx="1463040" cy="347472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274320" y="2286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RESPUESTA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874520" y="2286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Ejercicio 2 – Respuesta modelo detallada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74320" y="685800"/>
            <a:ext cx="2743200" cy="45720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274320" y="685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Piloto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170432"/>
            <a:ext cx="2743200" cy="1371600"/>
          </a:xfrm>
          <a:prstGeom prst="rect">
            <a:avLst/>
          </a:prstGeom>
          <a:solidFill>
            <a:srgbClr val="F0F4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347472" y="1188720"/>
            <a:ext cx="2651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PSP</a:t>
            </a: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registro de tiempos y defectos individuales (hojas de cálculo).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</a:t>
            </a: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reunión semanal de revisión de datos del equipo (mini-TSP).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27832" y="685800"/>
            <a:ext cx="274320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3227832" y="685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Expansión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27832" y="1170432"/>
            <a:ext cx="2743200" cy="1371600"/>
          </a:xfrm>
          <a:prstGeom prst="rect">
            <a:avLst/>
          </a:prstGeom>
          <a:solidFill>
            <a:srgbClr val="F0F4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3300984" y="1188720"/>
            <a:ext cx="2651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PSP</a:t>
            </a: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planificación personal (estimaciones por tarea).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TSP</a:t>
            </a: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: reuniones de lanzamiento y postmortem por release.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81344" y="685800"/>
            <a:ext cx="2743200" cy="457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181344" y="685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Consolidación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81344" y="1170432"/>
            <a:ext cx="2743200" cy="1371600"/>
          </a:xfrm>
          <a:prstGeom prst="rect">
            <a:avLst/>
          </a:prstGeom>
          <a:solidFill>
            <a:srgbClr val="F0F4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6254496" y="1188720"/>
            <a:ext cx="265176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Migración a herramienta integrada (Jira + plugins).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de calidad de código y revisiones sistemáticas.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74320" y="263347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Métricas de evaluación: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29260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Defectos por fase (especificación, construcción, pruebas).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Porcentaje de tareas entregadas dentro de la estimación.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Horas de retrabajo e incidentes en producción.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4444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Riesgo principal: percepción de 'microgestión'. Mitigación: mostrar resultados agregados y no punitivos, alineados con incentivos de carrera y mejora continua.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8F966-14DA-0E57-342D-9E1E13195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E34EBEF-14D2-E8B1-D67C-5C6FD16D6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161FB04-3C9B-1E82-46BE-4FBF96C9D9CF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9F596A-AAF0-9C05-CFEB-B91543262020}"/>
              </a:ext>
            </a:extLst>
          </p:cNvPr>
          <p:cNvSpPr/>
          <p:nvPr/>
        </p:nvSpPr>
        <p:spPr>
          <a:xfrm>
            <a:off x="274320" y="22860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EJ. 2</a:t>
            </a:r>
            <a:endParaRPr lang="en-US" sz="13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18E422-F565-3A30-DDF2-279E8FF7E218}"/>
              </a:ext>
            </a:extLst>
          </p:cNvPr>
          <p:cNvSpPr/>
          <p:nvPr/>
        </p:nvSpPr>
        <p:spPr>
          <a:xfrm>
            <a:off x="1417320" y="2286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de integración progresiva de PSP y TSP en un equipo de desarrollo</a:t>
            </a:r>
            <a:endParaRPr lang="en-US" sz="14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5E3DD3E9-A317-DB1C-30D2-473C2BF06F1D}"/>
              </a:ext>
            </a:extLst>
          </p:cNvPr>
          <p:cNvSpPr/>
          <p:nvPr/>
        </p:nvSpPr>
        <p:spPr>
          <a:xfrm>
            <a:off x="274320" y="979938"/>
            <a:ext cx="8595360" cy="320040"/>
          </a:xfrm>
          <a:prstGeom prst="rect">
            <a:avLst/>
          </a:prstGeom>
          <a:solidFill>
            <a:srgbClr val="E8ECF5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8B4A77B-4101-A224-670A-510E4F26D3A0}"/>
              </a:ext>
            </a:extLst>
          </p:cNvPr>
          <p:cNvSpPr/>
          <p:nvPr/>
        </p:nvSpPr>
        <p:spPr>
          <a:xfrm>
            <a:off x="398582" y="985199"/>
            <a:ext cx="269630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RESPUESTA MODELO DETALLADA</a:t>
            </a:r>
            <a:endParaRPr lang="en-US" sz="11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670FF2B-FF8D-2DCA-A005-078F123ACD1B}"/>
              </a:ext>
            </a:extLst>
          </p:cNvPr>
          <p:cNvSpPr txBox="1"/>
          <p:nvPr/>
        </p:nvSpPr>
        <p:spPr>
          <a:xfrm>
            <a:off x="365759" y="1321869"/>
            <a:ext cx="8166295" cy="2836432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indent="0">
              <a:buNone/>
              <a:defRPr sz="120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dirty="0"/>
              <a:t>El estudiante describe un equipo de 7 desarrolladores que mantiene un sistema de seguros (similar al dominio del caso). En la </a:t>
            </a:r>
            <a:r>
              <a:rPr lang="es-CO" b="1" dirty="0"/>
              <a:t>fase piloto</a:t>
            </a:r>
            <a:r>
              <a:rPr lang="es-CO" dirty="0"/>
              <a:t>, introduce PSP con registro de tiempos y defectos individuales en hojas de cálculo, y una reunión semanal de equipo para revisar datos (mini-TSP). En la </a:t>
            </a:r>
            <a:r>
              <a:rPr lang="es-CO" b="1" dirty="0"/>
              <a:t>fase de expansión</a:t>
            </a:r>
            <a:r>
              <a:rPr lang="es-CO" dirty="0"/>
              <a:t>, añade planificación personal (estimaciones por tarea) y reuniones de lanzamiento y </a:t>
            </a:r>
            <a:r>
              <a:rPr lang="es-CO" dirty="0" err="1"/>
              <a:t>postmortem</a:t>
            </a:r>
            <a:r>
              <a:rPr lang="es-CO" dirty="0"/>
              <a:t> por </a:t>
            </a:r>
            <a:r>
              <a:rPr lang="es-CO" dirty="0" err="1"/>
              <a:t>release</a:t>
            </a:r>
            <a:r>
              <a:rPr lang="es-CO" dirty="0"/>
              <a:t>, registrando compromisos y resultados. En la </a:t>
            </a:r>
            <a:r>
              <a:rPr lang="es-CO" b="1" dirty="0"/>
              <a:t>fase de consolidación</a:t>
            </a:r>
            <a:r>
              <a:rPr lang="es-CO" dirty="0"/>
              <a:t>, migra los registros a una herramienta integrada (por ejemplo, Jira + </a:t>
            </a:r>
            <a:r>
              <a:rPr lang="es-CO" dirty="0" err="1"/>
              <a:t>plugins</a:t>
            </a:r>
            <a:r>
              <a:rPr lang="es-CO" dirty="0"/>
              <a:t> de time tracking) y define estándares de calidad de código y revisiones sistemáticas.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CO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CO" dirty="0"/>
              <a:t>Las métricas incluyen: defectos por fase (especificación, construcción, pruebas), porcentaje de tareas entregadas dentro de la estimación, horas de retrabajo y número de incidentes en producción. El estudiante identifica riesgos como la percepción de “</a:t>
            </a:r>
            <a:r>
              <a:rPr lang="es-CO" dirty="0" err="1"/>
              <a:t>microgestión</a:t>
            </a:r>
            <a:r>
              <a:rPr lang="es-CO" dirty="0"/>
              <a:t>” por parte de los desarrolladores y propone mitigarlos explicando el propósito de mejora personal, mostrando resultados agregados y no punitivos, y alineando el plan con incentivos de carrera. Este enfoque refleja el espíritu del caso, donde PSP y TSP “ayudan a construir una cultura organizacional de calidad” y reducen la resistencia al cambio.</a:t>
            </a:r>
          </a:p>
        </p:txBody>
      </p:sp>
    </p:spTree>
    <p:extLst>
      <p:ext uri="{BB962C8B-B14F-4D97-AF65-F5344CB8AC3E}">
        <p14:creationId xmlns:p14="http://schemas.microsoft.com/office/powerpoint/2010/main" val="2160888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65760" y="822960"/>
            <a:ext cx="8412480" cy="29401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caso evidencia que no basta con adoptar un estándar aislado: la sinergia entre CMMI, TSP y PSP genera mejoras medibles en costo, defectos y satisfacción del cliente.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integración de los tres modelos permite una reducción significativa del costo de calidad (de ~19.85% a ~7.41%) y de defectos por proyecto (de 249 a 95).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talento humano es el eje central: la disciplina individual (PSP) y de equipo (TSP) son las que dan vida a los procesos organizacionales (CMMI).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 empresas de software en Latinoamérica, este modelo representa una vía pragmática para elevar su madurez de procesos sin perder el foco operativo.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enfoque es compatible y se fortalece al combinarse con prácticas ágiles (Scrum) y DevOps (CI/CD, observabilidad de producto).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Estándares y Métricas de Calidad en el Desarrollo de Software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22860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BEEF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Muchas gracias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2126</Words>
  <Application>Microsoft Office PowerPoint</Application>
  <PresentationFormat>Presentación en pantalla (16:9)</PresentationFormat>
  <Paragraphs>236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Century Gothic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Cesar Alfonso</cp:lastModifiedBy>
  <cp:revision>13</cp:revision>
  <dcterms:created xsi:type="dcterms:W3CDTF">2026-05-30T18:46:28Z</dcterms:created>
  <dcterms:modified xsi:type="dcterms:W3CDTF">2026-05-30T19:10:38Z</dcterms:modified>
</cp:coreProperties>
</file>