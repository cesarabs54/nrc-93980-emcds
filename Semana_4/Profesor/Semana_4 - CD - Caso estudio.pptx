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EFD"/>
    <a:srgbClr val="B8F6FE"/>
    <a:srgbClr val="FFFFFF"/>
    <a:srgbClr val="007A37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6374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47F89BA-944B-A71F-5C94-FDF483ABE3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9F3848-9351-FD70-C6DA-EC4BD97A4FD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11742-DB80-457E-9E92-37B03F542942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A41056-A9DE-DD9C-5959-DD8A98C6D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DC09F79F-17D7-57C1-3372-D02E7569C1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21364F8-D244-889C-2EC6-6B2D16C99A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6D2834-3923-5B97-9A5F-8B145091B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3A8BB-E06B-4275-A899-379B12CDD9ED}" type="slidenum">
              <a:rPr lang="es-CO" smtClean="0"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90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Box"/>
          <p:cNvSpPr txBox="1"/>
          <p:nvPr/>
        </p:nvSpPr>
        <p:spPr>
          <a:xfrm>
            <a:off x="218734" y="3100000"/>
            <a:ext cx="1096713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600" dirty="0">
                <a:solidFill>
                  <a:schemeClr val="bg1"/>
                </a:solidFill>
                <a:latin typeface="Century Gothic" panose="020B0502020202020204" pitchFamily="34" charset="0"/>
              </a:rPr>
              <a:t>Caso de Estudio: Aseguramiento de la Calidad en el Desarrollo de Software utilizando CMMI, TSP y PSP</a:t>
            </a:r>
          </a:p>
          <a:p>
            <a:r>
              <a:rPr lang="es-CO" sz="1800" b="1" noProof="0" dirty="0">
                <a:solidFill>
                  <a:srgbClr val="7BEEFD"/>
                </a:solidFill>
                <a:latin typeface="Century Gothic" panose="020B0502020202020204" pitchFamily="34" charset="0"/>
              </a:rPr>
              <a:t>Espejo, Bayona &amp; Pastor (2016) — Análisis Profundo | Estándares y Métricas de Calidad | Semana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1 — Contexto del Caso: ¿Por Qué Sigue Fallando el Software?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El Informe CHAOS 2015 (Standish Group) revela que solo el 29% de los proyectos de software son exitosos; el 52% sufren cambios significativos y el 19% fracasan completamente.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Las organizaciones exigen simultáneamente: productos software de calidad y uso de estándares internacionales que certifiquen ese proceso.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causa raíz del problema: los modelos y estándares existentes (PSP, TSP, CMMI) han operado de manera aislada, sin integración sistémica.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El presente caso documenta la implementación de un modelo integrado CMMI + TSP + PSP en una consultora global peruana certificada en CMMI.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Pregunta central: ¿puede la integración de tres marcos complementarios producir mejoras medibles y estadísticamente significativas en proyectos reales?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2 — Los Tres Pilares del Modelo: CMMI, TSP y PSP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CMMI (nivel organizacional): 22 áreas de proceso; mide la madurez en escala 1-5; áreas clave: PP, PMC, PPQA, MA, CM, VER, VAL en niveles 2 y 3; crea resultados medibles y repetibles.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TSP (nivel de equipo): énfasis en calidad y métricas; cada ciclo inicia con 'lanzamiento' y cierra con 'postmortem'; 4 principios: proceso definido, trabajo en equipo, buenas prácticas y formación previa.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PSP (nivel individual): proceso de automejoramiento del ingeniero; 3 métricas básicas son tamaño, tiempo y defectos; premisa: la calidad depende del trabajo de cada ingeniero.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integración opera en tres capas: Administración → CMMI | Equipo de Ingenieros → TSP | Ingeniero individual → PSP.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Razones clave: TSP se basa en PSP; ambos construyen cultura de calidad; los roles de TSP se alinean con los de CMMI; TSP reduce la resistencia al cambio.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3 — Diseño del Estudio: Metodología y Variables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Diseño de investigación: cuantitativo, cuasi-experimental de pre-test y post-test; el efecto del modelo se calcula como O2 − O1.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Muestra: 22 proyectos de una consultora global; 11 proyectos pre-test (sin el modelo) vs. 11 proyectos post-test (con el modelo integrado).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Criterios de selección: unidad de negocio = seguros generales (EPS, SOAT, AUTOS); plataforma = Microsoft .NET y Oracle; duración promedio = 3 meses; ciclo de vida de 5 fases.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Variable independiente: el Modelo de Aseguramiento de Calidad integrado (CMMI+TSP+PSP).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Variable dependiente con 4 dimensiones: Costo de Calidad (PCC), Defectos en el Proyecto (CDP), Rentabilidad (PVC) y Satisfacción del Cliente (PCS).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4 — Las Cuatro Métricas Clave: Fórmulas e Instrumentos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PCC – Porcentaje de Costo de Calidad: PCC = (CC / CR) × 100, donde CC = Costo de Conformidad + Costo de No Conformidad. Instrumento: ficha de registro de datos.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CDP – Cantidad de Defectos por Proyecto: CDP = Σ(DE), sumatoria de defectos en todas las fases del ciclo de vida. Instrumento: ficha de registro de datos.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PVC – Porcentaje de Variación de Costo: PVC = (1 − CR/CP) × 100, donde CR = Costo Real y CP = Costo Planificado. Instrumento: ficha de registro de datos.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PCS – Porcentaje de Clientes Satisfechos: PCS = (TC − CI) / TC × 100, donde CI = Clientes con Inconformidad. Instrumento: cuestionario de encuesta.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validación estadística usó prueba t-student con muestras independientes; umbral de significancia α = 0,05.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5 — Resultados: La Evidencia Empírica Habla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PCC – Costo de Calidad: reducción promedio de 12,47% (pre) a 5,25% (post); máximo pre-test 19,85% vs. máximo post-test 7,41%; p-valor = 0,002 (&lt; 0,05 — significativo).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CDP – Defectos por Proyecto: reducción promedio de 118,27 (pre) a 49,82 (post); una reducción de 68,45 defectos por proyecto; máximo pre-test 249 vs. post-test 95; p-valor = 0,01.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PVC – Desviación de Costo: reducción promedio de 18,28% (pre) a 6,40% (post); máximo pre-test 33,07% vs. máximo post-test 11,29%; p-valor = 0,03.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PCS – Satisfacción del Cliente: incremento promedio de 51,30% (pre) a 73,72% (post); un aumento de 22,42 puntos porcentuales; p-valor = 0,00.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Los cuatro indicadores muestran diferencias estadísticamente significativas: se confirman las cuatro hipótesis específicas y la hipótesis general.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6 — Interpretación: La Filosofía Detrás de los Números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filosofía de Deming valida los resultados de costo: cuando las organizaciones se concentran genuinamente en la calidad, los costos totales tienden a bajar en el tiempo, no a subir.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detección temprana de defectos es el mecanismo causal principal: identificar un defecto en especificación funcional cuesta exponencialmente menos que corregirlo en certificación.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El principio TSP de productividad se confirma: para maximizar la productividad, el primer foco de atención debe ser la calidad en todas las fases, no la velocidad de entrega.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formación del equipo fue condición necesaria (no suficiente): capacitación previa en fundamentos PSP/TSP, métricas de planeamiento y uso de herramientas.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reducción de PVC del 18,28% al 6,40% demuestra que calidad y rentabilidad no son objetivos en tensión: son complementarios cuando el proceso está bien gestionado.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7 — Herramientas Operativas del Modelo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Herramientas PSP: formato de estimación semanal de actividades, formato de registro de tiempos, formato de registro de defectos, formato resumen del plan de proyecto.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Herramientas TSP: formato de registro de intereses y experiencias, formato de registro de decisiones estratégicas, formato de reporte semanal, formato de evaluación de equipo y roles.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Checklists CMMI: recepción de petición de estimación, revisión de pares de análisis de impacto, diseño funcional, diseño técnico, construcción, pruebas y entrega final.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Las herramientas no son burocracia: son dispositivos de captura de datos que alimentan las métricas de calidad y hacen visible lo que de otro modo permanecería invisible.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Trazabilidad vertical: los datos del registro de defectos (PSP) alimentan el reporte semanal del equipo (TSP), que nutre los indicadores de PPQA y MA de CMMI.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8 — Conclusiones y Lecciones para la Práctica Profesional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Lección 1 – La integración supera a la suma de las partes: CMMI, TSP y PSP son complementarios por diseño; integrarlos produce un efecto sinérgico que ninguno logra por separado.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Lección 2 – Las métricas son la palanca del cambio: los cuatro indicadores (PCC, CDP, PVC, PCS) proporcionaron evidencia objetiva que legitimó el modelo ante la dirección.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Lección 3 – La formación es condición necesaria: la capacitación previa fue determinante para reducir la resistencia al cambio y garantizar el uso correcto de herramientas.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Lección 4 – Calidad y rentabilidad son aliadas: la reducción del PVC demuestra que invertir en prevención reduce los costos totales (filosofía de Deming confirmada empíricamente).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Trabajo futuro: evaluar mejoras en los miembros del equipo en comunicación, participación, trabajo en equipo y conocimientos — dimensiones humanas que el estudio no midió.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131869" y="1000000"/>
            <a:ext cx="11500000" cy="50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900" b="1" spc="-10" noProof="0" dirty="0">
                <a:solidFill>
                  <a:srgbClr val="003366"/>
                </a:solidFill>
                <a:latin typeface="Calibri"/>
              </a:rPr>
              <a:t>Diapositiva 9 — Reflexión Final: Del Caso al Contexto Propio</a:t>
            </a:r>
          </a:p>
        </p:txBody>
      </p:sp>
      <p:sp>
        <p:nvSpPr>
          <p:cNvPr id="7" name="Content"/>
          <p:cNvSpPr/>
          <p:nvPr/>
        </p:nvSpPr>
        <p:spPr>
          <a:xfrm>
            <a:off x="421000" y="1580000"/>
            <a:ext cx="11350000" cy="408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El caso demuestra que la investigación cuasi-experimental es viable y valiosa en entornos organizacionales reales del sector tecnológico.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Los resultados son generalizables con cautela: el contexto específico (consultora certificada en CMMI, proyectos homogéneos, equipo entrenado) favorecía la implementación.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replicación en organizaciones sin certificación previa requeriría primero alcanzar el nivel 2 de CMMI antes de agregar TSP y PSP de forma efectiva.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Pregunta de reflexión: ¿qué indicador del modelo resultaría más difícil de implementar en su organización actual, y por qué?</a:t>
            </a:r>
          </a:p>
          <a:p>
            <a:pPr marL="228600" indent="-228600">
              <a:lnSpc>
                <a:spcPct val="107000"/>
              </a:lnSpc>
              <a:spcAft>
                <a:spcPts val="180"/>
              </a:spcAft>
              <a:buChar char="▪"/>
            </a:pPr>
            <a:r>
              <a:rPr lang="es-CO" sz="1350" dirty="0">
                <a:solidFill>
                  <a:srgbClr val="1A2F5A"/>
                </a:solidFill>
                <a:latin typeface="Calibri"/>
              </a:rPr>
              <a:t>La mejora de la calidad del software es un proceso continuo y acumulativo: los datos post-test son el nuevo baseline, no el destino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0" y="2194560"/>
            <a:ext cx="12192000" cy="2560320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4" name="GoldBar1"/>
          <p:cNvSpPr/>
          <p:nvPr/>
        </p:nvSpPr>
        <p:spPr>
          <a:xfrm>
            <a:off x="0" y="2170176"/>
            <a:ext cx="12192000" cy="73152"/>
          </a:xfrm>
          <a:prstGeom prst="rect">
            <a:avLst/>
          </a:prstGeom>
          <a:solidFill>
            <a:srgbClr val="C9A84C"/>
          </a:solidFill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5" name="GoldBar2"/>
          <p:cNvSpPr/>
          <p:nvPr/>
        </p:nvSpPr>
        <p:spPr>
          <a:xfrm>
            <a:off x="0" y="4681728"/>
            <a:ext cx="12192000" cy="73152"/>
          </a:xfrm>
          <a:prstGeom prst="rect">
            <a:avLst/>
          </a:prstGeom>
          <a:solidFill>
            <a:srgbClr val="C9A84C"/>
          </a:solidFill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" name="MainTitle"/>
          <p:cNvSpPr/>
          <p:nvPr/>
        </p:nvSpPr>
        <p:spPr>
          <a:xfrm>
            <a:off x="609600" y="231648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O" sz="4267" b="1" kern="0" spc="400" noProof="0" dirty="0">
                <a:solidFill>
                  <a:srgbClr val="C9A84C"/>
                </a:solidFill>
                <a:latin typeface="Calibri" pitchFamily="34" charset="0"/>
              </a:rPr>
              <a:t>EJERCICIOS PRÁCTICOS</a:t>
            </a:r>
          </a:p>
        </p:txBody>
      </p:sp>
      <p:sp>
        <p:nvSpPr>
          <p:cNvPr id="7" name="Subtitle"/>
          <p:cNvSpPr/>
          <p:nvPr/>
        </p:nvSpPr>
        <p:spPr>
          <a:xfrm>
            <a:off x="609600" y="302361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CO" sz="2400" dirty="0">
                <a:solidFill>
                  <a:srgbClr val="FFFFFF"/>
                </a:solidFill>
                <a:latin typeface="Calibri" pitchFamily="34" charset="0"/>
              </a:rPr>
              <a:t>Caso de Estudio — CMMI, TSP y PSP (Espejo, Bayona &amp; Pastor, 2016)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3" name="Badge"/>
          <p:cNvSpPr/>
          <p:nvPr/>
        </p:nvSpPr>
        <p:spPr>
          <a:xfrm>
            <a:off x="131869" y="980000"/>
            <a:ext cx="460000" cy="320000"/>
          </a:xfrm>
          <a:prstGeom prst="rect">
            <a:avLst/>
          </a:prstGeom>
          <a:solidFill>
            <a:srgbClr val="003366"/>
          </a:solidFill>
        </p:spPr>
        <p:txBody>
          <a:bodyPr wrap="square" anchor="ctr"/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Calibri"/>
              </a:rPr>
              <a:t>EJ. 1</a:t>
            </a:r>
          </a:p>
        </p:txBody>
      </p:sp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615000" y="985000"/>
            <a:ext cx="11100000" cy="39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700" b="1" spc="-10" noProof="0" dirty="0">
                <a:solidFill>
                  <a:srgbClr val="003366"/>
                </a:solidFill>
                <a:latin typeface="Calibri"/>
              </a:rPr>
              <a:t>Análisis crítico y replicación del diseño de investigación del caso CMMI+TSP+PSP</a:t>
            </a:r>
          </a:p>
        </p:txBody>
      </p:sp>
      <p:sp>
        <p:nvSpPr>
          <p:cNvPr id="6" name="Divider"/>
          <p:cNvSpPr/>
          <p:nvPr/>
        </p:nvSpPr>
        <p:spPr>
          <a:xfrm>
            <a:off x="131869" y="1440000"/>
            <a:ext cx="11550000" cy="38000"/>
          </a:xfrm>
          <a:prstGeom prst="rect">
            <a:avLst/>
          </a:prstGeom>
          <a:solidFill>
            <a:srgbClr val="C9A84C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Content"/>
          <p:cNvSpPr/>
          <p:nvPr/>
        </p:nvSpPr>
        <p:spPr>
          <a:xfrm>
            <a:off x="421000" y="1520000"/>
            <a:ext cx="11350000" cy="415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Objetivo: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Comprender y aplicar el diseño metodológico cuasi-experimental del caso, identificando fortalezas, limitaciones y condiciones de generalización.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Paso 1: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Leer secciones 4 y 5 del artículo. Documentar: tipo de diseño, criterios de selección de proyectos, variables/indicadores/fórmulas y método estadístico.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Paso 2: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Evaluar validez interna: ¿Por qué no hubo grupo de control? ¿Qué amenazas introduce el diseño pre-test/post-test? ¿Cómo los criterios de selección las mitigan?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Paso 3: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Evaluar validez externa: ¿A qué organizaciones son generalizables? ¿Podría replicarse en empresa ágil con sprints de 2 semanas? Justificar.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Pasos 4-5: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Proponer diseño de replicación mejorado para empresa colombiana (50 emp., sin CMMI) que implemente solo PSP+TSP. Redactar sección de limitaciones con al menos 3 factores y sus mitigaciones.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8342" cy="779307"/>
          </a:xfrm>
          <a:prstGeom prst="rect">
            <a:avLst/>
          </a:prstGeom>
        </p:spPr>
      </p:pic>
      <p:sp>
        <p:nvSpPr>
          <p:cNvPr id="3" name="Badge"/>
          <p:cNvSpPr/>
          <p:nvPr/>
        </p:nvSpPr>
        <p:spPr>
          <a:xfrm>
            <a:off x="131869" y="980000"/>
            <a:ext cx="460000" cy="320000"/>
          </a:xfrm>
          <a:prstGeom prst="rect">
            <a:avLst/>
          </a:prstGeom>
          <a:solidFill>
            <a:srgbClr val="003366"/>
          </a:solidFill>
        </p:spPr>
        <p:txBody>
          <a:bodyPr wrap="square" anchor="ctr"/>
          <a:lstStyle/>
          <a:p>
            <a:pPr algn="ctr"/>
            <a:r>
              <a:rPr lang="es-CO" sz="1400" b="1" dirty="0">
                <a:solidFill>
                  <a:srgbClr val="FFFFFF"/>
                </a:solidFill>
                <a:latin typeface="Calibri"/>
              </a:rPr>
              <a:t>EJ. 2</a:t>
            </a:r>
          </a:p>
        </p:txBody>
      </p:sp>
      <p:sp>
        <p:nvSpPr>
          <p:cNvPr id="5" name="Title"/>
          <p:cNvSpPr txBox="1">
            <a:spLocks noGrp="1"/>
          </p:cNvSpPr>
          <p:nvPr>
            <p:ph type="title"/>
          </p:nvPr>
        </p:nvSpPr>
        <p:spPr>
          <a:xfrm>
            <a:off x="615000" y="985000"/>
            <a:ext cx="11100000" cy="39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s-CO" sz="1700" b="1" spc="-10" noProof="0" dirty="0">
                <a:solidFill>
                  <a:srgbClr val="003366"/>
                </a:solidFill>
                <a:latin typeface="Calibri"/>
              </a:rPr>
              <a:t>Simulación de un ciclo TSP completo: del lanzamiento al postmortem con métricas PSP</a:t>
            </a:r>
          </a:p>
        </p:txBody>
      </p:sp>
      <p:sp>
        <p:nvSpPr>
          <p:cNvPr id="6" name="Divider"/>
          <p:cNvSpPr/>
          <p:nvPr/>
        </p:nvSpPr>
        <p:spPr>
          <a:xfrm>
            <a:off x="131869" y="1440000"/>
            <a:ext cx="11550000" cy="38000"/>
          </a:xfrm>
          <a:prstGeom prst="rect">
            <a:avLst/>
          </a:prstGeom>
          <a:solidFill>
            <a:srgbClr val="C9A84C"/>
          </a:solidFill>
        </p:spPr>
        <p:txBody>
          <a:bodyPr/>
          <a:lstStyle/>
          <a:p>
            <a:endParaRPr lang="es-CO"/>
          </a:p>
        </p:txBody>
      </p:sp>
      <p:sp>
        <p:nvSpPr>
          <p:cNvPr id="7" name="Content"/>
          <p:cNvSpPr/>
          <p:nvPr/>
        </p:nvSpPr>
        <p:spPr>
          <a:xfrm>
            <a:off x="421000" y="1520000"/>
            <a:ext cx="11350000" cy="4150000"/>
          </a:xfrm>
          <a:prstGeom prst="rect">
            <a:avLst/>
          </a:prstGeom>
        </p:spPr>
        <p:txBody>
          <a:bodyPr wrap="square" anchor="t"/>
          <a:lstStyle/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Objetivo: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Aplicar procesos y herramientas del modelo integrado CMMI+TSP+PSP en un proyecto simulado, calculando los cuatro indicadores de calidad del caso de estudio.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Pasos 1-4: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Formar equipo de 4 personas con roles TSP (Líder Proyecto, Líder Calidad, Líder Desarrollo, Líder Config.). Planificación individual PSP y lanzamiento TSP con umbral de alerta PCC &gt; 15%.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Datos del escenario: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Proyecto: módulo de pólizas. Horas reales: 360 (vs. 320 plan.). Retrabajo: 54 h. Defectos: S1=12, S2=8, S3=25, S4=7 (total 52). Costo: $50.000/h. Clientes: 5 (1 inconformidad).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Paso 6 — Cálculo: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PCC = (54×50k)/(360×50k)×100 = 15%. CDP = 52 defectos. PVC = (1-18M/16M)×100 = -12,5% (sobrecosto). PCS = (5-1)/5×100 = 80%.</a:t>
            </a:r>
          </a:p>
          <a:p>
            <a:pPr marL="228600" indent="-228600">
              <a:lnSpc>
                <a:spcPct val="107000"/>
              </a:lnSpc>
              <a:spcAft>
                <a:spcPts val="160"/>
              </a:spcAft>
              <a:buChar char="●"/>
            </a:pPr>
            <a:r>
              <a:rPr lang="es-CO" sz="2000" b="1" dirty="0">
                <a:solidFill>
                  <a:srgbClr val="003366"/>
                </a:solidFill>
                <a:latin typeface="Calibri"/>
              </a:rPr>
              <a:t>Paso 7-8 — Postmortem: </a:t>
            </a:r>
            <a:r>
              <a:rPr lang="es-CO" sz="2000" dirty="0">
                <a:solidFill>
                  <a:srgbClr val="1A2F5A"/>
                </a:solidFill>
                <a:latin typeface="Calibri"/>
              </a:rPr>
              <a:t>Analizar causas raíz (S3 concentra 48% de defectos — insuficiente peer review en S2). Redactar Acta de Postmortem con 3 acciones SMART, responsable y fecha de implementación.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Box"/>
          <p:cNvSpPr txBox="1"/>
          <p:nvPr/>
        </p:nvSpPr>
        <p:spPr>
          <a:xfrm>
            <a:off x="218734" y="3100000"/>
            <a:ext cx="10967131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600" dirty="0">
                <a:solidFill>
                  <a:schemeClr val="bg1"/>
                </a:solidFill>
                <a:latin typeface="Century Gothic" panose="020B0502020202020204" pitchFamily="34" charset="0"/>
              </a:rPr>
              <a:t>Caso de Estudio: Aseguramiento de la Calidad utilizando CMMI, TSP y PSP</a:t>
            </a:r>
          </a:p>
          <a:p>
            <a:r>
              <a:rPr lang="es-CO" sz="1800" b="1" noProof="0" dirty="0">
                <a:solidFill>
                  <a:srgbClr val="7BEEFD"/>
                </a:solidFill>
                <a:latin typeface="Century Gothic" panose="020B0502020202020204" pitchFamily="34" charset="0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1892</Words>
  <Application>Microsoft Office PowerPoint</Application>
  <PresentationFormat>Panorámica</PresentationFormat>
  <Paragraphs>74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Century Gothic</vt:lpstr>
      <vt:lpstr>Tema de Office</vt:lpstr>
      <vt:lpstr>Presentación de PowerPoint</vt:lpstr>
      <vt:lpstr>Diapositiva 1 — Contexto del Caso: ¿Por Qué Sigue Fallando el Software?</vt:lpstr>
      <vt:lpstr>Diapositiva 2 — Los Tres Pilares del Modelo: CMMI, TSP y PSP</vt:lpstr>
      <vt:lpstr>Diapositiva 3 — Diseño del Estudio: Metodología y Variables</vt:lpstr>
      <vt:lpstr>Diapositiva 4 — Las Cuatro Métricas Clave: Fórmulas e Instrumentos</vt:lpstr>
      <vt:lpstr>Diapositiva 5 — Resultados: La Evidencia Empírica Habla</vt:lpstr>
      <vt:lpstr>Diapositiva 6 — Interpretación: La Filosofía Detrás de los Números</vt:lpstr>
      <vt:lpstr>Diapositiva 7 — Herramientas Operativas del Modelo</vt:lpstr>
      <vt:lpstr>Diapositiva 8 — Conclusiones y Lecciones para la Práctica Profesional</vt:lpstr>
      <vt:lpstr>Diapositiva 9 — Reflexión Final: Del Caso al Contexto Propio</vt:lpstr>
      <vt:lpstr>Presentación de PowerPoint</vt:lpstr>
      <vt:lpstr>Análisis crítico y replicación del diseño de investigación del caso CMMI+TSP+PSP</vt:lpstr>
      <vt:lpstr>Simulación de un ciclo TSP completo: del lanzamiento al postmortem con métricas PSP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87</cp:revision>
  <dcterms:created xsi:type="dcterms:W3CDTF">2024-01-22T15:06:30Z</dcterms:created>
  <dcterms:modified xsi:type="dcterms:W3CDTF">2026-05-30T18:30:41Z</dcterms:modified>
</cp:coreProperties>
</file>