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73" r:id="rId11"/>
    <p:sldId id="266" r:id="rId12"/>
    <p:sldId id="268" r:id="rId13"/>
    <p:sldId id="269" r:id="rId14"/>
    <p:sldId id="270" r:id="rId15"/>
    <p:sldId id="271" r:id="rId16"/>
    <p:sldId id="272"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EFD"/>
    <a:srgbClr val="B8F6FE"/>
    <a:srgbClr val="FFFFFF"/>
    <a:srgbClr val="007A37"/>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6374" autoAdjust="0"/>
  </p:normalViewPr>
  <p:slideViewPr>
    <p:cSldViewPr snapToGrid="0">
      <p:cViewPr varScale="1">
        <p:scale>
          <a:sx n="82" d="100"/>
          <a:sy n="82" d="100"/>
        </p:scale>
        <p:origin x="624" y="72"/>
      </p:cViewPr>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D507B83-95A6-2868-652A-31CAD218DA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2EB9C5AF-9721-94BF-F61A-6824A7C4D8A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36A559-3D3C-4BE1-BFA8-B4B14788E43C}" type="datetimeFigureOut">
              <a:rPr lang="es-CO" smtClean="0"/>
              <a:t>30/05/2026</a:t>
            </a:fld>
            <a:endParaRPr lang="es-CO"/>
          </a:p>
        </p:txBody>
      </p:sp>
      <p:sp>
        <p:nvSpPr>
          <p:cNvPr id="4" name="Marcador de imagen de diapositiva 3">
            <a:extLst>
              <a:ext uri="{FF2B5EF4-FFF2-40B4-BE49-F238E27FC236}">
                <a16:creationId xmlns:a16="http://schemas.microsoft.com/office/drawing/2014/main" id="{61636E1B-8B3C-4F7A-5C3B-C44EEC65DF6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a:extLst>
              <a:ext uri="{FF2B5EF4-FFF2-40B4-BE49-F238E27FC236}">
                <a16:creationId xmlns:a16="http://schemas.microsoft.com/office/drawing/2014/main" id="{40B547D9-1E52-E262-DC0B-C033871F08A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a:extLst>
              <a:ext uri="{FF2B5EF4-FFF2-40B4-BE49-F238E27FC236}">
                <a16:creationId xmlns:a16="http://schemas.microsoft.com/office/drawing/2014/main" id="{128FEF66-57AA-239E-619F-6DE152F5666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a:extLst>
              <a:ext uri="{FF2B5EF4-FFF2-40B4-BE49-F238E27FC236}">
                <a16:creationId xmlns:a16="http://schemas.microsoft.com/office/drawing/2014/main" id="{CB1FEB2C-A1A9-3646-CE7F-82C0441EFBA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EE37DE-8B0D-40D5-8CE0-4ECF0C878C92}" type="slidenum">
              <a:rPr lang="es-CO" smtClean="0"/>
              <a:t>‹Nº›</a:t>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FE6465-9E2C-F7D1-1025-017C427D60B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12FCAB6-F63E-EA0F-01F2-8E3E1C2B7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99D3401-411E-EE18-DCDF-19B6CD4F8413}"/>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18F1AF5F-7707-9BBB-28C2-ECB54EF253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A4DE97-7E1B-9F6C-1FEE-5248F845732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00522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38F18-1C0B-0749-058E-1B0E686BC5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E53D8DE-7C2E-BD97-A2AA-88F4EE1D14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241F956-2A51-B46A-6C84-292248ABCBC8}"/>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3987A6C4-FA66-E3C7-C032-D85598F3E1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C0D02B-4304-EE2A-7E8C-0B375B0E798F}"/>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518678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2CDD2-34BE-1894-DA03-D379832127A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FCB16E9-FD19-12B7-D1BA-245A60284C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DC213C5-1FA3-FA2A-3678-2ADA22CC3EC3}"/>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C45E7D18-5809-0535-9B55-5867923310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40B6F2-CB20-8B3A-9673-FAA2CDC1DCA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344739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0887D-BAD9-E85D-38D1-19C82452DAD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0A55F1D-7973-0849-FAC7-2ED08D995CA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21175A7-F5D8-ADBE-35ED-2EA07ECACD7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55B74CC-3C64-9425-489C-24DB5B4923DB}"/>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6" name="Marcador de pie de página 5">
            <a:extLst>
              <a:ext uri="{FF2B5EF4-FFF2-40B4-BE49-F238E27FC236}">
                <a16:creationId xmlns:a16="http://schemas.microsoft.com/office/drawing/2014/main" id="{0949404E-8840-6F19-6ECE-CBDEE7D3B7B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467B64-DB77-85DF-90EC-68DC705D5571}"/>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8151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812DA-5830-C2DA-FEC4-9F93505A585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C15237-094B-515A-A77F-0F30C24DE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199354-1A5B-0CF0-3712-B0B77DEA31F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B310BE-BFEF-A116-C85B-AC716031C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A1E757-3A71-28BB-8A9E-ECEA14D187A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BF01BB1-AD86-2BA0-55E8-8951173DFEE5}"/>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8" name="Marcador de pie de página 7">
            <a:extLst>
              <a:ext uri="{FF2B5EF4-FFF2-40B4-BE49-F238E27FC236}">
                <a16:creationId xmlns:a16="http://schemas.microsoft.com/office/drawing/2014/main" id="{E514BB14-7FDE-B22B-DBE5-F68508CF3E8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4445680-3080-CA10-7F3C-A949E505D29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10776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9DD37-5352-2F73-3A29-4538B3E97BA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B8BDF24-B2D4-B274-E41E-B863DADA0D3C}"/>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4" name="Marcador de pie de página 3">
            <a:extLst>
              <a:ext uri="{FF2B5EF4-FFF2-40B4-BE49-F238E27FC236}">
                <a16:creationId xmlns:a16="http://schemas.microsoft.com/office/drawing/2014/main" id="{BDFFC90A-39FD-B1DE-A6E9-4C076C92E9A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9F9A598-81CC-A97C-4ED5-351CC2B2BE0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1485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D21982-7EB1-D639-9FE6-2ED2E1E5B915}"/>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3" name="Marcador de pie de página 2">
            <a:extLst>
              <a:ext uri="{FF2B5EF4-FFF2-40B4-BE49-F238E27FC236}">
                <a16:creationId xmlns:a16="http://schemas.microsoft.com/office/drawing/2014/main" id="{CB4BA5B4-1ACB-A6E1-8153-F6017EC0892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D3346AA-BB89-908E-34AC-B5C0BB4FD7D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9165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E547-B4C9-54C6-166C-68F57B52C0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505AAA1-ED18-5D90-54DF-27F28CDEB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DAB449D-32A1-2028-FDD4-838932A96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E5BA6E-6660-0920-EEC0-2CE2AA83518E}"/>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6" name="Marcador de pie de página 5">
            <a:extLst>
              <a:ext uri="{FF2B5EF4-FFF2-40B4-BE49-F238E27FC236}">
                <a16:creationId xmlns:a16="http://schemas.microsoft.com/office/drawing/2014/main" id="{00B30D8E-B087-EA02-03E2-521DFA4911A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5C3B8D4-7896-270C-F6AB-532E0B8BEF57}"/>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8540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AE17D-485A-ECB9-B3CF-28BF2EEDC97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86ACA8F-B1F8-B561-1D8A-F688DA253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CE67B78-E7A8-5297-69F2-9F2F3E2F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791531-116A-C123-A7D4-1AB359D94BEB}"/>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6" name="Marcador de pie de página 5">
            <a:extLst>
              <a:ext uri="{FF2B5EF4-FFF2-40B4-BE49-F238E27FC236}">
                <a16:creationId xmlns:a16="http://schemas.microsoft.com/office/drawing/2014/main" id="{8E162658-4EB8-E7B1-D7CD-832BF8532B0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1D045AE-C0E6-8B3A-974C-D535A28130B6}"/>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69345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68E0A-C617-9494-7FAF-EE98EDB3E7C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3F01092-4D79-7865-173C-3380705A57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FB4A24B-2361-24B8-088C-8A82963BEF81}"/>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F4B4E638-2A05-64BB-86B6-F7A751FAA3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6CA604-5EC2-B4B2-BCDA-A72C5B4B9B9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0289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8B9AF1-B843-BB83-C453-61FDF2F92C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F26157F-1794-7926-228C-B16FC0F9725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04E3A9-CC90-9107-B985-908B92FF6019}"/>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2DEB48AE-EC58-2E10-FC72-45F6A53E4AA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2C0554D-9DB8-83AA-D250-A01E05DD562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99483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90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C8005C-7059-394A-5A7F-ADC560A00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81F0D5C-0C3B-8E6D-BFE1-56159D559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5E041F9-8DD3-E69E-92E5-4B036E7F04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83B60668-6D85-2862-B828-AA14A716B8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0B7542E-F1B7-7AC5-E112-1617942BE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A12EED-67C1-B54C-BDC1-C9887C8F6E96}" type="slidenum">
              <a:rPr lang="es-CO" smtClean="0"/>
              <a:t>‹Nº›</a:t>
            </a:fld>
            <a:endParaRPr lang="es-CO"/>
          </a:p>
        </p:txBody>
      </p:sp>
    </p:spTree>
    <p:extLst>
      <p:ext uri="{BB962C8B-B14F-4D97-AF65-F5344CB8AC3E}">
        <p14:creationId xmlns:p14="http://schemas.microsoft.com/office/powerpoint/2010/main" val="3811630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218734" y="3166762"/>
            <a:ext cx="10967131" cy="1261884"/>
          </a:xfrm>
          <a:prstGeom prst="rect">
            <a:avLst/>
          </a:prstGeom>
          <a:noFill/>
        </p:spPr>
        <p:txBody>
          <a:bodyPr wrap="square">
            <a:spAutoFit/>
          </a:bodyPr>
          <a:lstStyle/>
          <a:p>
            <a:r>
              <a:rPr lang="es-CO" sz="2800" dirty="0">
                <a:solidFill>
                  <a:schemeClr val="bg1"/>
                </a:solidFill>
                <a:latin typeface="Century Gothic" panose="020B0502020202020204" pitchFamily="34" charset="0"/>
              </a:rPr>
              <a:t>Modelos y Estándares de Calidad para la Mejora de Procesos de Software</a:t>
            </a:r>
          </a:p>
          <a:p>
            <a:r>
              <a:rPr lang="es-CO" sz="2000" b="1" noProof="0" dirty="0">
                <a:solidFill>
                  <a:srgbClr val="7BEEFD"/>
                </a:solidFill>
                <a:latin typeface="Century Gothic" panose="020B0502020202020204" pitchFamily="34" charset="0"/>
              </a:rPr>
              <a:t>Curso: Estándares y Métricas de </a:t>
            </a:r>
            <a:r>
              <a:rPr lang="es-CO" sz="2000" b="1" noProof="0">
                <a:solidFill>
                  <a:srgbClr val="7BEEFD"/>
                </a:solidFill>
                <a:latin typeface="Century Gothic" panose="020B0502020202020204" pitchFamily="34" charset="0"/>
              </a:rPr>
              <a:t>Calidad — </a:t>
            </a:r>
            <a:r>
              <a:rPr lang="es-CO" sz="2000" b="1" noProof="0" dirty="0">
                <a:solidFill>
                  <a:srgbClr val="7BEEFD"/>
                </a:solidFill>
                <a:latin typeface="Century Gothic" panose="020B0502020202020204" pitchFamily="34" charset="0"/>
              </a:rPr>
              <a:t>Semana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Calidad en el Desarrollo de Software: El Imperativo Estratégico</a:t>
            </a:r>
          </a:p>
        </p:txBody>
      </p:sp>
      <p:sp>
        <p:nvSpPr>
          <p:cNvPr id="7" name="Content"/>
          <p:cNvSpPr/>
          <p:nvPr/>
        </p:nvSpPr>
        <p:spPr>
          <a:xfrm>
            <a:off x="421000" y="1620000"/>
            <a:ext cx="11350000" cy="3278571"/>
          </a:xfrm>
          <a:prstGeom prst="rect">
            <a:avLst/>
          </a:prstGeom>
        </p:spPr>
        <p:txBody>
          <a:bodyPr wrap="square" anchor="t"/>
          <a:lstStyle/>
          <a:p>
            <a:pPr marL="228600" lvl="0" indent="-228600" algn="just">
              <a:lnSpc>
                <a:spcPct val="107000"/>
              </a:lnSpc>
              <a:spcAft>
                <a:spcPts val="200"/>
              </a:spcAft>
              <a:buChar char="▪"/>
            </a:pPr>
            <a:r>
              <a:rPr lang="es-CO" sz="1600" dirty="0">
                <a:solidFill>
                  <a:srgbClr val="1A2F5A"/>
                </a:solidFill>
                <a:latin typeface="Calibri"/>
              </a:rPr>
              <a:t>Solo el 29% de los proyectos de software son exitosos a nivel mundial (Standish Group, 2015); el 52% sufren cambios y el 19% fracasan.</a:t>
            </a:r>
          </a:p>
          <a:p>
            <a:pPr marL="228600" lvl="0" indent="-228600" algn="just">
              <a:lnSpc>
                <a:spcPct val="107000"/>
              </a:lnSpc>
              <a:spcAft>
                <a:spcPts val="200"/>
              </a:spcAft>
              <a:buChar char="▪"/>
            </a:pPr>
            <a:r>
              <a:rPr lang="es-CO" sz="1600" dirty="0">
                <a:solidFill>
                  <a:srgbClr val="1A2F5A"/>
                </a:solidFill>
                <a:latin typeface="Calibri"/>
              </a:rPr>
              <a:t>Las organizaciones desarrolladoras deben asegurar simultáneamente la calidad del proceso y la calidad del producto entregado.</a:t>
            </a:r>
          </a:p>
          <a:p>
            <a:pPr marL="228600" lvl="0" indent="-228600" algn="just">
              <a:lnSpc>
                <a:spcPct val="107000"/>
              </a:lnSpc>
              <a:spcAft>
                <a:spcPts val="200"/>
              </a:spcAft>
              <a:buChar char="▪"/>
            </a:pPr>
            <a:r>
              <a:rPr lang="es-CO" sz="1600" dirty="0">
                <a:solidFill>
                  <a:srgbClr val="1A2F5A"/>
                </a:solidFill>
                <a:latin typeface="Calibri"/>
              </a:rPr>
              <a:t>La calidad se puede medir en términos de densidad de defectos, costo de calidad, rentabilidad y satisfacción del cliente.</a:t>
            </a:r>
          </a:p>
          <a:p>
            <a:pPr marL="228600" lvl="0" indent="-228600" algn="just">
              <a:lnSpc>
                <a:spcPct val="107000"/>
              </a:lnSpc>
              <a:spcAft>
                <a:spcPts val="200"/>
              </a:spcAft>
              <a:buChar char="▪"/>
            </a:pPr>
            <a:r>
              <a:rPr lang="es-CO" sz="1600" dirty="0">
                <a:solidFill>
                  <a:srgbClr val="1A2F5A"/>
                </a:solidFill>
                <a:latin typeface="Calibri"/>
              </a:rPr>
              <a:t>Adoptar modelos y estándares de calidad no garantiza por sí solo la mejora: requiere compromiso real de todos los stakeholders.</a:t>
            </a:r>
          </a:p>
          <a:p>
            <a:pPr marL="228600" lvl="0" indent="-228600" algn="just">
              <a:lnSpc>
                <a:spcPct val="107000"/>
              </a:lnSpc>
              <a:spcAft>
                <a:spcPts val="200"/>
              </a:spcAft>
              <a:buChar char="▪"/>
            </a:pPr>
            <a:r>
              <a:rPr lang="es-CO" sz="1600" dirty="0">
                <a:solidFill>
                  <a:srgbClr val="1A2F5A"/>
                </a:solidFill>
                <a:latin typeface="Calibri"/>
              </a:rPr>
              <a:t>Este módulo integra los marcos CMMI, TSP, PSP, ISO 9001 y modelos alternativos para organizaciones de diferente tamaño.</a:t>
            </a:r>
          </a:p>
          <a:p>
            <a:pPr marL="228600" lvl="0" indent="-228600" algn="just">
              <a:lnSpc>
                <a:spcPct val="107000"/>
              </a:lnSpc>
              <a:spcAft>
                <a:spcPts val="200"/>
              </a:spcAft>
              <a:buChar char="▪"/>
            </a:pPr>
            <a:endParaRPr lang="es-CO" sz="1600" dirty="0">
              <a:solidFill>
                <a:srgbClr val="1A2F5A"/>
              </a:solidFill>
              <a:latin typeface="Calibri"/>
            </a:endParaRPr>
          </a:p>
          <a:p>
            <a:pPr lvl="0" algn="just">
              <a:lnSpc>
                <a:spcPct val="107000"/>
              </a:lnSpc>
              <a:spcAft>
                <a:spcPts val="200"/>
              </a:spcAft>
            </a:pPr>
            <a:r>
              <a:rPr lang="es-CO" sz="1600" dirty="0"/>
              <a:t>El punto de partida es comprender que la industria del software sigue enfrentando tasas de fracaso inaceptables a pesar de que existen modelos maduros de mejora. El informe CHAOS del Standish Group es una referencia empírica fundamental que legitima la necesidad de estos estándares en cualquier organización que desarrolle software. Importante analizar cómo la integración estratégica de modelos —y no su aplicación aislada— es lo que genera valor medible y sostenible.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Marco Conceptual: Los Tres Pilares del Proceso de Desarrollo</a:t>
            </a:r>
          </a:p>
        </p:txBody>
      </p:sp>
      <p:sp>
        <p:nvSpPr>
          <p:cNvPr id="7" name="Content"/>
          <p:cNvSpPr/>
          <p:nvPr/>
        </p:nvSpPr>
        <p:spPr>
          <a:xfrm>
            <a:off x="421000" y="1620000"/>
            <a:ext cx="11350000" cy="310129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Todo proceso de desarrollo de software descansa en tres componentes interdependientes: Proceso, Tecnología y Personas.</a:t>
            </a:r>
          </a:p>
          <a:p>
            <a:pPr marL="228600" lvl="0" indent="-228600">
              <a:lnSpc>
                <a:spcPct val="107000"/>
              </a:lnSpc>
              <a:spcAft>
                <a:spcPts val="200"/>
              </a:spcAft>
              <a:buChar char="▪"/>
            </a:pPr>
            <a:r>
              <a:rPr lang="es-CO" sz="1600" dirty="0">
                <a:solidFill>
                  <a:srgbClr val="1A2F5A"/>
                </a:solidFill>
                <a:latin typeface="Calibri"/>
              </a:rPr>
              <a:t>La calidad emerge de la integración adecuada de los tres componentes, no de la optimización aislada de uno solo.</a:t>
            </a:r>
          </a:p>
          <a:p>
            <a:pPr marL="228600" lvl="0" indent="-228600">
              <a:lnSpc>
                <a:spcPct val="107000"/>
              </a:lnSpc>
              <a:spcAft>
                <a:spcPts val="200"/>
              </a:spcAft>
              <a:buChar char="▪"/>
            </a:pPr>
            <a:r>
              <a:rPr lang="es-CO" sz="1600" dirty="0">
                <a:solidFill>
                  <a:srgbClr val="1A2F5A"/>
                </a:solidFill>
                <a:latin typeface="Calibri"/>
              </a:rPr>
              <a:t>El entorno organizacional condiciona el punto de partida (situación inicial) y el objetivo de transformación (situación final).</a:t>
            </a:r>
          </a:p>
          <a:p>
            <a:pPr marL="228600" lvl="0" indent="-228600">
              <a:lnSpc>
                <a:spcPct val="107000"/>
              </a:lnSpc>
              <a:spcAft>
                <a:spcPts val="200"/>
              </a:spcAft>
              <a:buChar char="▪"/>
            </a:pPr>
            <a:r>
              <a:rPr lang="es-CO" sz="1600" dirty="0">
                <a:solidFill>
                  <a:srgbClr val="1A2F5A"/>
                </a:solidFill>
                <a:latin typeface="Calibri"/>
              </a:rPr>
              <a:t>Los modelos de calidad proveen el camino de cambio progresivo entre ambas situaciones.</a:t>
            </a:r>
          </a:p>
          <a:p>
            <a:pPr marL="228600" lvl="0" indent="-228600">
              <a:lnSpc>
                <a:spcPct val="107000"/>
              </a:lnSpc>
              <a:spcAft>
                <a:spcPts val="200"/>
              </a:spcAft>
              <a:buChar char="▪"/>
            </a:pPr>
            <a:r>
              <a:rPr lang="es-CO" sz="1600" dirty="0">
                <a:solidFill>
                  <a:srgbClr val="1A2F5A"/>
                </a:solidFill>
                <a:latin typeface="Calibri"/>
              </a:rPr>
              <a:t>Empresas como Accenture, IBM y consultoras certificadas en CMMI demuestran que esta integración es viable y rentable.</a:t>
            </a:r>
          </a:p>
          <a:p>
            <a:pPr marL="228600" lvl="0" indent="-228600">
              <a:lnSpc>
                <a:spcPct val="107000"/>
              </a:lnSpc>
              <a:spcAft>
                <a:spcPts val="200"/>
              </a:spcAft>
              <a:buChar char="▪"/>
            </a:pPr>
            <a:endParaRPr lang="es-CO" sz="1600" dirty="0">
              <a:solidFill>
                <a:srgbClr val="1A2F5A"/>
              </a:solidFill>
              <a:latin typeface="Calibri"/>
            </a:endParaRPr>
          </a:p>
          <a:p>
            <a:pPr lvl="0">
              <a:lnSpc>
                <a:spcPct val="107000"/>
              </a:lnSpc>
              <a:spcAft>
                <a:spcPts val="200"/>
              </a:spcAft>
            </a:pPr>
            <a:r>
              <a:rPr lang="es-CO" sz="1600" dirty="0"/>
              <a:t>Este triángulo </a:t>
            </a:r>
            <a:r>
              <a:rPr lang="es-CO" sz="1600" b="1" dirty="0"/>
              <a:t>Proceso-Tecnología-Personas</a:t>
            </a:r>
            <a:r>
              <a:rPr lang="es-CO" sz="1600" dirty="0"/>
              <a:t> es el fundamento teórico sobre el cual se construyen todos los modelos que estudiaremos. Espejo, Bayona y Pastor (2016) ilustran cómo una consultora global aplicó este esquema integrando CMMI, TSP y PSP, logrando mejoras medibles en costos y defectos. Es importante que los estudiantes entiendan que ningún estándar opera en el vacío: siempre interactúa con la cultura organizacional y las capacidades del equipo humano.</a:t>
            </a:r>
            <a:endParaRPr lang="es-CO" sz="1600" dirty="0">
              <a:solidFill>
                <a:srgbClr val="1A2F5A"/>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CMMI: El Modelo de Referencia de la Industria</a:t>
            </a:r>
          </a:p>
        </p:txBody>
      </p:sp>
      <p:sp>
        <p:nvSpPr>
          <p:cNvPr id="7" name="Content"/>
          <p:cNvSpPr/>
          <p:nvPr/>
        </p:nvSpPr>
        <p:spPr>
          <a:xfrm>
            <a:off x="421000" y="1620000"/>
            <a:ext cx="11350000" cy="405000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CMMI (Capability Maturity Model Integration), desarrollado por el SEI de Carnegie Mellon, define 22 áreas de proceso en 5 niveles de madurez.</a:t>
            </a:r>
          </a:p>
          <a:p>
            <a:pPr marL="228600" lvl="0" indent="-228600">
              <a:lnSpc>
                <a:spcPct val="107000"/>
              </a:lnSpc>
              <a:spcAft>
                <a:spcPts val="200"/>
              </a:spcAft>
              <a:buChar char="▪"/>
            </a:pPr>
            <a:r>
              <a:rPr lang="es-CO" sz="1600" dirty="0">
                <a:solidFill>
                  <a:srgbClr val="1A2F5A"/>
                </a:solidFill>
                <a:latin typeface="Calibri"/>
              </a:rPr>
              <a:t>Nivel 1 (Inicial): procesos impredecibles y reactivos — "el trabajo se realiza mediante heroísmo individual".</a:t>
            </a:r>
          </a:p>
          <a:p>
            <a:pPr marL="228600" lvl="0" indent="-228600">
              <a:lnSpc>
                <a:spcPct val="107000"/>
              </a:lnSpc>
              <a:spcAft>
                <a:spcPts val="200"/>
              </a:spcAft>
              <a:buChar char="▪"/>
            </a:pPr>
            <a:r>
              <a:rPr lang="es-CO" sz="1600" dirty="0">
                <a:solidFill>
                  <a:srgbClr val="1A2F5A"/>
                </a:solidFill>
                <a:latin typeface="Calibri"/>
              </a:rPr>
              <a:t>Niveles 2-3 (Gestionado y Definido): planificación, control y estandarización de procesos — base para la mayoría de certificaciones empresariales.</a:t>
            </a:r>
          </a:p>
          <a:p>
            <a:pPr marL="228600" lvl="0" indent="-228600">
              <a:lnSpc>
                <a:spcPct val="107000"/>
              </a:lnSpc>
              <a:spcAft>
                <a:spcPts val="200"/>
              </a:spcAft>
              <a:buChar char="▪"/>
            </a:pPr>
            <a:r>
              <a:rPr lang="es-CO" sz="1600" dirty="0">
                <a:solidFill>
                  <a:srgbClr val="1A2F5A"/>
                </a:solidFill>
                <a:latin typeface="Calibri"/>
              </a:rPr>
              <a:t>Niveles 4-5 (Administrado cuantitativamente y Optimizado): medición estadística y mejora continua basada en datos.</a:t>
            </a:r>
          </a:p>
          <a:p>
            <a:pPr marL="228600" lvl="0" indent="-228600">
              <a:lnSpc>
                <a:spcPct val="107000"/>
              </a:lnSpc>
              <a:spcAft>
                <a:spcPts val="200"/>
              </a:spcAft>
              <a:buChar char="▪"/>
            </a:pPr>
            <a:r>
              <a:rPr lang="es-CO" sz="1600" dirty="0">
                <a:solidFill>
                  <a:srgbClr val="1A2F5A"/>
                </a:solidFill>
                <a:latin typeface="Calibri"/>
              </a:rPr>
              <a:t>Más de 5.000 empresas en el mundo están certificadas en CMMI; en Colombia y Perú, la mayoría se ubica en niveles 2 y 3.</a:t>
            </a:r>
          </a:p>
          <a:p>
            <a:pPr lvl="0">
              <a:lnSpc>
                <a:spcPct val="107000"/>
              </a:lnSpc>
              <a:spcAft>
                <a:spcPts val="200"/>
              </a:spcAft>
            </a:pPr>
            <a:endParaRPr lang="es-CO" sz="1600" dirty="0">
              <a:solidFill>
                <a:srgbClr val="1A2F5A"/>
              </a:solidFill>
              <a:latin typeface="Calibri"/>
            </a:endParaRPr>
          </a:p>
          <a:p>
            <a:pPr lvl="0">
              <a:lnSpc>
                <a:spcPct val="107000"/>
              </a:lnSpc>
              <a:spcAft>
                <a:spcPts val="200"/>
              </a:spcAft>
            </a:pPr>
            <a:r>
              <a:rPr lang="es-CO" sz="1600" dirty="0"/>
              <a:t>Las áreas de proceso de los niveles 2 y 3 más relevantes para este curso son: Planificación de Proyectos (PP), Aseguramiento de Calidad de Proceso y Producto (PPQA), Medición y Análisis (MA) y Gestión de la Configuración (CM). Es clave entender que CMMI no prescribe cómo hacer las cosas, sino qué debe estar institucionalizado en la organización, dejando libertad metodológica para el cómo. Esto lo hace compatible con metodologías ágiles en sus niveles iniciales, aunque su rigidez aumenta en los niveles superiores.</a:t>
            </a:r>
            <a:endParaRPr lang="es-CO" sz="1600" dirty="0">
              <a:solidFill>
                <a:srgbClr val="1A2F5A"/>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PSP y TSP: La Dimensión Humana de la Calidad</a:t>
            </a:r>
          </a:p>
        </p:txBody>
      </p:sp>
      <p:sp>
        <p:nvSpPr>
          <p:cNvPr id="7" name="Content"/>
          <p:cNvSpPr/>
          <p:nvPr/>
        </p:nvSpPr>
        <p:spPr>
          <a:xfrm>
            <a:off x="421000" y="1620000"/>
            <a:ext cx="11350000" cy="405000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PSP (Personal Software Process): proceso de automejoramiento del ingeniero individual; sus tres métricas básicas son tamaño, tiempo y defectos.</a:t>
            </a:r>
          </a:p>
          <a:p>
            <a:pPr marL="228600" lvl="0" indent="-228600">
              <a:lnSpc>
                <a:spcPct val="107000"/>
              </a:lnSpc>
              <a:spcAft>
                <a:spcPts val="200"/>
              </a:spcAft>
              <a:buChar char="▪"/>
            </a:pPr>
            <a:r>
              <a:rPr lang="es-CO" sz="1600" dirty="0">
                <a:solidFill>
                  <a:srgbClr val="1A2F5A"/>
                </a:solidFill>
                <a:latin typeface="Calibri"/>
              </a:rPr>
              <a:t>PSP permite al ingeniero estimar, planificar y controlar su trabajo personal, reduciendo la densidad de defectos desde el nivel individual.</a:t>
            </a:r>
          </a:p>
          <a:p>
            <a:pPr marL="228600" lvl="0" indent="-228600">
              <a:lnSpc>
                <a:spcPct val="107000"/>
              </a:lnSpc>
              <a:spcAft>
                <a:spcPts val="200"/>
              </a:spcAft>
              <a:buChar char="▪"/>
            </a:pPr>
            <a:r>
              <a:rPr lang="es-CO" sz="1600" dirty="0">
                <a:solidFill>
                  <a:srgbClr val="1A2F5A"/>
                </a:solidFill>
                <a:latin typeface="Calibri"/>
              </a:rPr>
              <a:t>TSP (Team Software Process): extiende PSP al equipo; cada ciclo inicia con un "lanzamiento" y cierra con un "postmortem".</a:t>
            </a:r>
          </a:p>
          <a:p>
            <a:pPr marL="228600" lvl="0" indent="-228600">
              <a:lnSpc>
                <a:spcPct val="107000"/>
              </a:lnSpc>
              <a:spcAft>
                <a:spcPts val="200"/>
              </a:spcAft>
              <a:buChar char="▪"/>
            </a:pPr>
            <a:r>
              <a:rPr lang="es-CO" sz="1600" dirty="0">
                <a:solidFill>
                  <a:srgbClr val="1A2F5A"/>
                </a:solidFill>
                <a:latin typeface="Calibri"/>
              </a:rPr>
              <a:t>TSP se basa en 4 principios: </a:t>
            </a:r>
            <a:r>
              <a:rPr lang="es-CO" sz="1600" b="1" dirty="0">
                <a:solidFill>
                  <a:srgbClr val="1A2F5A"/>
                </a:solidFill>
                <a:latin typeface="Calibri"/>
              </a:rPr>
              <a:t>aprendizaje con proceso definido</a:t>
            </a:r>
            <a:r>
              <a:rPr lang="es-CO" sz="1600" dirty="0">
                <a:solidFill>
                  <a:srgbClr val="1A2F5A"/>
                </a:solidFill>
                <a:latin typeface="Calibri"/>
              </a:rPr>
              <a:t>, </a:t>
            </a:r>
            <a:r>
              <a:rPr lang="es-CO" sz="1600" b="1" dirty="0">
                <a:solidFill>
                  <a:srgbClr val="1A2F5A"/>
                </a:solidFill>
                <a:latin typeface="Calibri"/>
              </a:rPr>
              <a:t>trabajo en equipo efectivo</a:t>
            </a:r>
            <a:r>
              <a:rPr lang="es-CO" sz="1600" dirty="0">
                <a:solidFill>
                  <a:srgbClr val="1A2F5A"/>
                </a:solidFill>
                <a:latin typeface="Calibri"/>
              </a:rPr>
              <a:t>, </a:t>
            </a:r>
            <a:r>
              <a:rPr lang="es-CO" sz="1600" b="1" dirty="0">
                <a:solidFill>
                  <a:srgbClr val="1A2F5A"/>
                </a:solidFill>
                <a:latin typeface="Calibri"/>
              </a:rPr>
              <a:t>valoración de buenas prácticas </a:t>
            </a:r>
            <a:r>
              <a:rPr lang="es-CO" sz="1600" dirty="0">
                <a:solidFill>
                  <a:srgbClr val="1A2F5A"/>
                </a:solidFill>
                <a:latin typeface="Calibri"/>
              </a:rPr>
              <a:t>y </a:t>
            </a:r>
            <a:r>
              <a:rPr lang="es-CO" sz="1600" b="1" dirty="0">
                <a:solidFill>
                  <a:srgbClr val="1A2F5A"/>
                </a:solidFill>
                <a:latin typeface="Calibri"/>
              </a:rPr>
              <a:t>formación con conocimiento previo</a:t>
            </a:r>
            <a:r>
              <a:rPr lang="es-CO" sz="1600" dirty="0">
                <a:solidFill>
                  <a:srgbClr val="1A2F5A"/>
                </a:solidFill>
                <a:latin typeface="Calibri"/>
              </a:rPr>
              <a:t>.</a:t>
            </a:r>
          </a:p>
          <a:p>
            <a:pPr marL="228600" lvl="0" indent="-228600">
              <a:lnSpc>
                <a:spcPct val="107000"/>
              </a:lnSpc>
              <a:spcAft>
                <a:spcPts val="200"/>
              </a:spcAft>
              <a:buChar char="▪"/>
            </a:pPr>
            <a:r>
              <a:rPr lang="es-CO" sz="1600" dirty="0">
                <a:solidFill>
                  <a:srgbClr val="1A2F5A"/>
                </a:solidFill>
                <a:latin typeface="Calibri"/>
              </a:rPr>
              <a:t>La integración PSP+TSP+CMMI generó en un caso real una reducción promedio de 68,45 defectos por proyecto y del costo de calidad del 12,47% al 5,25%.</a:t>
            </a:r>
          </a:p>
          <a:p>
            <a:pPr lvl="0">
              <a:lnSpc>
                <a:spcPct val="107000"/>
              </a:lnSpc>
              <a:spcAft>
                <a:spcPts val="200"/>
              </a:spcAft>
            </a:pPr>
            <a:endParaRPr lang="es-CO" sz="1600" dirty="0">
              <a:solidFill>
                <a:srgbClr val="1A2F5A"/>
              </a:solidFill>
              <a:latin typeface="Calibri"/>
            </a:endParaRPr>
          </a:p>
          <a:p>
            <a:pPr lvl="0">
              <a:lnSpc>
                <a:spcPct val="107000"/>
              </a:lnSpc>
              <a:spcAft>
                <a:spcPts val="200"/>
              </a:spcAft>
            </a:pPr>
            <a:r>
              <a:rPr lang="es-CO" sz="1600" dirty="0"/>
              <a:t>Humphrey (2005) diseñó PSP bajo la premisa de que la calidad del software depende directamente de la disciplina de cada ingeniero: si el individuo no mide y no mejora, el equipo tampoco lo hará. TSP operacionaliza esta filosofía a nivel de equipo, integrando métricas de planeamiento y seguimiento semanal. El resultado empírico del estudio de Espejo, Bayona y Pastor con 22 proyectos reales es una de las evidencias más sólidas de que la integración de estos tres marcos produce mejoras estadísticamente significativas (p-valor &lt; 0.05 en todos los indicadores).</a:t>
            </a:r>
            <a:endParaRPr lang="es-CO" sz="1600" dirty="0">
              <a:solidFill>
                <a:srgbClr val="1A2F5A"/>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ISO 9001 y la Gestión del Sistema de Calidad</a:t>
            </a:r>
          </a:p>
        </p:txBody>
      </p:sp>
      <p:sp>
        <p:nvSpPr>
          <p:cNvPr id="7" name="Content"/>
          <p:cNvSpPr/>
          <p:nvPr/>
        </p:nvSpPr>
        <p:spPr>
          <a:xfrm>
            <a:off x="421000" y="1620000"/>
            <a:ext cx="11350000" cy="405000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ISO 9001 es el estándar internacional más reconocido para sistemas de gestión de calidad (SGC); su enfoque es horizontal y aplica a cualquier organización.</a:t>
            </a:r>
          </a:p>
          <a:p>
            <a:pPr marL="228600" lvl="0" indent="-228600">
              <a:lnSpc>
                <a:spcPct val="107000"/>
              </a:lnSpc>
              <a:spcAft>
                <a:spcPts val="200"/>
              </a:spcAft>
              <a:buChar char="▪"/>
            </a:pPr>
            <a:r>
              <a:rPr lang="es-CO" sz="1600" dirty="0">
                <a:solidFill>
                  <a:srgbClr val="1A2F5A"/>
                </a:solidFill>
                <a:latin typeface="Calibri"/>
              </a:rPr>
              <a:t>Su modelo se articula en torno a un ciclo de mejora continua: Responsabilidad de la dirección → Gestión de recursos → Realización del producto → Medición y mejora.</a:t>
            </a:r>
          </a:p>
          <a:p>
            <a:pPr marL="228600" lvl="0" indent="-228600">
              <a:lnSpc>
                <a:spcPct val="107000"/>
              </a:lnSpc>
              <a:spcAft>
                <a:spcPts val="200"/>
              </a:spcAft>
              <a:buChar char="▪"/>
            </a:pPr>
            <a:r>
              <a:rPr lang="es-CO" sz="1600" dirty="0">
                <a:solidFill>
                  <a:srgbClr val="1A2F5A"/>
                </a:solidFill>
                <a:latin typeface="Calibri"/>
              </a:rPr>
              <a:t>A diferencia de CMMI, ISO 9001 incluye gestión cuantitativa de procesos y es adecuado para operar el SGC de la empresa en su conjunto.</a:t>
            </a:r>
          </a:p>
          <a:p>
            <a:pPr marL="228600" lvl="0" indent="-228600">
              <a:lnSpc>
                <a:spcPct val="107000"/>
              </a:lnSpc>
              <a:spcAft>
                <a:spcPts val="200"/>
              </a:spcAft>
              <a:buChar char="▪"/>
            </a:pPr>
            <a:r>
              <a:rPr lang="es-CO" sz="1600" dirty="0">
                <a:solidFill>
                  <a:srgbClr val="1A2F5A"/>
                </a:solidFill>
                <a:latin typeface="Calibri"/>
              </a:rPr>
              <a:t>Características principales: cumplimiento de requisitos del cliente, planificación de procesos con valor, mediciones objetivas de desempeño.</a:t>
            </a:r>
          </a:p>
          <a:p>
            <a:pPr marL="228600" lvl="0" indent="-228600">
              <a:lnSpc>
                <a:spcPct val="107000"/>
              </a:lnSpc>
              <a:spcAft>
                <a:spcPts val="200"/>
              </a:spcAft>
              <a:buChar char="▪"/>
            </a:pPr>
            <a:r>
              <a:rPr lang="es-CO" sz="1600" dirty="0">
                <a:solidFill>
                  <a:srgbClr val="1A2F5A"/>
                </a:solidFill>
                <a:latin typeface="Calibri"/>
              </a:rPr>
              <a:t>Empresas como Microsoft, Oracle y las grandes consultoras tecnológicas combinan ISO 9001 con CMMI para una cobertura integral.</a:t>
            </a:r>
          </a:p>
          <a:p>
            <a:pPr lvl="0">
              <a:lnSpc>
                <a:spcPct val="107000"/>
              </a:lnSpc>
              <a:spcAft>
                <a:spcPts val="200"/>
              </a:spcAft>
            </a:pPr>
            <a:endParaRPr lang="es-CO" sz="1600" dirty="0">
              <a:solidFill>
                <a:srgbClr val="1A2F5A"/>
              </a:solidFill>
              <a:latin typeface="Calibri"/>
            </a:endParaRPr>
          </a:p>
          <a:p>
            <a:pPr lvl="0">
              <a:lnSpc>
                <a:spcPct val="107000"/>
              </a:lnSpc>
              <a:spcAft>
                <a:spcPts val="200"/>
              </a:spcAft>
            </a:pPr>
            <a:r>
              <a:rPr lang="es-CO" sz="1600" dirty="0"/>
              <a:t>ISO 9001 y CMMI son complementarios, no excluyentes. Mientras CMMI ofrece guía específica para el proceso de desarrollo de software con niveles de madurez progresivos, ISO 9001 proporciona el marco para operar el sistema de gestión de calidad de toda la organización. Merchán, Villa y Sánchez (2017) destacan que ISO 9001 es uno de los dos únicos modelos del espectro que incluye gestión cuantitativa, siendo esta una ventaja diferencial importante para organizaciones que buscan control estadístico de sus procesos.</a:t>
            </a:r>
            <a:endParaRPr lang="es-CO" sz="1600" dirty="0">
              <a:solidFill>
                <a:srgbClr val="1A2F5A"/>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Modelos para Pymes: MoProSoft, Competisoft, ISO/IEC 29110 y MPS.BR</a:t>
            </a:r>
          </a:p>
        </p:txBody>
      </p:sp>
      <p:sp>
        <p:nvSpPr>
          <p:cNvPr id="7" name="Content"/>
          <p:cNvSpPr/>
          <p:nvPr/>
        </p:nvSpPr>
        <p:spPr>
          <a:xfrm>
            <a:off x="421000" y="1620000"/>
            <a:ext cx="11350000" cy="405000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MoProSoft (México): sintetiza mejores prácticas de CMMI, ISO 9001 e ISO/IEC 12207; no requiere personal especializado y es práctico para empresas pequeñas.</a:t>
            </a:r>
          </a:p>
          <a:p>
            <a:pPr marL="228600" lvl="0" indent="-228600">
              <a:lnSpc>
                <a:spcPct val="107000"/>
              </a:lnSpc>
              <a:spcAft>
                <a:spcPts val="200"/>
              </a:spcAft>
              <a:buChar char="▪"/>
            </a:pPr>
            <a:r>
              <a:rPr lang="es-CO" sz="1600" dirty="0">
                <a:solidFill>
                  <a:srgbClr val="1A2F5A"/>
                </a:solidFill>
                <a:latin typeface="Calibri"/>
              </a:rPr>
              <a:t>Competisoft (Iberoamérica): basado en ISO 9000 y niveles 2-3 de CMM; estructurado en Alta Dirección, Gerencia y Operación; validado en la región CYTED.</a:t>
            </a:r>
          </a:p>
          <a:p>
            <a:pPr marL="228600" lvl="0" indent="-228600">
              <a:lnSpc>
                <a:spcPct val="107000"/>
              </a:lnSpc>
              <a:spcAft>
                <a:spcPts val="200"/>
              </a:spcAft>
              <a:buChar char="▪"/>
            </a:pPr>
            <a:r>
              <a:rPr lang="es-CO" sz="1600" dirty="0">
                <a:solidFill>
                  <a:srgbClr val="1A2F5A"/>
                </a:solidFill>
                <a:latin typeface="Calibri"/>
              </a:rPr>
              <a:t>ISO/IEC 29110: diseñado específicamente para entidades muy pequeñas (VSE, menos de 25 personas); estructura sus guías en perfiles de complejidad creciente.</a:t>
            </a:r>
          </a:p>
          <a:p>
            <a:pPr marL="228600" lvl="0" indent="-228600">
              <a:lnSpc>
                <a:spcPct val="107000"/>
              </a:lnSpc>
              <a:spcAft>
                <a:spcPts val="200"/>
              </a:spcAft>
              <a:buChar char="▪"/>
            </a:pPr>
            <a:r>
              <a:rPr lang="es-CO" sz="1600" dirty="0">
                <a:solidFill>
                  <a:srgbClr val="1A2F5A"/>
                </a:solidFill>
                <a:latin typeface="Calibri"/>
              </a:rPr>
              <a:t>MPS.BR (Brasil): 7 niveles de madurez; coordinado por SOFTEX; cumple ISO/IEC 12207 e ISO/IEC 15504; metas técnica y de mercado diferenciadas.</a:t>
            </a:r>
          </a:p>
          <a:p>
            <a:pPr marL="228600" lvl="0" indent="-228600">
              <a:lnSpc>
                <a:spcPct val="107000"/>
              </a:lnSpc>
              <a:spcAft>
                <a:spcPts val="200"/>
              </a:spcAft>
              <a:buChar char="▪"/>
            </a:pPr>
            <a:r>
              <a:rPr lang="es-CO" sz="1600" dirty="0">
                <a:solidFill>
                  <a:srgbClr val="1A2F5A"/>
                </a:solidFill>
                <a:latin typeface="Calibri"/>
              </a:rPr>
              <a:t>En Colombia, el 76,8% de las empresas de software son micro y pequeñas; solo el 14,46% han adoptado algún modelo de calidad (FITI, 2012).</a:t>
            </a:r>
          </a:p>
          <a:p>
            <a:pPr lvl="0">
              <a:lnSpc>
                <a:spcPct val="107000"/>
              </a:lnSpc>
              <a:spcAft>
                <a:spcPts val="200"/>
              </a:spcAft>
            </a:pPr>
            <a:endParaRPr lang="es-CO" sz="1600" dirty="0">
              <a:solidFill>
                <a:srgbClr val="1A2F5A"/>
              </a:solidFill>
              <a:latin typeface="Calibri"/>
            </a:endParaRPr>
          </a:p>
          <a:p>
            <a:pPr lvl="0">
              <a:lnSpc>
                <a:spcPct val="107000"/>
              </a:lnSpc>
              <a:spcAft>
                <a:spcPts val="200"/>
              </a:spcAft>
            </a:pPr>
            <a:r>
              <a:rPr lang="es-CO" sz="1600" dirty="0"/>
              <a:t>Este conjunto de modelos fue diseñado precisamente porque CMMI resultó ser percibido como demasiado rígido, costoso y orientado a grandes organizaciones para las pymes latinoamericanas. La elección del modelo correcto para una empresa pequeña puede ser la diferencia entre una mejora real y un proceso de certificación fallido que consuma recursos sin retorno. El contexto colombiano es especialmente relevante para nuestros estudiantes: el MinTIC ha impulsado la adopción de CMMI.</a:t>
            </a:r>
            <a:endParaRPr lang="es-CO" sz="1600" dirty="0">
              <a:solidFill>
                <a:srgbClr val="1A2F5A"/>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Guía para Seleccionar el Modelo Correcto: Variables Clave</a:t>
            </a:r>
          </a:p>
        </p:txBody>
      </p:sp>
      <p:sp>
        <p:nvSpPr>
          <p:cNvPr id="7" name="Content"/>
          <p:cNvSpPr/>
          <p:nvPr/>
        </p:nvSpPr>
        <p:spPr>
          <a:xfrm>
            <a:off x="421000" y="1620000"/>
            <a:ext cx="11350000" cy="4050000"/>
          </a:xfrm>
          <a:prstGeom prst="rect">
            <a:avLst/>
          </a:prstGeom>
        </p:spPr>
        <p:txBody>
          <a:bodyPr wrap="square" anchor="t"/>
          <a:lstStyle/>
          <a:p>
            <a:pPr marL="228600" lvl="0" indent="-228600" algn="just">
              <a:lnSpc>
                <a:spcPct val="107000"/>
              </a:lnSpc>
              <a:spcAft>
                <a:spcPts val="200"/>
              </a:spcAft>
              <a:buChar char="▪"/>
            </a:pPr>
            <a:r>
              <a:rPr lang="es-CO" sz="1600" dirty="0">
                <a:solidFill>
                  <a:srgbClr val="1A2F5A"/>
                </a:solidFill>
                <a:latin typeface="Calibri"/>
              </a:rPr>
              <a:t>La selección del modelo debe basarse en las condiciones propias de la empresa, no en el modelo más reconocido mundialmente.</a:t>
            </a:r>
          </a:p>
          <a:p>
            <a:pPr marL="228600" lvl="0" indent="-228600" algn="just">
              <a:lnSpc>
                <a:spcPct val="107000"/>
              </a:lnSpc>
              <a:spcAft>
                <a:spcPts val="200"/>
              </a:spcAft>
              <a:buChar char="▪"/>
            </a:pPr>
            <a:r>
              <a:rPr lang="es-CO" sz="1600" dirty="0">
                <a:solidFill>
                  <a:srgbClr val="1A2F5A"/>
                </a:solidFill>
                <a:latin typeface="Calibri"/>
              </a:rPr>
              <a:t>Variables críticas de decisión: tamaño de la empresa, disponibilidad de inversión (referencia: USD 50.000 para CMMI), experiencia previa en certificaciones y cultura de mejora.</a:t>
            </a:r>
          </a:p>
          <a:p>
            <a:pPr marL="228600" lvl="0" indent="-228600" algn="just">
              <a:lnSpc>
                <a:spcPct val="107000"/>
              </a:lnSpc>
              <a:spcAft>
                <a:spcPts val="200"/>
              </a:spcAft>
              <a:buChar char="▪"/>
            </a:pPr>
            <a:r>
              <a:rPr lang="es-CO" sz="1600" dirty="0">
                <a:solidFill>
                  <a:srgbClr val="1A2F5A"/>
                </a:solidFill>
                <a:latin typeface="Calibri"/>
              </a:rPr>
              <a:t>El método de Merchán et al. contempla 22 criterios ponderados: compromiso directivo, ROI esperado, metodologías usadas y escalabilidad.</a:t>
            </a:r>
          </a:p>
          <a:p>
            <a:pPr marL="228600" lvl="0" indent="-228600" algn="just">
              <a:lnSpc>
                <a:spcPct val="107000"/>
              </a:lnSpc>
              <a:spcAft>
                <a:spcPts val="200"/>
              </a:spcAft>
              <a:buChar char="▪"/>
            </a:pPr>
            <a:r>
              <a:rPr lang="es-CO" sz="1600" dirty="0">
                <a:solidFill>
                  <a:srgbClr val="1A2F5A"/>
                </a:solidFill>
                <a:latin typeface="Calibri"/>
              </a:rPr>
              <a:t>Rangos de recomendación: puntaje &gt; 2.000 = modelo candidato; puntaje &lt; 1.000 = descartar; entre 1.000 y 2.000 = análisis adicional requerido.</a:t>
            </a:r>
          </a:p>
          <a:p>
            <a:pPr marL="228600" lvl="0" indent="-228600" algn="just">
              <a:lnSpc>
                <a:spcPct val="107000"/>
              </a:lnSpc>
              <a:spcAft>
                <a:spcPts val="200"/>
              </a:spcAft>
              <a:buChar char="▪"/>
            </a:pPr>
            <a:r>
              <a:rPr lang="es-CO" sz="1600" dirty="0">
                <a:solidFill>
                  <a:srgbClr val="1A2F5A"/>
                </a:solidFill>
                <a:latin typeface="Calibri"/>
              </a:rPr>
              <a:t>Un modelo mal seleccionado puede convertirse en un obstáculo para la empresa en lugar de una palanca de mejora.</a:t>
            </a:r>
          </a:p>
          <a:p>
            <a:pPr lvl="0" algn="just">
              <a:lnSpc>
                <a:spcPct val="107000"/>
              </a:lnSpc>
              <a:spcAft>
                <a:spcPts val="200"/>
              </a:spcAft>
            </a:pPr>
            <a:endParaRPr lang="es-CO" sz="1600" dirty="0">
              <a:solidFill>
                <a:srgbClr val="1A2F5A"/>
              </a:solidFill>
              <a:latin typeface="Calibri"/>
            </a:endParaRPr>
          </a:p>
          <a:p>
            <a:pPr lvl="0" algn="just">
              <a:lnSpc>
                <a:spcPct val="107000"/>
              </a:lnSpc>
              <a:spcAft>
                <a:spcPts val="200"/>
              </a:spcAft>
            </a:pPr>
            <a:r>
              <a:rPr lang="es-CO" sz="1600" dirty="0"/>
              <a:t>La guía de recomendación desarrollada por Merchán, Villa y Sánchez (2017) es una herramienta práctica de toma de decisiones que los estudiantes podrán aplicar directamente en sus organizaciones. El proceso de ponderación debe ser realizado por un grupo multidisciplinario de </a:t>
            </a:r>
            <a:r>
              <a:rPr lang="es-CO" sz="1600" i="1" dirty="0" err="1"/>
              <a:t>stakeholders</a:t>
            </a:r>
            <a:r>
              <a:rPr lang="es-CO" sz="1600" dirty="0"/>
              <a:t> que incluya tanto liderazgo directivo como equipo técnico, ya que la importancia relativa de cada criterio varía significativamente según el contexto estratégico de la empresa. Esta guía reconoce explícitamente que no existe un modelo universalmente superior.</a:t>
            </a:r>
            <a:endParaRPr lang="es-CO" sz="1600" dirty="0">
              <a:solidFill>
                <a:srgbClr val="1A2F5A"/>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89700"/>
            <a:ext cx="11500000" cy="320601"/>
          </a:xfrm>
          <a:prstGeom prst="rect">
            <a:avLst/>
          </a:prstGeom>
        </p:spPr>
        <p:txBody>
          <a:bodyPr vert="horz" wrap="square" lIns="0" tIns="12700" rIns="0" bIns="0" rtlCol="0">
            <a:spAutoFit/>
          </a:bodyPr>
          <a:lstStyle/>
          <a:p>
            <a:pPr marL="12700">
              <a:lnSpc>
                <a:spcPct val="100000"/>
              </a:lnSpc>
            </a:pPr>
            <a:r>
              <a:rPr lang="es-CO" sz="2000" b="1" spc="-10" dirty="0">
                <a:solidFill>
                  <a:srgbClr val="003366"/>
                </a:solidFill>
                <a:latin typeface="Calibri"/>
              </a:rPr>
              <a:t>Modelo de Aseguramiento de Calidad Integrado: CMMI + TSP + PSP</a:t>
            </a:r>
            <a:endParaRPr lang="es-CO" sz="2000" b="1" spc="-10" noProof="0" dirty="0">
              <a:solidFill>
                <a:srgbClr val="003366"/>
              </a:solidFill>
              <a:latin typeface="Calibri"/>
            </a:endParaRPr>
          </a:p>
        </p:txBody>
      </p:sp>
      <p:sp>
        <p:nvSpPr>
          <p:cNvPr id="7" name="Content"/>
          <p:cNvSpPr/>
          <p:nvPr/>
        </p:nvSpPr>
        <p:spPr>
          <a:xfrm>
            <a:off x="421000" y="1620000"/>
            <a:ext cx="11350000" cy="4050000"/>
          </a:xfrm>
          <a:prstGeom prst="rect">
            <a:avLst/>
          </a:prstGeom>
        </p:spPr>
        <p:txBody>
          <a:bodyPr wrap="square" anchor="t"/>
          <a:lstStyle/>
          <a:p>
            <a:pPr marL="228600" lvl="0" indent="-228600">
              <a:lnSpc>
                <a:spcPct val="107000"/>
              </a:lnSpc>
              <a:spcAft>
                <a:spcPts val="200"/>
              </a:spcAft>
              <a:buChar char="▪"/>
            </a:pPr>
            <a:r>
              <a:rPr lang="es-CO" sz="1600" dirty="0">
                <a:solidFill>
                  <a:srgbClr val="1A2F5A"/>
                </a:solidFill>
                <a:latin typeface="Calibri"/>
              </a:rPr>
              <a:t>El modelo integrado opera en tres capas: Administración-CMMI (organizacional), Equipo de Ingenieros-TSP (equipo) e Ingeniero Individual-PSP (personal).</a:t>
            </a:r>
          </a:p>
          <a:p>
            <a:pPr marL="228600" lvl="0" indent="-228600">
              <a:lnSpc>
                <a:spcPct val="107000"/>
              </a:lnSpc>
              <a:spcAft>
                <a:spcPts val="200"/>
              </a:spcAft>
              <a:buChar char="▪"/>
            </a:pPr>
            <a:r>
              <a:rPr lang="es-CO" sz="1600" dirty="0">
                <a:solidFill>
                  <a:srgbClr val="1A2F5A"/>
                </a:solidFill>
                <a:latin typeface="Calibri"/>
              </a:rPr>
              <a:t>Reducción del costo de calidad: de un promedio de 12,47% (pre-test) a 5,25% (post-test). P-valor = 0,002 (estadísticamente significativo).</a:t>
            </a:r>
          </a:p>
          <a:p>
            <a:pPr marL="228600" lvl="0" indent="-228600">
              <a:lnSpc>
                <a:spcPct val="107000"/>
              </a:lnSpc>
              <a:spcAft>
                <a:spcPts val="200"/>
              </a:spcAft>
              <a:buChar char="▪"/>
            </a:pPr>
            <a:r>
              <a:rPr lang="es-CO" sz="1600" dirty="0">
                <a:solidFill>
                  <a:srgbClr val="1A2F5A"/>
                </a:solidFill>
                <a:latin typeface="Calibri"/>
              </a:rPr>
              <a:t>Reducción de defectos: de 118,27 a 49,82 por proyecto en promedio — una reducción de 68,45 defectos. P-valor = 0,01.</a:t>
            </a:r>
          </a:p>
          <a:p>
            <a:pPr marL="228600" lvl="0" indent="-228600">
              <a:lnSpc>
                <a:spcPct val="107000"/>
              </a:lnSpc>
              <a:spcAft>
                <a:spcPts val="200"/>
              </a:spcAft>
              <a:buChar char="▪"/>
            </a:pPr>
            <a:r>
              <a:rPr lang="es-CO" sz="1600" dirty="0">
                <a:solidFill>
                  <a:srgbClr val="1A2F5A"/>
                </a:solidFill>
                <a:latin typeface="Calibri"/>
              </a:rPr>
              <a:t>Reducción de desviación de costo: del 18,28% al 6,40% promedio. P-valor = 0,03. Confirmando la filosofía de Deming.</a:t>
            </a:r>
          </a:p>
          <a:p>
            <a:pPr marL="228600" lvl="0" indent="-228600">
              <a:lnSpc>
                <a:spcPct val="107000"/>
              </a:lnSpc>
              <a:spcAft>
                <a:spcPts val="200"/>
              </a:spcAft>
              <a:buChar char="▪"/>
            </a:pPr>
            <a:r>
              <a:rPr lang="es-CO" sz="1600" dirty="0">
                <a:solidFill>
                  <a:srgbClr val="1A2F5A"/>
                </a:solidFill>
                <a:latin typeface="Calibri"/>
              </a:rPr>
              <a:t>Incremento de satisfacción del cliente: de 51,3% a 73,7% — un aumento de 22,4 puntos porcentuales. P-valor = 0,00.</a:t>
            </a:r>
          </a:p>
          <a:p>
            <a:pPr lvl="0">
              <a:lnSpc>
                <a:spcPct val="107000"/>
              </a:lnSpc>
              <a:spcAft>
                <a:spcPts val="200"/>
              </a:spcAft>
            </a:pPr>
            <a:endParaRPr lang="es-CO" sz="1600" dirty="0">
              <a:solidFill>
                <a:srgbClr val="1A2F5A"/>
              </a:solidFill>
              <a:latin typeface="Calibri"/>
            </a:endParaRPr>
          </a:p>
          <a:p>
            <a:pPr lvl="0">
              <a:lnSpc>
                <a:spcPct val="107000"/>
              </a:lnSpc>
              <a:spcAft>
                <a:spcPts val="200"/>
              </a:spcAft>
            </a:pPr>
            <a:r>
              <a:rPr lang="es-CO" sz="1600" dirty="0"/>
              <a:t>Este modelo integrado fue validado en una consultora global, utilizando 22 proyectos de software en el sector de seguros.</a:t>
            </a:r>
            <a:endParaRPr lang="es-CO" sz="1600" dirty="0">
              <a:solidFill>
                <a:srgbClr val="1A2F5A"/>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E569-55B6-B3D8-EF07-5CC6CEAC6DE2}"/>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9E50E34A-8067-DE54-91FB-1A38F687022F}"/>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0689F675-FD30-758D-560F-42B98114D632}"/>
              </a:ext>
            </a:extLst>
          </p:cNvPr>
          <p:cNvSpPr txBox="1">
            <a:spLocks noGrp="1"/>
          </p:cNvSpPr>
          <p:nvPr>
            <p:ph type="title"/>
          </p:nvPr>
        </p:nvSpPr>
        <p:spPr>
          <a:xfrm>
            <a:off x="131869" y="1089700"/>
            <a:ext cx="11500000" cy="320601"/>
          </a:xfrm>
          <a:prstGeom prst="rect">
            <a:avLst/>
          </a:prstGeom>
        </p:spPr>
        <p:txBody>
          <a:bodyPr vert="horz" wrap="square" lIns="0" tIns="12700" rIns="0" bIns="0" rtlCol="0">
            <a:spAutoFit/>
          </a:bodyPr>
          <a:lstStyle/>
          <a:p>
            <a:pPr marL="12700">
              <a:lnSpc>
                <a:spcPct val="100000"/>
              </a:lnSpc>
            </a:pPr>
            <a:r>
              <a:rPr lang="es-CO" sz="2000" b="1" spc="-10" dirty="0">
                <a:solidFill>
                  <a:srgbClr val="003366"/>
                </a:solidFill>
                <a:latin typeface="Calibri"/>
              </a:rPr>
              <a:t>Especificación de Requisitos Funcionales: El Modelo Procedimental</a:t>
            </a:r>
            <a:endParaRPr lang="es-CO" sz="2000" b="1" spc="-10" noProof="0" dirty="0">
              <a:solidFill>
                <a:srgbClr val="003366"/>
              </a:solidFill>
              <a:latin typeface="Calibri"/>
            </a:endParaRPr>
          </a:p>
        </p:txBody>
      </p:sp>
      <p:sp>
        <p:nvSpPr>
          <p:cNvPr id="7" name="Content">
            <a:extLst>
              <a:ext uri="{FF2B5EF4-FFF2-40B4-BE49-F238E27FC236}">
                <a16:creationId xmlns:a16="http://schemas.microsoft.com/office/drawing/2014/main" id="{A1E8AD63-B592-85BC-D28A-1C86CAF71293}"/>
              </a:ext>
            </a:extLst>
          </p:cNvPr>
          <p:cNvSpPr/>
          <p:nvPr/>
        </p:nvSpPr>
        <p:spPr>
          <a:xfrm>
            <a:off x="421000" y="1620000"/>
            <a:ext cx="11350000" cy="4050000"/>
          </a:xfrm>
          <a:prstGeom prst="rect">
            <a:avLst/>
          </a:prstGeom>
        </p:spPr>
        <p:txBody>
          <a:bodyPr wrap="square" anchor="t"/>
          <a:lstStyle/>
          <a:p>
            <a:pPr marL="228600" indent="-228600" algn="just">
              <a:lnSpc>
                <a:spcPct val="107000"/>
              </a:lnSpc>
              <a:spcAft>
                <a:spcPts val="200"/>
              </a:spcAft>
              <a:buChar char="▪"/>
            </a:pPr>
            <a:r>
              <a:rPr lang="es-CO" dirty="0">
                <a:solidFill>
                  <a:srgbClr val="1A2F5A"/>
                </a:solidFill>
                <a:latin typeface="Calibri"/>
              </a:rPr>
              <a:t>La especificación de requisitos funcionales es la actividad que más impacta la calidad del producto final; los requisitos mal capturados son la segunda causa de fracaso en proyectos de software.</a:t>
            </a:r>
          </a:p>
          <a:p>
            <a:pPr marL="228600" indent="-228600" algn="just">
              <a:lnSpc>
                <a:spcPct val="107000"/>
              </a:lnSpc>
              <a:spcAft>
                <a:spcPts val="200"/>
              </a:spcAft>
              <a:buChar char="▪"/>
            </a:pPr>
            <a:r>
              <a:rPr lang="es-CO" dirty="0">
                <a:solidFill>
                  <a:srgbClr val="1A2F5A"/>
                </a:solidFill>
                <a:latin typeface="Calibri"/>
              </a:rPr>
              <a:t>El Modelo Procedimental (Cornejo-Aparicio et al., 2020) estructura el proceso en tres etapas secuenciales e iterativas: </a:t>
            </a:r>
          </a:p>
          <a:p>
            <a:pPr algn="just">
              <a:lnSpc>
                <a:spcPct val="107000"/>
              </a:lnSpc>
              <a:spcAft>
                <a:spcPts val="200"/>
              </a:spcAft>
            </a:pPr>
            <a:r>
              <a:rPr lang="es-CO" dirty="0">
                <a:solidFill>
                  <a:srgbClr val="1A2F5A"/>
                </a:solidFill>
                <a:latin typeface="Calibri"/>
              </a:rPr>
              <a:t>	</a:t>
            </a:r>
            <a:r>
              <a:rPr lang="es-CO" b="1" dirty="0">
                <a:solidFill>
                  <a:srgbClr val="1A2F5A"/>
                </a:solidFill>
                <a:latin typeface="Calibri"/>
              </a:rPr>
              <a:t>Educción → Elicitación → Especificación</a:t>
            </a:r>
          </a:p>
          <a:p>
            <a:pPr marL="285750" indent="-285750" algn="just">
              <a:lnSpc>
                <a:spcPct val="107000"/>
              </a:lnSpc>
              <a:spcAft>
                <a:spcPts val="200"/>
              </a:spcAft>
              <a:buFont typeface="Arial" panose="020B0604020202020204" pitchFamily="34" charset="0"/>
              <a:buChar char="•"/>
            </a:pPr>
            <a:r>
              <a:rPr lang="es-CO" dirty="0">
                <a:solidFill>
                  <a:srgbClr val="1A2F5A"/>
                </a:solidFill>
                <a:latin typeface="Calibri"/>
              </a:rPr>
              <a:t>Educción: entrevistas estructuradas con usuarios no especializados; requiere matrices de contraste usuario-escenario y actas formalizadas validadas por el entrevistado.</a:t>
            </a:r>
          </a:p>
          <a:p>
            <a:pPr marL="285750" indent="-285750" algn="just">
              <a:lnSpc>
                <a:spcPct val="107000"/>
              </a:lnSpc>
              <a:spcAft>
                <a:spcPts val="200"/>
              </a:spcAft>
              <a:buFont typeface="Arial" panose="020B0604020202020204" pitchFamily="34" charset="0"/>
              <a:buChar char="•"/>
            </a:pPr>
            <a:r>
              <a:rPr lang="es-CO" dirty="0">
                <a:solidFill>
                  <a:srgbClr val="1A2F5A"/>
                </a:solidFill>
                <a:latin typeface="Calibri"/>
              </a:rPr>
              <a:t>Elicitación: rastreo por escenario de características capturadas; agrupación por funcionalidad; producción de fichas de caracterización de escenarios.</a:t>
            </a:r>
          </a:p>
          <a:p>
            <a:pPr marL="285750" indent="-285750" algn="just">
              <a:lnSpc>
                <a:spcPct val="107000"/>
              </a:lnSpc>
              <a:spcAft>
                <a:spcPts val="200"/>
              </a:spcAft>
              <a:buFont typeface="Arial" panose="020B0604020202020204" pitchFamily="34" charset="0"/>
              <a:buChar char="•"/>
            </a:pPr>
            <a:r>
              <a:rPr lang="es-CO" dirty="0">
                <a:solidFill>
                  <a:srgbClr val="1A2F5A"/>
                </a:solidFill>
                <a:latin typeface="Calibri"/>
              </a:rPr>
              <a:t>Especificación: catálogo de requisitos numerado con nombre, descripción, </a:t>
            </a:r>
            <a:r>
              <a:rPr lang="es-CO" dirty="0" err="1">
                <a:solidFill>
                  <a:srgbClr val="1A2F5A"/>
                </a:solidFill>
                <a:latin typeface="Calibri"/>
              </a:rPr>
              <a:t>pre-condiciones</a:t>
            </a:r>
            <a:r>
              <a:rPr lang="es-CO" dirty="0">
                <a:solidFill>
                  <a:srgbClr val="1A2F5A"/>
                </a:solidFill>
                <a:latin typeface="Calibri"/>
              </a:rPr>
              <a:t>, acciones del sistema/usuario, postcondiciones y flujo alternativo.</a:t>
            </a:r>
          </a:p>
        </p:txBody>
      </p:sp>
    </p:spTree>
    <p:extLst>
      <p:ext uri="{BB962C8B-B14F-4D97-AF65-F5344CB8AC3E}">
        <p14:creationId xmlns:p14="http://schemas.microsoft.com/office/powerpoint/2010/main" val="3274800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Métricas de Calidad: Indicadores Clave para la Toma de Decisiones</a:t>
            </a:r>
          </a:p>
        </p:txBody>
      </p:sp>
      <p:sp>
        <p:nvSpPr>
          <p:cNvPr id="7" name="Content"/>
          <p:cNvSpPr/>
          <p:nvPr/>
        </p:nvSpPr>
        <p:spPr>
          <a:xfrm>
            <a:off x="421000" y="1620000"/>
            <a:ext cx="11350000" cy="4050000"/>
          </a:xfrm>
          <a:prstGeom prst="rect">
            <a:avLst/>
          </a:prstGeom>
        </p:spPr>
        <p:txBody>
          <a:bodyPr wrap="square" anchor="t"/>
          <a:lstStyle/>
          <a:p>
            <a:pPr marL="228600" lvl="0" indent="-228600" algn="just">
              <a:lnSpc>
                <a:spcPct val="107000"/>
              </a:lnSpc>
              <a:spcAft>
                <a:spcPts val="200"/>
              </a:spcAft>
              <a:buChar char="▪"/>
            </a:pPr>
            <a:r>
              <a:rPr lang="es-CO" sz="1600" dirty="0">
                <a:solidFill>
                  <a:srgbClr val="1A2F5A"/>
                </a:solidFill>
                <a:latin typeface="Calibri"/>
              </a:rPr>
              <a:t>PCC – Porcentaje de Costo de Calidad: PCC = (Costo de Calidad / Costo Real del Proyecto) × 100. Incluye costo de conformidad + costo de no conformidad.</a:t>
            </a:r>
          </a:p>
          <a:p>
            <a:pPr marL="228600" lvl="0" indent="-228600" algn="just">
              <a:lnSpc>
                <a:spcPct val="107000"/>
              </a:lnSpc>
              <a:spcAft>
                <a:spcPts val="200"/>
              </a:spcAft>
              <a:buChar char="▪"/>
            </a:pPr>
            <a:r>
              <a:rPr lang="es-CO" sz="1600" dirty="0">
                <a:solidFill>
                  <a:srgbClr val="1A2F5A"/>
                </a:solidFill>
                <a:latin typeface="Calibri"/>
              </a:rPr>
              <a:t>CDP – Cantidad de Defectos por Proyecto: CDP = Σ(DE). Sumatoria de defectos en todas las fases del ciclo de vida; detectar defectos temprano reduce exponencialmente el retrabajo.</a:t>
            </a:r>
          </a:p>
          <a:p>
            <a:pPr marL="228600" lvl="0" indent="-228600" algn="just">
              <a:lnSpc>
                <a:spcPct val="107000"/>
              </a:lnSpc>
              <a:spcAft>
                <a:spcPts val="200"/>
              </a:spcAft>
              <a:buChar char="▪"/>
            </a:pPr>
            <a:r>
              <a:rPr lang="es-CO" sz="1600" dirty="0">
                <a:solidFill>
                  <a:srgbClr val="1A2F5A"/>
                </a:solidFill>
                <a:latin typeface="Calibri"/>
              </a:rPr>
              <a:t>PVC – Porcentaje de Variación de Costo: PVC = (1 − CR/CP) × 100. Mide la eficiencia en el uso del presupuesto planificado.</a:t>
            </a:r>
          </a:p>
          <a:p>
            <a:pPr marL="228600" lvl="0" indent="-228600" algn="just">
              <a:lnSpc>
                <a:spcPct val="107000"/>
              </a:lnSpc>
              <a:spcAft>
                <a:spcPts val="200"/>
              </a:spcAft>
              <a:buChar char="▪"/>
            </a:pPr>
            <a:r>
              <a:rPr lang="es-CO" sz="1600" dirty="0">
                <a:solidFill>
                  <a:srgbClr val="1A2F5A"/>
                </a:solidFill>
                <a:latin typeface="Calibri"/>
              </a:rPr>
              <a:t>PCS – Porcentaje de Clientes Satisfechos: PCS = (Total Clientes − Clientes con Inconformidad) / Total Clientes × 100.</a:t>
            </a:r>
          </a:p>
          <a:p>
            <a:pPr marL="228600" lvl="0" indent="-228600" algn="just">
              <a:lnSpc>
                <a:spcPct val="107000"/>
              </a:lnSpc>
              <a:spcAft>
                <a:spcPts val="200"/>
              </a:spcAft>
              <a:buChar char="▪"/>
            </a:pPr>
            <a:r>
              <a:rPr lang="es-CO" sz="1600" dirty="0">
                <a:solidFill>
                  <a:srgbClr val="1A2F5A"/>
                </a:solidFill>
                <a:latin typeface="Calibri"/>
              </a:rPr>
              <a:t>La pirámide PSP → TSP → CMMI garantiza trazabilidad desde el trabajo individual del ingeniero hasta los indicadores de negocio de la dirección.</a:t>
            </a:r>
          </a:p>
          <a:p>
            <a:pPr lvl="0" algn="just">
              <a:lnSpc>
                <a:spcPct val="107000"/>
              </a:lnSpc>
              <a:spcAft>
                <a:spcPts val="200"/>
              </a:spcAft>
            </a:pPr>
            <a:endParaRPr lang="es-CO" sz="1600" dirty="0">
              <a:solidFill>
                <a:srgbClr val="1A2F5A"/>
              </a:solidFill>
              <a:latin typeface="Calibri"/>
            </a:endParaRPr>
          </a:p>
          <a:p>
            <a:pPr lvl="0" algn="just">
              <a:lnSpc>
                <a:spcPct val="107000"/>
              </a:lnSpc>
              <a:spcAft>
                <a:spcPts val="200"/>
              </a:spcAft>
            </a:pPr>
            <a:r>
              <a:rPr lang="es-CO" sz="1600" dirty="0"/>
              <a:t>Fenton y Bieman (2014) establecen que la calidad del software se puede medir en términos de densidad de defectos, pero este enfoque es insuficiente si no se complementa con métricas económicas como el costo de calidad y la variación presupuestal. La pirámide de métricas PSP → TSP → CMMI garantiza la trazabilidad desde el trabajo individual del ingeniero hasta los indicadores de negocio que interesan a la dirección. El uso de instrumentos de recolección estandarizados (fichas de registro de datos y cuestionarios de satisfacción) es indispensable para que estas métricas sean comparables entre proyectos y entre periodos de tiempo.</a:t>
            </a:r>
            <a:endParaRPr lang="es-CO" sz="1600" dirty="0">
              <a:solidFill>
                <a:srgbClr val="1A2F5A"/>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69" y="1000000"/>
            <a:ext cx="11500000" cy="500000"/>
          </a:xfrm>
          <a:prstGeom prst="rect">
            <a:avLst/>
          </a:prstGeom>
        </p:spPr>
        <p:txBody>
          <a:bodyPr vert="horz" wrap="square" lIns="0" tIns="12700" rIns="0" bIns="0" rtlCol="0">
            <a:spAutoFit/>
          </a:bodyPr>
          <a:lstStyle/>
          <a:p>
            <a:pPr marL="12700">
              <a:lnSpc>
                <a:spcPct val="100000"/>
              </a:lnSpc>
            </a:pPr>
            <a:r>
              <a:rPr lang="es-CO" sz="2000" b="1" spc="-10" noProof="0" dirty="0">
                <a:solidFill>
                  <a:srgbClr val="003366"/>
                </a:solidFill>
                <a:latin typeface="Calibri"/>
              </a:rPr>
              <a:t>Síntesis y Hoja de Ruta para la Implementación</a:t>
            </a:r>
          </a:p>
        </p:txBody>
      </p:sp>
      <p:sp>
        <p:nvSpPr>
          <p:cNvPr id="7" name="Content"/>
          <p:cNvSpPr/>
          <p:nvPr/>
        </p:nvSpPr>
        <p:spPr>
          <a:xfrm>
            <a:off x="421000" y="1620000"/>
            <a:ext cx="11350000" cy="4050000"/>
          </a:xfrm>
          <a:prstGeom prst="rect">
            <a:avLst/>
          </a:prstGeom>
        </p:spPr>
        <p:txBody>
          <a:bodyPr wrap="square" anchor="t"/>
          <a:lstStyle/>
          <a:p>
            <a:pPr marL="228600" lvl="0" indent="-228600" algn="just">
              <a:lnSpc>
                <a:spcPct val="107000"/>
              </a:lnSpc>
              <a:spcAft>
                <a:spcPts val="200"/>
              </a:spcAft>
              <a:buChar char="▪"/>
            </a:pPr>
            <a:r>
              <a:rPr lang="es-CO" sz="1600" dirty="0">
                <a:solidFill>
                  <a:srgbClr val="1A2F5A"/>
                </a:solidFill>
                <a:latin typeface="Calibri"/>
              </a:rPr>
              <a:t>No existe un modelo de calidad universalmente superior: la selección adecuada depende del tamaño, recursos, objetivos estratégicos y cultura de la organización.</a:t>
            </a:r>
          </a:p>
          <a:p>
            <a:pPr marL="228600" lvl="0" indent="-228600" algn="just">
              <a:lnSpc>
                <a:spcPct val="107000"/>
              </a:lnSpc>
              <a:spcAft>
                <a:spcPts val="200"/>
              </a:spcAft>
              <a:buChar char="▪"/>
            </a:pPr>
            <a:r>
              <a:rPr lang="es-CO" sz="1600" dirty="0">
                <a:solidFill>
                  <a:srgbClr val="1A2F5A"/>
                </a:solidFill>
                <a:latin typeface="Calibri"/>
              </a:rPr>
              <a:t>La implementación exitosa requiere tres condiciones: compromiso de la alta dirección, formación del equipo técnico y medición continua de indicadores.</a:t>
            </a:r>
          </a:p>
          <a:p>
            <a:pPr marL="228600" lvl="0" indent="-228600" algn="just">
              <a:lnSpc>
                <a:spcPct val="107000"/>
              </a:lnSpc>
              <a:spcAft>
                <a:spcPts val="200"/>
              </a:spcAft>
              <a:buChar char="▪"/>
            </a:pPr>
            <a:r>
              <a:rPr lang="es-CO" sz="1600" dirty="0">
                <a:solidFill>
                  <a:srgbClr val="1A2F5A"/>
                </a:solidFill>
                <a:latin typeface="Calibri"/>
              </a:rPr>
              <a:t>Hoja de ruta sugerida para pymes latinoamericanas: comenzar con MoProSoft o ISO/IEC 29110 → escalar hacia Competisoft o IT Mark → proyectarse hacia CMMI nivel 2-3.</a:t>
            </a:r>
          </a:p>
          <a:p>
            <a:pPr marL="228600" lvl="0" indent="-228600" algn="just">
              <a:lnSpc>
                <a:spcPct val="107000"/>
              </a:lnSpc>
              <a:spcAft>
                <a:spcPts val="200"/>
              </a:spcAft>
              <a:buChar char="▪"/>
            </a:pPr>
            <a:r>
              <a:rPr lang="es-CO" sz="1600" dirty="0">
                <a:solidFill>
                  <a:srgbClr val="1A2F5A"/>
                </a:solidFill>
                <a:latin typeface="Calibri"/>
              </a:rPr>
              <a:t>La especificación rigurosa de requisitos funcionales es la inversión de calidad con mayor retorno: reduce defectos desde las etapas tempranas.</a:t>
            </a:r>
          </a:p>
          <a:p>
            <a:pPr marL="228600" lvl="0" indent="-228600" algn="just">
              <a:lnSpc>
                <a:spcPct val="107000"/>
              </a:lnSpc>
              <a:spcAft>
                <a:spcPts val="200"/>
              </a:spcAft>
              <a:buChar char="▪"/>
            </a:pPr>
            <a:r>
              <a:rPr lang="es-CO" sz="1600" dirty="0">
                <a:solidFill>
                  <a:srgbClr val="1A2F5A"/>
                </a:solidFill>
                <a:latin typeface="Calibri"/>
              </a:rPr>
              <a:t>La calidad no es un destino sino un proceso de mejora continua; las métricas son la brújula que orienta ese proceso.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2194560"/>
            <a:ext cx="12192000" cy="2560320"/>
          </a:xfrm>
          <a:prstGeom prst="rect">
            <a:avLst/>
          </a:prstGeom>
          <a:solidFill>
            <a:srgbClr val="0D1B3E">
              <a:alpha val="90000"/>
            </a:srgbClr>
          </a:solidFill>
          <a:ln w="12700">
            <a:solidFill>
              <a:srgbClr val="0D1B3E"/>
            </a:solidFill>
            <a:prstDash val="solid"/>
          </a:ln>
        </p:spPr>
        <p:txBody>
          <a:bodyPr/>
          <a:lstStyle/>
          <a:p>
            <a:endParaRPr lang="es-CO" sz="2400" noProof="0" dirty="0"/>
          </a:p>
        </p:txBody>
      </p:sp>
      <p:sp>
        <p:nvSpPr>
          <p:cNvPr id="4" name="Shape 1"/>
          <p:cNvSpPr/>
          <p:nvPr/>
        </p:nvSpPr>
        <p:spPr>
          <a:xfrm>
            <a:off x="0" y="2170176"/>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Shape 2"/>
          <p:cNvSpPr/>
          <p:nvPr/>
        </p:nvSpPr>
        <p:spPr>
          <a:xfrm>
            <a:off x="0" y="4681728"/>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6" name="Text 3"/>
          <p:cNvSpPr/>
          <p:nvPr/>
        </p:nvSpPr>
        <p:spPr>
          <a:xfrm>
            <a:off x="609600" y="2316480"/>
            <a:ext cx="10972800" cy="670560"/>
          </a:xfrm>
          <a:prstGeom prst="rect">
            <a:avLst/>
          </a:prstGeom>
          <a:noFill/>
          <a:ln/>
        </p:spPr>
        <p:txBody>
          <a:bodyPr wrap="square" rtlCol="0" anchor="ctr"/>
          <a:lstStyle/>
          <a:p>
            <a:pPr algn="ctr"/>
            <a:r>
              <a:rPr lang="es-CO" sz="4267" b="1" kern="0" spc="400" noProof="0" dirty="0">
                <a:solidFill>
                  <a:srgbClr val="C9A84C"/>
                </a:solidFill>
                <a:latin typeface="Calibri" pitchFamily="34" charset="0"/>
              </a:rPr>
              <a:t>EJERCICIOS PRÁCTICOS</a:t>
            </a:r>
          </a:p>
        </p:txBody>
      </p:sp>
      <p:sp>
        <p:nvSpPr>
          <p:cNvPr id="7" name="Text 4"/>
          <p:cNvSpPr/>
          <p:nvPr/>
        </p:nvSpPr>
        <p:spPr>
          <a:xfrm>
            <a:off x="609600" y="3023616"/>
            <a:ext cx="10972800" cy="548640"/>
          </a:xfrm>
          <a:prstGeom prst="rect">
            <a:avLst/>
          </a:prstGeom>
          <a:noFill/>
          <a:ln/>
        </p:spPr>
        <p:txBody>
          <a:bodyPr wrap="square" rtlCol="0" anchor="ctr"/>
          <a:lstStyle/>
          <a:p>
            <a:pPr algn="ctr"/>
            <a:r>
              <a:rPr lang="es-CO" sz="2400" dirty="0">
                <a:solidFill>
                  <a:srgbClr val="FFFFFF"/>
                </a:solidFill>
                <a:latin typeface="Calibri" pitchFamily="34" charset="0"/>
              </a:rPr>
              <a:t>Modelos y Estándares de Calidad para la Mejora de Procesos de Software (SPI)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3" name="Badge"/>
          <p:cNvSpPr/>
          <p:nvPr/>
        </p:nvSpPr>
        <p:spPr>
          <a:xfrm>
            <a:off x="131868" y="980000"/>
            <a:ext cx="941151" cy="340000"/>
          </a:xfrm>
          <a:prstGeom prst="rect">
            <a:avLst/>
          </a:prstGeom>
          <a:solidFill>
            <a:srgbClr val="003366"/>
          </a:solidFill>
        </p:spPr>
        <p:txBody>
          <a:bodyPr wrap="square" anchor="ctr"/>
          <a:lstStyle/>
          <a:p>
            <a:pPr algn="ctr"/>
            <a:r>
              <a:rPr lang="es-CO" sz="1600" b="1" dirty="0">
                <a:solidFill>
                  <a:srgbClr val="FFFFFF"/>
                </a:solidFill>
                <a:latin typeface="Calibri"/>
              </a:rPr>
              <a:t>EJ. 1</a:t>
            </a:r>
          </a:p>
        </p:txBody>
      </p:sp>
      <p:sp>
        <p:nvSpPr>
          <p:cNvPr id="5" name="Title"/>
          <p:cNvSpPr txBox="1">
            <a:spLocks noGrp="1"/>
          </p:cNvSpPr>
          <p:nvPr>
            <p:ph type="title"/>
          </p:nvPr>
        </p:nvSpPr>
        <p:spPr>
          <a:xfrm>
            <a:off x="1364438" y="1040088"/>
            <a:ext cx="6146702" cy="289823"/>
          </a:xfrm>
          <a:prstGeom prst="rect">
            <a:avLst/>
          </a:prstGeom>
        </p:spPr>
        <p:txBody>
          <a:bodyPr vert="horz" wrap="square" lIns="0" tIns="12700" rIns="0" bIns="0" rtlCol="0">
            <a:spAutoFit/>
          </a:bodyPr>
          <a:lstStyle/>
          <a:p>
            <a:pPr marL="12700">
              <a:lnSpc>
                <a:spcPct val="100000"/>
              </a:lnSpc>
            </a:pPr>
            <a:r>
              <a:rPr lang="es-CO" sz="1800" b="1" spc="-10" noProof="0" dirty="0">
                <a:solidFill>
                  <a:srgbClr val="003366"/>
                </a:solidFill>
                <a:latin typeface="Calibri"/>
              </a:rPr>
              <a:t>Selección razonada de un modelo SPI para empresa colombiana</a:t>
            </a:r>
          </a:p>
        </p:txBody>
      </p:sp>
      <p:sp>
        <p:nvSpPr>
          <p:cNvPr id="6" name="Divider"/>
          <p:cNvSpPr/>
          <p:nvPr/>
        </p:nvSpPr>
        <p:spPr>
          <a:xfrm>
            <a:off x="131869" y="1450000"/>
            <a:ext cx="11550000" cy="40000"/>
          </a:xfrm>
          <a:prstGeom prst="rect">
            <a:avLst/>
          </a:prstGeom>
          <a:solidFill>
            <a:srgbClr val="C9A84C"/>
          </a:solidFill>
        </p:spPr>
        <p:txBody>
          <a:bodyPr/>
          <a:lstStyle/>
          <a:p>
            <a:endParaRPr lang="es-CO"/>
          </a:p>
        </p:txBody>
      </p:sp>
      <p:sp>
        <p:nvSpPr>
          <p:cNvPr id="7" name="Content"/>
          <p:cNvSpPr/>
          <p:nvPr/>
        </p:nvSpPr>
        <p:spPr>
          <a:xfrm>
            <a:off x="421000" y="1530000"/>
            <a:ext cx="11350000" cy="4140000"/>
          </a:xfrm>
          <a:prstGeom prst="rect">
            <a:avLst/>
          </a:prstGeom>
        </p:spPr>
        <p:txBody>
          <a:bodyPr wrap="square" anchor="t"/>
          <a:lstStyle/>
          <a:p>
            <a:pPr marL="228600" lvl="0" indent="-228600" algn="just">
              <a:lnSpc>
                <a:spcPct val="107000"/>
              </a:lnSpc>
              <a:spcAft>
                <a:spcPts val="150"/>
              </a:spcAft>
              <a:buChar char="●"/>
            </a:pPr>
            <a:r>
              <a:rPr lang="es-CO" sz="1600" b="1" dirty="0">
                <a:solidFill>
                  <a:srgbClr val="003366"/>
                </a:solidFill>
                <a:latin typeface="Calibri"/>
              </a:rPr>
              <a:t>Objetivo de aprendizaje</a:t>
            </a:r>
            <a:r>
              <a:rPr lang="es-CO" sz="1600" b="1" dirty="0"/>
              <a:t>:</a:t>
            </a:r>
            <a:r>
              <a:rPr lang="es-CO" sz="1600" dirty="0"/>
              <a:t> </a:t>
            </a:r>
            <a:r>
              <a:rPr lang="es-CO" sz="1600" dirty="0">
                <a:solidFill>
                  <a:srgbClr val="1A2F5A"/>
                </a:solidFill>
                <a:latin typeface="Calibri"/>
              </a:rPr>
              <a:t>Aplicar la guía de recomendación para la selección de modelos de mejora de procesos de software (SPI), evaluando las condiciones organizacionales de una empresa real o simulada y justificando técnicamente la elección del modelo más adecuado.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3" name="Badge"/>
          <p:cNvSpPr/>
          <p:nvPr/>
        </p:nvSpPr>
        <p:spPr>
          <a:xfrm>
            <a:off x="131869" y="980000"/>
            <a:ext cx="440000" cy="340000"/>
          </a:xfrm>
          <a:prstGeom prst="rect">
            <a:avLst/>
          </a:prstGeom>
          <a:solidFill>
            <a:srgbClr val="003366"/>
          </a:solidFill>
        </p:spPr>
        <p:txBody>
          <a:bodyPr wrap="square" anchor="ctr"/>
          <a:lstStyle/>
          <a:p>
            <a:pPr algn="ctr"/>
            <a:r>
              <a:rPr lang="es-CO" sz="1600" b="1" dirty="0">
                <a:solidFill>
                  <a:srgbClr val="FFFFFF"/>
                </a:solidFill>
                <a:latin typeface="Calibri"/>
              </a:rPr>
              <a:t>EJ. 2</a:t>
            </a:r>
          </a:p>
        </p:txBody>
      </p:sp>
      <p:sp>
        <p:nvSpPr>
          <p:cNvPr id="5" name="Title"/>
          <p:cNvSpPr txBox="1">
            <a:spLocks noGrp="1"/>
          </p:cNvSpPr>
          <p:nvPr>
            <p:ph type="title"/>
          </p:nvPr>
        </p:nvSpPr>
        <p:spPr>
          <a:xfrm>
            <a:off x="590000" y="985000"/>
            <a:ext cx="11100000" cy="400000"/>
          </a:xfrm>
          <a:prstGeom prst="rect">
            <a:avLst/>
          </a:prstGeom>
        </p:spPr>
        <p:txBody>
          <a:bodyPr vert="horz" wrap="square" lIns="0" tIns="12700" rIns="0" bIns="0" rtlCol="0">
            <a:spAutoFit/>
          </a:bodyPr>
          <a:lstStyle/>
          <a:p>
            <a:pPr marL="12700">
              <a:lnSpc>
                <a:spcPct val="100000"/>
              </a:lnSpc>
            </a:pPr>
            <a:r>
              <a:rPr lang="es-CO" sz="1800" b="1" spc="-10" noProof="0" dirty="0">
                <a:solidFill>
                  <a:srgbClr val="003366"/>
                </a:solidFill>
                <a:latin typeface="Calibri"/>
              </a:rPr>
              <a:t>Diseño de plan de métricas de calidad con indicadores PSP/TSP/CMMI</a:t>
            </a:r>
          </a:p>
        </p:txBody>
      </p:sp>
      <p:sp>
        <p:nvSpPr>
          <p:cNvPr id="6" name="Divider"/>
          <p:cNvSpPr/>
          <p:nvPr/>
        </p:nvSpPr>
        <p:spPr>
          <a:xfrm>
            <a:off x="131869" y="1450000"/>
            <a:ext cx="11550000" cy="40000"/>
          </a:xfrm>
          <a:prstGeom prst="rect">
            <a:avLst/>
          </a:prstGeom>
          <a:solidFill>
            <a:srgbClr val="C9A84C"/>
          </a:solidFill>
        </p:spPr>
        <p:txBody>
          <a:bodyPr/>
          <a:lstStyle/>
          <a:p>
            <a:endParaRPr lang="es-CO"/>
          </a:p>
        </p:txBody>
      </p:sp>
      <p:sp>
        <p:nvSpPr>
          <p:cNvPr id="7" name="Content"/>
          <p:cNvSpPr/>
          <p:nvPr/>
        </p:nvSpPr>
        <p:spPr>
          <a:xfrm>
            <a:off x="421000" y="1530000"/>
            <a:ext cx="11350000" cy="4140000"/>
          </a:xfrm>
          <a:prstGeom prst="rect">
            <a:avLst/>
          </a:prstGeom>
        </p:spPr>
        <p:txBody>
          <a:bodyPr wrap="square" anchor="t"/>
          <a:lstStyle/>
          <a:p>
            <a:pPr marL="228600" lvl="0" indent="-228600">
              <a:lnSpc>
                <a:spcPct val="107000"/>
              </a:lnSpc>
              <a:spcAft>
                <a:spcPts val="150"/>
              </a:spcAft>
              <a:buChar char="●"/>
            </a:pPr>
            <a:r>
              <a:rPr lang="es-CO" sz="1600" b="1" dirty="0">
                <a:solidFill>
                  <a:srgbClr val="003366"/>
                </a:solidFill>
                <a:latin typeface="Calibri"/>
              </a:rPr>
              <a:t>Objetivo: </a:t>
            </a:r>
            <a:r>
              <a:rPr lang="es-CO" sz="1600" dirty="0">
                <a:solidFill>
                  <a:srgbClr val="1A2F5A"/>
                </a:solidFill>
                <a:latin typeface="Calibri"/>
              </a:rPr>
              <a:t>Diseñar un plan de métricas de calidad operacional aplicando los indicadores del modelo integrado CMMI+TSP+PSP con baseline y metas de mejora.</a:t>
            </a:r>
          </a:p>
          <a:p>
            <a:pPr marL="228600" lvl="0" indent="-228600">
              <a:lnSpc>
                <a:spcPct val="107000"/>
              </a:lnSpc>
              <a:spcAft>
                <a:spcPts val="150"/>
              </a:spcAft>
              <a:buChar char="●"/>
            </a:pPr>
            <a:r>
              <a:rPr lang="es-CO" sz="1600" b="1" dirty="0">
                <a:solidFill>
                  <a:srgbClr val="003366"/>
                </a:solidFill>
                <a:latin typeface="Calibri"/>
              </a:rPr>
              <a:t>Proyecto base: </a:t>
            </a:r>
            <a:r>
              <a:rPr lang="es-CO" sz="1600" dirty="0">
                <a:solidFill>
                  <a:srgbClr val="1A2F5A"/>
                </a:solidFill>
                <a:latin typeface="Calibri"/>
              </a:rPr>
              <a:t>Proyecto de referencia: Sistema de Gestión de Pólizas — plataforma .NET, 3 meses, equipo de 6 personas, ciclo de vida de 5 fases (Esp. Funcional → Implantación).</a:t>
            </a:r>
          </a:p>
          <a:p>
            <a:pPr marL="228600" lvl="0" indent="-228600">
              <a:lnSpc>
                <a:spcPct val="107000"/>
              </a:lnSpc>
              <a:spcAft>
                <a:spcPts val="150"/>
              </a:spcAft>
              <a:buChar char="●"/>
            </a:pPr>
            <a:r>
              <a:rPr lang="es-CO" sz="1600" b="1" dirty="0">
                <a:solidFill>
                  <a:srgbClr val="003366"/>
                </a:solidFill>
                <a:latin typeface="Calibri"/>
              </a:rPr>
              <a:t>Pasos 1-2: </a:t>
            </a:r>
            <a:r>
              <a:rPr lang="es-CO" sz="1600" dirty="0">
                <a:solidFill>
                  <a:srgbClr val="1A2F5A"/>
                </a:solidFill>
                <a:latin typeface="Calibri"/>
              </a:rPr>
              <a:t>Seleccionar un proyecto real o usar el caso de estudio. Para cada uno de los 4 indicadores (PCC, CDP, PVC, PCS) definir: fórmula, instrumento, responsable y frecuencia.</a:t>
            </a:r>
          </a:p>
          <a:p>
            <a:pPr marL="228600" lvl="0" indent="-228600">
              <a:lnSpc>
                <a:spcPct val="107000"/>
              </a:lnSpc>
              <a:spcAft>
                <a:spcPts val="150"/>
              </a:spcAft>
              <a:buChar char="●"/>
            </a:pPr>
            <a:r>
              <a:rPr lang="es-CO" sz="1600" b="1" dirty="0">
                <a:solidFill>
                  <a:srgbClr val="003366"/>
                </a:solidFill>
                <a:latin typeface="Calibri"/>
              </a:rPr>
              <a:t>Pasos 3-4: </a:t>
            </a:r>
            <a:r>
              <a:rPr lang="es-CO" sz="1600" dirty="0">
                <a:solidFill>
                  <a:srgbClr val="1A2F5A"/>
                </a:solidFill>
                <a:latin typeface="Calibri"/>
              </a:rPr>
              <a:t>Establecer baseline (usar valores pre-test: PCC=12,47%; CDP=118,27; PVC=18,28%; PCS=51,3%) y definir metas de mejora justificadas con los datos post-test del caso.</a:t>
            </a:r>
          </a:p>
          <a:p>
            <a:pPr marL="228600" lvl="0" indent="-228600">
              <a:lnSpc>
                <a:spcPct val="107000"/>
              </a:lnSpc>
              <a:spcAft>
                <a:spcPts val="150"/>
              </a:spcAft>
              <a:buChar char="●"/>
            </a:pPr>
            <a:r>
              <a:rPr lang="es-CO" sz="1600" b="1" dirty="0">
                <a:solidFill>
                  <a:srgbClr val="003366"/>
                </a:solidFill>
                <a:latin typeface="Calibri"/>
              </a:rPr>
              <a:t>Pasos 5-6: </a:t>
            </a:r>
            <a:r>
              <a:rPr lang="es-CO" sz="1600" dirty="0">
                <a:solidFill>
                  <a:srgbClr val="1A2F5A"/>
                </a:solidFill>
                <a:latin typeface="Calibri"/>
              </a:rPr>
              <a:t>Diseñar tablero de control (semáforo verde/amarillo/rojo). Redactar sección de interpretación: qué hacer si al final de la fase 2 el PCC=15% y CDP acumulado=95.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218734" y="3166762"/>
            <a:ext cx="10967131" cy="1508105"/>
          </a:xfrm>
          <a:prstGeom prst="rect">
            <a:avLst/>
          </a:prstGeom>
          <a:noFill/>
        </p:spPr>
        <p:txBody>
          <a:bodyPr wrap="square">
            <a:spAutoFit/>
          </a:bodyPr>
          <a:lstStyle/>
          <a:p>
            <a:r>
              <a:rPr lang="es-CO" sz="2800" dirty="0">
                <a:solidFill>
                  <a:schemeClr val="bg1"/>
                </a:solidFill>
                <a:latin typeface="Century Gothic" panose="020B0502020202020204" pitchFamily="34" charset="0"/>
              </a:rPr>
              <a:t>Modelos y Estándares de Calidad en el Desarrollo de Software</a:t>
            </a:r>
          </a:p>
          <a:p>
            <a:r>
              <a:rPr lang="es-CO" sz="2000" b="1" noProof="0" dirty="0">
                <a:solidFill>
                  <a:srgbClr val="7BEEFD"/>
                </a:solidFill>
                <a:latin typeface="Century Gothic" panose="020B0502020202020204" pitchFamily="34" charset="0"/>
              </a:rPr>
              <a:t>Muchas gracias</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730</TotalTime>
  <Words>2502</Words>
  <Application>Microsoft Office PowerPoint</Application>
  <PresentationFormat>Panorámica</PresentationFormat>
  <Paragraphs>101</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Aptos</vt:lpstr>
      <vt:lpstr>Arial</vt:lpstr>
      <vt:lpstr>Calibri</vt:lpstr>
      <vt:lpstr>Calibri Light</vt:lpstr>
      <vt:lpstr>Century Gothic</vt:lpstr>
      <vt:lpstr>Tema de Office</vt:lpstr>
      <vt:lpstr>Presentación de PowerPoint</vt:lpstr>
      <vt:lpstr>Calidad en el Desarrollo de Software: El Imperativo Estratégico</vt:lpstr>
      <vt:lpstr>Marco Conceptual: Los Tres Pilares del Proceso de Desarrollo</vt:lpstr>
      <vt:lpstr>CMMI: El Modelo de Referencia de la Industria</vt:lpstr>
      <vt:lpstr>PSP y TSP: La Dimensión Humana de la Calidad</vt:lpstr>
      <vt:lpstr>ISO 9001 y la Gestión del Sistema de Calidad</vt:lpstr>
      <vt:lpstr>Modelos para Pymes: MoProSoft, Competisoft, ISO/IEC 29110 y MPS.BR</vt:lpstr>
      <vt:lpstr>Guía para Seleccionar el Modelo Correcto: Variables Clave</vt:lpstr>
      <vt:lpstr>Modelo de Aseguramiento de Calidad Integrado: CMMI + TSP + PSP</vt:lpstr>
      <vt:lpstr>Especificación de Requisitos Funcionales: El Modelo Procedimental</vt:lpstr>
      <vt:lpstr>Métricas de Calidad: Indicadores Clave para la Toma de Decisiones</vt:lpstr>
      <vt:lpstr>Síntesis y Hoja de Ruta para la Implementación</vt:lpstr>
      <vt:lpstr>Presentación de PowerPoint</vt:lpstr>
      <vt:lpstr>Selección razonada de un modelo SPI para empresa colombiana</vt:lpstr>
      <vt:lpstr>Diseño de plan de métricas de calidad con indicadores PSP/TSP/CMMI</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LINA MARCELA NIETO ALBA</dc:creator>
  <cp:lastModifiedBy>Cesar Alfonso</cp:lastModifiedBy>
  <cp:revision>110</cp:revision>
  <dcterms:created xsi:type="dcterms:W3CDTF">2024-01-22T15:06:30Z</dcterms:created>
  <dcterms:modified xsi:type="dcterms:W3CDTF">2026-05-30T22:14:37Z</dcterms:modified>
</cp:coreProperties>
</file>