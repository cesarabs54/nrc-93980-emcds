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0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8892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de la Calidad del Software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11480" y="329184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 Defectos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691640"/>
            <a:ext cx="9144000" cy="1828800"/>
          </a:xfrm>
          <a:prstGeom prst="rect">
            <a:avLst/>
          </a:prstGeom>
          <a:solidFill>
            <a:srgbClr val="0D1B3E">
              <a:alpha val="90000"/>
            </a:srgbClr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0" y="1673352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2"/>
          <p:cNvSpPr/>
          <p:nvPr/>
        </p:nvSpPr>
        <p:spPr>
          <a:xfrm>
            <a:off x="0" y="3502152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29110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para Entidades Muy Pequeñas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Muñoz, Peralta &amp; Laporte (2019)  ·  Serie ISO/IEC 29110 (2011)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29110: contexto y propósito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457200" y="1600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</a:t>
            </a: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de estándares internacionales diseñada específicamente para Entidades Muy Pequeñas (EMPs) de hasta 25 personas.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57200" y="2148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procesos principales: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77240" y="2532888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Proyecto: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Planificación, seguimiento, control y cierre del proyecto dentro de calidad, tiempo y costo.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77240" y="283464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Software: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Análisis, diseño, construcción, integración y pruebas del producto.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3154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clave: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3538728"/>
            <a:ext cx="8229600" cy="8275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abierta, adaptable a cualquier ciclo de vida o metodología (Scrum, Cascada, TSP…)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hacer, no CÓMO — las EMPs definen sus propios procedimientos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certificación incremental desde perfil básico hasta avanzado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ISO/IEC 29110 — Panorama general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320040" y="1389888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2"/>
          <p:cNvSpPr/>
          <p:nvPr/>
        </p:nvSpPr>
        <p:spPr>
          <a:xfrm>
            <a:off x="320040" y="1389888"/>
            <a:ext cx="502920" cy="1275940"/>
          </a:xfrm>
          <a:prstGeom prst="rect">
            <a:avLst/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3"/>
          <p:cNvSpPr/>
          <p:nvPr/>
        </p:nvSpPr>
        <p:spPr>
          <a:xfrm>
            <a:off x="320040" y="1389888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86968" y="14630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86968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el software cumple requisitos y expectativas del cliente en cada entrega.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172968" y="1389888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3172968" y="1389888"/>
            <a:ext cx="502920" cy="1275940"/>
          </a:xfrm>
          <a:prstGeom prst="rect">
            <a:avLst/>
          </a:prstGeom>
          <a:solidFill>
            <a:srgbClr val="0055B3"/>
          </a:solidFill>
          <a:ln w="12700">
            <a:solidFill>
              <a:srgbClr val="0055B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3172968" y="1389888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39896" y="14630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y proc.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prueba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39896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documentar y ejecutar pruebas sistemáticas antes de cada entrega.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25896" y="1389888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6025896" y="1389888"/>
            <a:ext cx="502920" cy="12759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6025896" y="1389888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92824" y="14630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592824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requisitos → diseño → código → prueba para rastrear cambios e impactos.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20040" y="3108960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320040" y="3108960"/>
            <a:ext cx="502920" cy="12759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8"/>
          <p:cNvSpPr/>
          <p:nvPr/>
        </p:nvSpPr>
        <p:spPr>
          <a:xfrm>
            <a:off x="320040" y="310896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86968" y="318211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6968" y="3639312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 estrategia de control de versiones del producto y su repositorio.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172968" y="3108960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2"/>
          <p:cNvSpPr/>
          <p:nvPr/>
        </p:nvSpPr>
        <p:spPr>
          <a:xfrm>
            <a:off x="3172968" y="3108960"/>
            <a:ext cx="502920" cy="12759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3"/>
          <p:cNvSpPr/>
          <p:nvPr/>
        </p:nvSpPr>
        <p:spPr>
          <a:xfrm>
            <a:off x="3172968" y="310896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3739896" y="318211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739896" y="3639312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impacto técnico y en tiempo/costo de cada solicitud antes de aceptarla.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025896" y="3108960"/>
            <a:ext cx="2743200" cy="1275940"/>
          </a:xfrm>
          <a:prstGeom prst="rect">
            <a:avLst/>
          </a:prstGeom>
          <a:solidFill>
            <a:srgbClr val="F6F8FC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7"/>
          <p:cNvSpPr/>
          <p:nvPr/>
        </p:nvSpPr>
        <p:spPr>
          <a:xfrm>
            <a:off x="6025896" y="3108960"/>
            <a:ext cx="502920" cy="1275940"/>
          </a:xfrm>
          <a:prstGeom prst="rect">
            <a:avLst/>
          </a:prstGeom>
          <a:solidFill>
            <a:srgbClr val="5B3A8B"/>
          </a:solidFill>
          <a:ln w="12700">
            <a:solidFill>
              <a:srgbClr val="5B3A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8"/>
          <p:cNvSpPr/>
          <p:nvPr/>
        </p:nvSpPr>
        <p:spPr>
          <a:xfrm>
            <a:off x="6025896" y="310896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592824" y="318211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con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592824" y="3639312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Conducir reuniones formales, registrar acuerdos y darles seguimiento hasta cierre.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Muñoz, Peralta &amp; Laporte (2019) — 13 EMPs analizadas en México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práctica vital: Verificación y Validación (V&amp;V)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320040" y="1389888"/>
            <a:ext cx="8503920" cy="530352"/>
          </a:xfrm>
          <a:prstGeom prst="rect">
            <a:avLst/>
          </a:prstGeom>
          <a:solidFill>
            <a:srgbClr val="EBF0FA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2"/>
          <p:cNvSpPr/>
          <p:nvPr/>
        </p:nvSpPr>
        <p:spPr>
          <a:xfrm>
            <a:off x="457200" y="14173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V&amp;V?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13 EMPs estudiadas, fue la debilidad más frecuente (12/13) y la que mayor impacto tuvo en la calidad del producto entregado.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2029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 para implementarla en cualquier empresa: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77240" y="241401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defectos a tiempo: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corregir en pruebas cuesta hasta 10× menos que en producción.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77240" y="274320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riesgo de rechazo: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cliente valida funcionalidades antes de la entrega final.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307238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 con ISO/IEC 29110: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estándar la exige explícitamente en Implementación de Software.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340156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independiente del tamaño: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EMP de 2 personas puede aplicarla con listas de chequeo simples.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373075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la mejora continua: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registros de defectos generan métricas para proyectos futuros.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implementar V&amp;V en una EMP — ruta mínima viable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320040" y="1353312"/>
            <a:ext cx="457200" cy="566928"/>
          </a:xfrm>
          <a:prstGeom prst="rect">
            <a:avLst/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2"/>
          <p:cNvSpPr/>
          <p:nvPr/>
        </p:nvSpPr>
        <p:spPr>
          <a:xfrm>
            <a:off x="320040" y="135331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68680" y="13716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68680" y="1609344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qué funcionalidades se probarán, quién prueba y cuándo (plan de pruebas de 1 página).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38912" y="1892808"/>
            <a:ext cx="128016" cy="82296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6"/>
          <p:cNvSpPr/>
          <p:nvPr/>
        </p:nvSpPr>
        <p:spPr>
          <a:xfrm>
            <a:off x="320040" y="1975104"/>
            <a:ext cx="457200" cy="566928"/>
          </a:xfrm>
          <a:prstGeom prst="rect">
            <a:avLst/>
          </a:prstGeom>
          <a:solidFill>
            <a:srgbClr val="0055B3"/>
          </a:solidFill>
          <a:ln w="12700">
            <a:solidFill>
              <a:srgbClr val="0055B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320040" y="19751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8680" y="19933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casos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68680" y="2231136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funcionalidad crítica: entrada → acción → resultado esperado. Mínimo 3 casos por módulo.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8912" y="2514600"/>
            <a:ext cx="128016" cy="82296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320040" y="2596896"/>
            <a:ext cx="45720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2"/>
          <p:cNvSpPr/>
          <p:nvPr/>
        </p:nvSpPr>
        <p:spPr>
          <a:xfrm>
            <a:off x="320040" y="25968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68680" y="26151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68680" y="2852928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tester ejecuta los casos, registra incidentes con tipo, severidad y evidencia (captura o log).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38912" y="3136392"/>
            <a:ext cx="128016" cy="82296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6"/>
          <p:cNvSpPr/>
          <p:nvPr/>
        </p:nvSpPr>
        <p:spPr>
          <a:xfrm>
            <a:off x="320040" y="3218688"/>
            <a:ext cx="457200" cy="56692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7"/>
          <p:cNvSpPr/>
          <p:nvPr/>
        </p:nvSpPr>
        <p:spPr>
          <a:xfrm>
            <a:off x="320040" y="321868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868680" y="32369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y re-probar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868680" y="3474720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corrige; el tester verifica la corrección y ejecuta prueba de regresión.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38912" y="3758184"/>
            <a:ext cx="128016" cy="82296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1"/>
          <p:cNvSpPr/>
          <p:nvPr/>
        </p:nvSpPr>
        <p:spPr>
          <a:xfrm>
            <a:off x="320040" y="3840480"/>
            <a:ext cx="457200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320040" y="38404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868680" y="38587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y registrar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868680" y="4096512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con métricas (densidad, tasa de detección) y lección aprendida para el siguiente ciclo.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mínimas: hoja de cálculo de casos • repositorio git • lista de chequeo de cierre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5760" y="749808"/>
            <a:ext cx="164592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365760" y="74980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103120" y="7772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análisis — ISO/IEC 29110 y buenas prácticas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347472" y="1389888"/>
            <a:ext cx="8449056" cy="1024128"/>
          </a:xfrm>
          <a:prstGeom prst="rect">
            <a:avLst/>
          </a:prstGeom>
          <a:solidFill>
            <a:srgbClr val="EBF0FA"/>
          </a:solidFill>
          <a:ln w="1524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4"/>
          <p:cNvSpPr/>
          <p:nvPr/>
        </p:nvSpPr>
        <p:spPr>
          <a:xfrm>
            <a:off x="347472" y="1389888"/>
            <a:ext cx="8449056" cy="64008"/>
          </a:xfrm>
          <a:prstGeom prst="rect">
            <a:avLst/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475488" y="15087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estándar ISO/IEC 29110 presenta un conjunto de buenas prácticas que buscan reforzar los procesos en la gestión de proyectos y el desarrollo de software. </a:t>
            </a:r>
            <a:r>
              <a:rPr lang="en-US" sz="1400" b="1" i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de ellas considera vital y por qué se debería implementar en cualquier empresa de desarrollo de software?”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sugerida para la respuesta: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87121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 práctica: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nombre exacto del estándar y proceso al que pertenece.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319125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Argumentar con evidencia: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apoyarse en datos del caso de estudio (métricas, debilidades en las 13 EMPs).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" y="351129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Generalizar: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explicar por qué aporta valor sin importar el tamaño o sector de la empresa.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77240" y="383133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implementación: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describir al menos 2 acciones concretas para adoptarla con recursos mínimos.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47472" y="4572000"/>
            <a:ext cx="8449056" cy="411480"/>
          </a:xfrm>
          <a:prstGeom prst="rect">
            <a:avLst/>
          </a:prstGeom>
          <a:solidFill>
            <a:srgbClr val="FFF8E6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2"/>
          <p:cNvSpPr/>
          <p:nvPr/>
        </p:nvSpPr>
        <p:spPr>
          <a:xfrm>
            <a:off x="475488" y="4599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Entregable: </a:t>
            </a:r>
            <a:r>
              <a:rPr lang="en-US" sz="120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escrito de máx. 300 palabras ó exposición oral de 3 min. Citar al menos una métrica del caso de estudio.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 evaluación — Pregunta de reflexión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340157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0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Aceptable 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Insuficiente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Nombra la práctica con terminología exacta del estándar y el proceso al que pertenece.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Nombra la práctica pero sin precisar el proceso.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Menciona una práctica genérica sin relación clara con el estándar.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Sustenta con datos cuantitativos del caso (métricas, % de EMPs afectadas).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Argumenta cualitativamente pero sin cifras.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Sólo opina sin evidencia ni referencia.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 la aplicabilidad en distintos contextos (tamaño, sector, metodología).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Menciona que aplica en general pero sin desarrollar.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 la práctica a un contexto específico.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Propone ≥2 acciones específicas, realizables y coherentes con los recursos de una EMP.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Propone 1 acción concreta.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propone acciones o son demasiado genéricas.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1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total: 20 pts  •  Cada criterio vale 5 pts  •  Calificación mínima aprobatoria: 12/20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8892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de la Calidad del Software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11480" y="329184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 Defectos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891</Words>
  <Application>Microsoft Office PowerPoint</Application>
  <PresentationFormat>Presentación en pantalla (16:9)</PresentationFormat>
  <Paragraphs>107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Cesar Alfonso</cp:lastModifiedBy>
  <cp:revision>5</cp:revision>
  <dcterms:created xsi:type="dcterms:W3CDTF">2026-05-23T16:37:51Z</dcterms:created>
  <dcterms:modified xsi:type="dcterms:W3CDTF">2026-07-27T15:28:49Z</dcterms:modified>
</cp:coreProperties>
</file>