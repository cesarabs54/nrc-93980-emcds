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1" autoAdjust="0"/>
  </p:normalViewPr>
  <p:slideViewPr>
    <p:cSldViewPr snapToGrid="0" snapToObjects="1">
      <p:cViewPr varScale="1">
        <p:scale>
          <a:sx n="103" d="100"/>
          <a:sy n="103" d="100"/>
        </p:scale>
        <p:origin x="87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F5A"/>
                </a:solidFill>
                <a:latin typeface="Arial"/>
              </a:defRPr>
            </a:pPr>
            <a:r>
              <a:rPr lang="es-CO" sz="1300" b="0" i="0" u="none" strike="noStrike" noProof="0" dirty="0">
                <a:solidFill>
                  <a:srgbClr val="1A2F5A"/>
                </a:solidFill>
                <a:latin typeface="Arial"/>
              </a:rPr>
              <a:t>Incidentes por Tipo y Ciclo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Ciclo 1</c:v>
                </c:pt>
              </c:strCache>
            </c:strRef>
          </c:tx>
          <c:spPr>
            <a:solidFill>
              <a:srgbClr val="1A2F5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Func. Incorrecta</c:v>
                </c:pt>
                <c:pt idx="1">
                  <c:v>Interfaz Usuario</c:v>
                </c:pt>
                <c:pt idx="2">
                  <c:v>Mensajes Erróneos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10</c:v>
                </c:pt>
                <c:pt idx="2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102-4211-8646-44D68184BE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Ciclo 2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Func. Incorrecta</c:v>
                </c:pt>
                <c:pt idx="1">
                  <c:v>Interfaz Usuario</c:v>
                </c:pt>
                <c:pt idx="2">
                  <c:v>Mensajes Erróneos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</c:v>
                </c:pt>
                <c:pt idx="1">
                  <c:v>6</c:v>
                </c:pt>
                <c:pt idx="2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102-4211-8646-44D68184BE6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Regresión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Func. Incorrecta</c:v>
                </c:pt>
                <c:pt idx="1">
                  <c:v>Interfaz Usuario</c:v>
                </c:pt>
                <c:pt idx="2">
                  <c:v>Mensajes Erróneos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3</c:v>
                </c:pt>
                <c:pt idx="1">
                  <c:v>10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102-4211-8646-44D68184BE6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F5A"/>
                </a:solidFill>
                <a:latin typeface="Arial"/>
              </a:defRPr>
            </a:pPr>
            <a:r>
              <a:rPr lang="es-CO" sz="1300" b="0" i="0" u="none" strike="noStrike" noProof="0" dirty="0">
                <a:solidFill>
                  <a:srgbClr val="1A2F5A"/>
                </a:solidFill>
                <a:latin typeface="Arial"/>
              </a:rPr>
              <a:t>Criticidad Global (%)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Criticidad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E6D-416E-86BF-8ACDC20AA6AF}"/>
              </c:ext>
            </c:extLst>
          </c:dPt>
          <c:dPt>
            <c:idx val="1"/>
            <c:bubble3D val="0"/>
            <c:spPr>
              <a:solidFill>
                <a:srgbClr val="E67E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E6D-416E-86BF-8ACDC20AA6AF}"/>
              </c:ext>
            </c:extLst>
          </c:dPt>
          <c:dPt>
            <c:idx val="2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E6D-416E-86BF-8ACDC20AA6AF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s-CO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E6D-416E-86BF-8ACDC20AA6AF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s-CO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E6D-416E-86BF-8ACDC20AA6AF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s-CO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E6D-416E-86BF-8ACDC20AA6AF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CO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Alta</c:v>
                </c:pt>
                <c:pt idx="1">
                  <c:v>Media</c:v>
                </c:pt>
                <c:pt idx="2">
                  <c:v>Baja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</c:v>
                </c:pt>
                <c:pt idx="1">
                  <c:v>31</c:v>
                </c:pt>
                <c:pt idx="2">
                  <c:v>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E6D-416E-86BF-8ACDC20AA6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1396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F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3" name="Shape 1"/>
          <p:cNvSpPr/>
          <p:nvPr/>
        </p:nvSpPr>
        <p:spPr>
          <a:xfrm>
            <a:off x="7132320" y="2926080"/>
            <a:ext cx="2560320" cy="2560320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4" name="Shape 2"/>
          <p:cNvSpPr/>
          <p:nvPr/>
        </p:nvSpPr>
        <p:spPr>
          <a:xfrm>
            <a:off x="7772400" y="91440"/>
            <a:ext cx="1645920" cy="1645920"/>
          </a:xfrm>
          <a:prstGeom prst="ellipse">
            <a:avLst/>
          </a:prstGeom>
          <a:solidFill>
            <a:srgbClr val="02C39A">
              <a:alpha val="40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CO" sz="950" b="1" kern="0" spc="120" noProof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ESTÁNDARES Y MÉTRICAS DE CALIDAD EN EL DESARROLLO DE SOFTWARE</a:t>
            </a:r>
            <a:endParaRPr lang="es-CO" sz="950" noProof="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4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Aseguramiento de la</a:t>
            </a:r>
            <a:endParaRPr lang="es-CO" sz="4400" noProof="0" dirty="0"/>
          </a:p>
          <a:p>
            <a:pPr marL="0" indent="0">
              <a:buNone/>
            </a:pPr>
            <a:r>
              <a:rPr lang="es-CO" sz="4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del Software</a:t>
            </a:r>
            <a:endParaRPr lang="es-CO" sz="4400" noProof="0" dirty="0"/>
          </a:p>
        </p:txBody>
      </p:sp>
      <p:sp>
        <p:nvSpPr>
          <p:cNvPr id="7" name="Shape 5"/>
          <p:cNvSpPr/>
          <p:nvPr/>
        </p:nvSpPr>
        <p:spPr>
          <a:xfrm>
            <a:off x="365760" y="2697480"/>
            <a:ext cx="45720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8" name="Text 6"/>
          <p:cNvSpPr/>
          <p:nvPr/>
        </p:nvSpPr>
        <p:spPr>
          <a:xfrm>
            <a:off x="365760" y="28346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2000" i="1" noProof="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Caracterización de Defectos en Entidades Muy Pequeñas</a:t>
            </a:r>
            <a:endParaRPr lang="es-CO" sz="2000" noProof="0" dirty="0"/>
          </a:p>
        </p:txBody>
      </p:sp>
      <p:sp>
        <p:nvSpPr>
          <p:cNvPr id="9" name="Text 7"/>
          <p:cNvSpPr/>
          <p:nvPr/>
        </p:nvSpPr>
        <p:spPr>
          <a:xfrm>
            <a:off x="365760" y="43891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900" noProof="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Basado en: Escobar-Sánchez &amp; Fuertes-Díaz (2015) · Muñoz, Peralta &amp; Laporte (2019)</a:t>
            </a:r>
            <a:endParaRPr lang="es-CO" sz="9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3000" b="1" noProof="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de la Sesión</a:t>
            </a:r>
            <a:endParaRPr lang="es-CO" sz="3000" noProof="0" dirty="0"/>
          </a:p>
        </p:txBody>
      </p:sp>
      <p:sp>
        <p:nvSpPr>
          <p:cNvPr id="3" name="Shape 1"/>
          <p:cNvSpPr/>
          <p:nvPr/>
        </p:nvSpPr>
        <p:spPr>
          <a:xfrm>
            <a:off x="502920" y="347472"/>
            <a:ext cx="64008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4114800" cy="10058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502920" cy="100584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502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s-CO" sz="1800" noProof="0" dirty="0"/>
          </a:p>
        </p:txBody>
      </p:sp>
      <p:sp>
        <p:nvSpPr>
          <p:cNvPr id="7" name="Text 5"/>
          <p:cNvSpPr/>
          <p:nvPr/>
        </p:nvSpPr>
        <p:spPr>
          <a:xfrm>
            <a:off x="1097280" y="1280160"/>
            <a:ext cx="3429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300" noProof="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Importancia de la calidad del software</a:t>
            </a:r>
            <a:endParaRPr lang="es-CO" sz="1300" noProof="0" dirty="0"/>
          </a:p>
        </p:txBody>
      </p:sp>
      <p:sp>
        <p:nvSpPr>
          <p:cNvPr id="8" name="Shape 6"/>
          <p:cNvSpPr/>
          <p:nvPr/>
        </p:nvSpPr>
        <p:spPr>
          <a:xfrm>
            <a:off x="502920" y="2313432"/>
            <a:ext cx="4114800" cy="10058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sp>
        <p:nvSpPr>
          <p:cNvPr id="9" name="Shape 7"/>
          <p:cNvSpPr/>
          <p:nvPr/>
        </p:nvSpPr>
        <p:spPr>
          <a:xfrm>
            <a:off x="502920" y="2313432"/>
            <a:ext cx="50292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0" name="Text 8"/>
          <p:cNvSpPr/>
          <p:nvPr/>
        </p:nvSpPr>
        <p:spPr>
          <a:xfrm>
            <a:off x="502920" y="2313432"/>
            <a:ext cx="502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s-CO" sz="1800" noProof="0" dirty="0"/>
          </a:p>
        </p:txBody>
      </p:sp>
      <p:sp>
        <p:nvSpPr>
          <p:cNvPr id="11" name="Text 9"/>
          <p:cNvSpPr/>
          <p:nvPr/>
        </p:nvSpPr>
        <p:spPr>
          <a:xfrm>
            <a:off x="1097280" y="2450592"/>
            <a:ext cx="3429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300" noProof="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y estándares de prueba</a:t>
            </a:r>
            <a:endParaRPr lang="es-CO" sz="1300" noProof="0" dirty="0"/>
          </a:p>
        </p:txBody>
      </p:sp>
      <p:sp>
        <p:nvSpPr>
          <p:cNvPr id="12" name="Shape 10"/>
          <p:cNvSpPr/>
          <p:nvPr/>
        </p:nvSpPr>
        <p:spPr>
          <a:xfrm>
            <a:off x="502920" y="3483864"/>
            <a:ext cx="4114800" cy="10058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sp>
        <p:nvSpPr>
          <p:cNvPr id="13" name="Shape 11"/>
          <p:cNvSpPr/>
          <p:nvPr/>
        </p:nvSpPr>
        <p:spPr>
          <a:xfrm>
            <a:off x="502920" y="3483864"/>
            <a:ext cx="502920" cy="1005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4" name="Text 12"/>
          <p:cNvSpPr/>
          <p:nvPr/>
        </p:nvSpPr>
        <p:spPr>
          <a:xfrm>
            <a:off x="502920" y="3483864"/>
            <a:ext cx="502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s-CO" sz="1800" noProof="0" dirty="0"/>
          </a:p>
        </p:txBody>
      </p:sp>
      <p:sp>
        <p:nvSpPr>
          <p:cNvPr id="15" name="Text 13"/>
          <p:cNvSpPr/>
          <p:nvPr/>
        </p:nvSpPr>
        <p:spPr>
          <a:xfrm>
            <a:off x="1097280" y="3621024"/>
            <a:ext cx="3429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300" noProof="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Caracterización de defectos</a:t>
            </a:r>
            <a:endParaRPr lang="es-CO" sz="1300" noProof="0" dirty="0"/>
          </a:p>
        </p:txBody>
      </p:sp>
      <p:sp>
        <p:nvSpPr>
          <p:cNvPr id="16" name="Shape 14"/>
          <p:cNvSpPr/>
          <p:nvPr/>
        </p:nvSpPr>
        <p:spPr>
          <a:xfrm>
            <a:off x="4892040" y="1143000"/>
            <a:ext cx="4114800" cy="10058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sp>
        <p:nvSpPr>
          <p:cNvPr id="17" name="Shape 15"/>
          <p:cNvSpPr/>
          <p:nvPr/>
        </p:nvSpPr>
        <p:spPr>
          <a:xfrm>
            <a:off x="4892040" y="1143000"/>
            <a:ext cx="502920" cy="10058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8" name="Text 16"/>
          <p:cNvSpPr/>
          <p:nvPr/>
        </p:nvSpPr>
        <p:spPr>
          <a:xfrm>
            <a:off x="4892040" y="1143000"/>
            <a:ext cx="502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s-CO" sz="1800" noProof="0" dirty="0"/>
          </a:p>
        </p:txBody>
      </p:sp>
      <p:sp>
        <p:nvSpPr>
          <p:cNvPr id="19" name="Text 17"/>
          <p:cNvSpPr/>
          <p:nvPr/>
        </p:nvSpPr>
        <p:spPr>
          <a:xfrm>
            <a:off x="5486400" y="1280160"/>
            <a:ext cx="3429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300" noProof="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Debilidades en Entidades Muy Pequeñas (</a:t>
            </a:r>
            <a:r>
              <a:rPr lang="es-CO" sz="1300" noProof="0" dirty="0" err="1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EMPs</a:t>
            </a:r>
            <a:r>
              <a:rPr lang="es-CO" sz="1300" noProof="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s-CO" sz="1300" noProof="0" dirty="0"/>
          </a:p>
        </p:txBody>
      </p:sp>
      <p:sp>
        <p:nvSpPr>
          <p:cNvPr id="20" name="Shape 18"/>
          <p:cNvSpPr/>
          <p:nvPr/>
        </p:nvSpPr>
        <p:spPr>
          <a:xfrm>
            <a:off x="4892040" y="2313432"/>
            <a:ext cx="4114800" cy="10058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sp>
        <p:nvSpPr>
          <p:cNvPr id="21" name="Shape 19"/>
          <p:cNvSpPr/>
          <p:nvPr/>
        </p:nvSpPr>
        <p:spPr>
          <a:xfrm>
            <a:off x="4892040" y="2313432"/>
            <a:ext cx="502920" cy="100584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22" name="Text 20"/>
          <p:cNvSpPr/>
          <p:nvPr/>
        </p:nvSpPr>
        <p:spPr>
          <a:xfrm>
            <a:off x="4892040" y="2313432"/>
            <a:ext cx="502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s-CO" sz="1800" noProof="0" dirty="0"/>
          </a:p>
        </p:txBody>
      </p:sp>
      <p:sp>
        <p:nvSpPr>
          <p:cNvPr id="23" name="Text 21"/>
          <p:cNvSpPr/>
          <p:nvPr/>
        </p:nvSpPr>
        <p:spPr>
          <a:xfrm>
            <a:off x="5486400" y="2450592"/>
            <a:ext cx="3429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300" noProof="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formal de pruebas funcionales (TMMI Nivel 2)</a:t>
            </a:r>
            <a:endParaRPr lang="es-CO" sz="1300" noProof="0" dirty="0"/>
          </a:p>
        </p:txBody>
      </p:sp>
      <p:sp>
        <p:nvSpPr>
          <p:cNvPr id="24" name="Shape 22"/>
          <p:cNvSpPr/>
          <p:nvPr/>
        </p:nvSpPr>
        <p:spPr>
          <a:xfrm>
            <a:off x="4892040" y="3483864"/>
            <a:ext cx="4114800" cy="10058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sp>
        <p:nvSpPr>
          <p:cNvPr id="25" name="Shape 23"/>
          <p:cNvSpPr/>
          <p:nvPr/>
        </p:nvSpPr>
        <p:spPr>
          <a:xfrm>
            <a:off x="4892040" y="3483864"/>
            <a:ext cx="50292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26" name="Text 24"/>
          <p:cNvSpPr/>
          <p:nvPr/>
        </p:nvSpPr>
        <p:spPr>
          <a:xfrm>
            <a:off x="4892040" y="3483864"/>
            <a:ext cx="502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s-CO" sz="1800" noProof="0" dirty="0"/>
          </a:p>
        </p:txBody>
      </p:sp>
      <p:sp>
        <p:nvSpPr>
          <p:cNvPr id="27" name="Text 25"/>
          <p:cNvSpPr/>
          <p:nvPr/>
        </p:nvSpPr>
        <p:spPr>
          <a:xfrm>
            <a:off x="5486400" y="3621024"/>
            <a:ext cx="3429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300" noProof="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trabajo futuro</a:t>
            </a:r>
            <a:endParaRPr lang="es-CO" sz="1300" noProof="0" dirty="0"/>
          </a:p>
        </p:txBody>
      </p:sp>
      <p:sp>
        <p:nvSpPr>
          <p:cNvPr id="28" name="Text 26"/>
          <p:cNvSpPr/>
          <p:nvPr/>
        </p:nvSpPr>
        <p:spPr>
          <a:xfrm>
            <a:off x="859536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CO" sz="900" noProof="0" dirty="0">
                <a:solidFill>
                  <a:srgbClr val="64748B"/>
                </a:solidFill>
              </a:rPr>
              <a:t>2</a:t>
            </a:r>
            <a:endParaRPr lang="es-CO" sz="9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3000" b="1" noProof="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importa la calidad del software?</a:t>
            </a:r>
            <a:endParaRPr lang="es-CO" sz="3000" noProof="0" dirty="0"/>
          </a:p>
        </p:txBody>
      </p:sp>
      <p:sp>
        <p:nvSpPr>
          <p:cNvPr id="3" name="Shape 1"/>
          <p:cNvSpPr/>
          <p:nvPr/>
        </p:nvSpPr>
        <p:spPr>
          <a:xfrm>
            <a:off x="502920" y="347472"/>
            <a:ext cx="64008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64008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5" name="Shape 3"/>
          <p:cNvSpPr/>
          <p:nvPr/>
        </p:nvSpPr>
        <p:spPr>
          <a:xfrm>
            <a:off x="658368" y="1051560"/>
            <a:ext cx="5029200" cy="804672"/>
          </a:xfrm>
          <a:prstGeom prst="rect">
            <a:avLst/>
          </a:prstGeom>
          <a:solidFill>
            <a:srgbClr val="F0F4F8"/>
          </a:solidFill>
          <a:ln w="12700">
            <a:solidFill>
              <a:srgbClr val="D0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106424"/>
            <a:ext cx="4800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200" noProof="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aplicaciones de software son cada vez más críticas para las organizaciones, permitiéndoles cumplir sus tareas primordiales.</a:t>
            </a:r>
            <a:endParaRPr lang="es-CO" sz="1200" noProof="0" dirty="0"/>
          </a:p>
        </p:txBody>
      </p:sp>
      <p:sp>
        <p:nvSpPr>
          <p:cNvPr id="7" name="Shape 5"/>
          <p:cNvSpPr/>
          <p:nvPr/>
        </p:nvSpPr>
        <p:spPr>
          <a:xfrm>
            <a:off x="502920" y="2011680"/>
            <a:ext cx="64008" cy="7498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8" name="Shape 6"/>
          <p:cNvSpPr/>
          <p:nvPr/>
        </p:nvSpPr>
        <p:spPr>
          <a:xfrm>
            <a:off x="658368" y="2011680"/>
            <a:ext cx="5029200" cy="804672"/>
          </a:xfrm>
          <a:prstGeom prst="rect">
            <a:avLst/>
          </a:prstGeom>
          <a:solidFill>
            <a:srgbClr val="F0F4F8"/>
          </a:solidFill>
          <a:ln w="12700">
            <a:solidFill>
              <a:srgbClr val="D0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sp>
        <p:nvSpPr>
          <p:cNvPr id="9" name="Text 7"/>
          <p:cNvSpPr/>
          <p:nvPr/>
        </p:nvSpPr>
        <p:spPr>
          <a:xfrm>
            <a:off x="777240" y="2066544"/>
            <a:ext cx="4800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200" noProof="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región enfrenta una escasa cultura de pruebas formales: la mayoría de las </a:t>
            </a:r>
            <a:r>
              <a:rPr lang="es-CO" sz="1200" noProof="0" dirty="0" err="1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PYMEs</a:t>
            </a:r>
            <a:r>
              <a:rPr lang="es-CO" sz="1200" noProof="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s-CO" sz="1200" noProof="0" dirty="0" err="1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EMPs</a:t>
            </a:r>
            <a:r>
              <a:rPr lang="es-CO" sz="1200" noProof="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tienen procesos estructurados.</a:t>
            </a:r>
            <a:endParaRPr lang="es-CO" sz="1200" noProof="0" dirty="0"/>
          </a:p>
        </p:txBody>
      </p:sp>
      <p:sp>
        <p:nvSpPr>
          <p:cNvPr id="10" name="Shape 8"/>
          <p:cNvSpPr/>
          <p:nvPr/>
        </p:nvSpPr>
        <p:spPr>
          <a:xfrm>
            <a:off x="502920" y="2971800"/>
            <a:ext cx="64008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1" name="Shape 9"/>
          <p:cNvSpPr/>
          <p:nvPr/>
        </p:nvSpPr>
        <p:spPr>
          <a:xfrm>
            <a:off x="658368" y="2971800"/>
            <a:ext cx="5029200" cy="804672"/>
          </a:xfrm>
          <a:prstGeom prst="rect">
            <a:avLst/>
          </a:prstGeom>
          <a:solidFill>
            <a:srgbClr val="F0F4F8"/>
          </a:solidFill>
          <a:ln w="12700">
            <a:solidFill>
              <a:srgbClr val="D0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sp>
        <p:nvSpPr>
          <p:cNvPr id="12" name="Text 10"/>
          <p:cNvSpPr/>
          <p:nvPr/>
        </p:nvSpPr>
        <p:spPr>
          <a:xfrm>
            <a:off x="777240" y="3026664"/>
            <a:ext cx="4800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200" noProof="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falta de pruebas sistemáticas impacta directamente en tiempo, confiabilidad, usabilidad y costo del producto final.</a:t>
            </a:r>
            <a:endParaRPr lang="es-CO" sz="1200" noProof="0" dirty="0"/>
          </a:p>
        </p:txBody>
      </p:sp>
      <p:sp>
        <p:nvSpPr>
          <p:cNvPr id="13" name="Shape 11"/>
          <p:cNvSpPr/>
          <p:nvPr/>
        </p:nvSpPr>
        <p:spPr>
          <a:xfrm>
            <a:off x="502920" y="3931920"/>
            <a:ext cx="64008" cy="7498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4" name="Shape 12"/>
          <p:cNvSpPr/>
          <p:nvPr/>
        </p:nvSpPr>
        <p:spPr>
          <a:xfrm>
            <a:off x="658368" y="3931920"/>
            <a:ext cx="5029200" cy="804672"/>
          </a:xfrm>
          <a:prstGeom prst="rect">
            <a:avLst/>
          </a:prstGeom>
          <a:solidFill>
            <a:srgbClr val="F0F4F8"/>
          </a:solidFill>
          <a:ln w="12700">
            <a:solidFill>
              <a:srgbClr val="D0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sp>
        <p:nvSpPr>
          <p:cNvPr id="15" name="Text 13"/>
          <p:cNvSpPr/>
          <p:nvPr/>
        </p:nvSpPr>
        <p:spPr>
          <a:xfrm>
            <a:off x="777240" y="3986784"/>
            <a:ext cx="4800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200" noProof="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Organizaciones como ISO desarrollan estándares (ISO/IEC 29110, ISO/IEC 9126) para impulsar buenas prácticas en empresas de todos los tamaños.</a:t>
            </a:r>
            <a:endParaRPr lang="es-CO" sz="1200" noProof="0" dirty="0"/>
          </a:p>
        </p:txBody>
      </p:sp>
      <p:sp>
        <p:nvSpPr>
          <p:cNvPr id="16" name="Shape 14"/>
          <p:cNvSpPr/>
          <p:nvPr/>
        </p:nvSpPr>
        <p:spPr>
          <a:xfrm>
            <a:off x="5989320" y="1051560"/>
            <a:ext cx="2834640" cy="1828800"/>
          </a:xfrm>
          <a:prstGeom prst="rect">
            <a:avLst/>
          </a:prstGeom>
          <a:solidFill>
            <a:srgbClr val="1A2F5A"/>
          </a:solidFill>
          <a:ln w="12700">
            <a:solidFill>
              <a:srgbClr val="D0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sp>
        <p:nvSpPr>
          <p:cNvPr id="17" name="Text 15"/>
          <p:cNvSpPr/>
          <p:nvPr/>
        </p:nvSpPr>
        <p:spPr>
          <a:xfrm>
            <a:off x="5989320" y="123444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3000" b="1" noProof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40-80%</a:t>
            </a:r>
            <a:endParaRPr lang="es-CO" sz="3000" noProof="0" dirty="0"/>
          </a:p>
        </p:txBody>
      </p:sp>
      <p:sp>
        <p:nvSpPr>
          <p:cNvPr id="18" name="Text 16"/>
          <p:cNvSpPr/>
          <p:nvPr/>
        </p:nvSpPr>
        <p:spPr>
          <a:xfrm>
            <a:off x="5989320" y="192024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s-CO" sz="1200" noProof="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costo de</a:t>
            </a:r>
            <a:endParaRPr lang="es-CO" sz="1200" noProof="0" dirty="0"/>
          </a:p>
          <a:p>
            <a:pPr marL="0" indent="0" algn="ctr">
              <a:buNone/>
            </a:pPr>
            <a:r>
              <a:rPr lang="es-CO" sz="1200" noProof="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se destina</a:t>
            </a:r>
            <a:endParaRPr lang="es-CO" sz="1200" noProof="0" dirty="0"/>
          </a:p>
          <a:p>
            <a:pPr marL="0" indent="0" algn="ctr">
              <a:buNone/>
            </a:pPr>
            <a:r>
              <a:rPr lang="es-CO" sz="1200" noProof="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corregir defectos</a:t>
            </a:r>
            <a:endParaRPr lang="es-CO" sz="1200" noProof="0" dirty="0"/>
          </a:p>
        </p:txBody>
      </p:sp>
      <p:sp>
        <p:nvSpPr>
          <p:cNvPr id="19" name="Shape 17"/>
          <p:cNvSpPr/>
          <p:nvPr/>
        </p:nvSpPr>
        <p:spPr>
          <a:xfrm>
            <a:off x="5989320" y="3154680"/>
            <a:ext cx="2834640" cy="1828800"/>
          </a:xfrm>
          <a:prstGeom prst="rect">
            <a:avLst/>
          </a:prstGeom>
          <a:solidFill>
            <a:srgbClr val="1A2F5A"/>
          </a:solidFill>
          <a:ln w="12700">
            <a:solidFill>
              <a:srgbClr val="D0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sp>
        <p:nvSpPr>
          <p:cNvPr id="20" name="Text 18"/>
          <p:cNvSpPr/>
          <p:nvPr/>
        </p:nvSpPr>
        <p:spPr>
          <a:xfrm>
            <a:off x="5989320" y="333756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3000" b="1" noProof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1</a:t>
            </a:r>
            <a:endParaRPr lang="es-CO" sz="3000" noProof="0" dirty="0"/>
          </a:p>
        </p:txBody>
      </p:sp>
      <p:sp>
        <p:nvSpPr>
          <p:cNvPr id="21" name="Text 19"/>
          <p:cNvSpPr/>
          <p:nvPr/>
        </p:nvSpPr>
        <p:spPr>
          <a:xfrm>
            <a:off x="5989320" y="402336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s-CO" sz="1200" noProof="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TMMI: la mayoría</a:t>
            </a:r>
            <a:endParaRPr lang="es-CO" sz="1200" noProof="0" dirty="0"/>
          </a:p>
          <a:p>
            <a:pPr marL="0" indent="0" algn="ctr">
              <a:buNone/>
            </a:pPr>
            <a:r>
              <a:rPr lang="es-CO" sz="1200" noProof="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organizaciones</a:t>
            </a:r>
            <a:endParaRPr lang="es-CO" sz="1200" noProof="0" dirty="0"/>
          </a:p>
          <a:p>
            <a:pPr marL="0" indent="0" algn="ctr">
              <a:buNone/>
            </a:pPr>
            <a:r>
              <a:rPr lang="es-CO" sz="1200" noProof="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región</a:t>
            </a:r>
            <a:endParaRPr lang="es-CO" sz="1200" noProof="0" dirty="0"/>
          </a:p>
        </p:txBody>
      </p:sp>
      <p:sp>
        <p:nvSpPr>
          <p:cNvPr id="22" name="Text 20"/>
          <p:cNvSpPr/>
          <p:nvPr/>
        </p:nvSpPr>
        <p:spPr>
          <a:xfrm>
            <a:off x="859536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CO" sz="900" noProof="0" dirty="0">
                <a:solidFill>
                  <a:srgbClr val="64748B"/>
                </a:solidFill>
              </a:rPr>
              <a:t>3</a:t>
            </a:r>
            <a:endParaRPr lang="es-CO" sz="9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3000" b="1" noProof="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y Estándares de Prueba de Software</a:t>
            </a:r>
            <a:endParaRPr lang="es-CO" sz="3000" noProof="0" dirty="0"/>
          </a:p>
        </p:txBody>
      </p:sp>
      <p:sp>
        <p:nvSpPr>
          <p:cNvPr id="3" name="Shape 1"/>
          <p:cNvSpPr/>
          <p:nvPr/>
        </p:nvSpPr>
        <p:spPr>
          <a:xfrm>
            <a:off x="502920" y="347472"/>
            <a:ext cx="64008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500" b="1" noProof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 de los principales modelos de mejora de pruebas</a:t>
            </a:r>
            <a:endParaRPr lang="es-CO" sz="1500" noProof="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4763500"/>
              </p:ext>
            </p:extLst>
          </p:nvPr>
        </p:nvGraphicFramePr>
        <p:xfrm>
          <a:off x="502920" y="1371600"/>
          <a:ext cx="8138160" cy="338328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3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s-CO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Publicación</a:t>
                      </a:r>
                      <a:endParaRPr lang="es-CO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Niveles</a:t>
                      </a:r>
                      <a:endParaRPr lang="es-CO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Gestión Riesgos</a:t>
                      </a:r>
                      <a:endParaRPr lang="es-CO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Aplicabilidad </a:t>
                      </a:r>
                      <a:r>
                        <a:rPr lang="es-CO" sz="1200" b="1" noProof="0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EMPs</a:t>
                      </a:r>
                      <a:endParaRPr lang="es-CO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00" noProof="0" dirty="0">
                          <a:solidFill>
                            <a:srgbClr val="1A2F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TMM</a:t>
                      </a:r>
                      <a:endParaRPr lang="es-CO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00" noProof="0" dirty="0">
                          <a:solidFill>
                            <a:srgbClr val="1A2F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1996</a:t>
                      </a:r>
                      <a:endParaRPr lang="es-CO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00" noProof="0" dirty="0">
                          <a:solidFill>
                            <a:srgbClr val="1A2F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niveles</a:t>
                      </a:r>
                      <a:endParaRPr lang="es-CO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1200" noProof="0" dirty="0">
                          <a:solidFill>
                            <a:srgbClr val="1A2F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s-CO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00" noProof="0" dirty="0">
                          <a:solidFill>
                            <a:srgbClr val="1A2F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Complejo para </a:t>
                      </a:r>
                      <a:r>
                        <a:rPr lang="es-CO" sz="1200" noProof="0" dirty="0" err="1">
                          <a:solidFill>
                            <a:srgbClr val="1A2F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PYMEs</a:t>
                      </a:r>
                      <a:endParaRPr lang="es-CO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00" noProof="0" dirty="0">
                          <a:solidFill>
                            <a:srgbClr val="1A2F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TMMI</a:t>
                      </a:r>
                      <a:endParaRPr lang="es-CO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00" noProof="0" dirty="0">
                          <a:solidFill>
                            <a:srgbClr val="1A2F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2008</a:t>
                      </a:r>
                      <a:endParaRPr lang="es-CO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00" noProof="0" dirty="0">
                          <a:solidFill>
                            <a:srgbClr val="1A2F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niveles</a:t>
                      </a:r>
                      <a:endParaRPr lang="es-CO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1200" noProof="0" dirty="0">
                          <a:solidFill>
                            <a:srgbClr val="1A2F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s-CO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00" noProof="0" dirty="0">
                          <a:solidFill>
                            <a:srgbClr val="1A2F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Requiere adaptación</a:t>
                      </a:r>
                      <a:endParaRPr lang="es-CO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00" noProof="0" dirty="0">
                          <a:solidFill>
                            <a:srgbClr val="1A2F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TPI</a:t>
                      </a:r>
                      <a:endParaRPr lang="es-CO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00" noProof="0" dirty="0">
                          <a:solidFill>
                            <a:srgbClr val="1A2F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1998</a:t>
                      </a:r>
                      <a:endParaRPr lang="es-CO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00" noProof="0" dirty="0">
                          <a:solidFill>
                            <a:srgbClr val="1A2F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s-CO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1200" noProof="0" dirty="0">
                          <a:solidFill>
                            <a:srgbClr val="1A2F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s-CO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00" noProof="0" dirty="0">
                          <a:solidFill>
                            <a:srgbClr val="1A2F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mejora, no estructura</a:t>
                      </a:r>
                      <a:endParaRPr lang="es-CO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00" noProof="0" dirty="0">
                          <a:solidFill>
                            <a:srgbClr val="1A2F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TMAP</a:t>
                      </a:r>
                      <a:endParaRPr lang="es-CO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00" noProof="0" dirty="0">
                          <a:solidFill>
                            <a:srgbClr val="1A2F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1995</a:t>
                      </a:r>
                      <a:endParaRPr lang="es-CO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00" noProof="0" dirty="0">
                          <a:solidFill>
                            <a:srgbClr val="1A2F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s-CO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1200" noProof="0" dirty="0">
                          <a:solidFill>
                            <a:srgbClr val="1A2F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s-CO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00" noProof="0" dirty="0">
                          <a:solidFill>
                            <a:srgbClr val="1A2F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Muy extenso para </a:t>
                      </a:r>
                      <a:r>
                        <a:rPr lang="es-CO" sz="1200" noProof="0" dirty="0" err="1">
                          <a:solidFill>
                            <a:srgbClr val="1A2F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EMPs</a:t>
                      </a:r>
                      <a:endParaRPr lang="es-CO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00" noProof="0" dirty="0">
                          <a:solidFill>
                            <a:srgbClr val="1A2F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ISO/IEC 29110</a:t>
                      </a:r>
                      <a:endParaRPr lang="es-CO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00" noProof="0" dirty="0">
                          <a:solidFill>
                            <a:srgbClr val="1A2F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2011</a:t>
                      </a:r>
                      <a:endParaRPr lang="es-CO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00" noProof="0" dirty="0">
                          <a:solidFill>
                            <a:srgbClr val="1A2F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Perfil básico</a:t>
                      </a:r>
                      <a:endParaRPr lang="es-CO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1200" noProof="0" dirty="0">
                          <a:solidFill>
                            <a:srgbClr val="1A2F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s-CO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00" noProof="0" dirty="0">
                          <a:solidFill>
                            <a:srgbClr val="1A2F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Diseñado para </a:t>
                      </a:r>
                      <a:r>
                        <a:rPr lang="es-CO" sz="1200" noProof="0" dirty="0" err="1">
                          <a:solidFill>
                            <a:srgbClr val="1A2F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EMPs</a:t>
                      </a:r>
                      <a:endParaRPr lang="es-CO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4773168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90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Escobar-Sánchez &amp; Fuertes-Díaz (2015); Muñoz et al. (2019)</a:t>
            </a:r>
            <a:endParaRPr lang="es-CO" sz="900" noProof="0" dirty="0"/>
          </a:p>
        </p:txBody>
      </p:sp>
      <p:sp>
        <p:nvSpPr>
          <p:cNvPr id="7" name="Text 4"/>
          <p:cNvSpPr/>
          <p:nvPr/>
        </p:nvSpPr>
        <p:spPr>
          <a:xfrm>
            <a:off x="859536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CO" sz="900" noProof="0" dirty="0">
                <a:solidFill>
                  <a:srgbClr val="64748B"/>
                </a:solidFill>
              </a:rPr>
              <a:t>4</a:t>
            </a:r>
            <a:endParaRPr lang="es-CO" sz="90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3000" b="1" noProof="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Caracterización de Defectos de Software</a:t>
            </a:r>
            <a:endParaRPr lang="es-CO" sz="3000" noProof="0" dirty="0"/>
          </a:p>
        </p:txBody>
      </p:sp>
      <p:sp>
        <p:nvSpPr>
          <p:cNvPr id="3" name="Shape 1"/>
          <p:cNvSpPr/>
          <p:nvPr/>
        </p:nvSpPr>
        <p:spPr>
          <a:xfrm>
            <a:off x="502920" y="347472"/>
            <a:ext cx="64008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500" b="1" noProof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Taxonomía según el modelo propuesto (TMMI Nivel 2)</a:t>
            </a:r>
            <a:endParaRPr lang="es-CO" sz="1500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965960" cy="32918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965960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2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s-CO" sz="2800" noProof="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</a:t>
            </a:r>
            <a:endParaRPr lang="es-CO" sz="1100" noProof="0" dirty="0"/>
          </a:p>
          <a:p>
            <a:pPr marL="0" indent="0" algn="ctr">
              <a:buNone/>
            </a:pPr>
            <a:r>
              <a:rPr lang="es-CO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Incorrecta</a:t>
            </a:r>
            <a:endParaRPr lang="es-CO" sz="1100" noProof="0" dirty="0"/>
          </a:p>
        </p:txBody>
      </p:sp>
      <p:sp>
        <p:nvSpPr>
          <p:cNvPr id="9" name="Text 7"/>
          <p:cNvSpPr/>
          <p:nvPr/>
        </p:nvSpPr>
        <p:spPr>
          <a:xfrm>
            <a:off x="548640" y="2423160"/>
            <a:ext cx="17830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O" sz="1150" noProof="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módulo no implementa la especificación acordada con el cliente.</a:t>
            </a:r>
            <a:endParaRPr lang="es-CO" sz="1150" noProof="0" dirty="0"/>
          </a:p>
        </p:txBody>
      </p:sp>
      <p:sp>
        <p:nvSpPr>
          <p:cNvPr id="10" name="Shape 8"/>
          <p:cNvSpPr/>
          <p:nvPr/>
        </p:nvSpPr>
        <p:spPr>
          <a:xfrm>
            <a:off x="2624328" y="1371600"/>
            <a:ext cx="1965960" cy="32918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sp>
        <p:nvSpPr>
          <p:cNvPr id="11" name="Shape 9"/>
          <p:cNvSpPr/>
          <p:nvPr/>
        </p:nvSpPr>
        <p:spPr>
          <a:xfrm>
            <a:off x="2624328" y="1371600"/>
            <a:ext cx="1965960" cy="9144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2" name="Text 10"/>
          <p:cNvSpPr/>
          <p:nvPr/>
        </p:nvSpPr>
        <p:spPr>
          <a:xfrm>
            <a:off x="2624328" y="137160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2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s-CO" sz="2800" noProof="0" dirty="0"/>
          </a:p>
        </p:txBody>
      </p:sp>
      <p:sp>
        <p:nvSpPr>
          <p:cNvPr id="13" name="Text 11"/>
          <p:cNvSpPr/>
          <p:nvPr/>
        </p:nvSpPr>
        <p:spPr>
          <a:xfrm>
            <a:off x="2624328" y="18745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de</a:t>
            </a:r>
            <a:endParaRPr lang="es-CO" sz="1100" noProof="0" dirty="0"/>
          </a:p>
          <a:p>
            <a:pPr marL="0" indent="0" algn="ctr">
              <a:buNone/>
            </a:pPr>
            <a:r>
              <a:rPr lang="es-CO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s-CO" sz="1100" noProof="0" dirty="0"/>
          </a:p>
        </p:txBody>
      </p:sp>
      <p:sp>
        <p:nvSpPr>
          <p:cNvPr id="14" name="Text 12"/>
          <p:cNvSpPr/>
          <p:nvPr/>
        </p:nvSpPr>
        <p:spPr>
          <a:xfrm>
            <a:off x="2715768" y="2423160"/>
            <a:ext cx="17830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O" sz="1150" noProof="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 confusos, campos incorrectos, flujos no intuitivos.</a:t>
            </a:r>
            <a:endParaRPr lang="es-CO" sz="1150" noProof="0" dirty="0"/>
          </a:p>
        </p:txBody>
      </p:sp>
      <p:sp>
        <p:nvSpPr>
          <p:cNvPr id="15" name="Shape 13"/>
          <p:cNvSpPr/>
          <p:nvPr/>
        </p:nvSpPr>
        <p:spPr>
          <a:xfrm>
            <a:off x="4791456" y="1371600"/>
            <a:ext cx="1965960" cy="32918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sp>
        <p:nvSpPr>
          <p:cNvPr id="16" name="Shape 14"/>
          <p:cNvSpPr/>
          <p:nvPr/>
        </p:nvSpPr>
        <p:spPr>
          <a:xfrm>
            <a:off x="4791456" y="1371600"/>
            <a:ext cx="1965960" cy="91440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7" name="Text 15"/>
          <p:cNvSpPr/>
          <p:nvPr/>
        </p:nvSpPr>
        <p:spPr>
          <a:xfrm>
            <a:off x="4791456" y="137160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2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s-CO" sz="2800" noProof="0" dirty="0"/>
          </a:p>
        </p:txBody>
      </p:sp>
      <p:sp>
        <p:nvSpPr>
          <p:cNvPr id="18" name="Text 16"/>
          <p:cNvSpPr/>
          <p:nvPr/>
        </p:nvSpPr>
        <p:spPr>
          <a:xfrm>
            <a:off x="4791456" y="18745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</a:t>
            </a:r>
            <a:endParaRPr lang="es-CO" sz="1100" noProof="0" dirty="0"/>
          </a:p>
          <a:p>
            <a:pPr marL="0" indent="0" algn="ctr">
              <a:buNone/>
            </a:pPr>
            <a:r>
              <a:rPr lang="es-CO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Erróneos o faltantes</a:t>
            </a:r>
            <a:endParaRPr lang="es-CO" sz="1100" noProof="0" dirty="0"/>
          </a:p>
        </p:txBody>
      </p:sp>
      <p:sp>
        <p:nvSpPr>
          <p:cNvPr id="19" name="Text 17"/>
          <p:cNvSpPr/>
          <p:nvPr/>
        </p:nvSpPr>
        <p:spPr>
          <a:xfrm>
            <a:off x="4882896" y="2423160"/>
            <a:ext cx="17830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O" sz="1150" noProof="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 de error o informativos ausentes, incorrectos o inapropiados.</a:t>
            </a:r>
            <a:endParaRPr lang="es-CO" sz="1150" noProof="0" dirty="0"/>
          </a:p>
        </p:txBody>
      </p:sp>
      <p:sp>
        <p:nvSpPr>
          <p:cNvPr id="20" name="Shape 18"/>
          <p:cNvSpPr/>
          <p:nvPr/>
        </p:nvSpPr>
        <p:spPr>
          <a:xfrm>
            <a:off x="6958584" y="1371600"/>
            <a:ext cx="1965960" cy="32918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sp>
        <p:nvSpPr>
          <p:cNvPr id="21" name="Shape 19"/>
          <p:cNvSpPr/>
          <p:nvPr/>
        </p:nvSpPr>
        <p:spPr>
          <a:xfrm>
            <a:off x="6958584" y="1371600"/>
            <a:ext cx="196596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22" name="Text 20"/>
          <p:cNvSpPr/>
          <p:nvPr/>
        </p:nvSpPr>
        <p:spPr>
          <a:xfrm>
            <a:off x="6958584" y="137160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2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</a:t>
            </a:r>
            <a:endParaRPr lang="es-CO" sz="2800" noProof="0" dirty="0"/>
          </a:p>
        </p:txBody>
      </p:sp>
      <p:sp>
        <p:nvSpPr>
          <p:cNvPr id="23" name="Text 21"/>
          <p:cNvSpPr/>
          <p:nvPr/>
        </p:nvSpPr>
        <p:spPr>
          <a:xfrm>
            <a:off x="6958584" y="18745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Defectos de</a:t>
            </a:r>
            <a:endParaRPr lang="es-CO" sz="1100" noProof="0" dirty="0"/>
          </a:p>
          <a:p>
            <a:pPr marL="0" indent="0" algn="ctr">
              <a:buNone/>
            </a:pPr>
            <a:r>
              <a:rPr lang="es-CO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</a:t>
            </a:r>
            <a:endParaRPr lang="es-CO" sz="1100" noProof="0" dirty="0"/>
          </a:p>
        </p:txBody>
      </p:sp>
      <p:sp>
        <p:nvSpPr>
          <p:cNvPr id="24" name="Text 22"/>
          <p:cNvSpPr/>
          <p:nvPr/>
        </p:nvSpPr>
        <p:spPr>
          <a:xfrm>
            <a:off x="7050024" y="2423160"/>
            <a:ext cx="17830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O" sz="1150" noProof="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al código generan nuevos fallos en funcionalidades previas.</a:t>
            </a:r>
            <a:endParaRPr lang="es-CO" sz="1150" noProof="0" dirty="0"/>
          </a:p>
        </p:txBody>
      </p:sp>
      <p:sp>
        <p:nvSpPr>
          <p:cNvPr id="25" name="Text 23"/>
          <p:cNvSpPr/>
          <p:nvPr/>
        </p:nvSpPr>
        <p:spPr>
          <a:xfrm>
            <a:off x="457200" y="4736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00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caso de estudio: Ciclo 1 → 59 incidentes | Ciclo 2 → 21 incidentes | Regresión → 20 incidentes  (Total: 100)</a:t>
            </a:r>
            <a:endParaRPr lang="es-CO" sz="1000" noProof="0" dirty="0"/>
          </a:p>
        </p:txBody>
      </p:sp>
      <p:sp>
        <p:nvSpPr>
          <p:cNvPr id="26" name="Text 24"/>
          <p:cNvSpPr/>
          <p:nvPr/>
        </p:nvSpPr>
        <p:spPr>
          <a:xfrm>
            <a:off x="859536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CO" sz="900" noProof="0" dirty="0">
                <a:solidFill>
                  <a:srgbClr val="64748B"/>
                </a:solidFill>
              </a:rPr>
              <a:t>5</a:t>
            </a:r>
            <a:endParaRPr lang="es-CO" sz="9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3000" b="1" noProof="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Defectos por Ciclo y Criticidad</a:t>
            </a:r>
            <a:endParaRPr lang="es-CO" sz="3000" noProof="0" dirty="0"/>
          </a:p>
        </p:txBody>
      </p:sp>
      <p:sp>
        <p:nvSpPr>
          <p:cNvPr id="3" name="Shape 1"/>
          <p:cNvSpPr/>
          <p:nvPr/>
        </p:nvSpPr>
        <p:spPr>
          <a:xfrm>
            <a:off x="502920" y="347472"/>
            <a:ext cx="64008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1899303364"/>
              </p:ext>
            </p:extLst>
          </p:nvPr>
        </p:nvGraphicFramePr>
        <p:xfrm>
          <a:off x="457200" y="960120"/>
          <a:ext cx="493776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>
            <p:extLst>
              <p:ext uri="{D42A27DB-BD31-4B8C-83A1-F6EECF244321}">
                <p14:modId xmlns:p14="http://schemas.microsoft.com/office/powerpoint/2010/main" val="3437779863"/>
              </p:ext>
            </p:extLst>
          </p:nvPr>
        </p:nvGraphicFramePr>
        <p:xfrm>
          <a:off x="5577840" y="960120"/>
          <a:ext cx="32918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90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caso de estudio aplicado a PYME – Escobar-Sánchez &amp; Fuertes-Díaz (2015)</a:t>
            </a:r>
            <a:endParaRPr lang="es-CO" sz="900" noProof="0" dirty="0"/>
          </a:p>
        </p:txBody>
      </p:sp>
      <p:sp>
        <p:nvSpPr>
          <p:cNvPr id="7" name="Text 3"/>
          <p:cNvSpPr/>
          <p:nvPr/>
        </p:nvSpPr>
        <p:spPr>
          <a:xfrm>
            <a:off x="859536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CO" sz="900" noProof="0" dirty="0">
                <a:solidFill>
                  <a:srgbClr val="64748B"/>
                </a:solidFill>
              </a:rPr>
              <a:t>6</a:t>
            </a:r>
            <a:endParaRPr lang="es-CO" sz="90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3000" b="1" noProof="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Debilidades en </a:t>
            </a:r>
            <a:r>
              <a:rPr lang="es-CO" sz="3000" b="1" noProof="0" dirty="0" err="1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EMPs</a:t>
            </a:r>
            <a:r>
              <a:rPr lang="es-CO" sz="3000" b="1" noProof="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 implementar</a:t>
            </a:r>
          </a:p>
          <a:p>
            <a:pPr marL="0" indent="0">
              <a:buNone/>
            </a:pPr>
            <a:r>
              <a:rPr lang="es-CO" sz="3000" b="1" noProof="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29110</a:t>
            </a:r>
            <a:endParaRPr lang="es-CO" sz="3000" noProof="0" dirty="0"/>
          </a:p>
        </p:txBody>
      </p:sp>
      <p:sp>
        <p:nvSpPr>
          <p:cNvPr id="3" name="Shape 1"/>
          <p:cNvSpPr/>
          <p:nvPr/>
        </p:nvSpPr>
        <p:spPr>
          <a:xfrm>
            <a:off x="502920" y="347472"/>
            <a:ext cx="64008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500" b="1" noProof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Identificadas en 13 </a:t>
            </a:r>
            <a:r>
              <a:rPr lang="es-CO" sz="1500" b="1" noProof="0" dirty="0" err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EMPs</a:t>
            </a:r>
            <a:r>
              <a:rPr lang="es-CO" sz="1500" b="1" noProof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acompañadas en México – Muñoz, Peralta &amp; Laporte (2019)</a:t>
            </a:r>
            <a:endParaRPr lang="es-CO" sz="1500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97480" cy="160020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sp>
        <p:nvSpPr>
          <p:cNvPr id="6" name="Shape 4"/>
          <p:cNvSpPr/>
          <p:nvPr/>
        </p:nvSpPr>
        <p:spPr>
          <a:xfrm>
            <a:off x="2606040" y="1444752"/>
            <a:ext cx="475488" cy="47548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7" name="Text 5"/>
          <p:cNvSpPr/>
          <p:nvPr/>
        </p:nvSpPr>
        <p:spPr>
          <a:xfrm>
            <a:off x="2606040" y="14447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s-CO" sz="1300" noProof="0" dirty="0"/>
          </a:p>
        </p:txBody>
      </p:sp>
      <p:sp>
        <p:nvSpPr>
          <p:cNvPr id="8" name="Text 6"/>
          <p:cNvSpPr/>
          <p:nvPr/>
        </p:nvSpPr>
        <p:spPr>
          <a:xfrm>
            <a:off x="566928" y="14630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200" b="1" noProof="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y</a:t>
            </a:r>
            <a:endParaRPr lang="es-CO" sz="1200" noProof="0" dirty="0"/>
          </a:p>
          <a:p>
            <a:pPr marL="0" indent="0">
              <a:buNone/>
            </a:pPr>
            <a:r>
              <a:rPr lang="es-CO" sz="1200" b="1" noProof="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</a:t>
            </a:r>
            <a:endParaRPr lang="es-CO" sz="1200" noProof="0" dirty="0"/>
          </a:p>
        </p:txBody>
      </p:sp>
      <p:sp>
        <p:nvSpPr>
          <p:cNvPr id="9" name="Text 7"/>
          <p:cNvSpPr/>
          <p:nvPr/>
        </p:nvSpPr>
        <p:spPr>
          <a:xfrm>
            <a:off x="566928" y="196596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de V&amp;V no ejecutadas o incompletas.</a:t>
            </a:r>
            <a:endParaRPr lang="es-CO" sz="1100" noProof="0" dirty="0"/>
          </a:p>
        </p:txBody>
      </p:sp>
      <p:sp>
        <p:nvSpPr>
          <p:cNvPr id="10" name="Shape 8"/>
          <p:cNvSpPr/>
          <p:nvPr/>
        </p:nvSpPr>
        <p:spPr>
          <a:xfrm>
            <a:off x="3355848" y="1371600"/>
            <a:ext cx="2697480" cy="160020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sp>
        <p:nvSpPr>
          <p:cNvPr id="11" name="Shape 9"/>
          <p:cNvSpPr/>
          <p:nvPr/>
        </p:nvSpPr>
        <p:spPr>
          <a:xfrm>
            <a:off x="5504688" y="1444752"/>
            <a:ext cx="475488" cy="47548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2" name="Text 10"/>
          <p:cNvSpPr/>
          <p:nvPr/>
        </p:nvSpPr>
        <p:spPr>
          <a:xfrm>
            <a:off x="5504688" y="14447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s-CO" sz="1300" noProof="0" dirty="0"/>
          </a:p>
        </p:txBody>
      </p:sp>
      <p:sp>
        <p:nvSpPr>
          <p:cNvPr id="13" name="Text 11"/>
          <p:cNvSpPr/>
          <p:nvPr/>
        </p:nvSpPr>
        <p:spPr>
          <a:xfrm>
            <a:off x="3465576" y="14630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200" b="1" noProof="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y </a:t>
            </a:r>
            <a:r>
              <a:rPr lang="es-CO" sz="1200" b="1" noProof="0" dirty="0" err="1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</a:t>
            </a:r>
            <a:r>
              <a:rPr lang="es-CO" sz="1200" b="1" noProof="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s-CO" sz="1200" noProof="0" dirty="0"/>
          </a:p>
          <a:p>
            <a:pPr marL="0" indent="0">
              <a:buNone/>
            </a:pPr>
            <a:r>
              <a:rPr lang="es-CO" sz="1200" b="1" noProof="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prueba</a:t>
            </a:r>
            <a:endParaRPr lang="es-CO" sz="1200" noProof="0" dirty="0"/>
          </a:p>
        </p:txBody>
      </p:sp>
      <p:sp>
        <p:nvSpPr>
          <p:cNvPr id="14" name="Text 12"/>
          <p:cNvSpPr/>
          <p:nvPr/>
        </p:nvSpPr>
        <p:spPr>
          <a:xfrm>
            <a:off x="3465576" y="196596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Desarrollo/actualización de casos de prueba ausente.</a:t>
            </a:r>
            <a:endParaRPr lang="es-CO" sz="1100" noProof="0" dirty="0"/>
          </a:p>
        </p:txBody>
      </p:sp>
      <p:sp>
        <p:nvSpPr>
          <p:cNvPr id="15" name="Shape 13"/>
          <p:cNvSpPr/>
          <p:nvPr/>
        </p:nvSpPr>
        <p:spPr>
          <a:xfrm>
            <a:off x="6254496" y="1371600"/>
            <a:ext cx="2697480" cy="160020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sp>
        <p:nvSpPr>
          <p:cNvPr id="16" name="Shape 14"/>
          <p:cNvSpPr/>
          <p:nvPr/>
        </p:nvSpPr>
        <p:spPr>
          <a:xfrm>
            <a:off x="8403336" y="1444752"/>
            <a:ext cx="475488" cy="47548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7" name="Text 15"/>
          <p:cNvSpPr/>
          <p:nvPr/>
        </p:nvSpPr>
        <p:spPr>
          <a:xfrm>
            <a:off x="8403336" y="14447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s-CO" sz="1300" noProof="0" dirty="0"/>
          </a:p>
        </p:txBody>
      </p:sp>
      <p:sp>
        <p:nvSpPr>
          <p:cNvPr id="18" name="Text 16"/>
          <p:cNvSpPr/>
          <p:nvPr/>
        </p:nvSpPr>
        <p:spPr>
          <a:xfrm>
            <a:off x="6364224" y="14630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200" b="1" noProof="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de</a:t>
            </a:r>
            <a:endParaRPr lang="es-CO" sz="1200" noProof="0" dirty="0"/>
          </a:p>
          <a:p>
            <a:pPr marL="0" indent="0">
              <a:buNone/>
            </a:pPr>
            <a:r>
              <a:rPr lang="es-CO" sz="1200" b="1" noProof="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</a:t>
            </a:r>
            <a:endParaRPr lang="es-CO" sz="1200" noProof="0" dirty="0"/>
          </a:p>
        </p:txBody>
      </p:sp>
      <p:sp>
        <p:nvSpPr>
          <p:cNvPr id="19" name="Text 17"/>
          <p:cNvSpPr/>
          <p:nvPr/>
        </p:nvSpPr>
        <p:spPr>
          <a:xfrm>
            <a:off x="6364224" y="196596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de trazabilidad no realizados/actualizados.</a:t>
            </a:r>
            <a:endParaRPr lang="es-CO" sz="1100" noProof="0" dirty="0"/>
          </a:p>
        </p:txBody>
      </p:sp>
      <p:sp>
        <p:nvSpPr>
          <p:cNvPr id="20" name="Shape 18"/>
          <p:cNvSpPr/>
          <p:nvPr/>
        </p:nvSpPr>
        <p:spPr>
          <a:xfrm>
            <a:off x="457200" y="3108960"/>
            <a:ext cx="2697480" cy="160020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sp>
        <p:nvSpPr>
          <p:cNvPr id="21" name="Shape 19"/>
          <p:cNvSpPr/>
          <p:nvPr/>
        </p:nvSpPr>
        <p:spPr>
          <a:xfrm>
            <a:off x="2606040" y="3182112"/>
            <a:ext cx="475488" cy="47548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22" name="Text 20"/>
          <p:cNvSpPr/>
          <p:nvPr/>
        </p:nvSpPr>
        <p:spPr>
          <a:xfrm>
            <a:off x="2606040" y="31821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s-CO" sz="1300" noProof="0" dirty="0"/>
          </a:p>
        </p:txBody>
      </p:sp>
      <p:sp>
        <p:nvSpPr>
          <p:cNvPr id="23" name="Text 21"/>
          <p:cNvSpPr/>
          <p:nvPr/>
        </p:nvSpPr>
        <p:spPr>
          <a:xfrm>
            <a:off x="566928" y="32004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200" b="1" noProof="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endParaRPr lang="es-CO" sz="1200" noProof="0" dirty="0"/>
          </a:p>
          <a:p>
            <a:pPr marL="0" indent="0">
              <a:buNone/>
            </a:pPr>
            <a:r>
              <a:rPr lang="es-CO" sz="1200" b="1" noProof="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unitarias</a:t>
            </a:r>
            <a:endParaRPr lang="es-CO" sz="1200" noProof="0" dirty="0"/>
          </a:p>
        </p:txBody>
      </p:sp>
      <p:sp>
        <p:nvSpPr>
          <p:cNvPr id="24" name="Text 22"/>
          <p:cNvSpPr/>
          <p:nvPr/>
        </p:nvSpPr>
        <p:spPr>
          <a:xfrm>
            <a:off x="566928" y="370332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unitarias no desarrolladas ni actualizadas.</a:t>
            </a:r>
            <a:endParaRPr lang="es-CO" sz="1100" noProof="0" dirty="0"/>
          </a:p>
        </p:txBody>
      </p:sp>
      <p:sp>
        <p:nvSpPr>
          <p:cNvPr id="25" name="Shape 23"/>
          <p:cNvSpPr/>
          <p:nvPr/>
        </p:nvSpPr>
        <p:spPr>
          <a:xfrm>
            <a:off x="3355848" y="3108960"/>
            <a:ext cx="2697480" cy="160020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sp>
        <p:nvSpPr>
          <p:cNvPr id="26" name="Shape 24"/>
          <p:cNvSpPr/>
          <p:nvPr/>
        </p:nvSpPr>
        <p:spPr>
          <a:xfrm>
            <a:off x="5504688" y="3182112"/>
            <a:ext cx="475488" cy="47548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27" name="Text 25"/>
          <p:cNvSpPr/>
          <p:nvPr/>
        </p:nvSpPr>
        <p:spPr>
          <a:xfrm>
            <a:off x="5504688" y="31821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s-CO" sz="1300" noProof="0" dirty="0"/>
          </a:p>
        </p:txBody>
      </p:sp>
      <p:sp>
        <p:nvSpPr>
          <p:cNvPr id="28" name="Text 26"/>
          <p:cNvSpPr/>
          <p:nvPr/>
        </p:nvSpPr>
        <p:spPr>
          <a:xfrm>
            <a:off x="3465576" y="32004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200" b="1" noProof="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Corrección de</a:t>
            </a:r>
            <a:endParaRPr lang="es-CO" sz="1200" noProof="0" dirty="0"/>
          </a:p>
          <a:p>
            <a:pPr marL="0" indent="0">
              <a:buNone/>
            </a:pPr>
            <a:r>
              <a:rPr lang="es-CO" sz="1200" b="1" noProof="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defectos</a:t>
            </a:r>
            <a:endParaRPr lang="es-CO" sz="1200" noProof="0" dirty="0"/>
          </a:p>
        </p:txBody>
      </p:sp>
      <p:sp>
        <p:nvSpPr>
          <p:cNvPr id="29" name="Text 27"/>
          <p:cNvSpPr/>
          <p:nvPr/>
        </p:nvSpPr>
        <p:spPr>
          <a:xfrm>
            <a:off x="3465576" y="370332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corrigen defectos hasta pasar prueba unitaria.</a:t>
            </a:r>
            <a:endParaRPr lang="es-CO" sz="1100" noProof="0" dirty="0"/>
          </a:p>
        </p:txBody>
      </p:sp>
      <p:sp>
        <p:nvSpPr>
          <p:cNvPr id="30" name="Shape 28"/>
          <p:cNvSpPr/>
          <p:nvPr/>
        </p:nvSpPr>
        <p:spPr>
          <a:xfrm>
            <a:off x="6254496" y="3108960"/>
            <a:ext cx="2697480" cy="160020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sp>
        <p:nvSpPr>
          <p:cNvPr id="31" name="Shape 29"/>
          <p:cNvSpPr/>
          <p:nvPr/>
        </p:nvSpPr>
        <p:spPr>
          <a:xfrm>
            <a:off x="8403336" y="3182112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32" name="Text 30"/>
          <p:cNvSpPr/>
          <p:nvPr/>
        </p:nvSpPr>
        <p:spPr>
          <a:xfrm>
            <a:off x="8403336" y="31821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s-CO" sz="1300" noProof="0" dirty="0"/>
          </a:p>
        </p:txBody>
      </p:sp>
      <p:sp>
        <p:nvSpPr>
          <p:cNvPr id="33" name="Text 31"/>
          <p:cNvSpPr/>
          <p:nvPr/>
        </p:nvSpPr>
        <p:spPr>
          <a:xfrm>
            <a:off x="6364224" y="32004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200" b="1" noProof="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Entornos de</a:t>
            </a:r>
            <a:endParaRPr lang="es-CO" sz="1200" noProof="0" dirty="0"/>
          </a:p>
          <a:p>
            <a:pPr marL="0" indent="0">
              <a:buNone/>
            </a:pPr>
            <a:r>
              <a:rPr lang="es-CO" sz="1200" b="1" noProof="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</a:t>
            </a:r>
            <a:endParaRPr lang="es-CO" sz="1200" noProof="0" dirty="0"/>
          </a:p>
        </p:txBody>
      </p:sp>
      <p:sp>
        <p:nvSpPr>
          <p:cNvPr id="34" name="Text 32"/>
          <p:cNvSpPr/>
          <p:nvPr/>
        </p:nvSpPr>
        <p:spPr>
          <a:xfrm>
            <a:off x="6364224" y="370332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Entornos de desarrollo no establecidos/actualizados.</a:t>
            </a:r>
            <a:endParaRPr lang="es-CO" sz="1100" noProof="0" dirty="0"/>
          </a:p>
        </p:txBody>
      </p:sp>
      <p:sp>
        <p:nvSpPr>
          <p:cNvPr id="35" name="Text 33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90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número en el círculo indica en cuántas de las 13 </a:t>
            </a:r>
            <a:r>
              <a:rPr lang="es-CO" sz="900" i="1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EMPs</a:t>
            </a:r>
            <a:r>
              <a:rPr lang="es-CO" sz="90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analizadas se identificó la debilidad.</a:t>
            </a:r>
            <a:endParaRPr lang="es-CO" sz="900" noProof="0" dirty="0"/>
          </a:p>
        </p:txBody>
      </p:sp>
      <p:sp>
        <p:nvSpPr>
          <p:cNvPr id="36" name="Text 34"/>
          <p:cNvSpPr/>
          <p:nvPr/>
        </p:nvSpPr>
        <p:spPr>
          <a:xfrm>
            <a:off x="859536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CO" sz="900" noProof="0" dirty="0">
                <a:solidFill>
                  <a:srgbClr val="64748B"/>
                </a:solidFill>
              </a:rPr>
              <a:t>7</a:t>
            </a:r>
            <a:endParaRPr lang="es-CO" sz="90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3000" b="1" noProof="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Formal de Pruebas Funcionales – TMMI Nivel 2</a:t>
            </a:r>
            <a:endParaRPr lang="es-CO" sz="3000" noProof="0" dirty="0"/>
          </a:p>
        </p:txBody>
      </p:sp>
      <p:sp>
        <p:nvSpPr>
          <p:cNvPr id="3" name="Shape 1"/>
          <p:cNvSpPr/>
          <p:nvPr/>
        </p:nvSpPr>
        <p:spPr>
          <a:xfrm>
            <a:off x="502920" y="347472"/>
            <a:ext cx="64008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500" b="1" noProof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fases independientes del proceso de desarrollo de software</a:t>
            </a:r>
            <a:endParaRPr lang="es-CO" sz="1500" noProof="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1965960" cy="32918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1965960" cy="658368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3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s-CO" sz="3200" noProof="0" dirty="0"/>
          </a:p>
        </p:txBody>
      </p:sp>
      <p:sp>
        <p:nvSpPr>
          <p:cNvPr id="8" name="Text 6"/>
          <p:cNvSpPr/>
          <p:nvPr/>
        </p:nvSpPr>
        <p:spPr>
          <a:xfrm>
            <a:off x="484632" y="208483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300" b="1" noProof="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Especificación</a:t>
            </a:r>
            <a:endParaRPr lang="es-CO" sz="1300" noProof="0" dirty="0"/>
          </a:p>
        </p:txBody>
      </p:sp>
      <p:sp>
        <p:nvSpPr>
          <p:cNvPr id="9" name="Text 7"/>
          <p:cNvSpPr/>
          <p:nvPr/>
        </p:nvSpPr>
        <p:spPr>
          <a:xfrm>
            <a:off x="484632" y="2542032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150" noProof="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funcionalidades críticas, definir alcance y cronograma de ciclos con el cliente.</a:t>
            </a:r>
            <a:endParaRPr lang="es-CO" sz="1150" noProof="0" dirty="0"/>
          </a:p>
        </p:txBody>
      </p:sp>
      <p:sp>
        <p:nvSpPr>
          <p:cNvPr id="10" name="Shape 8"/>
          <p:cNvSpPr/>
          <p:nvPr/>
        </p:nvSpPr>
        <p:spPr>
          <a:xfrm>
            <a:off x="2377440" y="2606040"/>
            <a:ext cx="210312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1" name="Shape 9"/>
          <p:cNvSpPr/>
          <p:nvPr/>
        </p:nvSpPr>
        <p:spPr>
          <a:xfrm>
            <a:off x="2587752" y="1371600"/>
            <a:ext cx="1965960" cy="32918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sp>
        <p:nvSpPr>
          <p:cNvPr id="12" name="Shape 10"/>
          <p:cNvSpPr/>
          <p:nvPr/>
        </p:nvSpPr>
        <p:spPr>
          <a:xfrm>
            <a:off x="2587752" y="1371600"/>
            <a:ext cx="196596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3" name="Text 11"/>
          <p:cNvSpPr/>
          <p:nvPr/>
        </p:nvSpPr>
        <p:spPr>
          <a:xfrm>
            <a:off x="2587752" y="1371600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3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s-CO" sz="3200" noProof="0" dirty="0"/>
          </a:p>
        </p:txBody>
      </p:sp>
      <p:sp>
        <p:nvSpPr>
          <p:cNvPr id="14" name="Text 12"/>
          <p:cNvSpPr/>
          <p:nvPr/>
        </p:nvSpPr>
        <p:spPr>
          <a:xfrm>
            <a:off x="2660904" y="208483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300" b="1" noProof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</a:t>
            </a:r>
            <a:endParaRPr lang="es-CO" sz="1300" noProof="0" dirty="0"/>
          </a:p>
        </p:txBody>
      </p:sp>
      <p:sp>
        <p:nvSpPr>
          <p:cNvPr id="15" name="Text 13"/>
          <p:cNvSpPr/>
          <p:nvPr/>
        </p:nvSpPr>
        <p:spPr>
          <a:xfrm>
            <a:off x="2660904" y="2542032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150" noProof="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el plan de pruebas: ciclos, funcionalidades priorizadas y análisis de riesgo.</a:t>
            </a:r>
            <a:endParaRPr lang="es-CO" sz="1150" noProof="0" dirty="0"/>
          </a:p>
        </p:txBody>
      </p:sp>
      <p:sp>
        <p:nvSpPr>
          <p:cNvPr id="16" name="Shape 14"/>
          <p:cNvSpPr/>
          <p:nvPr/>
        </p:nvSpPr>
        <p:spPr>
          <a:xfrm>
            <a:off x="4553712" y="2606040"/>
            <a:ext cx="210312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7" name="Shape 15"/>
          <p:cNvSpPr/>
          <p:nvPr/>
        </p:nvSpPr>
        <p:spPr>
          <a:xfrm>
            <a:off x="4764024" y="1371600"/>
            <a:ext cx="1965960" cy="32918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sp>
        <p:nvSpPr>
          <p:cNvPr id="18" name="Shape 16"/>
          <p:cNvSpPr/>
          <p:nvPr/>
        </p:nvSpPr>
        <p:spPr>
          <a:xfrm>
            <a:off x="4764024" y="1371600"/>
            <a:ext cx="1965960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9" name="Text 17"/>
          <p:cNvSpPr/>
          <p:nvPr/>
        </p:nvSpPr>
        <p:spPr>
          <a:xfrm>
            <a:off x="4764024" y="1371600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3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s-CO" sz="3200" noProof="0" dirty="0"/>
          </a:p>
        </p:txBody>
      </p:sp>
      <p:sp>
        <p:nvSpPr>
          <p:cNvPr id="20" name="Text 18"/>
          <p:cNvSpPr/>
          <p:nvPr/>
        </p:nvSpPr>
        <p:spPr>
          <a:xfrm>
            <a:off x="4837176" y="208483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300" b="1" noProof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</a:t>
            </a:r>
            <a:endParaRPr lang="es-CO" sz="1300" noProof="0" dirty="0"/>
          </a:p>
        </p:txBody>
      </p:sp>
      <p:sp>
        <p:nvSpPr>
          <p:cNvPr id="21" name="Text 19"/>
          <p:cNvSpPr/>
          <p:nvPr/>
        </p:nvSpPr>
        <p:spPr>
          <a:xfrm>
            <a:off x="4837176" y="2542032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150" noProof="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casos de prueba (caja negra, regresión, humo) por ciclo. Registrar incidentes.</a:t>
            </a:r>
            <a:endParaRPr lang="es-CO" sz="1150" noProof="0" dirty="0"/>
          </a:p>
        </p:txBody>
      </p:sp>
      <p:sp>
        <p:nvSpPr>
          <p:cNvPr id="22" name="Shape 20"/>
          <p:cNvSpPr/>
          <p:nvPr/>
        </p:nvSpPr>
        <p:spPr>
          <a:xfrm>
            <a:off x="6729984" y="2606040"/>
            <a:ext cx="210312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23" name="Shape 21"/>
          <p:cNvSpPr/>
          <p:nvPr/>
        </p:nvSpPr>
        <p:spPr>
          <a:xfrm>
            <a:off x="6940296" y="1371600"/>
            <a:ext cx="1965960" cy="32918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sp>
        <p:nvSpPr>
          <p:cNvPr id="24" name="Shape 22"/>
          <p:cNvSpPr/>
          <p:nvPr/>
        </p:nvSpPr>
        <p:spPr>
          <a:xfrm>
            <a:off x="6940296" y="1371600"/>
            <a:ext cx="1965960" cy="6583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25" name="Text 23"/>
          <p:cNvSpPr/>
          <p:nvPr/>
        </p:nvSpPr>
        <p:spPr>
          <a:xfrm>
            <a:off x="6940296" y="1371600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3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s-CO" sz="3200" noProof="0" dirty="0"/>
          </a:p>
        </p:txBody>
      </p:sp>
      <p:sp>
        <p:nvSpPr>
          <p:cNvPr id="26" name="Text 24"/>
          <p:cNvSpPr/>
          <p:nvPr/>
        </p:nvSpPr>
        <p:spPr>
          <a:xfrm>
            <a:off x="7013448" y="208483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300" b="1" noProof="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</a:t>
            </a:r>
            <a:endParaRPr lang="es-CO" sz="1300" noProof="0" dirty="0"/>
          </a:p>
        </p:txBody>
      </p:sp>
      <p:sp>
        <p:nvSpPr>
          <p:cNvPr id="27" name="Text 25"/>
          <p:cNvSpPr/>
          <p:nvPr/>
        </p:nvSpPr>
        <p:spPr>
          <a:xfrm>
            <a:off x="7013448" y="2542032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150" noProof="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final, medición de satisfacción del cliente y repositorio histórico de defectos.</a:t>
            </a:r>
            <a:endParaRPr lang="es-CO" sz="1150" noProof="0" dirty="0"/>
          </a:p>
        </p:txBody>
      </p:sp>
      <p:sp>
        <p:nvSpPr>
          <p:cNvPr id="28" name="Text 26"/>
          <p:cNvSpPr/>
          <p:nvPr/>
        </p:nvSpPr>
        <p:spPr>
          <a:xfrm>
            <a:off x="411480" y="468172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000" b="1" noProof="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de diseño de casos:</a:t>
            </a:r>
            <a:endParaRPr lang="es-CO" sz="1000" noProof="0" dirty="0"/>
          </a:p>
        </p:txBody>
      </p:sp>
      <p:sp>
        <p:nvSpPr>
          <p:cNvPr id="29" name="Shape 27"/>
          <p:cNvSpPr/>
          <p:nvPr/>
        </p:nvSpPr>
        <p:spPr>
          <a:xfrm>
            <a:off x="2606040" y="4663440"/>
            <a:ext cx="1508760" cy="27432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30" name="Text 28"/>
          <p:cNvSpPr/>
          <p:nvPr/>
        </p:nvSpPr>
        <p:spPr>
          <a:xfrm>
            <a:off x="2606040" y="466344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Partición de Equivalencia</a:t>
            </a:r>
            <a:endParaRPr lang="es-CO" sz="1100" noProof="0" dirty="0"/>
          </a:p>
        </p:txBody>
      </p:sp>
      <p:sp>
        <p:nvSpPr>
          <p:cNvPr id="31" name="Shape 29"/>
          <p:cNvSpPr/>
          <p:nvPr/>
        </p:nvSpPr>
        <p:spPr>
          <a:xfrm>
            <a:off x="4233672" y="4663440"/>
            <a:ext cx="1508760" cy="27432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32" name="Text 30"/>
          <p:cNvSpPr/>
          <p:nvPr/>
        </p:nvSpPr>
        <p:spPr>
          <a:xfrm>
            <a:off x="4233672" y="466344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Límite</a:t>
            </a:r>
            <a:endParaRPr lang="es-CO" sz="1100" noProof="0" dirty="0"/>
          </a:p>
        </p:txBody>
      </p:sp>
      <p:sp>
        <p:nvSpPr>
          <p:cNvPr id="33" name="Shape 31"/>
          <p:cNvSpPr/>
          <p:nvPr/>
        </p:nvSpPr>
        <p:spPr>
          <a:xfrm>
            <a:off x="5861304" y="4663440"/>
            <a:ext cx="1508760" cy="27432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34" name="Text 32"/>
          <p:cNvSpPr/>
          <p:nvPr/>
        </p:nvSpPr>
        <p:spPr>
          <a:xfrm>
            <a:off x="5861304" y="466344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 Causa-Efecto</a:t>
            </a:r>
            <a:endParaRPr lang="es-CO" sz="1100" noProof="0" dirty="0"/>
          </a:p>
        </p:txBody>
      </p:sp>
      <p:sp>
        <p:nvSpPr>
          <p:cNvPr id="35" name="Shape 33"/>
          <p:cNvSpPr/>
          <p:nvPr/>
        </p:nvSpPr>
        <p:spPr>
          <a:xfrm>
            <a:off x="7488936" y="4663440"/>
            <a:ext cx="1508760" cy="27432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36" name="Text 34"/>
          <p:cNvSpPr/>
          <p:nvPr/>
        </p:nvSpPr>
        <p:spPr>
          <a:xfrm>
            <a:off x="7488936" y="466344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Conjetura de Errores</a:t>
            </a:r>
            <a:endParaRPr lang="es-CO" sz="1100" noProof="0" dirty="0"/>
          </a:p>
        </p:txBody>
      </p:sp>
      <p:sp>
        <p:nvSpPr>
          <p:cNvPr id="37" name="Text 35"/>
          <p:cNvSpPr/>
          <p:nvPr/>
        </p:nvSpPr>
        <p:spPr>
          <a:xfrm>
            <a:off x="859536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CO" sz="900" noProof="0" dirty="0">
                <a:solidFill>
                  <a:srgbClr val="64748B"/>
                </a:solidFill>
              </a:rPr>
              <a:t>8</a:t>
            </a:r>
            <a:endParaRPr lang="es-CO" sz="900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3000" b="1" noProof="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del Caso de Estudio</a:t>
            </a:r>
            <a:endParaRPr lang="es-CO" sz="3000" noProof="0" dirty="0"/>
          </a:p>
        </p:txBody>
      </p:sp>
      <p:sp>
        <p:nvSpPr>
          <p:cNvPr id="3" name="Shape 1"/>
          <p:cNvSpPr/>
          <p:nvPr/>
        </p:nvSpPr>
        <p:spPr>
          <a:xfrm>
            <a:off x="502920" y="347472"/>
            <a:ext cx="64008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500" b="1" noProof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modular de administración educativa – 20 funcionalidades probadas en 2 ciclos</a:t>
            </a:r>
            <a:endParaRPr lang="es-CO" sz="1500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920240" cy="1417320"/>
          </a:xfrm>
          <a:prstGeom prst="rect">
            <a:avLst/>
          </a:prstGeom>
          <a:solidFill>
            <a:srgbClr val="1A2F5A"/>
          </a:solidFill>
          <a:ln w="12700">
            <a:solidFill>
              <a:srgbClr val="D0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sp>
        <p:nvSpPr>
          <p:cNvPr id="6" name="Text 4"/>
          <p:cNvSpPr/>
          <p:nvPr/>
        </p:nvSpPr>
        <p:spPr>
          <a:xfrm>
            <a:off x="457200" y="1408176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3600" b="1" noProof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228</a:t>
            </a:r>
            <a:endParaRPr lang="es-CO" sz="3600" noProof="0" dirty="0"/>
          </a:p>
        </p:txBody>
      </p:sp>
      <p:sp>
        <p:nvSpPr>
          <p:cNvPr id="7" name="Text 5"/>
          <p:cNvSpPr/>
          <p:nvPr/>
        </p:nvSpPr>
        <p:spPr>
          <a:xfrm>
            <a:off x="457200" y="212140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100" noProof="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prueba</a:t>
            </a:r>
            <a:endParaRPr lang="es-CO" sz="1100" noProof="0" dirty="0"/>
          </a:p>
          <a:p>
            <a:pPr marL="0" indent="0" algn="ctr">
              <a:buNone/>
            </a:pPr>
            <a:r>
              <a:rPr lang="es-CO" sz="1100" noProof="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ejecutados</a:t>
            </a:r>
            <a:endParaRPr lang="es-CO" sz="1100" noProof="0" dirty="0"/>
          </a:p>
        </p:txBody>
      </p:sp>
      <p:sp>
        <p:nvSpPr>
          <p:cNvPr id="8" name="Shape 6"/>
          <p:cNvSpPr/>
          <p:nvPr/>
        </p:nvSpPr>
        <p:spPr>
          <a:xfrm>
            <a:off x="2633472" y="1371600"/>
            <a:ext cx="1920240" cy="1417320"/>
          </a:xfrm>
          <a:prstGeom prst="rect">
            <a:avLst/>
          </a:prstGeom>
          <a:solidFill>
            <a:srgbClr val="1A2F5A"/>
          </a:solidFill>
          <a:ln w="12700">
            <a:solidFill>
              <a:srgbClr val="D0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sp>
        <p:nvSpPr>
          <p:cNvPr id="9" name="Text 7"/>
          <p:cNvSpPr/>
          <p:nvPr/>
        </p:nvSpPr>
        <p:spPr>
          <a:xfrm>
            <a:off x="2633472" y="1408176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3600" b="1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s-CO" sz="3600" noProof="0" dirty="0"/>
          </a:p>
        </p:txBody>
      </p:sp>
      <p:sp>
        <p:nvSpPr>
          <p:cNvPr id="10" name="Text 8"/>
          <p:cNvSpPr/>
          <p:nvPr/>
        </p:nvSpPr>
        <p:spPr>
          <a:xfrm>
            <a:off x="2633472" y="212140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100" noProof="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Incidentes</a:t>
            </a:r>
            <a:endParaRPr lang="es-CO" sz="1100" noProof="0" dirty="0"/>
          </a:p>
          <a:p>
            <a:pPr marL="0" indent="0" algn="ctr">
              <a:buNone/>
            </a:pPr>
            <a:r>
              <a:rPr lang="es-CO" sz="1100" noProof="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detectados</a:t>
            </a:r>
            <a:endParaRPr lang="es-CO" sz="1100" noProof="0" dirty="0"/>
          </a:p>
        </p:txBody>
      </p:sp>
      <p:sp>
        <p:nvSpPr>
          <p:cNvPr id="11" name="Shape 9"/>
          <p:cNvSpPr/>
          <p:nvPr/>
        </p:nvSpPr>
        <p:spPr>
          <a:xfrm>
            <a:off x="4809744" y="1371600"/>
            <a:ext cx="1920240" cy="1417320"/>
          </a:xfrm>
          <a:prstGeom prst="rect">
            <a:avLst/>
          </a:prstGeom>
          <a:solidFill>
            <a:srgbClr val="1A2F5A"/>
          </a:solidFill>
          <a:ln w="12700">
            <a:solidFill>
              <a:srgbClr val="D0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sp>
        <p:nvSpPr>
          <p:cNvPr id="12" name="Text 10"/>
          <p:cNvSpPr/>
          <p:nvPr/>
        </p:nvSpPr>
        <p:spPr>
          <a:xfrm>
            <a:off x="4809744" y="1408176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3600" b="1" noProof="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s-CO" sz="3600" noProof="0" dirty="0"/>
          </a:p>
        </p:txBody>
      </p:sp>
      <p:sp>
        <p:nvSpPr>
          <p:cNvPr id="13" name="Text 11"/>
          <p:cNvSpPr/>
          <p:nvPr/>
        </p:nvSpPr>
        <p:spPr>
          <a:xfrm>
            <a:off x="4809744" y="212140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100" noProof="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</a:t>
            </a:r>
            <a:endParaRPr lang="es-CO" sz="1100" noProof="0" dirty="0"/>
          </a:p>
          <a:p>
            <a:pPr marL="0" indent="0" algn="ctr">
              <a:buNone/>
            </a:pPr>
            <a:r>
              <a:rPr lang="es-CO" sz="1100" noProof="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incidentes (C1→C2)</a:t>
            </a:r>
            <a:endParaRPr lang="es-CO" sz="1100" noProof="0" dirty="0"/>
          </a:p>
        </p:txBody>
      </p:sp>
      <p:sp>
        <p:nvSpPr>
          <p:cNvPr id="14" name="Shape 12"/>
          <p:cNvSpPr/>
          <p:nvPr/>
        </p:nvSpPr>
        <p:spPr>
          <a:xfrm>
            <a:off x="6986016" y="1371600"/>
            <a:ext cx="1920240" cy="1417320"/>
          </a:xfrm>
          <a:prstGeom prst="rect">
            <a:avLst/>
          </a:prstGeom>
          <a:solidFill>
            <a:srgbClr val="1A2F5A"/>
          </a:solidFill>
          <a:ln w="12700">
            <a:solidFill>
              <a:srgbClr val="D0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sp>
        <p:nvSpPr>
          <p:cNvPr id="15" name="Text 13"/>
          <p:cNvSpPr/>
          <p:nvPr/>
        </p:nvSpPr>
        <p:spPr>
          <a:xfrm>
            <a:off x="6986016" y="1408176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3600" b="1" noProof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4/5</a:t>
            </a:r>
            <a:endParaRPr lang="es-CO" sz="3600" noProof="0" dirty="0"/>
          </a:p>
        </p:txBody>
      </p:sp>
      <p:sp>
        <p:nvSpPr>
          <p:cNvPr id="16" name="Text 14"/>
          <p:cNvSpPr/>
          <p:nvPr/>
        </p:nvSpPr>
        <p:spPr>
          <a:xfrm>
            <a:off x="6986016" y="212140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100" noProof="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Satisfacción</a:t>
            </a:r>
            <a:endParaRPr lang="es-CO" sz="1100" noProof="0" dirty="0"/>
          </a:p>
          <a:p>
            <a:pPr marL="0" indent="0" algn="ctr">
              <a:buNone/>
            </a:pPr>
            <a:r>
              <a:rPr lang="es-CO" sz="1100" noProof="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cliente</a:t>
            </a:r>
            <a:endParaRPr lang="es-CO" sz="1100" noProof="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6358903"/>
              </p:ext>
            </p:extLst>
          </p:nvPr>
        </p:nvGraphicFramePr>
        <p:xfrm>
          <a:off x="457200" y="2926080"/>
          <a:ext cx="8229600" cy="192024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s-CO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Ciclo 1</a:t>
                      </a:r>
                      <a:endParaRPr lang="es-CO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Ciclo 2</a:t>
                      </a:r>
                      <a:endParaRPr lang="es-CO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Funcionalidades</a:t>
                      </a:r>
                      <a:endParaRPr lang="es-CO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s-CO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s-CO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Casos por funcionalidad</a:t>
                      </a:r>
                      <a:endParaRPr lang="es-CO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</a:t>
                      </a:r>
                      <a:endParaRPr lang="es-CO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</a:t>
                      </a:r>
                      <a:endParaRPr lang="es-CO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Incidentes por funcionalidad</a:t>
                      </a:r>
                      <a:endParaRPr lang="es-CO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2.95</a:t>
                      </a:r>
                      <a:endParaRPr lang="es-CO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2.56</a:t>
                      </a:r>
                      <a:endParaRPr lang="es-CO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Incidentes por caso ejecutado</a:t>
                      </a:r>
                      <a:endParaRPr lang="es-CO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</a:t>
                      </a:r>
                      <a:endParaRPr lang="es-CO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</a:t>
                      </a:r>
                      <a:endParaRPr lang="es-CO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859536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CO" sz="900" noProof="0" dirty="0">
                <a:solidFill>
                  <a:srgbClr val="64748B"/>
                </a:solidFill>
              </a:rPr>
              <a:t>9</a:t>
            </a:r>
            <a:endParaRPr lang="es-CO" sz="900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F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3" name="Shape 1"/>
          <p:cNvSpPr/>
          <p:nvPr/>
        </p:nvSpPr>
        <p:spPr>
          <a:xfrm>
            <a:off x="6949440" y="2743200"/>
            <a:ext cx="2926080" cy="2926080"/>
          </a:xfrm>
          <a:prstGeom prst="ellipse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3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Reflexiones</a:t>
            </a:r>
            <a:endParaRPr lang="es-CO" sz="3000" noProof="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4864" cy="594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200" b="1" noProof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Defectos más frecuentes</a:t>
            </a:r>
            <a:endParaRPr lang="es-CO" sz="1200" noProof="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200" noProof="0" dirty="0">
                <a:solidFill>
                  <a:srgbClr val="C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</a:t>
            </a:r>
            <a:r>
              <a:rPr lang="es-CO" sz="1200" noProof="0" dirty="0" err="1">
                <a:solidFill>
                  <a:srgbClr val="C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EMPs</a:t>
            </a:r>
            <a:r>
              <a:rPr lang="es-CO" sz="1200" noProof="0" dirty="0">
                <a:solidFill>
                  <a:srgbClr val="C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falta de V&amp;V, ausencia de casos de prueba y no corrección sistemática de defectos.</a:t>
            </a:r>
            <a:endParaRPr lang="es-CO" sz="1200" noProof="0" dirty="0"/>
          </a:p>
        </p:txBody>
      </p:sp>
      <p:sp>
        <p:nvSpPr>
          <p:cNvPr id="8" name="Shape 6"/>
          <p:cNvSpPr/>
          <p:nvPr/>
        </p:nvSpPr>
        <p:spPr>
          <a:xfrm>
            <a:off x="365760" y="1801368"/>
            <a:ext cx="54864" cy="594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9" name="Text 7"/>
          <p:cNvSpPr/>
          <p:nvPr/>
        </p:nvSpPr>
        <p:spPr>
          <a:xfrm>
            <a:off x="548640" y="18013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200" b="1" noProof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modelos no son suficientes</a:t>
            </a:r>
            <a:endParaRPr lang="es-CO" sz="1200" noProof="0" dirty="0"/>
          </a:p>
        </p:txBody>
      </p:sp>
      <p:sp>
        <p:nvSpPr>
          <p:cNvPr id="10" name="Text 8"/>
          <p:cNvSpPr/>
          <p:nvPr/>
        </p:nvSpPr>
        <p:spPr>
          <a:xfrm>
            <a:off x="548640" y="207568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200" noProof="0" dirty="0">
                <a:solidFill>
                  <a:srgbClr val="C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TMM/TMMI definen QUÉ mejorar, pero no CÓMO realizarlo. Se necesita un modelo operativo.</a:t>
            </a:r>
            <a:endParaRPr lang="es-CO" sz="1200" noProof="0" dirty="0"/>
          </a:p>
        </p:txBody>
      </p:sp>
      <p:sp>
        <p:nvSpPr>
          <p:cNvPr id="11" name="Shape 9"/>
          <p:cNvSpPr/>
          <p:nvPr/>
        </p:nvSpPr>
        <p:spPr>
          <a:xfrm>
            <a:off x="365760" y="2596896"/>
            <a:ext cx="54864" cy="594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2" name="Text 10"/>
          <p:cNvSpPr/>
          <p:nvPr/>
        </p:nvSpPr>
        <p:spPr>
          <a:xfrm>
            <a:off x="548640" y="259689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200" b="1" noProof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de 4 fases funciona</a:t>
            </a:r>
            <a:endParaRPr lang="es-CO" sz="1200" noProof="0" dirty="0"/>
          </a:p>
        </p:txBody>
      </p:sp>
      <p:sp>
        <p:nvSpPr>
          <p:cNvPr id="13" name="Text 11"/>
          <p:cNvSpPr/>
          <p:nvPr/>
        </p:nvSpPr>
        <p:spPr>
          <a:xfrm>
            <a:off x="548640" y="2871216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200" noProof="0" dirty="0">
                <a:solidFill>
                  <a:srgbClr val="C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Especificación → Planificación → Ejecución → Evaluación redujo incidentes en 62 % entre ciclos.</a:t>
            </a:r>
            <a:endParaRPr lang="es-CO" sz="1200" noProof="0" dirty="0"/>
          </a:p>
        </p:txBody>
      </p:sp>
      <p:sp>
        <p:nvSpPr>
          <p:cNvPr id="14" name="Shape 12"/>
          <p:cNvSpPr/>
          <p:nvPr/>
        </p:nvSpPr>
        <p:spPr>
          <a:xfrm>
            <a:off x="365760" y="3392424"/>
            <a:ext cx="54864" cy="594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5" name="Text 13"/>
          <p:cNvSpPr/>
          <p:nvPr/>
        </p:nvSpPr>
        <p:spPr>
          <a:xfrm>
            <a:off x="548640" y="339242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200" b="1" noProof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 de calidad es clave</a:t>
            </a:r>
            <a:endParaRPr lang="es-CO" sz="1200" noProof="0" dirty="0"/>
          </a:p>
        </p:txBody>
      </p:sp>
      <p:sp>
        <p:nvSpPr>
          <p:cNvPr id="16" name="Text 14"/>
          <p:cNvSpPr/>
          <p:nvPr/>
        </p:nvSpPr>
        <p:spPr>
          <a:xfrm>
            <a:off x="548640" y="3666744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200" noProof="0" dirty="0">
                <a:solidFill>
                  <a:srgbClr val="C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eficiencia técnica del modelo no basta si no existe compromiso organizacional con la calidad.</a:t>
            </a:r>
            <a:endParaRPr lang="es-CO" sz="1200" noProof="0" dirty="0"/>
          </a:p>
        </p:txBody>
      </p:sp>
      <p:sp>
        <p:nvSpPr>
          <p:cNvPr id="17" name="Shape 15"/>
          <p:cNvSpPr/>
          <p:nvPr/>
        </p:nvSpPr>
        <p:spPr>
          <a:xfrm>
            <a:off x="365760" y="4187952"/>
            <a:ext cx="54864" cy="594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8" name="Text 16"/>
          <p:cNvSpPr/>
          <p:nvPr/>
        </p:nvSpPr>
        <p:spPr>
          <a:xfrm>
            <a:off x="548640" y="418795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200" b="1" noProof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futuro</a:t>
            </a:r>
            <a:endParaRPr lang="es-CO" sz="1200" noProof="0" dirty="0"/>
          </a:p>
        </p:txBody>
      </p:sp>
      <p:sp>
        <p:nvSpPr>
          <p:cNvPr id="19" name="Text 17"/>
          <p:cNvSpPr/>
          <p:nvPr/>
        </p:nvSpPr>
        <p:spPr>
          <a:xfrm>
            <a:off x="548640" y="446227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200" noProof="0" dirty="0">
                <a:solidFill>
                  <a:srgbClr val="C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Incorporar requisitos no funcionales y desarrollar herramientas de soporte para la adopción del estándar.</a:t>
            </a:r>
            <a:endParaRPr lang="es-CO" sz="1200" noProof="0" dirty="0"/>
          </a:p>
        </p:txBody>
      </p:sp>
      <p:sp>
        <p:nvSpPr>
          <p:cNvPr id="20" name="Text 18"/>
          <p:cNvSpPr/>
          <p:nvPr/>
        </p:nvSpPr>
        <p:spPr>
          <a:xfrm>
            <a:off x="859536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CO" sz="900" noProof="0" dirty="0">
                <a:solidFill>
                  <a:srgbClr val="64748B"/>
                </a:solidFill>
              </a:rPr>
              <a:t>10</a:t>
            </a:r>
            <a:endParaRPr lang="es-CO" sz="9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838</Words>
  <Application>Microsoft Office PowerPoint</Application>
  <PresentationFormat>Presentación en pantalla (16:9)</PresentationFormat>
  <Paragraphs>196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Aseguramiento de la Calidad del Software: Caracterización de Defectos</dc:title>
  <dc:subject>PptxGenJS Presentation</dc:subject>
  <dc:creator>PptxGenJS</dc:creator>
  <cp:lastModifiedBy>Cesar Alfonso</cp:lastModifiedBy>
  <cp:revision>2</cp:revision>
  <dcterms:created xsi:type="dcterms:W3CDTF">2026-05-23T14:57:04Z</dcterms:created>
  <dcterms:modified xsi:type="dcterms:W3CDTF">2026-05-23T17:35:50Z</dcterms:modified>
</cp:coreProperties>
</file>