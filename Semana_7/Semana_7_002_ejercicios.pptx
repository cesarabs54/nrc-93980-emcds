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68" r:id="rId13"/>
    <p:sldId id="269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EFD"/>
    <a:srgbClr val="B8F6FE"/>
    <a:srgbClr val="FFFFFF"/>
    <a:srgbClr val="007A37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145D28-35B6-8042-98E8-A2DB3305423D}" v="6" dt="2024-03-01T21:35:48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9" autoAdjust="0"/>
    <p:restoredTop sz="96374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5C25A-EB36-47A0-9FD7-DE8450ACEFF0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C55DB-397F-4AC6-8647-D1E20B065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71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72862-1FC3-85DE-E7F9-11D463592D43}"/>
              </a:ext>
            </a:extLst>
          </p:cNvPr>
          <p:cNvSpPr txBox="1"/>
          <p:nvPr/>
        </p:nvSpPr>
        <p:spPr>
          <a:xfrm>
            <a:off x="218734" y="3166762"/>
            <a:ext cx="1096713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Técnicas de gestión y medición en la calidad de software</a:t>
            </a:r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MX" sz="2800" b="1" dirty="0">
                <a:solidFill>
                  <a:srgbClr val="7BEEFD"/>
                </a:solidFill>
                <a:latin typeface="Century Gothic" panose="020B0502020202020204" pitchFamily="34" charset="0"/>
              </a:rPr>
              <a:t>Semana 7</a:t>
            </a:r>
          </a:p>
          <a:p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04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700000" cy="4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Contenido</a:t>
            </a:r>
          </a:p>
        </p:txBody>
      </p:sp>
      <p:sp>
        <p:nvSpPr>
          <p:cNvPr id="101" name="Circle 101"/>
          <p:cNvSpPr/>
          <p:nvPr/>
        </p:nvSpPr>
        <p:spPr>
          <a:xfrm>
            <a:off x="421004" y="1850000"/>
            <a:ext cx="520000" cy="52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161004" y="1760000"/>
            <a:ext cx="4615433" cy="7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350" b="0" dirty="0">
                <a:solidFill>
                  <a:srgbClr val="26344A"/>
                </a:solidFill>
                <a:latin typeface="Calibri"/>
              </a:rPr>
              <a:t>Resultados de aprendizaje de la semana</a:t>
            </a:r>
          </a:p>
        </p:txBody>
      </p:sp>
      <p:sp>
        <p:nvSpPr>
          <p:cNvPr id="103" name="Circle 103"/>
          <p:cNvSpPr/>
          <p:nvPr/>
        </p:nvSpPr>
        <p:spPr>
          <a:xfrm>
            <a:off x="421004" y="2640000"/>
            <a:ext cx="520000" cy="52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161004" y="2550000"/>
            <a:ext cx="4615433" cy="7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350" b="0" dirty="0">
                <a:solidFill>
                  <a:srgbClr val="26344A"/>
                </a:solidFill>
                <a:latin typeface="Calibri"/>
              </a:rPr>
              <a:t>Tecnica, herramienta y estandar: la diferencia</a:t>
            </a:r>
          </a:p>
        </p:txBody>
      </p:sp>
      <p:sp>
        <p:nvSpPr>
          <p:cNvPr id="105" name="Circle 105"/>
          <p:cNvSpPr/>
          <p:nvPr/>
        </p:nvSpPr>
        <p:spPr>
          <a:xfrm>
            <a:off x="421004" y="3430000"/>
            <a:ext cx="520000" cy="52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161004" y="3340000"/>
            <a:ext cx="4615433" cy="7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350" b="0" dirty="0">
                <a:solidFill>
                  <a:srgbClr val="26344A"/>
                </a:solidFill>
                <a:latin typeface="Calibri"/>
              </a:rPr>
              <a:t>Eje 1: ISO/IEC 25010, caracteristicas del producto</a:t>
            </a:r>
          </a:p>
        </p:txBody>
      </p:sp>
      <p:sp>
        <p:nvSpPr>
          <p:cNvPr id="107" name="Circle 107"/>
          <p:cNvSpPr/>
          <p:nvPr/>
        </p:nvSpPr>
        <p:spPr>
          <a:xfrm>
            <a:off x="421004" y="4220000"/>
            <a:ext cx="520000" cy="52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161004" y="4130000"/>
            <a:ext cx="4615433" cy="7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350" b="0" dirty="0">
                <a:solidFill>
                  <a:srgbClr val="26344A"/>
                </a:solidFill>
                <a:latin typeface="Calibri"/>
              </a:rPr>
              <a:t>Eje 2: CMMI Nivel 3, areas de proceso</a:t>
            </a:r>
          </a:p>
        </p:txBody>
      </p:sp>
      <p:sp>
        <p:nvSpPr>
          <p:cNvPr id="109" name="Circle 109"/>
          <p:cNvSpPr/>
          <p:nvPr/>
        </p:nvSpPr>
        <p:spPr>
          <a:xfrm>
            <a:off x="421004" y="5010000"/>
            <a:ext cx="520000" cy="52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161004" y="4920000"/>
            <a:ext cx="4615433" cy="7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350" b="0" dirty="0">
                <a:solidFill>
                  <a:srgbClr val="26344A"/>
                </a:solidFill>
                <a:latin typeface="Calibri"/>
              </a:rPr>
              <a:t>Como se cruzan ambos ejes de clasificacion</a:t>
            </a:r>
          </a:p>
        </p:txBody>
      </p:sp>
      <p:sp>
        <p:nvSpPr>
          <p:cNvPr id="111" name="Circle 111"/>
          <p:cNvSpPr/>
          <p:nvPr/>
        </p:nvSpPr>
        <p:spPr>
          <a:xfrm>
            <a:off x="6276437" y="1850000"/>
            <a:ext cx="520000" cy="52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7016437" y="1760000"/>
            <a:ext cx="4615433" cy="7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350" b="0" dirty="0">
                <a:solidFill>
                  <a:srgbClr val="26344A"/>
                </a:solidFill>
                <a:latin typeface="Calibri"/>
              </a:rPr>
              <a:t>Herramientas de calidad de software</a:t>
            </a:r>
          </a:p>
        </p:txBody>
      </p:sp>
      <p:sp>
        <p:nvSpPr>
          <p:cNvPr id="113" name="Circle 113"/>
          <p:cNvSpPr/>
          <p:nvPr/>
        </p:nvSpPr>
        <p:spPr>
          <a:xfrm>
            <a:off x="6276437" y="2640000"/>
            <a:ext cx="520000" cy="52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016437" y="2550000"/>
            <a:ext cx="4615433" cy="7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350" b="0" dirty="0">
                <a:solidFill>
                  <a:srgbClr val="26344A"/>
                </a:solidFill>
                <a:latin typeface="Calibri"/>
              </a:rPr>
              <a:t>Metricas de calidad con valores de referencia</a:t>
            </a:r>
          </a:p>
        </p:txBody>
      </p:sp>
      <p:sp>
        <p:nvSpPr>
          <p:cNvPr id="115" name="Circle 115"/>
          <p:cNvSpPr/>
          <p:nvPr/>
        </p:nvSpPr>
        <p:spPr>
          <a:xfrm>
            <a:off x="6276437" y="3430000"/>
            <a:ext cx="520000" cy="52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7016437" y="3340000"/>
            <a:ext cx="4615433" cy="7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350" b="0" dirty="0">
                <a:solidFill>
                  <a:srgbClr val="26344A"/>
                </a:solidFill>
                <a:latin typeface="Calibri"/>
              </a:rPr>
              <a:t>Caso aplicado: DataFlow Solutions / InventoryPro</a:t>
            </a:r>
          </a:p>
        </p:txBody>
      </p:sp>
      <p:sp>
        <p:nvSpPr>
          <p:cNvPr id="117" name="Circle 117"/>
          <p:cNvSpPr/>
          <p:nvPr/>
        </p:nvSpPr>
        <p:spPr>
          <a:xfrm>
            <a:off x="6276437" y="4220000"/>
            <a:ext cx="520000" cy="52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400" b="1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7016437" y="4130000"/>
            <a:ext cx="4615433" cy="7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350" b="0" dirty="0">
                <a:solidFill>
                  <a:srgbClr val="26344A"/>
                </a:solidFill>
                <a:latin typeface="Calibri"/>
              </a:rPr>
              <a:t>Resultados del caso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700000" cy="4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Resultados de aprendizaje de la semana</a:t>
            </a:r>
          </a:p>
        </p:txBody>
      </p:sp>
      <p:sp>
        <p:nvSpPr>
          <p:cNvPr id="119" name="Card 119"/>
          <p:cNvSpPr/>
          <p:nvPr/>
        </p:nvSpPr>
        <p:spPr>
          <a:xfrm>
            <a:off x="421004" y="1760000"/>
            <a:ext cx="5400000" cy="368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0" name="Circle 120"/>
          <p:cNvSpPr/>
          <p:nvPr/>
        </p:nvSpPr>
        <p:spPr>
          <a:xfrm>
            <a:off x="801004" y="2120000"/>
            <a:ext cx="680000" cy="68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20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01004" y="3020000"/>
            <a:ext cx="4640000" cy="9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Establecer las herramientas de calidad de software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01004" y="3840000"/>
            <a:ext cx="4640000" cy="145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s-CO" sz="1250" b="0" dirty="0">
                <a:solidFill>
                  <a:srgbClr val="6B7785"/>
                </a:solidFill>
                <a:latin typeface="Calibri"/>
              </a:rPr>
              <a:t>Identificar y seleccionar instrumentos de soporte (analisis estatico, gestion de pruebas, trazabilidad) de acuerdo con la causa raiz del problema de calidad detectado, no con la moda tecnologica.</a:t>
            </a:r>
          </a:p>
        </p:txBody>
      </p:sp>
      <p:sp>
        <p:nvSpPr>
          <p:cNvPr id="123" name="Card 123"/>
          <p:cNvSpPr/>
          <p:nvPr/>
        </p:nvSpPr>
        <p:spPr>
          <a:xfrm>
            <a:off x="6231870" y="1760000"/>
            <a:ext cx="5400000" cy="368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4" name="Circle 124"/>
          <p:cNvSpPr/>
          <p:nvPr/>
        </p:nvSpPr>
        <p:spPr>
          <a:xfrm>
            <a:off x="6611870" y="2120000"/>
            <a:ext cx="680000" cy="68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20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6611870" y="3020000"/>
            <a:ext cx="4640000" cy="9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Clasificar las tecnicas de gestion de la calidad del software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6611870" y="3840000"/>
            <a:ext cx="4640000" cy="145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s-CO" sz="1250" b="0" dirty="0">
                <a:solidFill>
                  <a:srgbClr val="6B7785"/>
                </a:solidFill>
                <a:latin typeface="Calibri"/>
              </a:rPr>
              <a:t>Diferenciar tecnicas segun el modelo de producto (ISO/IEC 25010, que atributo mejora) y el modelo de proceso (CMMI, donde se institucionaliza), reconociendo que cada modelo responde una pregunta distinta.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700000" cy="4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150" b="1" spc="-10" dirty="0">
                <a:solidFill>
                  <a:srgbClr val="003366"/>
                </a:solidFill>
                <a:latin typeface="Calibri"/>
              </a:rPr>
              <a:t>Tecnica, herramienta y estandar: una distincion necesaria</a:t>
            </a:r>
          </a:p>
        </p:txBody>
      </p:sp>
      <p:sp>
        <p:nvSpPr>
          <p:cNvPr id="127" name="Card 127"/>
          <p:cNvSpPr/>
          <p:nvPr/>
        </p:nvSpPr>
        <p:spPr>
          <a:xfrm>
            <a:off x="421004" y="1760000"/>
            <a:ext cx="3570288" cy="368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8" name="Circle 128"/>
          <p:cNvSpPr/>
          <p:nvPr/>
        </p:nvSpPr>
        <p:spPr>
          <a:xfrm>
            <a:off x="741004" y="2070000"/>
            <a:ext cx="90000" cy="9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29" name="TextBox 129"/>
          <p:cNvSpPr txBox="1"/>
          <p:nvPr/>
        </p:nvSpPr>
        <p:spPr>
          <a:xfrm>
            <a:off x="981004" y="2030000"/>
            <a:ext cx="2690288" cy="6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Tecnica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741004" y="2760000"/>
            <a:ext cx="2930288" cy="17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s-CO" sz="1250" b="0" dirty="0">
                <a:solidFill>
                  <a:srgbClr val="26344A"/>
                </a:solidFill>
                <a:latin typeface="Calibri"/>
              </a:rPr>
              <a:t>Procedimiento sistematico y repetible orientado a lograr un objetivo de calidad.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741004" y="4660000"/>
            <a:ext cx="2930288" cy="65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s-CO" sz="1150" b="0" i="1" dirty="0">
                <a:solidFill>
                  <a:srgbClr val="6B7785"/>
                </a:solidFill>
                <a:latin typeface="Calibri"/>
              </a:rPr>
              <a:t>Ej.: revision por pares, TDD, pruebas de aceptacion.</a:t>
            </a:r>
          </a:p>
        </p:txBody>
      </p:sp>
      <p:sp>
        <p:nvSpPr>
          <p:cNvPr id="132" name="Card 132"/>
          <p:cNvSpPr/>
          <p:nvPr/>
        </p:nvSpPr>
        <p:spPr>
          <a:xfrm>
            <a:off x="4241292" y="1760000"/>
            <a:ext cx="3570288" cy="368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3" name="Circle 133"/>
          <p:cNvSpPr/>
          <p:nvPr/>
        </p:nvSpPr>
        <p:spPr>
          <a:xfrm>
            <a:off x="4561292" y="2070000"/>
            <a:ext cx="90000" cy="90000"/>
          </a:xfrm>
          <a:prstGeom prst="ellipse">
            <a:avLst/>
          </a:prstGeom>
          <a:solidFill>
            <a:srgbClr val="2F5C8A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34" name="TextBox 134"/>
          <p:cNvSpPr txBox="1"/>
          <p:nvPr/>
        </p:nvSpPr>
        <p:spPr>
          <a:xfrm>
            <a:off x="4801292" y="2030000"/>
            <a:ext cx="2690288" cy="6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Herramienta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4561292" y="2760000"/>
            <a:ext cx="2930288" cy="17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s-CO" sz="1250" b="0" dirty="0">
                <a:solidFill>
                  <a:srgbClr val="26344A"/>
                </a:solidFill>
                <a:latin typeface="Calibri"/>
              </a:rPr>
              <a:t>Software o instrumento que automatiza o soporta la ejecucion de una tecnica.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4561292" y="4660000"/>
            <a:ext cx="2930288" cy="65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s-CO" sz="1150" b="0" i="1" dirty="0">
                <a:solidFill>
                  <a:srgbClr val="6B7785"/>
                </a:solidFill>
                <a:latin typeface="Calibri"/>
              </a:rPr>
              <a:t>Ej.: SonarQube, Karate Framework, JIRA + Xray.</a:t>
            </a:r>
          </a:p>
        </p:txBody>
      </p:sp>
      <p:sp>
        <p:nvSpPr>
          <p:cNvPr id="137" name="Card 137"/>
          <p:cNvSpPr/>
          <p:nvPr/>
        </p:nvSpPr>
        <p:spPr>
          <a:xfrm>
            <a:off x="8061580" y="1760000"/>
            <a:ext cx="3570288" cy="368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8" name="Circle 138"/>
          <p:cNvSpPr/>
          <p:nvPr/>
        </p:nvSpPr>
        <p:spPr>
          <a:xfrm>
            <a:off x="8381580" y="2070000"/>
            <a:ext cx="90000" cy="90000"/>
          </a:xfrm>
          <a:prstGeom prst="ellipse">
            <a:avLst/>
          </a:prstGeom>
          <a:solidFill>
            <a:srgbClr val="B8932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39" name="TextBox 139"/>
          <p:cNvSpPr txBox="1"/>
          <p:nvPr/>
        </p:nvSpPr>
        <p:spPr>
          <a:xfrm>
            <a:off x="8621580" y="2030000"/>
            <a:ext cx="2690288" cy="6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Estandar / modelo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8381580" y="2760000"/>
            <a:ext cx="2930288" cy="17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s-CO" sz="1250" b="0" dirty="0">
                <a:solidFill>
                  <a:srgbClr val="26344A"/>
                </a:solidFill>
                <a:latin typeface="Calibri"/>
              </a:rPr>
              <a:t>Marco de referencia que define que se debe lograr o como organizar el proceso, sin prescribir el procedimiento operativo.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8381580" y="4660000"/>
            <a:ext cx="2930288" cy="65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s-CO" sz="1150" b="0" i="1" dirty="0">
                <a:solidFill>
                  <a:srgbClr val="6B7785"/>
                </a:solidFill>
                <a:latin typeface="Calibri"/>
              </a:rPr>
              <a:t>Ej.: ISO/IEC 25010, CMMI.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700000" cy="4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150" b="1" spc="-10" dirty="0">
                <a:solidFill>
                  <a:srgbClr val="003366"/>
                </a:solidFill>
                <a:latin typeface="Calibri"/>
              </a:rPr>
              <a:t>Eje 1: ISO/IEC 25010, caracteristicas del producto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421004" y="1700000"/>
            <a:ext cx="11210866" cy="48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es-CO" sz="1300" b="1" dirty="0">
                <a:solidFill>
                  <a:srgbClr val="26344A"/>
                </a:solidFill>
                <a:latin typeface="Calibri"/>
              </a:rPr>
              <a:t>Modelo de calidad del producto: </a:t>
            </a:r>
            <a:r>
              <a:rPr lang="es-CO" sz="1300" b="0" dirty="0">
                <a:solidFill>
                  <a:srgbClr val="6B7785"/>
                </a:solidFill>
                <a:latin typeface="Calibri"/>
              </a:rPr>
              <a:t>que atributo del software mejora esta tecnica.</a:t>
            </a:r>
          </a:p>
        </p:txBody>
      </p:sp>
      <p:sp>
        <p:nvSpPr>
          <p:cNvPr id="102" name="Card 102"/>
          <p:cNvSpPr/>
          <p:nvPr/>
        </p:nvSpPr>
        <p:spPr>
          <a:xfrm>
            <a:off x="421004" y="2320000"/>
            <a:ext cx="2682716" cy="1587175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3" name="TextBox 103"/>
          <p:cNvSpPr txBox="1"/>
          <p:nvPr/>
        </p:nvSpPr>
        <p:spPr>
          <a:xfrm>
            <a:off x="511004" y="2320000"/>
            <a:ext cx="2502716" cy="1587175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26344A"/>
                </a:solidFill>
                <a:latin typeface="Calibri"/>
              </a:rPr>
              <a:t>Adecuacion</a:t>
            </a:r>
          </a:p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26344A"/>
                </a:solidFill>
                <a:latin typeface="Calibri"/>
              </a:rPr>
              <a:t>funcional</a:t>
            </a:r>
          </a:p>
        </p:txBody>
      </p:sp>
      <p:sp>
        <p:nvSpPr>
          <p:cNvPr id="104" name="Card 104"/>
          <p:cNvSpPr/>
          <p:nvPr/>
        </p:nvSpPr>
        <p:spPr>
          <a:xfrm>
            <a:off x="3263720" y="2320000"/>
            <a:ext cx="2682716" cy="1587175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5" name="TextBox 105"/>
          <p:cNvSpPr txBox="1"/>
          <p:nvPr/>
        </p:nvSpPr>
        <p:spPr>
          <a:xfrm>
            <a:off x="3353720" y="2320000"/>
            <a:ext cx="2502716" cy="1587175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26344A"/>
                </a:solidFill>
                <a:latin typeface="Calibri"/>
              </a:rPr>
              <a:t>Eficiencia de</a:t>
            </a:r>
          </a:p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26344A"/>
                </a:solidFill>
                <a:latin typeface="Calibri"/>
              </a:rPr>
              <a:t>desempeno</a:t>
            </a:r>
          </a:p>
        </p:txBody>
      </p:sp>
      <p:sp>
        <p:nvSpPr>
          <p:cNvPr id="106" name="Card 106"/>
          <p:cNvSpPr/>
          <p:nvPr/>
        </p:nvSpPr>
        <p:spPr>
          <a:xfrm>
            <a:off x="6106436" y="2320000"/>
            <a:ext cx="2682716" cy="1587175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7" name="TextBox 107"/>
          <p:cNvSpPr txBox="1"/>
          <p:nvPr/>
        </p:nvSpPr>
        <p:spPr>
          <a:xfrm>
            <a:off x="6196436" y="2320000"/>
            <a:ext cx="2502716" cy="1587175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26344A"/>
                </a:solidFill>
                <a:latin typeface="Calibri"/>
              </a:rPr>
              <a:t>Compatibilidad</a:t>
            </a:r>
          </a:p>
        </p:txBody>
      </p:sp>
      <p:sp>
        <p:nvSpPr>
          <p:cNvPr id="108" name="Card 108"/>
          <p:cNvSpPr/>
          <p:nvPr/>
        </p:nvSpPr>
        <p:spPr>
          <a:xfrm>
            <a:off x="8949152" y="2320000"/>
            <a:ext cx="2682716" cy="1587175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9" name="TextBox 109"/>
          <p:cNvSpPr txBox="1"/>
          <p:nvPr/>
        </p:nvSpPr>
        <p:spPr>
          <a:xfrm>
            <a:off x="9039152" y="2320000"/>
            <a:ext cx="2502716" cy="1587175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26344A"/>
                </a:solidFill>
                <a:latin typeface="Calibri"/>
              </a:rPr>
              <a:t>Usabilidad</a:t>
            </a:r>
          </a:p>
        </p:txBody>
      </p:sp>
      <p:sp>
        <p:nvSpPr>
          <p:cNvPr id="110" name="Card 110"/>
          <p:cNvSpPr/>
          <p:nvPr/>
        </p:nvSpPr>
        <p:spPr>
          <a:xfrm>
            <a:off x="421004" y="4067175"/>
            <a:ext cx="2682716" cy="1587175"/>
          </a:xfrm>
          <a:prstGeom prst="roundRect">
            <a:avLst>
              <a:gd name="adj" fmla="val 6000"/>
            </a:avLst>
          </a:prstGeom>
          <a:solidFill>
            <a:srgbClr val="003366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1" name="TextBox 111"/>
          <p:cNvSpPr txBox="1"/>
          <p:nvPr/>
        </p:nvSpPr>
        <p:spPr>
          <a:xfrm>
            <a:off x="511004" y="4067175"/>
            <a:ext cx="2502716" cy="1587175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FFFFFF"/>
                </a:solidFill>
                <a:latin typeface="Calibri"/>
              </a:rPr>
              <a:t>Fiabilidad</a:t>
            </a:r>
          </a:p>
        </p:txBody>
      </p:sp>
      <p:sp>
        <p:nvSpPr>
          <p:cNvPr id="112" name="Card 112"/>
          <p:cNvSpPr/>
          <p:nvPr/>
        </p:nvSpPr>
        <p:spPr>
          <a:xfrm>
            <a:off x="3263720" y="4067175"/>
            <a:ext cx="2682716" cy="1587175"/>
          </a:xfrm>
          <a:prstGeom prst="roundRect">
            <a:avLst>
              <a:gd name="adj" fmla="val 6000"/>
            </a:avLst>
          </a:prstGeom>
          <a:solidFill>
            <a:srgbClr val="003366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3" name="TextBox 113"/>
          <p:cNvSpPr txBox="1"/>
          <p:nvPr/>
        </p:nvSpPr>
        <p:spPr>
          <a:xfrm>
            <a:off x="3353720" y="4067175"/>
            <a:ext cx="2502716" cy="1587175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114" name="Card 114"/>
          <p:cNvSpPr/>
          <p:nvPr/>
        </p:nvSpPr>
        <p:spPr>
          <a:xfrm>
            <a:off x="6106436" y="4067175"/>
            <a:ext cx="2682716" cy="1587175"/>
          </a:xfrm>
          <a:prstGeom prst="roundRect">
            <a:avLst>
              <a:gd name="adj" fmla="val 6000"/>
            </a:avLst>
          </a:prstGeom>
          <a:solidFill>
            <a:srgbClr val="003366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5" name="TextBox 115"/>
          <p:cNvSpPr txBox="1"/>
          <p:nvPr/>
        </p:nvSpPr>
        <p:spPr>
          <a:xfrm>
            <a:off x="6196436" y="4067175"/>
            <a:ext cx="2502716" cy="1587175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FFFFFF"/>
                </a:solidFill>
                <a:latin typeface="Calibri"/>
              </a:rPr>
              <a:t>Mantenibilidad</a:t>
            </a:r>
          </a:p>
        </p:txBody>
      </p:sp>
      <p:sp>
        <p:nvSpPr>
          <p:cNvPr id="116" name="Card 116"/>
          <p:cNvSpPr/>
          <p:nvPr/>
        </p:nvSpPr>
        <p:spPr>
          <a:xfrm>
            <a:off x="8949152" y="4067175"/>
            <a:ext cx="2682716" cy="1587175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7" name="TextBox 117"/>
          <p:cNvSpPr txBox="1"/>
          <p:nvPr/>
        </p:nvSpPr>
        <p:spPr>
          <a:xfrm>
            <a:off x="9039152" y="4067175"/>
            <a:ext cx="2502716" cy="1587175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26344A"/>
                </a:solidFill>
                <a:latin typeface="Calibri"/>
              </a:rPr>
              <a:t>Portabilidad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700000" cy="4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100" b="1" spc="-10" dirty="0">
                <a:solidFill>
                  <a:srgbClr val="003366"/>
                </a:solidFill>
                <a:latin typeface="Calibri"/>
              </a:rPr>
              <a:t>Eje 2: CMMI Nivel 3, areas de proceso (nivel Definido)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1004" y="1700000"/>
            <a:ext cx="11210866" cy="48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es-CO" sz="1300" b="1" dirty="0">
                <a:solidFill>
                  <a:srgbClr val="26344A"/>
                </a:solidFill>
                <a:latin typeface="Calibri"/>
              </a:rPr>
              <a:t>Modelo de madurez de procesos: </a:t>
            </a:r>
            <a:r>
              <a:rPr lang="es-CO" sz="1300" b="0" dirty="0">
                <a:solidFill>
                  <a:srgbClr val="6B7785"/>
                </a:solidFill>
                <a:latin typeface="Calibri"/>
              </a:rPr>
              <a:t>en que area de proceso se institucionaliza esta tecnica.</a:t>
            </a:r>
          </a:p>
        </p:txBody>
      </p:sp>
      <p:sp>
        <p:nvSpPr>
          <p:cNvPr id="119" name="Card 119"/>
          <p:cNvSpPr/>
          <p:nvPr/>
        </p:nvSpPr>
        <p:spPr>
          <a:xfrm>
            <a:off x="421004" y="2300000"/>
            <a:ext cx="11210866" cy="59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0" name="Circle 120"/>
          <p:cNvSpPr/>
          <p:nvPr/>
        </p:nvSpPr>
        <p:spPr>
          <a:xfrm>
            <a:off x="641004" y="2315000"/>
            <a:ext cx="560000" cy="5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REQM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451004" y="2300000"/>
            <a:ext cx="3300000" cy="59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Requirements Management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4901004" y="2300000"/>
            <a:ext cx="6530866" cy="59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4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Gestion de requisitos: control de cambios y trazabilidad frente al alcance acordado.</a:t>
            </a:r>
          </a:p>
        </p:txBody>
      </p:sp>
      <p:sp>
        <p:nvSpPr>
          <p:cNvPr id="123" name="Card 123"/>
          <p:cNvSpPr/>
          <p:nvPr/>
        </p:nvSpPr>
        <p:spPr>
          <a:xfrm>
            <a:off x="421004" y="2960000"/>
            <a:ext cx="11210866" cy="5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4" name="Circle 124"/>
          <p:cNvSpPr/>
          <p:nvPr/>
        </p:nvSpPr>
        <p:spPr>
          <a:xfrm>
            <a:off x="641004" y="2975000"/>
            <a:ext cx="560000" cy="5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VER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451004" y="2960000"/>
            <a:ext cx="3300000" cy="59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Verification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4901004" y="2960000"/>
            <a:ext cx="6530866" cy="59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4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Verificacion: el producto se construyo conforme a lo especificado (revisiones, pruebas unitarias).</a:t>
            </a:r>
          </a:p>
        </p:txBody>
      </p:sp>
      <p:sp>
        <p:nvSpPr>
          <p:cNvPr id="127" name="Card 127"/>
          <p:cNvSpPr/>
          <p:nvPr/>
        </p:nvSpPr>
        <p:spPr>
          <a:xfrm>
            <a:off x="421004" y="3620000"/>
            <a:ext cx="11210866" cy="59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8" name="Circle 128"/>
          <p:cNvSpPr/>
          <p:nvPr/>
        </p:nvSpPr>
        <p:spPr>
          <a:xfrm>
            <a:off x="641004" y="3635000"/>
            <a:ext cx="560000" cy="5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VAL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451004" y="3620000"/>
            <a:ext cx="3300000" cy="59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Validation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4901004" y="3620000"/>
            <a:ext cx="6530866" cy="59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4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Validacion: el producto satisface su uso previsto (pruebas de aceptacion, demos al usuario).</a:t>
            </a:r>
          </a:p>
        </p:txBody>
      </p:sp>
      <p:sp>
        <p:nvSpPr>
          <p:cNvPr id="131" name="Card 131"/>
          <p:cNvSpPr/>
          <p:nvPr/>
        </p:nvSpPr>
        <p:spPr>
          <a:xfrm>
            <a:off x="421004" y="4280000"/>
            <a:ext cx="11210866" cy="5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32" name="Circle 132"/>
          <p:cNvSpPr/>
          <p:nvPr/>
        </p:nvSpPr>
        <p:spPr>
          <a:xfrm>
            <a:off x="641004" y="4295000"/>
            <a:ext cx="560000" cy="5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PPQA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451004" y="4280000"/>
            <a:ext cx="3300000" cy="59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Process and Product Quality Assurance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4901004" y="4280000"/>
            <a:ext cx="6530866" cy="59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4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Auditorias objetivas de cumplimiento de procesos y estandares definidos.</a:t>
            </a:r>
          </a:p>
        </p:txBody>
      </p:sp>
      <p:sp>
        <p:nvSpPr>
          <p:cNvPr id="135" name="Card 135"/>
          <p:cNvSpPr/>
          <p:nvPr/>
        </p:nvSpPr>
        <p:spPr>
          <a:xfrm>
            <a:off x="421004" y="4940000"/>
            <a:ext cx="11210866" cy="59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36" name="Circle 136"/>
          <p:cNvSpPr/>
          <p:nvPr/>
        </p:nvSpPr>
        <p:spPr>
          <a:xfrm>
            <a:off x="641004" y="4955000"/>
            <a:ext cx="560000" cy="5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000" b="1" dirty="0">
                <a:solidFill>
                  <a:srgbClr val="FFFFFF"/>
                </a:solidFill>
                <a:latin typeface="Calibri"/>
              </a:rPr>
              <a:t>RSKM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451004" y="4940000"/>
            <a:ext cx="3300000" cy="59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Risk Management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4901004" y="4940000"/>
            <a:ext cx="6530866" cy="59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4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Identificacion temprana y mitigacion de riesgos tecnicos del proyecto.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700000" cy="4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150" b="1" spc="-10" dirty="0">
                <a:solidFill>
                  <a:srgbClr val="003366"/>
                </a:solidFill>
                <a:latin typeface="Calibri"/>
              </a:rPr>
              <a:t>Como se cruzan los dos ejes de clasificacion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421004" y="1700000"/>
          <a:ext cx="11210866" cy="395434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35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1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3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Tecnica</a:t>
                      </a:r>
                    </a:p>
                  </a:txBody>
                  <a:tcPr marL="0" marR="0" marT="0" marB="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Caracteristica(s) ISO/IEC 25010</a:t>
                      </a:r>
                    </a:p>
                  </a:txBody>
                  <a:tcPr marL="0" marR="0" marT="0" marB="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Area de proceso CMMI N3</a:t>
                      </a:r>
                    </a:p>
                  </a:txBody>
                  <a:tcPr marL="0" marR="0" marT="0" marB="0"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Revision de codigo por pares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Mantenibilidad (analisis, modularidad)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Verification (VER)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Pruebas unitarias automatizadas (TDD)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Fiabilidad, adecuacion funcional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Verification (VER)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Pruebas de aceptacion (Karate / BDD)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Adecuacion funcional, compatibilidad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Validation (VAL)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Quality gate de analisis estatico en CI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Mantenibilidad, seguridad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Process and Product QA (PPQA)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Matriz de trazabilidad requisito-prueba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Adecuacion funcional (completitud)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Requirements Mgmt (REQM)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Auditorias periodicas de QA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Transversal (todas las caracteristicas)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Process and Product QA (PPQA)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Gestion de riesgos tecnicos por sprint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Fiabilidad (tolerancia a fallos)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50" b="0" dirty="0">
                          <a:solidFill>
                            <a:srgbClr val="26344A"/>
                          </a:solidFill>
                          <a:latin typeface="Calibri"/>
                        </a:rPr>
                        <a:t>Risk Management (RSKM)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700000" cy="4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100" b="1" spc="-10" dirty="0">
                <a:solidFill>
                  <a:srgbClr val="003366"/>
                </a:solidFill>
                <a:latin typeface="Calibri"/>
              </a:rPr>
              <a:t>Herramientas que ponen estas tecnicas en practica</a:t>
            </a:r>
          </a:p>
        </p:txBody>
      </p:sp>
      <p:sp>
        <p:nvSpPr>
          <p:cNvPr id="102" name="Card 102"/>
          <p:cNvSpPr/>
          <p:nvPr/>
        </p:nvSpPr>
        <p:spPr>
          <a:xfrm>
            <a:off x="421004" y="1700000"/>
            <a:ext cx="5475433" cy="1144783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3" name="Circle 103"/>
          <p:cNvSpPr/>
          <p:nvPr/>
        </p:nvSpPr>
        <p:spPr>
          <a:xfrm>
            <a:off x="681004" y="2037391"/>
            <a:ext cx="470000" cy="470000"/>
          </a:xfrm>
          <a:prstGeom prst="ellipse">
            <a:avLst/>
          </a:prstGeom>
          <a:solidFill>
            <a:srgbClr val="2F5C8A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050" b="1" dirty="0">
                <a:solidFill>
                  <a:srgbClr val="FFFFFF"/>
                </a:solidFill>
                <a:latin typeface="Calibri"/>
              </a:rPr>
              <a:t>SQ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371004" y="1920000"/>
            <a:ext cx="4265433" cy="48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300" b="1" dirty="0">
                <a:solidFill>
                  <a:srgbClr val="003366"/>
                </a:solidFill>
                <a:latin typeface="Calibri"/>
              </a:rPr>
              <a:t>SonarQube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371004" y="2400000"/>
            <a:ext cx="4265433" cy="244783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00" b="0" dirty="0">
                <a:solidFill>
                  <a:srgbClr val="26344A"/>
                </a:solidFill>
                <a:latin typeface="Calibri"/>
              </a:rPr>
              <a:t>Analisis estatico continuo en el pipeline de CI: detecta code smells, vulnerabilidades y deuda tecnica antes del merge.</a:t>
            </a:r>
          </a:p>
        </p:txBody>
      </p:sp>
      <p:sp>
        <p:nvSpPr>
          <p:cNvPr id="106" name="Card 106"/>
          <p:cNvSpPr/>
          <p:nvPr/>
        </p:nvSpPr>
        <p:spPr>
          <a:xfrm>
            <a:off x="6156437" y="1700000"/>
            <a:ext cx="5475433" cy="1144783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7" name="Circle 107"/>
          <p:cNvSpPr/>
          <p:nvPr/>
        </p:nvSpPr>
        <p:spPr>
          <a:xfrm>
            <a:off x="6416437" y="2037391"/>
            <a:ext cx="470000" cy="470000"/>
          </a:xfrm>
          <a:prstGeom prst="ellipse">
            <a:avLst/>
          </a:prstGeom>
          <a:solidFill>
            <a:srgbClr val="2F5C8A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050" b="1" dirty="0">
                <a:solidFill>
                  <a:srgbClr val="FFFFFF"/>
                </a:solidFill>
                <a:latin typeface="Calibri"/>
              </a:rPr>
              <a:t>CR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7106437" y="1920000"/>
            <a:ext cx="4265433" cy="48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300" b="1" dirty="0">
                <a:solidFill>
                  <a:srgbClr val="003366"/>
                </a:solidFill>
                <a:latin typeface="Calibri"/>
              </a:rPr>
              <a:t>Diagrama de Ishikawa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7106437" y="2400000"/>
            <a:ext cx="4265433" cy="244783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00" b="0" dirty="0">
                <a:solidFill>
                  <a:srgbClr val="26344A"/>
                </a:solidFill>
                <a:latin typeface="Calibri"/>
              </a:rPr>
              <a:t>Analisis de causa raiz en retrospectivas: clasifica causas en personas, proceso, tecnologia y datos.</a:t>
            </a:r>
          </a:p>
        </p:txBody>
      </p:sp>
      <p:sp>
        <p:nvSpPr>
          <p:cNvPr id="110" name="Card 110"/>
          <p:cNvSpPr/>
          <p:nvPr/>
        </p:nvSpPr>
        <p:spPr>
          <a:xfrm>
            <a:off x="421004" y="3104783"/>
            <a:ext cx="5475433" cy="1144783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1" name="Circle 111"/>
          <p:cNvSpPr/>
          <p:nvPr/>
        </p:nvSpPr>
        <p:spPr>
          <a:xfrm>
            <a:off x="681004" y="3442174"/>
            <a:ext cx="470000" cy="470000"/>
          </a:xfrm>
          <a:prstGeom prst="ellipse">
            <a:avLst/>
          </a:prstGeom>
          <a:solidFill>
            <a:srgbClr val="2F5C8A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050" b="1" dirty="0">
                <a:solidFill>
                  <a:srgbClr val="FFFFFF"/>
                </a:solidFill>
                <a:latin typeface="Calibri"/>
              </a:rPr>
              <a:t>80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371004" y="3324783"/>
            <a:ext cx="4265433" cy="48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300" b="1" dirty="0">
                <a:solidFill>
                  <a:srgbClr val="003366"/>
                </a:solidFill>
                <a:latin typeface="Calibri"/>
              </a:rPr>
              <a:t>Diagrama de Pareto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371004" y="3804783"/>
            <a:ext cx="4265433" cy="244783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00" b="0" dirty="0">
                <a:solidFill>
                  <a:srgbClr val="26344A"/>
                </a:solidFill>
                <a:latin typeface="Calibri"/>
              </a:rPr>
              <a:t>Prioriza el grupo de categorias de defectos que concentra la mayor parte de los problemas reportados.</a:t>
            </a:r>
          </a:p>
        </p:txBody>
      </p:sp>
      <p:sp>
        <p:nvSpPr>
          <p:cNvPr id="114" name="Card 114"/>
          <p:cNvSpPr/>
          <p:nvPr/>
        </p:nvSpPr>
        <p:spPr>
          <a:xfrm>
            <a:off x="6156437" y="3104783"/>
            <a:ext cx="5475433" cy="1144783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5" name="Circle 115"/>
          <p:cNvSpPr/>
          <p:nvPr/>
        </p:nvSpPr>
        <p:spPr>
          <a:xfrm>
            <a:off x="6416437" y="3442174"/>
            <a:ext cx="470000" cy="470000"/>
          </a:xfrm>
          <a:prstGeom prst="ellipse">
            <a:avLst/>
          </a:prstGeom>
          <a:solidFill>
            <a:srgbClr val="2F5C8A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050" b="1" dirty="0">
                <a:solidFill>
                  <a:srgbClr val="FFFFFF"/>
                </a:solidFill>
                <a:latin typeface="Calibri"/>
              </a:rPr>
              <a:t>KF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7106437" y="3324783"/>
            <a:ext cx="4265433" cy="48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300" b="1" dirty="0">
                <a:solidFill>
                  <a:srgbClr val="003366"/>
                </a:solidFill>
                <a:latin typeface="Calibri"/>
              </a:rPr>
              <a:t>Karate Framework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7106437" y="3804783"/>
            <a:ext cx="4265433" cy="244783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00" b="0" dirty="0">
                <a:solidFill>
                  <a:srgbClr val="26344A"/>
                </a:solidFill>
                <a:latin typeface="Calibri"/>
              </a:rPr>
              <a:t>Pruebas de aceptacion de APIs en estilo BDD sobre Java/Gradle; retroalimentacion rapida en microservicios.</a:t>
            </a:r>
          </a:p>
        </p:txBody>
      </p:sp>
      <p:sp>
        <p:nvSpPr>
          <p:cNvPr id="118" name="Card 118"/>
          <p:cNvSpPr/>
          <p:nvPr/>
        </p:nvSpPr>
        <p:spPr>
          <a:xfrm>
            <a:off x="421004" y="4509566"/>
            <a:ext cx="5475433" cy="1144783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9" name="Circle 119"/>
          <p:cNvSpPr/>
          <p:nvPr/>
        </p:nvSpPr>
        <p:spPr>
          <a:xfrm>
            <a:off x="681004" y="4846957"/>
            <a:ext cx="470000" cy="470000"/>
          </a:xfrm>
          <a:prstGeom prst="ellipse">
            <a:avLst/>
          </a:prstGeom>
          <a:solidFill>
            <a:srgbClr val="2F5C8A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050" b="1" dirty="0">
                <a:solidFill>
                  <a:srgbClr val="FFFFFF"/>
                </a:solidFill>
                <a:latin typeface="Calibri"/>
              </a:rPr>
              <a:t>JX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371004" y="4729566"/>
            <a:ext cx="4265433" cy="48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300" b="1" dirty="0">
                <a:solidFill>
                  <a:srgbClr val="003366"/>
                </a:solidFill>
                <a:latin typeface="Calibri"/>
              </a:rPr>
              <a:t>JIRA + Xray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71004" y="5209566"/>
            <a:ext cx="4265433" cy="244783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00" b="0" dirty="0">
                <a:solidFill>
                  <a:srgbClr val="26344A"/>
                </a:solidFill>
                <a:latin typeface="Calibri"/>
              </a:rPr>
              <a:t>Gestion de casos de prueba y matriz de trazabilidad entre requisitos y pruebas.</a:t>
            </a:r>
          </a:p>
        </p:txBody>
      </p:sp>
      <p:sp>
        <p:nvSpPr>
          <p:cNvPr id="122" name="Card 122"/>
          <p:cNvSpPr/>
          <p:nvPr/>
        </p:nvSpPr>
        <p:spPr>
          <a:xfrm>
            <a:off x="6156437" y="4509566"/>
            <a:ext cx="5475433" cy="1144783"/>
          </a:xfrm>
          <a:prstGeom prst="roundRect">
            <a:avLst>
              <a:gd name="adj" fmla="val 6000"/>
            </a:avLst>
          </a:prstGeom>
          <a:solidFill>
            <a:srgbClr val="003366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3" name="TextBox 123"/>
          <p:cNvSpPr txBox="1"/>
          <p:nvPr/>
        </p:nvSpPr>
        <p:spPr>
          <a:xfrm>
            <a:off x="6496437" y="4729566"/>
            <a:ext cx="4795433" cy="48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</a:pPr>
            <a:r>
              <a:rPr lang="es-CO" sz="1300" b="1" dirty="0">
                <a:solidFill>
                  <a:srgbClr val="FFFFFF"/>
                </a:solidFill>
                <a:latin typeface="Calibri"/>
              </a:rPr>
              <a:t>La herramienta se elige despues del diagnostico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6496437" y="5209566"/>
            <a:ext cx="4795433" cy="244783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00" b="0" dirty="0">
                <a:solidFill>
                  <a:srgbClr val="D7E3F4"/>
                </a:solidFill>
                <a:latin typeface="Calibri"/>
              </a:rPr>
              <a:t>Selecciona el instrumento segun la causa raiz identificada con Pareto o Ishikawa, no segun la tendencia del momento.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700000" cy="4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150" b="1" spc="-10" dirty="0">
                <a:solidFill>
                  <a:srgbClr val="003366"/>
                </a:solidFill>
                <a:latin typeface="Calibri"/>
              </a:rPr>
              <a:t>Metricas que hacen tangible la calidad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453469"/>
              </p:ext>
            </p:extLst>
          </p:nvPr>
        </p:nvGraphicFramePr>
        <p:xfrm>
          <a:off x="421004" y="1700000"/>
          <a:ext cx="11210866" cy="395434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8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7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0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Metrica</a:t>
                      </a:r>
                    </a:p>
                  </a:txBody>
                  <a:tcPr marL="0" marR="0" marT="0" marB="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Antes</a:t>
                      </a:r>
                    </a:p>
                  </a:txBody>
                  <a:tcPr marL="0" marR="0" marT="0" marB="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Despues</a:t>
                      </a:r>
                    </a:p>
                  </a:txBody>
                  <a:tcPr marL="0" marR="0" marT="0" marB="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Variacion</a:t>
                      </a:r>
                    </a:p>
                  </a:txBody>
                  <a:tcPr marL="0" marR="0" marT="0" marB="0"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 b="0" dirty="0">
                          <a:solidFill>
                            <a:srgbClr val="26344A"/>
                          </a:solidFill>
                          <a:latin typeface="Calibri"/>
                        </a:rPr>
                        <a:t>Densidad de defectos (defectos/KLOC)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0" dirty="0">
                          <a:solidFill>
                            <a:srgbClr val="6B7785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003366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1F7A4D"/>
                          </a:solidFill>
                          <a:latin typeface="Calibri"/>
                        </a:rPr>
                        <a:t>-67%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 b="0" dirty="0">
                          <a:solidFill>
                            <a:srgbClr val="26344A"/>
                          </a:solidFill>
                          <a:latin typeface="Calibri"/>
                        </a:rPr>
                        <a:t>Cobertura de pruebas automatizadas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0" dirty="0">
                          <a:solidFill>
                            <a:srgbClr val="6B7785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003366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1F7A4D"/>
                          </a:solidFill>
                          <a:latin typeface="Calibri"/>
                        </a:rPr>
                        <a:t>+268%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 b="0" dirty="0">
                          <a:solidFill>
                            <a:srgbClr val="26344A"/>
                          </a:solidFill>
                          <a:latin typeface="Calibri"/>
                        </a:rPr>
                        <a:t>Eficiencia de deteccion de defectos (DDE)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0" dirty="0">
                          <a:solidFill>
                            <a:srgbClr val="6B7785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003366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1F7A4D"/>
                          </a:solidFill>
                          <a:latin typeface="Calibri"/>
                        </a:rPr>
                        <a:t>+35 pts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 b="0" dirty="0">
                          <a:solidFill>
                            <a:srgbClr val="26344A"/>
                          </a:solidFill>
                          <a:latin typeface="Calibri"/>
                        </a:rPr>
                        <a:t>Defectos escapados a produccion / release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0" dirty="0">
                          <a:solidFill>
                            <a:srgbClr val="6B7785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00336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1F7A4D"/>
                          </a:solidFill>
                          <a:latin typeface="Calibri"/>
                        </a:rPr>
                        <a:t>-82%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 b="0" dirty="0">
                          <a:solidFill>
                            <a:srgbClr val="26344A"/>
                          </a:solidFill>
                          <a:latin typeface="Calibri"/>
                        </a:rPr>
                        <a:t>Tiempo medio de resolucion (MTTR)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0" dirty="0">
                          <a:solidFill>
                            <a:srgbClr val="6B7785"/>
                          </a:solidFill>
                          <a:latin typeface="Calibri"/>
                        </a:rPr>
                        <a:t>6.4 d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003366"/>
                          </a:solidFill>
                          <a:latin typeface="Calibri"/>
                        </a:rPr>
                        <a:t>1.8 d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1F7A4D"/>
                          </a:solidFill>
                          <a:latin typeface="Calibri"/>
                        </a:rPr>
                        <a:t>-72%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 b="0" dirty="0">
                          <a:solidFill>
                            <a:srgbClr val="26344A"/>
                          </a:solidFill>
                          <a:latin typeface="Calibri"/>
                        </a:rPr>
                        <a:t>Complejidad ciclomatica promedio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0" dirty="0">
                          <a:solidFill>
                            <a:srgbClr val="6B7785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00336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1F7A4D"/>
                          </a:solidFill>
                          <a:latin typeface="Calibri"/>
                        </a:rPr>
                        <a:t>-50%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100" b="0" dirty="0">
                          <a:solidFill>
                            <a:srgbClr val="26344A"/>
                          </a:solidFill>
                          <a:latin typeface="Calibri"/>
                        </a:rPr>
                        <a:t>Net Promoter Score (NPS)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0" dirty="0">
                          <a:solidFill>
                            <a:srgbClr val="6B7785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003366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b="1" dirty="0">
                          <a:solidFill>
                            <a:srgbClr val="1F7A4D"/>
                          </a:solidFill>
                          <a:latin typeface="Calibri"/>
                        </a:rPr>
                        <a:t>+124%</a:t>
                      </a:r>
                    </a:p>
                  </a:txBody>
                  <a:tcPr marL="0" marR="0" marT="0" marB="0" anchor="ctr"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700000" cy="4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100" b="1" spc="-10" dirty="0">
                <a:solidFill>
                  <a:srgbClr val="003366"/>
                </a:solidFill>
                <a:latin typeface="Calibri"/>
              </a:rPr>
              <a:t>Caso aplicado: DataFlow Solutions, InventoryPro v3</a:t>
            </a:r>
          </a:p>
        </p:txBody>
      </p:sp>
      <p:sp>
        <p:nvSpPr>
          <p:cNvPr id="102" name="Card 102"/>
          <p:cNvSpPr/>
          <p:nvPr/>
        </p:nvSpPr>
        <p:spPr>
          <a:xfrm>
            <a:off x="421004" y="1700000"/>
            <a:ext cx="5425433" cy="3954351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3" name="TextBox 103"/>
          <p:cNvSpPr txBox="1"/>
          <p:nvPr/>
        </p:nvSpPr>
        <p:spPr>
          <a:xfrm>
            <a:off x="761004" y="2000000"/>
            <a:ext cx="4745433" cy="48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Contexto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61004" y="2650000"/>
            <a:ext cx="4745433" cy="2704351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22000"/>
              </a:lnSpc>
              <a:spcAft>
                <a:spcPts val="500"/>
              </a:spcAft>
              <a:buNone/>
            </a:pPr>
            <a:r>
              <a:rPr lang="es-CO" sz="1200" b="1" dirty="0">
                <a:solidFill>
                  <a:srgbClr val="003366"/>
                </a:solidFill>
                <a:latin typeface="Calibri"/>
              </a:rPr>
              <a:t>Empresa: </a:t>
            </a:r>
            <a:r>
              <a:rPr lang="es-CO" sz="1200" b="0" dirty="0">
                <a:solidFill>
                  <a:srgbClr val="26344A"/>
                </a:solidFill>
                <a:latin typeface="Calibri"/>
              </a:rPr>
              <a:t>DataFlow Solutions S.A.S., Bucaramanga (45 empleados).</a:t>
            </a:r>
          </a:p>
          <a:p>
            <a:pPr marL="0" indent="0" algn="l">
              <a:lnSpc>
                <a:spcPct val="122000"/>
              </a:lnSpc>
              <a:spcAft>
                <a:spcPts val="500"/>
              </a:spcAft>
              <a:buNone/>
            </a:pPr>
            <a:r>
              <a:rPr lang="es-CO" sz="1200" b="1" dirty="0">
                <a:solidFill>
                  <a:srgbClr val="003366"/>
                </a:solidFill>
                <a:latin typeface="Calibri"/>
              </a:rPr>
              <a:t>Producto: </a:t>
            </a:r>
            <a:r>
              <a:rPr lang="es-CO" sz="1200" b="0" dirty="0">
                <a:solidFill>
                  <a:srgbClr val="26344A"/>
                </a:solidFill>
                <a:latin typeface="Calibri"/>
              </a:rPr>
              <a:t>InventoryPro v3, migracion de monolito a microservicios.</a:t>
            </a:r>
          </a:p>
          <a:p>
            <a:pPr marL="0" indent="0" algn="l">
              <a:lnSpc>
                <a:spcPct val="122000"/>
              </a:lnSpc>
              <a:spcAft>
                <a:spcPts val="500"/>
              </a:spcAft>
              <a:buNone/>
            </a:pPr>
            <a:r>
              <a:rPr lang="es-CO" sz="1200" b="1" dirty="0">
                <a:solidFill>
                  <a:srgbClr val="003366"/>
                </a:solidFill>
                <a:latin typeface="Calibri"/>
              </a:rPr>
              <a:t>Equipo: </a:t>
            </a:r>
            <a:r>
              <a:rPr lang="es-CO" sz="1200" b="0" dirty="0">
                <a:solidFill>
                  <a:srgbClr val="26344A"/>
                </a:solidFill>
                <a:latin typeface="Calibri"/>
              </a:rPr>
              <a:t>14 personas en un squad Scrum (BE, FE, QA, DevOps, PO, SM, UX).</a:t>
            </a:r>
          </a:p>
          <a:p>
            <a:pPr marL="0" indent="0" algn="l">
              <a:lnSpc>
                <a:spcPct val="122000"/>
              </a:lnSpc>
              <a:spcAft>
                <a:spcPts val="500"/>
              </a:spcAft>
              <a:buNone/>
            </a:pPr>
            <a:r>
              <a:rPr lang="es-CO" sz="1200" b="1" dirty="0">
                <a:solidFill>
                  <a:srgbClr val="003366"/>
                </a:solidFill>
                <a:latin typeface="Calibri"/>
              </a:rPr>
              <a:t>Meta: </a:t>
            </a:r>
            <a:r>
              <a:rPr lang="es-CO" sz="1200" b="0" dirty="0">
                <a:solidFill>
                  <a:srgbClr val="26344A"/>
                </a:solidFill>
                <a:latin typeface="Calibri"/>
              </a:rPr>
              <a:t>escalar de 230 a 600 clientes PYME en 18 meses.</a:t>
            </a:r>
          </a:p>
        </p:txBody>
      </p:sp>
      <p:sp>
        <p:nvSpPr>
          <p:cNvPr id="105" name="Card 105"/>
          <p:cNvSpPr/>
          <p:nvPr/>
        </p:nvSpPr>
        <p:spPr>
          <a:xfrm>
            <a:off x="6206437" y="1700000"/>
            <a:ext cx="5425433" cy="3954351"/>
          </a:xfrm>
          <a:prstGeom prst="roundRect">
            <a:avLst>
              <a:gd name="adj" fmla="val 6000"/>
            </a:avLst>
          </a:prstGeom>
          <a:solidFill>
            <a:srgbClr val="003366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6" name="TextBox 106"/>
          <p:cNvSpPr txBox="1"/>
          <p:nvPr/>
        </p:nvSpPr>
        <p:spPr>
          <a:xfrm>
            <a:off x="6546437" y="2000000"/>
            <a:ext cx="4745433" cy="48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s-CO" sz="1600" b="1" dirty="0">
                <a:solidFill>
                  <a:srgbClr val="FFFFFF"/>
                </a:solidFill>
                <a:latin typeface="Calibri"/>
              </a:rPr>
              <a:t>Problema identificado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546437" y="2650000"/>
            <a:ext cx="4745433" cy="2704351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l">
              <a:lnSpc>
                <a:spcPct val="122000"/>
              </a:lnSpc>
              <a:spcAft>
                <a:spcPts val="500"/>
              </a:spcAft>
              <a:buNone/>
            </a:pPr>
            <a:r>
              <a:rPr lang="es-CO" sz="1200" b="1" dirty="0">
                <a:solidFill>
                  <a:srgbClr val="F2C879"/>
                </a:solidFill>
                <a:latin typeface="Calibri"/>
              </a:rPr>
              <a:t>38 defectos criticos </a:t>
            </a:r>
            <a:r>
              <a:rPr lang="es-CO" sz="1200" b="0" dirty="0">
                <a:solidFill>
                  <a:srgbClr val="FFFFFF"/>
                </a:solidFill>
                <a:latin typeface="Calibri"/>
              </a:rPr>
              <a:t>en produccion durante las primeras 2 semanas de cada release.</a:t>
            </a:r>
          </a:p>
          <a:p>
            <a:pPr marL="0" indent="0" algn="l">
              <a:lnSpc>
                <a:spcPct val="122000"/>
              </a:lnSpc>
              <a:spcAft>
                <a:spcPts val="500"/>
              </a:spcAft>
              <a:buNone/>
            </a:pPr>
            <a:r>
              <a:rPr lang="es-CO" sz="1200" b="1" dirty="0">
                <a:solidFill>
                  <a:srgbClr val="F2C879"/>
                </a:solidFill>
                <a:latin typeface="Calibri"/>
              </a:rPr>
              <a:t>MTTR de 6.4 dias </a:t>
            </a:r>
            <a:r>
              <a:rPr lang="es-CO" sz="1200" b="0" dirty="0">
                <a:solidFill>
                  <a:srgbClr val="FFFFFF"/>
                </a:solidFill>
                <a:latin typeface="Calibri"/>
              </a:rPr>
              <a:t>como tiempo medio de resolucion de defectos.</a:t>
            </a:r>
          </a:p>
          <a:p>
            <a:pPr marL="0" indent="0" algn="l">
              <a:lnSpc>
                <a:spcPct val="122000"/>
              </a:lnSpc>
              <a:spcAft>
                <a:spcPts val="500"/>
              </a:spcAft>
              <a:buNone/>
            </a:pPr>
            <a:r>
              <a:rPr lang="es-CO" sz="1200" b="1" dirty="0">
                <a:solidFill>
                  <a:srgbClr val="F2C879"/>
                </a:solidFill>
                <a:latin typeface="Calibri"/>
              </a:rPr>
              <a:t>NPS cae de 42 a 21 </a:t>
            </a:r>
            <a:r>
              <a:rPr lang="es-CO" sz="1200" b="0" dirty="0">
                <a:solidFill>
                  <a:srgbClr val="FFFFFF"/>
                </a:solidFill>
                <a:latin typeface="Calibri"/>
              </a:rPr>
              <a:t>en dos releases consecutivos.</a:t>
            </a:r>
          </a:p>
          <a:p>
            <a:pPr marL="0" indent="0" algn="l">
              <a:lnSpc>
                <a:spcPct val="122000"/>
              </a:lnSpc>
              <a:spcAft>
                <a:spcPts val="500"/>
              </a:spcAft>
              <a:buNone/>
            </a:pPr>
            <a:r>
              <a:rPr lang="es-CO" sz="1200" b="1" dirty="0">
                <a:solidFill>
                  <a:srgbClr val="F2C879"/>
                </a:solidFill>
                <a:latin typeface="Calibri"/>
              </a:rPr>
              <a:t>Causas raiz: </a:t>
            </a:r>
            <a:r>
              <a:rPr lang="es-CO" sz="1200" b="0" dirty="0">
                <a:solidFill>
                  <a:srgbClr val="FFFFFF"/>
                </a:solidFill>
                <a:latin typeface="Calibri"/>
              </a:rPr>
              <a:t>sin analisis estatico, cobertura de pruebas de 22%, requisitos sin trazabilidad.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700000" cy="4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100" b="1" spc="-10" dirty="0">
                <a:solidFill>
                  <a:srgbClr val="003366"/>
                </a:solidFill>
                <a:latin typeface="Calibri"/>
              </a:rPr>
              <a:t>Resultados: deteccion temprana, costos y tiempos</a:t>
            </a:r>
          </a:p>
        </p:txBody>
      </p:sp>
      <p:sp>
        <p:nvSpPr>
          <p:cNvPr id="101" name="Card 101"/>
          <p:cNvSpPr/>
          <p:nvPr/>
        </p:nvSpPr>
        <p:spPr>
          <a:xfrm>
            <a:off x="421004" y="2000000"/>
            <a:ext cx="2607716" cy="260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2" name="Circle 102"/>
          <p:cNvSpPr/>
          <p:nvPr/>
        </p:nvSpPr>
        <p:spPr>
          <a:xfrm>
            <a:off x="1679862" y="2220000"/>
            <a:ext cx="90000" cy="90000"/>
          </a:xfrm>
          <a:prstGeom prst="ellipse">
            <a:avLst/>
          </a:prstGeom>
          <a:solidFill>
            <a:srgbClr val="B8932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03" name="TextBox 103"/>
          <p:cNvSpPr txBox="1"/>
          <p:nvPr/>
        </p:nvSpPr>
        <p:spPr>
          <a:xfrm>
            <a:off x="511004" y="2450000"/>
            <a:ext cx="2427716" cy="95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CO" sz="4400" b="1" dirty="0">
                <a:solidFill>
                  <a:srgbClr val="003366"/>
                </a:solidFill>
                <a:latin typeface="Calibri"/>
              </a:rPr>
              <a:t>+35 pts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61004" y="3500000"/>
            <a:ext cx="2327716" cy="95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Deteccion temprana</a:t>
            </a:r>
          </a:p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de defectos (54% a 89%)</a:t>
            </a:r>
          </a:p>
        </p:txBody>
      </p:sp>
      <p:sp>
        <p:nvSpPr>
          <p:cNvPr id="105" name="Card 105"/>
          <p:cNvSpPr/>
          <p:nvPr/>
        </p:nvSpPr>
        <p:spPr>
          <a:xfrm>
            <a:off x="3288720" y="2000000"/>
            <a:ext cx="2607716" cy="260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6" name="Circle 106"/>
          <p:cNvSpPr/>
          <p:nvPr/>
        </p:nvSpPr>
        <p:spPr>
          <a:xfrm>
            <a:off x="4547578" y="2220000"/>
            <a:ext cx="90000" cy="90000"/>
          </a:xfrm>
          <a:prstGeom prst="ellipse">
            <a:avLst/>
          </a:prstGeom>
          <a:solidFill>
            <a:srgbClr val="B8932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07" name="TextBox 107"/>
          <p:cNvSpPr txBox="1"/>
          <p:nvPr/>
        </p:nvSpPr>
        <p:spPr>
          <a:xfrm>
            <a:off x="3378720" y="2450000"/>
            <a:ext cx="2427716" cy="95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CO" sz="4400" b="1" dirty="0">
                <a:solidFill>
                  <a:srgbClr val="003366"/>
                </a:solidFill>
                <a:latin typeface="Calibri"/>
              </a:rPr>
              <a:t>-58%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3428720" y="3500000"/>
            <a:ext cx="2327716" cy="95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Costo de retrabajo</a:t>
            </a:r>
          </a:p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(cost of poor quality)</a:t>
            </a:r>
          </a:p>
        </p:txBody>
      </p:sp>
      <p:sp>
        <p:nvSpPr>
          <p:cNvPr id="109" name="Card 109"/>
          <p:cNvSpPr/>
          <p:nvPr/>
        </p:nvSpPr>
        <p:spPr>
          <a:xfrm>
            <a:off x="6156436" y="2000000"/>
            <a:ext cx="2607716" cy="260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0" name="Circle 110"/>
          <p:cNvSpPr/>
          <p:nvPr/>
        </p:nvSpPr>
        <p:spPr>
          <a:xfrm>
            <a:off x="7415294" y="2220000"/>
            <a:ext cx="90000" cy="90000"/>
          </a:xfrm>
          <a:prstGeom prst="ellipse">
            <a:avLst/>
          </a:prstGeom>
          <a:solidFill>
            <a:srgbClr val="B8932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1" name="TextBox 111"/>
          <p:cNvSpPr txBox="1"/>
          <p:nvPr/>
        </p:nvSpPr>
        <p:spPr>
          <a:xfrm>
            <a:off x="6246436" y="2450000"/>
            <a:ext cx="2427716" cy="95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CO" sz="4400" b="1" dirty="0">
                <a:solidFill>
                  <a:srgbClr val="003366"/>
                </a:solidFill>
                <a:latin typeface="Calibri"/>
              </a:rPr>
              <a:t>-33%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296436" y="3500000"/>
            <a:ext cx="2327716" cy="95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Duracion del ciclo</a:t>
            </a:r>
          </a:p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de release (6 a 4 semanas)</a:t>
            </a:r>
          </a:p>
        </p:txBody>
      </p:sp>
      <p:sp>
        <p:nvSpPr>
          <p:cNvPr id="113" name="Card 113"/>
          <p:cNvSpPr/>
          <p:nvPr/>
        </p:nvSpPr>
        <p:spPr>
          <a:xfrm>
            <a:off x="9024152" y="2000000"/>
            <a:ext cx="2607716" cy="260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4" name="Circle 114"/>
          <p:cNvSpPr/>
          <p:nvPr/>
        </p:nvSpPr>
        <p:spPr>
          <a:xfrm>
            <a:off x="10283010" y="2220000"/>
            <a:ext cx="90000" cy="90000"/>
          </a:xfrm>
          <a:prstGeom prst="ellipse">
            <a:avLst/>
          </a:prstGeom>
          <a:solidFill>
            <a:srgbClr val="B8932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5" name="TextBox 115"/>
          <p:cNvSpPr txBox="1"/>
          <p:nvPr/>
        </p:nvSpPr>
        <p:spPr>
          <a:xfrm>
            <a:off x="9114152" y="2450000"/>
            <a:ext cx="2427716" cy="95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CO" sz="4400" b="1" dirty="0">
                <a:solidFill>
                  <a:srgbClr val="003366"/>
                </a:solidFill>
                <a:latin typeface="Calibri"/>
              </a:rPr>
              <a:t>-61%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9164152" y="3500000"/>
            <a:ext cx="2327716" cy="95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Tickets de soporte</a:t>
            </a:r>
          </a:p>
          <a:p>
            <a:pPr marL="0" indent="0" algn="ctr">
              <a:lnSpc>
                <a:spcPct val="118000"/>
              </a:lnSpc>
              <a:spcAft>
                <a:spcPts val="0"/>
              </a:spcAft>
              <a:buNone/>
            </a:pPr>
            <a:r>
              <a:rPr lang="es-CO" sz="1150" b="0" dirty="0">
                <a:solidFill>
                  <a:srgbClr val="26344A"/>
                </a:solidFill>
                <a:latin typeface="Calibri"/>
              </a:rPr>
              <a:t>por errores de software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1004" y="4850000"/>
            <a:ext cx="11210866" cy="5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 algn="ctr">
              <a:lnSpc>
                <a:spcPct val="114000"/>
              </a:lnSpc>
              <a:spcAft>
                <a:spcPts val="0"/>
              </a:spcAft>
              <a:buNone/>
            </a:pPr>
            <a:r>
              <a:rPr lang="es-CO" sz="1100" b="0" i="1" dirty="0">
                <a:solidFill>
                  <a:srgbClr val="6B7785"/>
                </a:solidFill>
                <a:latin typeface="Calibri"/>
              </a:rPr>
              <a:t>Cifras ilustrativas, construidas con fines didacticos sobre un horizonte de tres releases.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700000" cy="4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Conclusiones</a:t>
            </a:r>
          </a:p>
        </p:txBody>
      </p:sp>
      <p:sp>
        <p:nvSpPr>
          <p:cNvPr id="118" name="Card 118"/>
          <p:cNvSpPr/>
          <p:nvPr/>
        </p:nvSpPr>
        <p:spPr>
          <a:xfrm>
            <a:off x="421004" y="1760000"/>
            <a:ext cx="11210866" cy="85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9" name="Circle 119"/>
          <p:cNvSpPr/>
          <p:nvPr/>
        </p:nvSpPr>
        <p:spPr>
          <a:xfrm>
            <a:off x="681004" y="1905000"/>
            <a:ext cx="560000" cy="5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521004" y="1760000"/>
            <a:ext cx="9810866" cy="85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6000"/>
              </a:lnSpc>
              <a:spcAft>
                <a:spcPts val="0"/>
              </a:spcAft>
              <a:buNone/>
            </a:pPr>
            <a:r>
              <a:rPr lang="es-CO" sz="1300" b="0" dirty="0">
                <a:solidFill>
                  <a:srgbClr val="26344A"/>
                </a:solidFill>
                <a:latin typeface="Calibri"/>
              </a:rPr>
              <a:t>La calidad se gestiona en dos planos complementarios: el producto (ISO/IEC 25010) y el proceso (CMMI); confundirlos lleva a decisiones equivocadas en el equipo.</a:t>
            </a:r>
          </a:p>
        </p:txBody>
      </p:sp>
      <p:sp>
        <p:nvSpPr>
          <p:cNvPr id="121" name="Card 121"/>
          <p:cNvSpPr/>
          <p:nvPr/>
        </p:nvSpPr>
        <p:spPr>
          <a:xfrm>
            <a:off x="421004" y="2740000"/>
            <a:ext cx="11210866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2" name="Circle 122"/>
          <p:cNvSpPr/>
          <p:nvPr/>
        </p:nvSpPr>
        <p:spPr>
          <a:xfrm>
            <a:off x="681004" y="2885000"/>
            <a:ext cx="560000" cy="5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521004" y="2740000"/>
            <a:ext cx="9810866" cy="85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6000"/>
              </a:lnSpc>
              <a:spcAft>
                <a:spcPts val="0"/>
              </a:spcAft>
              <a:buNone/>
            </a:pPr>
            <a:r>
              <a:rPr lang="es-CO" sz="1300" b="0" dirty="0">
                <a:solidFill>
                  <a:srgbClr val="26344A"/>
                </a:solidFill>
                <a:latin typeface="Calibri"/>
              </a:rPr>
              <a:t>Herramienta, tecnica y estandar no son sinonimos: el estandar define el marco, la tecnica define el metodo y la herramienta automatiza su ejecucion.</a:t>
            </a:r>
          </a:p>
        </p:txBody>
      </p:sp>
      <p:sp>
        <p:nvSpPr>
          <p:cNvPr id="124" name="Card 124"/>
          <p:cNvSpPr/>
          <p:nvPr/>
        </p:nvSpPr>
        <p:spPr>
          <a:xfrm>
            <a:off x="421004" y="3720000"/>
            <a:ext cx="11210866" cy="850000"/>
          </a:xfrm>
          <a:prstGeom prst="roundRect">
            <a:avLst>
              <a:gd name="adj" fmla="val 6000"/>
            </a:avLst>
          </a:prstGeom>
          <a:solidFill>
            <a:srgbClr val="EFF3F8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5" name="Circle 125"/>
          <p:cNvSpPr/>
          <p:nvPr/>
        </p:nvSpPr>
        <p:spPr>
          <a:xfrm>
            <a:off x="681004" y="3865000"/>
            <a:ext cx="560000" cy="5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521004" y="3720000"/>
            <a:ext cx="9810866" cy="85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6000"/>
              </a:lnSpc>
              <a:spcAft>
                <a:spcPts val="0"/>
              </a:spcAft>
              <a:buNone/>
            </a:pPr>
            <a:r>
              <a:rPr lang="es-CO" sz="1300" b="0" dirty="0">
                <a:solidFill>
                  <a:srgbClr val="26344A"/>
                </a:solidFill>
                <a:latin typeface="Calibri"/>
              </a:rPr>
              <a:t>La deteccion temprana es la metrica de mayor impacto economico: el costo de corregir un defecto crece segun la etapa en que se detecta.</a:t>
            </a:r>
          </a:p>
        </p:txBody>
      </p:sp>
      <p:sp>
        <p:nvSpPr>
          <p:cNvPr id="127" name="Card 127"/>
          <p:cNvSpPr/>
          <p:nvPr/>
        </p:nvSpPr>
        <p:spPr>
          <a:xfrm>
            <a:off x="421004" y="4700000"/>
            <a:ext cx="11210866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8" name="Circle 128"/>
          <p:cNvSpPr/>
          <p:nvPr/>
        </p:nvSpPr>
        <p:spPr>
          <a:xfrm>
            <a:off x="681004" y="4845000"/>
            <a:ext cx="560000" cy="5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s-CO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521004" y="4700000"/>
            <a:ext cx="9810866" cy="85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marL="0" indent="0" algn="l">
              <a:lnSpc>
                <a:spcPct val="116000"/>
              </a:lnSpc>
              <a:spcAft>
                <a:spcPts val="0"/>
              </a:spcAft>
              <a:buNone/>
            </a:pPr>
            <a:r>
              <a:rPr lang="es-CO" sz="1300" b="0" dirty="0">
                <a:solidFill>
                  <a:srgbClr val="26344A"/>
                </a:solidFill>
                <a:latin typeface="Calibri"/>
              </a:rPr>
              <a:t>Institucionalizar procesos definidos (CMMI Nivel 3) sostiene la calidad pese a la rotacion del equipo, y es cada vez mas un requisito comercial, no solo tecnico.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72862-1FC3-85DE-E7F9-11D463592D43}"/>
              </a:ext>
            </a:extLst>
          </p:cNvPr>
          <p:cNvSpPr txBox="1"/>
          <p:nvPr/>
        </p:nvSpPr>
        <p:spPr>
          <a:xfrm>
            <a:off x="218734" y="3166762"/>
            <a:ext cx="1096713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Estándares y métricas de calidad en el desarrollo de software</a:t>
            </a:r>
          </a:p>
          <a:p>
            <a:r>
              <a:rPr lang="es-CO" sz="2800" b="1" dirty="0">
                <a:solidFill>
                  <a:srgbClr val="7BEEFD"/>
                </a:solidFill>
                <a:latin typeface="Century Gothic" panose="020B0502020202020204" pitchFamily="34" charset="0"/>
              </a:rPr>
              <a:t>Técnicas de gestión y medición en la calidad de software</a:t>
            </a:r>
            <a:endParaRPr lang="es-MX" sz="2800" b="1" dirty="0">
              <a:solidFill>
                <a:srgbClr val="7BEEFD"/>
              </a:solidFill>
              <a:latin typeface="Century Gothic" panose="020B0502020202020204" pitchFamily="34" charset="0"/>
            </a:endParaRPr>
          </a:p>
          <a:p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045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1130</Words>
  <Application>Microsoft Office PowerPoint</Application>
  <PresentationFormat>Panorámica</PresentationFormat>
  <Paragraphs>180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Century Gothic</vt:lpstr>
      <vt:lpstr>Tema de Office</vt:lpstr>
      <vt:lpstr>Presentación de PowerPoint</vt:lpstr>
      <vt:lpstr>Contenido</vt:lpstr>
      <vt:lpstr>Resultados de aprendizaje de la semana</vt:lpstr>
      <vt:lpstr>Tecnica, herramienta y estandar: una distincion necesaria</vt:lpstr>
      <vt:lpstr>Eje 1: ISO/IEC 25010, caracteristicas del producto</vt:lpstr>
      <vt:lpstr>Eje 2: CMMI Nivel 3, areas de proceso (nivel Definido)</vt:lpstr>
      <vt:lpstr>Como se cruzan los dos ejes de clasificacion</vt:lpstr>
      <vt:lpstr>Herramientas que ponen estas tecnicas en practica</vt:lpstr>
      <vt:lpstr>Metricas que hacen tangible la calidad</vt:lpstr>
      <vt:lpstr>Caso aplicado: DataFlow Solutions, InventoryPro v3</vt:lpstr>
      <vt:lpstr>Resultados: deteccion temprana, costos y tiempos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Cesar Alfonso</cp:lastModifiedBy>
  <cp:revision>48</cp:revision>
  <dcterms:created xsi:type="dcterms:W3CDTF">2024-01-22T15:06:30Z</dcterms:created>
  <dcterms:modified xsi:type="dcterms:W3CDTF">2026-06-20T18:03:15Z</dcterms:modified>
</cp:coreProperties>
</file>