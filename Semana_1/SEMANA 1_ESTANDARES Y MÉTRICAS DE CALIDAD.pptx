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94" r:id="rId4"/>
    <p:sldId id="293" r:id="rId5"/>
    <p:sldId id="292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8" r:id="rId24"/>
    <p:sldId id="312" r:id="rId25"/>
    <p:sldId id="313" r:id="rId26"/>
    <p:sldId id="314" r:id="rId27"/>
    <p:sldId id="315" r:id="rId28"/>
    <p:sldId id="316" r:id="rId29"/>
    <p:sldId id="317" r:id="rId30"/>
    <p:sldId id="320" r:id="rId31"/>
    <p:sldId id="319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45D28-35B6-8042-98E8-A2DB3305423D}" v="6" dt="2024-03-01T21:35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6374" autoAdjust="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5C25A-EB36-47A0-9FD7-DE8450ACEFF0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C55DB-397F-4AC6-8647-D1E20B065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7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759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8627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5348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23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478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47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232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2415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4277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724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9089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7724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1391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7236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6797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3577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883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30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3032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C55DB-397F-4AC6-8647-D1E20B065C4D}" type="slidenum">
              <a:rPr lang="es-CO" smtClean="0"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502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16/07/2026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ESPECIALIZACIÓN EN DESARROLLO DE SOFTWARE</a:t>
            </a:r>
          </a:p>
          <a:p>
            <a:r>
              <a:rPr lang="es-MX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Estándares y Métricas de Calidad en el Desarrollo de Software</a:t>
            </a: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8B8CCA0-4F72-42F3-AD86-0EA35240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0A4701A1-8EC6-4101-BB7E-B0CA144BA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870" y="1475375"/>
            <a:ext cx="1644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00"/>
                </a:solidFill>
              </a:rPr>
              <a:t>TEMARIO:</a:t>
            </a:r>
            <a:endParaRPr sz="3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E8D9F6-864C-479D-9B03-CE848E5E254A}"/>
              </a:ext>
            </a:extLst>
          </p:cNvPr>
          <p:cNvSpPr/>
          <p:nvPr/>
        </p:nvSpPr>
        <p:spPr>
          <a:xfrm>
            <a:off x="421004" y="2187745"/>
            <a:ext cx="11770996" cy="2712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highlight>
                  <a:srgbClr val="00FF99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FUNDAMENTOS DE LA CALIDAD DE SOFTWARE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ASEGURAMIENTO DE LA CALIDAD DEL SOFTWARE: VALIDACIÓN, VERIFICACIÓN, REVISIONES Y AUDITORIAS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ASEGURAMIENTO DE LA CALIDAD DEL SOFTWARE: CARACTERIZACIÓN DE DEFECTOS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ESPECIFICACIÓN DE REQUISITOS DEL SOFTWARE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TÉCNICAS DE GESTIÓN DE CALIDAD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HERRAMIENTAS Y REQUISITOS DE CALIDAD DE SOFTWARE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TÉCNICAS DE GESTIÓN Y MEDICIÓN EN LA CALIDAD DE SOFTWARE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s-MX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HERRAMIENTAS DE CALIDAD DE SOFTWARE</a:t>
            </a:r>
            <a:endParaRPr lang="es-CO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58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E5D2F62-66D3-420A-A1B7-5844B52B53CF}"/>
              </a:ext>
            </a:extLst>
          </p:cNvPr>
          <p:cNvSpPr/>
          <p:nvPr/>
        </p:nvSpPr>
        <p:spPr>
          <a:xfrm>
            <a:off x="156562" y="1466758"/>
            <a:ext cx="2101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02060"/>
                </a:solidFill>
                <a:latin typeface="Söhne"/>
              </a:rPr>
              <a:t>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1EFEE79-3104-42BB-B703-352B199E3AE1}"/>
              </a:ext>
            </a:extLst>
          </p:cNvPr>
          <p:cNvSpPr/>
          <p:nvPr/>
        </p:nvSpPr>
        <p:spPr>
          <a:xfrm>
            <a:off x="1429637" y="4163279"/>
            <a:ext cx="3665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Modelos y Características de Calidad</a:t>
            </a:r>
            <a:endParaRPr lang="es-CO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9D77A76-33CC-4FDA-B5F0-84514350B3B0}"/>
              </a:ext>
            </a:extLst>
          </p:cNvPr>
          <p:cNvSpPr/>
          <p:nvPr/>
        </p:nvSpPr>
        <p:spPr>
          <a:xfrm>
            <a:off x="3694523" y="3471128"/>
            <a:ext cx="3089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Evaluar la calidad del software</a:t>
            </a:r>
            <a:endParaRPr lang="es-CO" b="1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087EFB6-3704-456E-912F-8A4D60F9A989}"/>
              </a:ext>
            </a:extLst>
          </p:cNvPr>
          <p:cNvSpPr/>
          <p:nvPr/>
        </p:nvSpPr>
        <p:spPr>
          <a:xfrm>
            <a:off x="6272110" y="2744629"/>
            <a:ext cx="33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Mejora de la Calidad de Software</a:t>
            </a:r>
            <a:endParaRPr lang="es-CO" b="1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A503127-AA82-440A-8316-EDDE84335345}"/>
              </a:ext>
            </a:extLst>
          </p:cNvPr>
          <p:cNvSpPr/>
          <p:nvPr/>
        </p:nvSpPr>
        <p:spPr>
          <a:xfrm>
            <a:off x="8415573" y="1724880"/>
            <a:ext cx="3435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El valor de la calidad del software </a:t>
            </a:r>
            <a:endParaRPr lang="es-CO" b="1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C6D18E-86E2-4630-9CB7-A01723D6264A}"/>
              </a:ext>
            </a:extLst>
          </p:cNvPr>
          <p:cNvSpPr/>
          <p:nvPr/>
        </p:nvSpPr>
        <p:spPr>
          <a:xfrm>
            <a:off x="8797921" y="1940323"/>
            <a:ext cx="29194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b="1" dirty="0">
                <a:solidFill>
                  <a:srgbClr val="FF0000"/>
                </a:solidFill>
                <a:latin typeface="Söhne"/>
              </a:rPr>
              <a:t>Los costos de la calidad del software </a:t>
            </a:r>
            <a:endParaRPr lang="es-CO" sz="1400" b="1" dirty="0">
              <a:solidFill>
                <a:srgbClr val="FF0000"/>
              </a:solidFill>
              <a:latin typeface="Söhne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4E2F4AB-08F0-461C-A52C-F6BB1A736691}"/>
              </a:ext>
            </a:extLst>
          </p:cNvPr>
          <p:cNvCxnSpPr>
            <a:cxnSpLocks/>
          </p:cNvCxnSpPr>
          <p:nvPr/>
        </p:nvCxnSpPr>
        <p:spPr>
          <a:xfrm flipV="1">
            <a:off x="1544715" y="2001187"/>
            <a:ext cx="7270811" cy="2255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623D8EE-7C99-49C4-A52B-080782B50F32}"/>
              </a:ext>
            </a:extLst>
          </p:cNvPr>
          <p:cNvCxnSpPr/>
          <p:nvPr/>
        </p:nvCxnSpPr>
        <p:spPr>
          <a:xfrm>
            <a:off x="1544715" y="1909546"/>
            <a:ext cx="0" cy="220860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2E00BF3-B64A-4C8F-A94C-464918C9661D}"/>
              </a:ext>
            </a:extLst>
          </p:cNvPr>
          <p:cNvCxnSpPr>
            <a:cxnSpLocks/>
          </p:cNvCxnSpPr>
          <p:nvPr/>
        </p:nvCxnSpPr>
        <p:spPr>
          <a:xfrm>
            <a:off x="1544715" y="1909546"/>
            <a:ext cx="2149808" cy="1561582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322EDE3-EC6E-4116-A700-8CAD57C08C2D}"/>
              </a:ext>
            </a:extLst>
          </p:cNvPr>
          <p:cNvCxnSpPr>
            <a:cxnSpLocks/>
          </p:cNvCxnSpPr>
          <p:nvPr/>
        </p:nvCxnSpPr>
        <p:spPr>
          <a:xfrm>
            <a:off x="1570313" y="1909546"/>
            <a:ext cx="4644258" cy="830527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DA56830-2AD6-402F-96E8-04375697D139}"/>
              </a:ext>
            </a:extLst>
          </p:cNvPr>
          <p:cNvCxnSpPr>
            <a:cxnSpLocks/>
          </p:cNvCxnSpPr>
          <p:nvPr/>
        </p:nvCxnSpPr>
        <p:spPr>
          <a:xfrm>
            <a:off x="1544714" y="1927731"/>
            <a:ext cx="6930570" cy="49736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contexto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C92A7B7-9904-4A64-B7C9-E5E7A5D4AF1F}"/>
              </a:ext>
            </a:extLst>
          </p:cNvPr>
          <p:cNvSpPr/>
          <p:nvPr/>
        </p:nvSpPr>
        <p:spPr>
          <a:xfrm>
            <a:off x="6766974" y="3547726"/>
            <a:ext cx="377026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R1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R2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R3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.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.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.</a:t>
            </a:r>
          </a:p>
          <a:p>
            <a:r>
              <a:rPr lang="es-MX" sz="1400" dirty="0">
                <a:solidFill>
                  <a:srgbClr val="FF0000"/>
                </a:solidFill>
                <a:latin typeface="Söhne"/>
              </a:rPr>
              <a:t>Rn</a:t>
            </a:r>
          </a:p>
        </p:txBody>
      </p:sp>
    </p:spTree>
    <p:extLst>
      <p:ext uri="{BB962C8B-B14F-4D97-AF65-F5344CB8AC3E}">
        <p14:creationId xmlns:p14="http://schemas.microsoft.com/office/powerpoint/2010/main" val="352711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DD7C5CFD-CE21-4F63-96A8-3CDB1EFA1F09}"/>
              </a:ext>
            </a:extLst>
          </p:cNvPr>
          <p:cNvCxnSpPr>
            <a:cxnSpLocks/>
          </p:cNvCxnSpPr>
          <p:nvPr/>
        </p:nvCxnSpPr>
        <p:spPr>
          <a:xfrm>
            <a:off x="2342410" y="3085750"/>
            <a:ext cx="1873189" cy="898619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E5D2F62-66D3-420A-A1B7-5844B52B53CF}"/>
              </a:ext>
            </a:extLst>
          </p:cNvPr>
          <p:cNvSpPr/>
          <p:nvPr/>
        </p:nvSpPr>
        <p:spPr>
          <a:xfrm>
            <a:off x="20771" y="1665687"/>
            <a:ext cx="2101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D0D0D"/>
                </a:solidFill>
                <a:latin typeface="Söhne"/>
              </a:rPr>
              <a:t>Calidad de Software</a:t>
            </a:r>
            <a:endParaRPr lang="es-CO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658D1FB-2140-42C6-A566-4F2C3BAA0FE7}"/>
              </a:ext>
            </a:extLst>
          </p:cNvPr>
          <p:cNvSpPr/>
          <p:nvPr/>
        </p:nvSpPr>
        <p:spPr>
          <a:xfrm>
            <a:off x="2728403" y="1324506"/>
            <a:ext cx="850184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solidFill>
                  <a:srgbClr val="0D0D0D"/>
                </a:solidFill>
                <a:latin typeface="Söhne"/>
              </a:rPr>
              <a:t>Grado en que un producto de software cumple con los requisitos establecidos y las expectativas del cliente</a:t>
            </a:r>
            <a:endParaRPr lang="es-CO" sz="15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BEEE36-E684-4B7C-B661-EB5F5FF9E924}"/>
              </a:ext>
            </a:extLst>
          </p:cNvPr>
          <p:cNvSpPr/>
          <p:nvPr/>
        </p:nvSpPr>
        <p:spPr>
          <a:xfrm>
            <a:off x="2728403" y="1769606"/>
            <a:ext cx="94635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solidFill>
                  <a:srgbClr val="0D0D0D"/>
                </a:solidFill>
                <a:latin typeface="Söhne"/>
              </a:rPr>
              <a:t>Implica la ausencia de defectos, una alta confiabilidad, eficiencia en el rendimiento, facilidad de mantenimiento y otras características que contribuyen a la satisfacción del usuario.</a:t>
            </a:r>
            <a:endParaRPr lang="es-CO" sz="15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1EFEE79-3104-42BB-B703-352B199E3AE1}"/>
              </a:ext>
            </a:extLst>
          </p:cNvPr>
          <p:cNvSpPr/>
          <p:nvPr/>
        </p:nvSpPr>
        <p:spPr>
          <a:xfrm>
            <a:off x="1071572" y="2720173"/>
            <a:ext cx="3665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>
                <a:solidFill>
                  <a:srgbClr val="0D0D0D"/>
                </a:solidFill>
                <a:latin typeface="Söhne"/>
              </a:rPr>
              <a:t>Modelos y Características de Calidad</a:t>
            </a:r>
            <a:endParaRPr lang="es-CO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C303569-8BC2-4EC9-B725-850DF7862391}"/>
              </a:ext>
            </a:extLst>
          </p:cNvPr>
          <p:cNvSpPr/>
          <p:nvPr/>
        </p:nvSpPr>
        <p:spPr>
          <a:xfrm>
            <a:off x="3802601" y="3093337"/>
            <a:ext cx="826215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solidFill>
                  <a:srgbClr val="0D0D0D"/>
                </a:solidFill>
                <a:latin typeface="Söhne"/>
              </a:rPr>
              <a:t>Marcos teóricos que proporcionan una estructura para evaluar y medir la calidad del software.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1636C07-793E-4954-B062-A0038AB11196}"/>
              </a:ext>
            </a:extLst>
          </p:cNvPr>
          <p:cNvSpPr/>
          <p:nvPr/>
        </p:nvSpPr>
        <p:spPr>
          <a:xfrm>
            <a:off x="4353019" y="3415817"/>
            <a:ext cx="764070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b="1" dirty="0">
                <a:solidFill>
                  <a:srgbClr val="0070C0"/>
                </a:solidFill>
                <a:latin typeface="Söhne"/>
              </a:rPr>
              <a:t>Modelo ISO/IEC 25010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C700409-3F52-4C7B-9E5B-16FCD0DE3AD6}"/>
              </a:ext>
            </a:extLst>
          </p:cNvPr>
          <p:cNvSpPr/>
          <p:nvPr/>
        </p:nvSpPr>
        <p:spPr>
          <a:xfrm>
            <a:off x="4353019" y="3763979"/>
            <a:ext cx="771173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b="1" dirty="0">
                <a:solidFill>
                  <a:srgbClr val="0070C0"/>
                </a:solidFill>
                <a:latin typeface="Söhne"/>
              </a:rPr>
              <a:t>Modelo de calidad de McCall</a:t>
            </a:r>
            <a:endParaRPr lang="es-CO" sz="1500" b="1" dirty="0">
              <a:solidFill>
                <a:srgbClr val="0070C0"/>
              </a:solidFill>
              <a:latin typeface="Söhne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51053A4-F3A7-48C3-8DAF-C69582045DC3}"/>
              </a:ext>
            </a:extLst>
          </p:cNvPr>
          <p:cNvSpPr/>
          <p:nvPr/>
        </p:nvSpPr>
        <p:spPr>
          <a:xfrm>
            <a:off x="4353019" y="4064804"/>
            <a:ext cx="771173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b="1" dirty="0">
                <a:solidFill>
                  <a:srgbClr val="0070C0"/>
                </a:solidFill>
                <a:latin typeface="Söhne"/>
              </a:rPr>
              <a:t>Modelo de calidad de Boehm</a:t>
            </a:r>
            <a:endParaRPr lang="es-CO" sz="1500" b="1" dirty="0">
              <a:solidFill>
                <a:srgbClr val="0070C0"/>
              </a:solidFill>
              <a:latin typeface="Söhne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9D77A76-33CC-4FDA-B5F0-84514350B3B0}"/>
              </a:ext>
            </a:extLst>
          </p:cNvPr>
          <p:cNvSpPr/>
          <p:nvPr/>
        </p:nvSpPr>
        <p:spPr>
          <a:xfrm>
            <a:off x="1579163" y="4786810"/>
            <a:ext cx="3089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Evaluar la calidad del software</a:t>
            </a:r>
            <a:endParaRPr lang="es-CO" b="1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1736DA9-427A-4767-ADD0-FE1B9462BB91}"/>
              </a:ext>
            </a:extLst>
          </p:cNvPr>
          <p:cNvCxnSpPr/>
          <p:nvPr/>
        </p:nvCxnSpPr>
        <p:spPr>
          <a:xfrm>
            <a:off x="2361460" y="3089505"/>
            <a:ext cx="0" cy="169730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0054814-F64A-4D10-87F4-44B94C984B6C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2122372" y="1486089"/>
            <a:ext cx="606031" cy="36426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38AEE4D6-328D-4A3C-AF2F-232068AC2FAD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2122372" y="1850353"/>
            <a:ext cx="606031" cy="19625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793338A-CE8C-4D79-88E1-91B604094BC2}"/>
              </a:ext>
            </a:extLst>
          </p:cNvPr>
          <p:cNvCxnSpPr/>
          <p:nvPr/>
        </p:nvCxnSpPr>
        <p:spPr>
          <a:xfrm>
            <a:off x="1686757" y="2121763"/>
            <a:ext cx="0" cy="59841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4012A1F-521E-4BAD-9464-569830AE3A2C}"/>
              </a:ext>
            </a:extLst>
          </p:cNvPr>
          <p:cNvSpPr/>
          <p:nvPr/>
        </p:nvSpPr>
        <p:spPr>
          <a:xfrm>
            <a:off x="5958616" y="4470991"/>
            <a:ext cx="17996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Funcionalidad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Fiabilidad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Usabilidad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Eficiencia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Mantenibilidad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Portabilidad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5AA281EE-7B46-4640-BA49-FD45C29F6237}"/>
              </a:ext>
            </a:extLst>
          </p:cNvPr>
          <p:cNvCxnSpPr>
            <a:stCxn id="29" idx="3"/>
          </p:cNvCxnSpPr>
          <p:nvPr/>
        </p:nvCxnSpPr>
        <p:spPr>
          <a:xfrm>
            <a:off x="4668727" y="4971476"/>
            <a:ext cx="1289888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>
            <a:extLst>
              <a:ext uri="{FF2B5EF4-FFF2-40B4-BE49-F238E27FC236}">
                <a16:creationId xmlns:a16="http://schemas.microsoft.com/office/drawing/2014/main" id="{77CF880E-B024-4039-A7C3-8D89BA6F3D36}"/>
              </a:ext>
            </a:extLst>
          </p:cNvPr>
          <p:cNvSpPr/>
          <p:nvPr/>
        </p:nvSpPr>
        <p:spPr>
          <a:xfrm>
            <a:off x="2039349" y="1755364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E9FAA5B3-33B1-4483-9295-7E0774BA65EA}"/>
              </a:ext>
            </a:extLst>
          </p:cNvPr>
          <p:cNvSpPr/>
          <p:nvPr/>
        </p:nvSpPr>
        <p:spPr>
          <a:xfrm>
            <a:off x="1603734" y="2038740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6314EE4A-E1DE-435A-AC32-C561B7DD7D76}"/>
              </a:ext>
            </a:extLst>
          </p:cNvPr>
          <p:cNvSpPr/>
          <p:nvPr/>
        </p:nvSpPr>
        <p:spPr>
          <a:xfrm>
            <a:off x="2278437" y="3016433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CA32DBC-9F49-4AE1-9956-80EF414AEE40}"/>
              </a:ext>
            </a:extLst>
          </p:cNvPr>
          <p:cNvSpPr/>
          <p:nvPr/>
        </p:nvSpPr>
        <p:spPr>
          <a:xfrm>
            <a:off x="4585704" y="4888453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D5265DD1-4C9F-4D34-8FA0-268A3C5B4750}"/>
              </a:ext>
            </a:extLst>
          </p:cNvPr>
          <p:cNvCxnSpPr/>
          <p:nvPr/>
        </p:nvCxnSpPr>
        <p:spPr>
          <a:xfrm>
            <a:off x="4353019" y="3348211"/>
            <a:ext cx="0" cy="1055174"/>
          </a:xfrm>
          <a:prstGeom prst="line">
            <a:avLst/>
          </a:prstGeom>
          <a:ln w="28575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0E92839-2D54-4B0E-90F7-C3641835A3C9}"/>
              </a:ext>
            </a:extLst>
          </p:cNvPr>
          <p:cNvCxnSpPr>
            <a:cxnSpLocks/>
          </p:cNvCxnSpPr>
          <p:nvPr/>
        </p:nvCxnSpPr>
        <p:spPr>
          <a:xfrm>
            <a:off x="2991682" y="5156142"/>
            <a:ext cx="0" cy="663633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5DBD5AFE-A2F6-49D5-AE52-9DAEC4233F81}"/>
              </a:ext>
            </a:extLst>
          </p:cNvPr>
          <p:cNvSpPr/>
          <p:nvPr/>
        </p:nvSpPr>
        <p:spPr>
          <a:xfrm>
            <a:off x="2908659" y="5073119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FF9D855-4B88-4EAC-90CE-75FB88721384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contexto</a:t>
            </a:r>
            <a:endParaRPr lang="es-CO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7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F7E11A3C-920F-47E9-A8FD-7302B000FE65}"/>
              </a:ext>
            </a:extLst>
          </p:cNvPr>
          <p:cNvCxnSpPr>
            <a:cxnSpLocks/>
          </p:cNvCxnSpPr>
          <p:nvPr/>
        </p:nvCxnSpPr>
        <p:spPr>
          <a:xfrm>
            <a:off x="3499340" y="1786770"/>
            <a:ext cx="929158" cy="126166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60" name="Rectángulo 59">
            <a:extLst>
              <a:ext uri="{FF2B5EF4-FFF2-40B4-BE49-F238E27FC236}">
                <a16:creationId xmlns:a16="http://schemas.microsoft.com/office/drawing/2014/main" id="{0B836AE7-6C3F-45B0-ABC1-087BE3D1413A}"/>
              </a:ext>
            </a:extLst>
          </p:cNvPr>
          <p:cNvSpPr/>
          <p:nvPr/>
        </p:nvSpPr>
        <p:spPr>
          <a:xfrm>
            <a:off x="196574" y="1637615"/>
            <a:ext cx="33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Mejora de la Calidad de Software</a:t>
            </a:r>
            <a:endParaRPr lang="es-CO" b="1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F77D8FEF-B29B-42A2-8E44-18E04BEC78D6}"/>
              </a:ext>
            </a:extLst>
          </p:cNvPr>
          <p:cNvSpPr/>
          <p:nvPr/>
        </p:nvSpPr>
        <p:spPr>
          <a:xfrm>
            <a:off x="4511521" y="1314450"/>
            <a:ext cx="50896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b="1" u="sng" dirty="0">
                <a:solidFill>
                  <a:srgbClr val="0D0D0D"/>
                </a:solidFill>
                <a:latin typeface="Söhne"/>
              </a:rPr>
              <a:t>Proceso continuo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Identificar áreas de debilidad en un producto de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Implementar cambios.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Realizar acciones correctivas para aumentar su calidad.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2046E81-15A1-4503-9E60-38121B17894E}"/>
              </a:ext>
            </a:extLst>
          </p:cNvPr>
          <p:cNvSpPr/>
          <p:nvPr/>
        </p:nvSpPr>
        <p:spPr>
          <a:xfrm>
            <a:off x="4511522" y="2425184"/>
            <a:ext cx="7594754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500" b="1" u="sng" dirty="0">
                <a:solidFill>
                  <a:srgbClr val="0D0D0D"/>
                </a:solidFill>
                <a:latin typeface="Söhne"/>
              </a:rPr>
              <a:t>Incluye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Adopción de mejores prácticas de desarrollo de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Realización de pruebas exhaustivas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Participación en actividades de revisión y auditoría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Recopilación y análisis de retroalimentación de los usuarios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BCF9834A-5BD3-4EEF-BEE9-19FE9EBEA23D}"/>
              </a:ext>
            </a:extLst>
          </p:cNvPr>
          <p:cNvCxnSpPr>
            <a:cxnSpLocks/>
          </p:cNvCxnSpPr>
          <p:nvPr/>
        </p:nvCxnSpPr>
        <p:spPr>
          <a:xfrm>
            <a:off x="523478" y="1036812"/>
            <a:ext cx="0" cy="663633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>
            <a:extLst>
              <a:ext uri="{FF2B5EF4-FFF2-40B4-BE49-F238E27FC236}">
                <a16:creationId xmlns:a16="http://schemas.microsoft.com/office/drawing/2014/main" id="{30EE4973-19D3-4D70-BAD9-BD2816B108CE}"/>
              </a:ext>
            </a:extLst>
          </p:cNvPr>
          <p:cNvSpPr/>
          <p:nvPr/>
        </p:nvSpPr>
        <p:spPr>
          <a:xfrm>
            <a:off x="441684" y="1010939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59252B2-981B-4142-B688-22F298F61C8D}"/>
              </a:ext>
            </a:extLst>
          </p:cNvPr>
          <p:cNvCxnSpPr>
            <a:cxnSpLocks/>
          </p:cNvCxnSpPr>
          <p:nvPr/>
        </p:nvCxnSpPr>
        <p:spPr>
          <a:xfrm flipV="1">
            <a:off x="3556276" y="1491449"/>
            <a:ext cx="873681" cy="33532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5CCD0700-DA8F-484D-BC90-ABFE2D3FEECB}"/>
              </a:ext>
            </a:extLst>
          </p:cNvPr>
          <p:cNvSpPr/>
          <p:nvPr/>
        </p:nvSpPr>
        <p:spPr>
          <a:xfrm>
            <a:off x="3473253" y="1743751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6EE4175D-FADF-4492-93D2-5DD21DF25294}"/>
              </a:ext>
            </a:extLst>
          </p:cNvPr>
          <p:cNvSpPr/>
          <p:nvPr/>
        </p:nvSpPr>
        <p:spPr>
          <a:xfrm>
            <a:off x="551365" y="3048431"/>
            <a:ext cx="3435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D0D0D"/>
                </a:solidFill>
                <a:latin typeface="Söhne"/>
              </a:rPr>
              <a:t>El valor de la calidad del software </a:t>
            </a:r>
            <a:endParaRPr lang="es-CO" b="1" dirty="0">
              <a:solidFill>
                <a:srgbClr val="0D0D0D"/>
              </a:solidFill>
              <a:latin typeface="Söhne"/>
            </a:endParaRP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B04FF5C7-AD44-4BF0-BAFF-DC2F9FBF77AE}"/>
              </a:ext>
            </a:extLst>
          </p:cNvPr>
          <p:cNvCxnSpPr>
            <a:cxnSpLocks/>
          </p:cNvCxnSpPr>
          <p:nvPr/>
        </p:nvCxnSpPr>
        <p:spPr>
          <a:xfrm>
            <a:off x="1207362" y="2066248"/>
            <a:ext cx="0" cy="98218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lipse 73">
            <a:extLst>
              <a:ext uri="{FF2B5EF4-FFF2-40B4-BE49-F238E27FC236}">
                <a16:creationId xmlns:a16="http://schemas.microsoft.com/office/drawing/2014/main" id="{B93C1F09-CF44-47C6-BAA6-8C91266B1769}"/>
              </a:ext>
            </a:extLst>
          </p:cNvPr>
          <p:cNvSpPr/>
          <p:nvPr/>
        </p:nvSpPr>
        <p:spPr>
          <a:xfrm>
            <a:off x="1124339" y="1993176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3F132369-EC7F-43CE-A639-C905B152A653}"/>
              </a:ext>
            </a:extLst>
          </p:cNvPr>
          <p:cNvSpPr/>
          <p:nvPr/>
        </p:nvSpPr>
        <p:spPr>
          <a:xfrm>
            <a:off x="4163627" y="3793659"/>
            <a:ext cx="78212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b="1" dirty="0">
                <a:solidFill>
                  <a:srgbClr val="FF0000"/>
                </a:solidFill>
                <a:latin typeface="Söhne"/>
              </a:rPr>
              <a:t>Beneficios y ventajas 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que un producto de software de alta calidad proporciona a los usuarios y a la organización que lo desarrolla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77055595-DC83-4AD2-9CC0-EDE58B295F5D}"/>
              </a:ext>
            </a:extLst>
          </p:cNvPr>
          <p:cNvSpPr/>
          <p:nvPr/>
        </p:nvSpPr>
        <p:spPr>
          <a:xfrm>
            <a:off x="8074241" y="4386042"/>
            <a:ext cx="41177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rgbClr val="0D0D0D"/>
                </a:solidFill>
                <a:latin typeface="Söhne"/>
              </a:rPr>
              <a:t>Satisfacción del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Mayor confianza en el 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Menor necesidad de soporte y mantenimiento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Mayor competitividad en el mercado</a:t>
            </a: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9579F5C-16A5-4789-B1B4-4DA385C8D336}"/>
              </a:ext>
            </a:extLst>
          </p:cNvPr>
          <p:cNvSpPr/>
          <p:nvPr/>
        </p:nvSpPr>
        <p:spPr>
          <a:xfrm>
            <a:off x="196574" y="4201376"/>
            <a:ext cx="369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latin typeface="Söhne"/>
              </a:rPr>
              <a:t>Los costos de la calidad del software </a:t>
            </a:r>
            <a:endParaRPr lang="es-CO" b="1" dirty="0">
              <a:solidFill>
                <a:srgbClr val="FF0000"/>
              </a:solidFill>
              <a:latin typeface="Söhne"/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0627E59-4DED-4AB3-8AB1-F60385456F11}"/>
              </a:ext>
            </a:extLst>
          </p:cNvPr>
          <p:cNvSpPr/>
          <p:nvPr/>
        </p:nvSpPr>
        <p:spPr>
          <a:xfrm>
            <a:off x="441684" y="4648065"/>
            <a:ext cx="72286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rgbClr val="0D0D0D"/>
                </a:solidFill>
                <a:latin typeface="Söhne"/>
              </a:rPr>
              <a:t>Recursos financieros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rgbClr val="0D0D0D"/>
                </a:solidFill>
                <a:latin typeface="Söhne"/>
              </a:rPr>
              <a:t>Recursos humanos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500" dirty="0">
                <a:solidFill>
                  <a:srgbClr val="0D0D0D"/>
                </a:solidFill>
                <a:latin typeface="Söhne"/>
              </a:rPr>
              <a:t>costos asociados con la resolución de problemas y defectos del </a:t>
            </a:r>
            <a:r>
              <a:rPr lang="es-CO" sz="1500" dirty="0">
                <a:solidFill>
                  <a:srgbClr val="0D0D0D"/>
                </a:solidFill>
                <a:latin typeface="Söhne"/>
              </a:rPr>
              <a:t>software en producción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500" dirty="0">
              <a:solidFill>
                <a:srgbClr val="0D0D0D"/>
              </a:solidFill>
              <a:latin typeface="Söhne"/>
            </a:endParaRPr>
          </a:p>
        </p:txBody>
      </p: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BFDF6247-98FF-492B-AF10-EF2C045DDFF3}"/>
              </a:ext>
            </a:extLst>
          </p:cNvPr>
          <p:cNvCxnSpPr>
            <a:cxnSpLocks/>
          </p:cNvCxnSpPr>
          <p:nvPr/>
        </p:nvCxnSpPr>
        <p:spPr>
          <a:xfrm>
            <a:off x="3949199" y="3239409"/>
            <a:ext cx="365898" cy="57016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D4816E61-DF73-44B6-A51F-EBB080ED64AC}"/>
              </a:ext>
            </a:extLst>
          </p:cNvPr>
          <p:cNvSpPr/>
          <p:nvPr/>
        </p:nvSpPr>
        <p:spPr>
          <a:xfrm>
            <a:off x="3880896" y="3207373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5BB14FAF-1E43-42CD-9BD9-B3672B295889}"/>
              </a:ext>
            </a:extLst>
          </p:cNvPr>
          <p:cNvCxnSpPr/>
          <p:nvPr/>
        </p:nvCxnSpPr>
        <p:spPr>
          <a:xfrm>
            <a:off x="8074588" y="4347657"/>
            <a:ext cx="0" cy="1118536"/>
          </a:xfrm>
          <a:prstGeom prst="line">
            <a:avLst/>
          </a:prstGeom>
          <a:ln w="28575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6E90B121-233B-400C-BF89-1EB789D7993A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6684885" y="4296337"/>
            <a:ext cx="1389356" cy="59753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>
            <a:extLst>
              <a:ext uri="{FF2B5EF4-FFF2-40B4-BE49-F238E27FC236}">
                <a16:creationId xmlns:a16="http://schemas.microsoft.com/office/drawing/2014/main" id="{98212990-E329-45D9-BCB8-D9EFF3FE2B65}"/>
              </a:ext>
            </a:extLst>
          </p:cNvPr>
          <p:cNvSpPr/>
          <p:nvPr/>
        </p:nvSpPr>
        <p:spPr>
          <a:xfrm>
            <a:off x="6566079" y="4179345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77E4561A-9E73-483A-9F2B-7144B17BC713}"/>
              </a:ext>
            </a:extLst>
          </p:cNvPr>
          <p:cNvCxnSpPr/>
          <p:nvPr/>
        </p:nvCxnSpPr>
        <p:spPr>
          <a:xfrm>
            <a:off x="441684" y="4545192"/>
            <a:ext cx="0" cy="1118536"/>
          </a:xfrm>
          <a:prstGeom prst="line">
            <a:avLst/>
          </a:prstGeom>
          <a:ln w="28575">
            <a:solidFill>
              <a:srgbClr val="00B0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16EE06C0-1FE8-4D5D-915B-E8AAA7B0CB19}"/>
              </a:ext>
            </a:extLst>
          </p:cNvPr>
          <p:cNvCxnSpPr>
            <a:cxnSpLocks/>
          </p:cNvCxnSpPr>
          <p:nvPr/>
        </p:nvCxnSpPr>
        <p:spPr>
          <a:xfrm>
            <a:off x="826548" y="3455199"/>
            <a:ext cx="0" cy="80258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ipse 101">
            <a:extLst>
              <a:ext uri="{FF2B5EF4-FFF2-40B4-BE49-F238E27FC236}">
                <a16:creationId xmlns:a16="http://schemas.microsoft.com/office/drawing/2014/main" id="{8C165808-13E8-42A3-B97F-EA3CC36704F5}"/>
              </a:ext>
            </a:extLst>
          </p:cNvPr>
          <p:cNvSpPr/>
          <p:nvPr/>
        </p:nvSpPr>
        <p:spPr>
          <a:xfrm>
            <a:off x="743525" y="3382127"/>
            <a:ext cx="166046" cy="16604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5400CFFA-AACA-496B-B967-7AB972839A26}"/>
              </a:ext>
            </a:extLst>
          </p:cNvPr>
          <p:cNvSpPr/>
          <p:nvPr/>
        </p:nvSpPr>
        <p:spPr>
          <a:xfrm>
            <a:off x="0" y="631449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contexto</a:t>
            </a:r>
            <a:endParaRPr lang="es-CO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El camino a seguir</a:t>
            </a:r>
            <a:endParaRPr lang="es-CO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827CA6E-E0F5-431B-AF50-6D8EB9A7D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178107"/>
              </p:ext>
            </p:extLst>
          </p:nvPr>
        </p:nvGraphicFramePr>
        <p:xfrm>
          <a:off x="88777" y="1147242"/>
          <a:ext cx="12002609" cy="4641000"/>
        </p:xfrm>
        <a:graphic>
          <a:graphicData uri="http://schemas.openxmlformats.org/drawingml/2006/table">
            <a:tbl>
              <a:tblPr/>
              <a:tblGrid>
                <a:gridCol w="3921086">
                  <a:extLst>
                    <a:ext uri="{9D8B030D-6E8A-4147-A177-3AD203B41FA5}">
                      <a16:colId xmlns:a16="http://schemas.microsoft.com/office/drawing/2014/main" val="1079137103"/>
                    </a:ext>
                  </a:extLst>
                </a:gridCol>
                <a:gridCol w="8081523">
                  <a:extLst>
                    <a:ext uri="{9D8B030D-6E8A-4147-A177-3AD203B41FA5}">
                      <a16:colId xmlns:a16="http://schemas.microsoft.com/office/drawing/2014/main" val="2585741081"/>
                    </a:ext>
                  </a:extLst>
                </a:gridCol>
              </a:tblGrid>
              <a:tr h="515594">
                <a:tc>
                  <a:txBody>
                    <a:bodyPr/>
                    <a:lstStyle/>
                    <a:p>
                      <a:pPr fontAlgn="b"/>
                      <a:r>
                        <a:rPr lang="es-MX" sz="1400" b="1" dirty="0">
                          <a:solidFill>
                            <a:srgbClr val="FFC000"/>
                          </a:solidFill>
                          <a:effectLst/>
                        </a:rPr>
                        <a:t>Fundamentos de la Calidad del Software</a:t>
                      </a:r>
                    </a:p>
                    <a:p>
                      <a:pPr fontAlgn="b"/>
                      <a:endParaRPr lang="es-MX" sz="1400" b="1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2717" marR="32717" marT="16358" marB="1635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 dirty="0">
                          <a:solidFill>
                            <a:srgbClr val="FFC000"/>
                          </a:solidFill>
                          <a:effectLst/>
                        </a:rPr>
                        <a:t>Descripción</a:t>
                      </a:r>
                    </a:p>
                    <a:p>
                      <a:pPr fontAlgn="b"/>
                      <a:endParaRPr lang="es-CO" sz="1400" b="1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2717" marR="32717" marT="16358" marB="1635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137698"/>
                  </a:ext>
                </a:extLst>
              </a:tr>
              <a:tr h="515594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effectLst/>
                        </a:rPr>
                        <a:t>Aseguramiento de la Calidad del Software (QA)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Conjunto de actividades planificadas y sistemáticas </a:t>
                      </a:r>
                      <a:r>
                        <a:rPr lang="es-MX" sz="1400" dirty="0">
                          <a:effectLst/>
                        </a:rPr>
                        <a:t>para proporcionar confianza en que el producto cumpla con los requisitos de calidad.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83445"/>
                  </a:ext>
                </a:extLst>
              </a:tr>
              <a:tr h="515594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>
                          <a:effectLst/>
                        </a:rPr>
                        <a:t>Validación y Verificación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effectLst/>
                        </a:rPr>
                        <a:t>Validación: </a:t>
                      </a:r>
                      <a:r>
                        <a:rPr lang="es-MX" sz="1400" dirty="0">
                          <a:effectLst/>
                        </a:rPr>
                        <a:t>asegurarse de que el software cumpla con los requisitos del usuario. </a:t>
                      </a:r>
                    </a:p>
                    <a:p>
                      <a:pPr fontAlgn="base"/>
                      <a:r>
                        <a:rPr lang="es-MX" sz="1400" b="1" dirty="0">
                          <a:effectLst/>
                        </a:rPr>
                        <a:t>Verificación: </a:t>
                      </a:r>
                      <a:r>
                        <a:rPr lang="es-MX" sz="1400" dirty="0">
                          <a:effectLst/>
                        </a:rPr>
                        <a:t>asegurarse de que el software se implemente correctamente.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955033"/>
                  </a:ext>
                </a:extLst>
              </a:tr>
              <a:tr h="515594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 dirty="0">
                          <a:effectLst/>
                        </a:rPr>
                        <a:t>Revisiones y Auditorías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effectLst/>
                        </a:rPr>
                        <a:t>Revisiones: </a:t>
                      </a:r>
                      <a:r>
                        <a:rPr lang="es-MX" sz="1400" dirty="0">
                          <a:effectLst/>
                        </a:rPr>
                        <a:t>examen formal de productos de trabajo para identificar defectos. </a:t>
                      </a:r>
                    </a:p>
                    <a:p>
                      <a:pPr fontAlgn="base"/>
                      <a:r>
                        <a:rPr lang="es-MX" sz="1400" b="1" dirty="0">
                          <a:effectLst/>
                        </a:rPr>
                        <a:t>Auditorías: </a:t>
                      </a:r>
                      <a:r>
                        <a:rPr lang="es-MX" sz="1400" dirty="0">
                          <a:effectLst/>
                        </a:rPr>
                        <a:t>evaluaciones sistemáticas para determinar el cumplimiento de estándares.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16665"/>
                  </a:ext>
                </a:extLst>
              </a:tr>
              <a:tr h="515594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 dirty="0">
                          <a:effectLst/>
                        </a:rPr>
                        <a:t>Caracterización de Defectos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Identificación, clasificación y documentación de defectos </a:t>
                      </a:r>
                      <a:r>
                        <a:rPr lang="es-MX" sz="1400" dirty="0">
                          <a:effectLst/>
                        </a:rPr>
                        <a:t>para comprender su naturaleza y tomar medidas correctivas.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535579"/>
                  </a:ext>
                </a:extLst>
              </a:tr>
              <a:tr h="41260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effectLst/>
                        </a:rPr>
                        <a:t>Especificación de Requisitos del Software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Definición y documentación de requisitos del software </a:t>
                      </a:r>
                      <a:r>
                        <a:rPr lang="es-MX" sz="1400" dirty="0">
                          <a:effectLst/>
                        </a:rPr>
                        <a:t>para guiar el desarrollo y evaluación del sistema.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477088"/>
                  </a:ext>
                </a:extLst>
              </a:tr>
              <a:tr h="41260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effectLst/>
                        </a:rPr>
                        <a:t>Técnicas de Gestión de Calidad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Prácticas y herramientas </a:t>
                      </a:r>
                      <a:r>
                        <a:rPr lang="es-MX" sz="1400" dirty="0">
                          <a:effectLst/>
                        </a:rPr>
                        <a:t>para planificar, controlar y mejorar la calidad del software.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50484"/>
                  </a:ext>
                </a:extLst>
              </a:tr>
              <a:tr h="41260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effectLst/>
                        </a:rPr>
                        <a:t>Herramientas y Requisitos de Calidad de Software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Herramientas y técnicas </a:t>
                      </a:r>
                      <a:r>
                        <a:rPr lang="es-MX" sz="1400" dirty="0">
                          <a:effectLst/>
                        </a:rPr>
                        <a:t>para evaluar, monitorear y mejorar la calidad del software.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937831"/>
                  </a:ext>
                </a:extLst>
              </a:tr>
              <a:tr h="41260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effectLst/>
                        </a:rPr>
                        <a:t>Técnicas de Gestión y Medición en la Calidad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Prácticas y procesos </a:t>
                      </a:r>
                      <a:r>
                        <a:rPr lang="es-MX" sz="1400" dirty="0">
                          <a:effectLst/>
                        </a:rPr>
                        <a:t>para gestionar y medir la calidad del software durante todo su ciclo de vida.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77878"/>
                  </a:ext>
                </a:extLst>
              </a:tr>
              <a:tr h="41260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effectLst/>
                        </a:rPr>
                        <a:t>Herramientas de Calidad de Software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Herramientas específicas </a:t>
                      </a:r>
                      <a:r>
                        <a:rPr lang="es-MX" sz="1400" dirty="0">
                          <a:effectLst/>
                        </a:rPr>
                        <a:t>para apoyar las actividades de aseguramiento y gestión de la calidad del software.</a:t>
                      </a:r>
                    </a:p>
                  </a:txBody>
                  <a:tcPr marL="32717" marR="32717" marT="16358" marB="1635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43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Ejemplo</a:t>
            </a:r>
            <a:endParaRPr lang="es-CO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C3CA74E-6723-426B-BDE0-6A7F8D180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018181"/>
              </p:ext>
            </p:extLst>
          </p:nvPr>
        </p:nvGraphicFramePr>
        <p:xfrm>
          <a:off x="103653" y="1159267"/>
          <a:ext cx="11978856" cy="4693765"/>
        </p:xfrm>
        <a:graphic>
          <a:graphicData uri="http://schemas.openxmlformats.org/drawingml/2006/table">
            <a:tbl>
              <a:tblPr/>
              <a:tblGrid>
                <a:gridCol w="4290794">
                  <a:extLst>
                    <a:ext uri="{9D8B030D-6E8A-4147-A177-3AD203B41FA5}">
                      <a16:colId xmlns:a16="http://schemas.microsoft.com/office/drawing/2014/main" val="2290519541"/>
                    </a:ext>
                  </a:extLst>
                </a:gridCol>
                <a:gridCol w="7688062">
                  <a:extLst>
                    <a:ext uri="{9D8B030D-6E8A-4147-A177-3AD203B41FA5}">
                      <a16:colId xmlns:a16="http://schemas.microsoft.com/office/drawing/2014/main" val="1452699887"/>
                    </a:ext>
                  </a:extLst>
                </a:gridCol>
              </a:tblGrid>
              <a:tr h="223898">
                <a:tc>
                  <a:txBody>
                    <a:bodyPr/>
                    <a:lstStyle/>
                    <a:p>
                      <a:pPr fontAlgn="b"/>
                      <a:r>
                        <a:rPr lang="es-MX" sz="1400" b="1">
                          <a:solidFill>
                            <a:srgbClr val="00FF99"/>
                          </a:solidFill>
                          <a:effectLst/>
                        </a:rPr>
                        <a:t>Fundamentos de la Calidad del Software</a:t>
                      </a:r>
                    </a:p>
                  </a:txBody>
                  <a:tcPr marL="28817" marR="28817" marT="14408" marB="1440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 dirty="0">
                          <a:solidFill>
                            <a:srgbClr val="00FF99"/>
                          </a:solidFill>
                          <a:effectLst/>
                        </a:rPr>
                        <a:t>Ejemplo</a:t>
                      </a:r>
                    </a:p>
                  </a:txBody>
                  <a:tcPr marL="28817" marR="28817" marT="14408" marB="1440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807519"/>
                  </a:ext>
                </a:extLst>
              </a:tr>
              <a:tr h="442615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002060"/>
                          </a:solidFill>
                          <a:effectLst/>
                        </a:rPr>
                        <a:t>Aseguramiento de la Calidad del Software (QA)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Implementación de un proceso de revisión de código </a:t>
                      </a:r>
                      <a:r>
                        <a:rPr lang="es-MX" sz="1400" dirty="0">
                          <a:effectLst/>
                        </a:rPr>
                        <a:t>antes de cada lanzamiento para garantizar que cumpla con los estándares de codificación.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5599"/>
                  </a:ext>
                </a:extLst>
              </a:tr>
              <a:tr h="442615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 dirty="0">
                          <a:solidFill>
                            <a:srgbClr val="002060"/>
                          </a:solidFill>
                          <a:effectLst/>
                        </a:rPr>
                        <a:t>Validación y Verificación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Pruebas de una nueva función </a:t>
                      </a:r>
                      <a:r>
                        <a:rPr lang="es-MX" sz="1400" dirty="0">
                          <a:effectLst/>
                        </a:rPr>
                        <a:t>en una aplicación móvil de comercio electrónico para asegurarse de que cumple con los requisitos del usuario.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08938"/>
                  </a:ext>
                </a:extLst>
              </a:tr>
              <a:tr h="525889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>
                          <a:solidFill>
                            <a:srgbClr val="002060"/>
                          </a:solidFill>
                          <a:effectLst/>
                        </a:rPr>
                        <a:t>Revisiones y Auditorías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Revisión del código</a:t>
                      </a:r>
                      <a:r>
                        <a:rPr lang="es-MX" sz="1400" dirty="0">
                          <a:effectLst/>
                        </a:rPr>
                        <a:t>, la arquitectura y la documentación de un proyecto antes de la entrega al cliente, seguido de una auditoría para garantizar cumplimiento.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699426"/>
                  </a:ext>
                </a:extLst>
              </a:tr>
              <a:tr h="525889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 dirty="0">
                          <a:solidFill>
                            <a:srgbClr val="002060"/>
                          </a:solidFill>
                          <a:effectLst/>
                        </a:rPr>
                        <a:t>Caracterización de Defectos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Documentación detallada de defectos encontrados durante las pruebas</a:t>
                      </a:r>
                      <a:r>
                        <a:rPr lang="es-MX" sz="1400" dirty="0">
                          <a:effectLst/>
                        </a:rPr>
                        <a:t>, incluyendo naturaleza, impacto y posibles causas para priorización y resolución.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615859"/>
                  </a:ext>
                </a:extLst>
              </a:tr>
              <a:tr h="421155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002060"/>
                          </a:solidFill>
                          <a:effectLst/>
                        </a:rPr>
                        <a:t>Especificación de Requisitos del Software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Definición y documentación detallada de los requisitos </a:t>
                      </a:r>
                      <a:r>
                        <a:rPr lang="es-MX" sz="1400" dirty="0">
                          <a:effectLst/>
                        </a:rPr>
                        <a:t>de un software de contabilidad antes de iniciar el desarrollo.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867136"/>
                  </a:ext>
                </a:extLst>
              </a:tr>
              <a:tr h="525889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002060"/>
                          </a:solidFill>
                          <a:effectLst/>
                        </a:rPr>
                        <a:t>Técnicas de Gestión de Calidad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Utilización de la metodología Scrum </a:t>
                      </a:r>
                      <a:r>
                        <a:rPr lang="es-MX" sz="1400" dirty="0">
                          <a:effectLst/>
                        </a:rPr>
                        <a:t>para gestionar el desarrollo de un software, incluyendo reuniones diarias, retrospectivas y tableros Kanban.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08874"/>
                  </a:ext>
                </a:extLst>
              </a:tr>
              <a:tr h="525889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002060"/>
                          </a:solidFill>
                          <a:effectLst/>
                        </a:rPr>
                        <a:t>Herramientas y Requisitos de Calidad de Software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Uso de herramientas de prueba automatizadas </a:t>
                      </a:r>
                      <a:r>
                        <a:rPr lang="es-MX" sz="1400" dirty="0">
                          <a:effectLst/>
                        </a:rPr>
                        <a:t>como </a:t>
                      </a:r>
                      <a:r>
                        <a:rPr lang="es-MX" sz="1400" dirty="0" err="1">
                          <a:effectLst/>
                          <a:highlight>
                            <a:srgbClr val="00FFFF"/>
                          </a:highlight>
                        </a:rPr>
                        <a:t>Selenium</a:t>
                      </a:r>
                      <a:r>
                        <a:rPr lang="es-MX" sz="1400" dirty="0">
                          <a:effectLst/>
                        </a:rPr>
                        <a:t> y </a:t>
                      </a:r>
                      <a:r>
                        <a:rPr lang="es-MX" sz="1400" dirty="0" err="1">
                          <a:effectLst/>
                          <a:highlight>
                            <a:srgbClr val="00FFFF"/>
                          </a:highlight>
                        </a:rPr>
                        <a:t>JMeter</a:t>
                      </a:r>
                      <a:r>
                        <a:rPr lang="es-MX" sz="1400" dirty="0">
                          <a:effectLst/>
                        </a:rPr>
                        <a:t> para garantizar la calidad del software y reducir pruebas manuales.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7561"/>
                  </a:ext>
                </a:extLst>
              </a:tr>
              <a:tr h="525889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002060"/>
                          </a:solidFill>
                          <a:effectLst/>
                        </a:rPr>
                        <a:t>Técnicas de Gestión y Medición en la Calidad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Definición de métricas de calidad </a:t>
                      </a:r>
                      <a:r>
                        <a:rPr lang="es-MX" sz="1400" dirty="0">
                          <a:effectLst/>
                        </a:rPr>
                        <a:t>como tasa de defectos por línea de código y satisfacción del cliente para medir y mejorar la calidad del software.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01236"/>
                  </a:ext>
                </a:extLst>
              </a:tr>
              <a:tr h="442615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solidFill>
                            <a:srgbClr val="002060"/>
                          </a:solidFill>
                          <a:effectLst/>
                        </a:rPr>
                        <a:t>Herramientas de Calidad de Software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99"/>
                          </a:highlight>
                        </a:rPr>
                        <a:t>Utilización de herramientas de gestión </a:t>
                      </a:r>
                      <a:r>
                        <a:rPr lang="es-MX" sz="1400" dirty="0">
                          <a:effectLst/>
                        </a:rPr>
                        <a:t>de defectos como </a:t>
                      </a:r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Jira</a:t>
                      </a:r>
                      <a:r>
                        <a:rPr lang="es-MX" sz="1400" dirty="0">
                          <a:effectLst/>
                        </a:rPr>
                        <a:t> o Bugzilla para registrar, priorizar y dar seguimiento a los problemas del software.</a:t>
                      </a:r>
                    </a:p>
                  </a:txBody>
                  <a:tcPr marL="28817" marR="28817" marT="14408" marB="1440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531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1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CC9540-C4D0-4E9F-AEED-8C0CADF47A35}"/>
              </a:ext>
            </a:extLst>
          </p:cNvPr>
          <p:cNvSpPr/>
          <p:nvPr/>
        </p:nvSpPr>
        <p:spPr>
          <a:xfrm>
            <a:off x="91736" y="1463466"/>
            <a:ext cx="11103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70C0"/>
                </a:solidFill>
                <a:latin typeface="Söhne"/>
              </a:rPr>
              <a:t>Caso de Estudio: </a:t>
            </a:r>
          </a:p>
          <a:p>
            <a:r>
              <a:rPr lang="es-MX" sz="2400" dirty="0">
                <a:solidFill>
                  <a:srgbClr val="0D0D0D"/>
                </a:solidFill>
                <a:latin typeface="Söhne"/>
              </a:rPr>
              <a:t>Desarrollo de una Aplicación Móvil de Entrega de Comida</a:t>
            </a:r>
            <a:endParaRPr lang="es-CO" sz="2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5400B1-AFE1-439D-A332-A97CAD2A75E8}"/>
              </a:ext>
            </a:extLst>
          </p:cNvPr>
          <p:cNvSpPr/>
          <p:nvPr/>
        </p:nvSpPr>
        <p:spPr>
          <a:xfrm>
            <a:off x="113930" y="2544686"/>
            <a:ext cx="119641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solidFill>
                  <a:srgbClr val="0D0D0D"/>
                </a:solidFill>
                <a:latin typeface="Söhne"/>
              </a:rPr>
              <a:t>Una empresa de tecnología está desarrollando una aplicación móvil de entrega de comida para competir en el mercado creciente de entrega de alimentos a domicilio. </a:t>
            </a:r>
          </a:p>
          <a:p>
            <a:pPr algn="just"/>
            <a:r>
              <a:rPr lang="es-MX" sz="2000" dirty="0">
                <a:solidFill>
                  <a:srgbClr val="0D0D0D"/>
                </a:solidFill>
                <a:latin typeface="Söhne"/>
              </a:rPr>
              <a:t>El objetivo es crear una aplicación fácil de usar, confiable y eficiente que brinde una experiencia positiva a los usuarios y les permita realizar pedidos de comida de manera conveniente.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64530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CC9540-C4D0-4E9F-AEED-8C0CADF47A35}"/>
              </a:ext>
            </a:extLst>
          </p:cNvPr>
          <p:cNvSpPr/>
          <p:nvPr/>
        </p:nvSpPr>
        <p:spPr>
          <a:xfrm>
            <a:off x="-1" y="1147242"/>
            <a:ext cx="11103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Söhne"/>
              </a:rPr>
              <a:t>Caso de Estudio: </a:t>
            </a:r>
          </a:p>
          <a:p>
            <a:r>
              <a:rPr lang="es-MX" dirty="0">
                <a:solidFill>
                  <a:srgbClr val="0D0D0D"/>
                </a:solidFill>
                <a:latin typeface="Söhne"/>
              </a:rPr>
              <a:t>Desarrollo de una Aplicación Móvil de Entrega de Comida</a:t>
            </a:r>
            <a:endParaRPr lang="es-CO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B2E3D3-2209-4642-B99E-635FDD9D6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49386"/>
              </p:ext>
            </p:extLst>
          </p:nvPr>
        </p:nvGraphicFramePr>
        <p:xfrm>
          <a:off x="238830" y="1948638"/>
          <a:ext cx="11763780" cy="3762121"/>
        </p:xfrm>
        <a:graphic>
          <a:graphicData uri="http://schemas.openxmlformats.org/drawingml/2006/table">
            <a:tbl>
              <a:tblPr/>
              <a:tblGrid>
                <a:gridCol w="4599500">
                  <a:extLst>
                    <a:ext uri="{9D8B030D-6E8A-4147-A177-3AD203B41FA5}">
                      <a16:colId xmlns:a16="http://schemas.microsoft.com/office/drawing/2014/main" val="1591499187"/>
                    </a:ext>
                  </a:extLst>
                </a:gridCol>
                <a:gridCol w="7164280">
                  <a:extLst>
                    <a:ext uri="{9D8B030D-6E8A-4147-A177-3AD203B41FA5}">
                      <a16:colId xmlns:a16="http://schemas.microsoft.com/office/drawing/2014/main" val="433045528"/>
                    </a:ext>
                  </a:extLst>
                </a:gridCol>
              </a:tblGrid>
              <a:tr h="365544">
                <a:tc>
                  <a:txBody>
                    <a:bodyPr/>
                    <a:lstStyle/>
                    <a:p>
                      <a:pPr fontAlgn="b"/>
                      <a:r>
                        <a:rPr lang="es-CO" sz="1400" b="1">
                          <a:solidFill>
                            <a:schemeClr val="bg1"/>
                          </a:solidFill>
                          <a:effectLst/>
                        </a:rPr>
                        <a:t>Actividad</a:t>
                      </a:r>
                    </a:p>
                  </a:txBody>
                  <a:tcPr marL="41840" marR="41840" marT="20920" marB="2092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41840" marR="41840" marT="20920" marB="2092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92489"/>
                  </a:ext>
                </a:extLst>
              </a:tr>
              <a:tr h="549731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Definición de Requisitos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 dirty="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697439"/>
                  </a:ext>
                </a:extLst>
              </a:tr>
              <a:tr h="671157"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Diseño de la Interfaz de Usuario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85643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Desarrollo de la Aplicación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30973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Pruebas de Funcionalidad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51301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Pruebas de Rendimiento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506655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Lanzamiento y Despliegue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9498"/>
                  </a:ext>
                </a:extLst>
              </a:tr>
              <a:tr h="67115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Monitoreo y Soporte Post-Lanzamiento</a:t>
                      </a: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400" dirty="0">
                        <a:effectLst/>
                      </a:endParaRPr>
                    </a:p>
                  </a:txBody>
                  <a:tcPr marL="41840" marR="41840" marT="20920" marB="209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38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836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CC9540-C4D0-4E9F-AEED-8C0CADF47A35}"/>
              </a:ext>
            </a:extLst>
          </p:cNvPr>
          <p:cNvSpPr/>
          <p:nvPr/>
        </p:nvSpPr>
        <p:spPr>
          <a:xfrm>
            <a:off x="-1" y="1147242"/>
            <a:ext cx="11103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Söhne"/>
              </a:rPr>
              <a:t>Caso de Estudio 2: </a:t>
            </a:r>
          </a:p>
          <a:p>
            <a:r>
              <a:rPr lang="es-MX" dirty="0">
                <a:solidFill>
                  <a:srgbClr val="0D0D0D"/>
                </a:solidFill>
                <a:latin typeface="Söhne"/>
              </a:rPr>
              <a:t>Desarrollo de una Aplicación Móvil de Entrega de Comida</a:t>
            </a:r>
            <a:endParaRPr lang="es-CO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B2E3D3-2209-4642-B99E-635FDD9D6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28051"/>
              </p:ext>
            </p:extLst>
          </p:nvPr>
        </p:nvGraphicFramePr>
        <p:xfrm>
          <a:off x="238830" y="1948638"/>
          <a:ext cx="11763780" cy="3762121"/>
        </p:xfrm>
        <a:graphic>
          <a:graphicData uri="http://schemas.openxmlformats.org/drawingml/2006/table">
            <a:tbl>
              <a:tblPr/>
              <a:tblGrid>
                <a:gridCol w="4599500">
                  <a:extLst>
                    <a:ext uri="{9D8B030D-6E8A-4147-A177-3AD203B41FA5}">
                      <a16:colId xmlns:a16="http://schemas.microsoft.com/office/drawing/2014/main" val="1591499187"/>
                    </a:ext>
                  </a:extLst>
                </a:gridCol>
                <a:gridCol w="7164280">
                  <a:extLst>
                    <a:ext uri="{9D8B030D-6E8A-4147-A177-3AD203B41FA5}">
                      <a16:colId xmlns:a16="http://schemas.microsoft.com/office/drawing/2014/main" val="433045528"/>
                    </a:ext>
                  </a:extLst>
                </a:gridCol>
              </a:tblGrid>
              <a:tr h="365544">
                <a:tc>
                  <a:txBody>
                    <a:bodyPr/>
                    <a:lstStyle/>
                    <a:p>
                      <a:pPr fontAlgn="b"/>
                      <a:r>
                        <a:rPr lang="es-CO" sz="1800" b="1">
                          <a:solidFill>
                            <a:srgbClr val="002060"/>
                          </a:solidFill>
                          <a:effectLst/>
                        </a:rPr>
                        <a:t>Actividad</a:t>
                      </a:r>
                    </a:p>
                  </a:txBody>
                  <a:tcPr marL="41840" marR="41840" marT="20920" marB="2092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EFD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800" b="1" dirty="0">
                          <a:solidFill>
                            <a:srgbClr val="00206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41840" marR="41840" marT="20920" marB="2092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92489"/>
                  </a:ext>
                </a:extLst>
              </a:tr>
              <a:tr h="549731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>
                          <a:effectLst/>
                        </a:rPr>
                        <a:t>Definición de Requisitos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>
                          <a:effectLst/>
                        </a:rPr>
                        <a:t>Lista de requisitos establecida y documentada.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697439"/>
                  </a:ext>
                </a:extLst>
              </a:tr>
              <a:tr h="671157">
                <a:tc>
                  <a:txBody>
                    <a:bodyPr/>
                    <a:lstStyle/>
                    <a:p>
                      <a:pPr fontAlgn="base"/>
                      <a:r>
                        <a:rPr lang="es-MX" sz="1800" b="1" dirty="0">
                          <a:effectLst/>
                        </a:rPr>
                        <a:t>Diseño de la Interfaz de Usuario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Mockups y prototipos de la interfaz de usuario aprobados.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85643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>
                          <a:effectLst/>
                        </a:rPr>
                        <a:t>Desarrollo de la Aplicación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Aplicación móvil desarrollada de acuerdo con los requisitos y el diseño.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30973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>
                          <a:effectLst/>
                        </a:rPr>
                        <a:t>Pruebas de Funcionalidad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>
                          <a:effectLst/>
                        </a:rPr>
                        <a:t>Todas las funciones de la aplicación pasaron las pruebas de funcionamiento.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51301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 dirty="0">
                          <a:effectLst/>
                        </a:rPr>
                        <a:t>Pruebas de Rendimiento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>
                          <a:effectLst/>
                        </a:rPr>
                        <a:t>La aplicación mostró un rendimiento aceptable bajo diferentes cargas y condiciones.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506655"/>
                  </a:ext>
                </a:extLst>
              </a:tr>
              <a:tr h="376133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 dirty="0">
                          <a:effectLst/>
                        </a:rPr>
                        <a:t>Lanzamiento y Despliegue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>
                          <a:effectLst/>
                        </a:rPr>
                        <a:t>La aplicación se lanzó con éxito en las tiendas de aplicaciones iOS y Android.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9498"/>
                  </a:ext>
                </a:extLst>
              </a:tr>
              <a:tr h="671157">
                <a:tc>
                  <a:txBody>
                    <a:bodyPr/>
                    <a:lstStyle/>
                    <a:p>
                      <a:pPr fontAlgn="base"/>
                      <a:r>
                        <a:rPr lang="es-CO" sz="1800" b="1" dirty="0">
                          <a:effectLst/>
                        </a:rPr>
                        <a:t>Monitoreo y Soporte Post-Lanzamiento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Problemas de rendimiento abordados y soporte técnico proporcionado según sea necesario.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38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0" y="1279572"/>
            <a:ext cx="2140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Calidad del software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CCAF19-5691-4347-86C9-9BFD88474911}"/>
              </a:ext>
            </a:extLst>
          </p:cNvPr>
          <p:cNvSpPr/>
          <p:nvPr/>
        </p:nvSpPr>
        <p:spPr>
          <a:xfrm>
            <a:off x="2701770" y="1279572"/>
            <a:ext cx="9052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D0D0D"/>
                </a:solidFill>
                <a:latin typeface="Söhne"/>
              </a:rPr>
              <a:t>Software </a:t>
            </a:r>
            <a:r>
              <a:rPr lang="es-CO" dirty="0" err="1">
                <a:solidFill>
                  <a:srgbClr val="0D0D0D"/>
                </a:solidFill>
                <a:latin typeface="Söhne"/>
              </a:rPr>
              <a:t>Quality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 </a:t>
            </a:r>
            <a:r>
              <a:rPr lang="es-CO" dirty="0" err="1">
                <a:solidFill>
                  <a:srgbClr val="0D0D0D"/>
                </a:solidFill>
                <a:latin typeface="Söhne"/>
              </a:rPr>
              <a:t>Assurance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 (</a:t>
            </a:r>
            <a:r>
              <a:rPr lang="es-CO" b="1" dirty="0" err="1">
                <a:solidFill>
                  <a:srgbClr val="FF0000"/>
                </a:solidFill>
                <a:latin typeface="Söhne"/>
              </a:rPr>
              <a:t>SQA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) - Aseguramiento de la Calidad del Software (</a:t>
            </a:r>
            <a:r>
              <a:rPr lang="es-CO" b="1" dirty="0">
                <a:solidFill>
                  <a:srgbClr val="FF0000"/>
                </a:solidFill>
                <a:latin typeface="Söhne"/>
              </a:rPr>
              <a:t>ACS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)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CE77A8-9064-4AEC-9F4A-F1DDBB53DE09}"/>
              </a:ext>
            </a:extLst>
          </p:cNvPr>
          <p:cNvSpPr/>
          <p:nvPr/>
        </p:nvSpPr>
        <p:spPr>
          <a:xfrm>
            <a:off x="242657" y="2612229"/>
            <a:ext cx="107834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D0D0D"/>
                </a:solidFill>
                <a:latin typeface="Söhne"/>
              </a:rPr>
              <a:t>Conjunto de métodos, herramientas y técnicas utilizadas para gestionar y garantizar la calidad en el desarrollo de un producto de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objetivo principal del </a:t>
            </a:r>
            <a:r>
              <a:rPr lang="es-MX" dirty="0" err="1"/>
              <a:t>SQA</a:t>
            </a:r>
            <a:r>
              <a:rPr lang="es-MX" dirty="0"/>
              <a:t> es asegurar que el software cumpla con los estándares de calidad definidos, los requisitos del cliente y las expectativas del usuario final.</a:t>
            </a:r>
            <a:endParaRPr lang="es-CO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4467C6B-5187-435F-9722-453E818CFE1E}"/>
              </a:ext>
            </a:extLst>
          </p:cNvPr>
          <p:cNvCxnSpPr/>
          <p:nvPr/>
        </p:nvCxnSpPr>
        <p:spPr>
          <a:xfrm>
            <a:off x="2204620" y="1464238"/>
            <a:ext cx="4971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89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0" y="1279572"/>
            <a:ext cx="2140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Calidad del software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CCAF19-5691-4347-86C9-9BFD88474911}"/>
              </a:ext>
            </a:extLst>
          </p:cNvPr>
          <p:cNvSpPr/>
          <p:nvPr/>
        </p:nvSpPr>
        <p:spPr>
          <a:xfrm>
            <a:off x="2701770" y="1279572"/>
            <a:ext cx="9052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D0D0D"/>
                </a:solidFill>
                <a:latin typeface="Söhne"/>
              </a:rPr>
              <a:t>Software </a:t>
            </a:r>
            <a:r>
              <a:rPr lang="es-CO" dirty="0" err="1">
                <a:solidFill>
                  <a:srgbClr val="0D0D0D"/>
                </a:solidFill>
                <a:latin typeface="Söhne"/>
              </a:rPr>
              <a:t>Quality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 </a:t>
            </a:r>
            <a:r>
              <a:rPr lang="es-CO" dirty="0" err="1">
                <a:solidFill>
                  <a:srgbClr val="0D0D0D"/>
                </a:solidFill>
                <a:latin typeface="Söhne"/>
              </a:rPr>
              <a:t>Assurance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 (</a:t>
            </a:r>
            <a:r>
              <a:rPr lang="es-CO" b="1" dirty="0" err="1">
                <a:solidFill>
                  <a:srgbClr val="FF0000"/>
                </a:solidFill>
                <a:latin typeface="Söhne"/>
              </a:rPr>
              <a:t>SQA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) - Aseguramiento de la Calidad del Software (</a:t>
            </a:r>
            <a:r>
              <a:rPr lang="es-CO" b="1" dirty="0">
                <a:solidFill>
                  <a:srgbClr val="FF0000"/>
                </a:solidFill>
                <a:latin typeface="Söhne"/>
              </a:rPr>
              <a:t>ACS</a:t>
            </a:r>
            <a:r>
              <a:rPr lang="es-CO" dirty="0">
                <a:solidFill>
                  <a:srgbClr val="0D0D0D"/>
                </a:solidFill>
                <a:latin typeface="Söhne"/>
              </a:rPr>
              <a:t>)</a:t>
            </a:r>
            <a:endParaRPr lang="es-CO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4467C6B-5187-435F-9722-453E818CFE1E}"/>
              </a:ext>
            </a:extLst>
          </p:cNvPr>
          <p:cNvCxnSpPr/>
          <p:nvPr/>
        </p:nvCxnSpPr>
        <p:spPr>
          <a:xfrm>
            <a:off x="2204620" y="1464238"/>
            <a:ext cx="4971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CEFCDDE3-36E1-47A6-A75B-8B8AE98C8227}"/>
              </a:ext>
            </a:extLst>
          </p:cNvPr>
          <p:cNvSpPr/>
          <p:nvPr/>
        </p:nvSpPr>
        <p:spPr>
          <a:xfrm>
            <a:off x="98473" y="1719677"/>
            <a:ext cx="11895257" cy="36933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  <a:latin typeface="Söhne"/>
              </a:rPr>
              <a:t>Actividades comunes realizadas</a:t>
            </a:r>
            <a:endParaRPr lang="es-CO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7EC41E3-7CF9-4305-B9C9-71504F218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20566"/>
              </p:ext>
            </p:extLst>
          </p:nvPr>
        </p:nvGraphicFramePr>
        <p:xfrm>
          <a:off x="98474" y="2159782"/>
          <a:ext cx="11895257" cy="4462957"/>
        </p:xfrm>
        <a:graphic>
          <a:graphicData uri="http://schemas.openxmlformats.org/drawingml/2006/table">
            <a:tbl>
              <a:tblPr/>
              <a:tblGrid>
                <a:gridCol w="2400124">
                  <a:extLst>
                    <a:ext uri="{9D8B030D-6E8A-4147-A177-3AD203B41FA5}">
                      <a16:colId xmlns:a16="http://schemas.microsoft.com/office/drawing/2014/main" val="3175783798"/>
                    </a:ext>
                  </a:extLst>
                </a:gridCol>
                <a:gridCol w="9495133">
                  <a:extLst>
                    <a:ext uri="{9D8B030D-6E8A-4147-A177-3AD203B41FA5}">
                      <a16:colId xmlns:a16="http://schemas.microsoft.com/office/drawing/2014/main" val="1525630423"/>
                    </a:ext>
                  </a:extLst>
                </a:gridCol>
              </a:tblGrid>
              <a:tr h="317529">
                <a:tc>
                  <a:txBody>
                    <a:bodyPr/>
                    <a:lstStyle/>
                    <a:p>
                      <a:pPr fontAlgn="b"/>
                      <a:r>
                        <a:rPr lang="es-CO" sz="1500" b="1">
                          <a:solidFill>
                            <a:srgbClr val="FFFF00"/>
                          </a:solidFill>
                          <a:effectLst/>
                        </a:rPr>
                        <a:t>Actividad</a:t>
                      </a:r>
                    </a:p>
                  </a:txBody>
                  <a:tcPr marL="35667" marR="35667" marT="17833" marB="1783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35667" marR="35667" marT="17833" marB="1783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356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>
                          <a:effectLst/>
                        </a:rPr>
                        <a:t>Planificación de la calidad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Establecimiento de procesos, estándares y procedimientos para garantizar la calidad del software </a:t>
                      </a:r>
                      <a:r>
                        <a:rPr lang="es-MX" sz="1500" dirty="0">
                          <a:effectLst/>
                        </a:rPr>
                        <a:t>desde el inicio hasta el final del ciclo de vida del desarrollo.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494181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 dirty="0">
                          <a:effectLst/>
                        </a:rPr>
                        <a:t>Control de la calidad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Supervisión y seguimiento continuo del proceso de desarrollo </a:t>
                      </a:r>
                      <a:r>
                        <a:rPr lang="es-MX" sz="1500" dirty="0">
                          <a:effectLst/>
                        </a:rPr>
                        <a:t>para identificar y corregir posibles problemas de calidad a medida que surgen.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532820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MX" sz="1500" b="1">
                          <a:effectLst/>
                        </a:rPr>
                        <a:t>Revisión de requisitos y especificaciones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Verificación de que los requisitos del cliente y las especificaciones del software </a:t>
                      </a:r>
                      <a:r>
                        <a:rPr lang="es-MX" sz="1500" dirty="0">
                          <a:effectLst/>
                        </a:rPr>
                        <a:t>sean claros, completos y coherentes.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977990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>
                          <a:effectLst/>
                        </a:rPr>
                        <a:t>Pruebas de software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Implementación de pruebas exhaustivas </a:t>
                      </a:r>
                      <a:r>
                        <a:rPr lang="es-MX" sz="1500" dirty="0">
                          <a:effectLst/>
                        </a:rPr>
                        <a:t>para verificar la </a:t>
                      </a:r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funcionalidad</a:t>
                      </a:r>
                      <a:r>
                        <a:rPr lang="es-MX" sz="1500" dirty="0">
                          <a:effectLst/>
                        </a:rPr>
                        <a:t>, la </a:t>
                      </a:r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usabilidad</a:t>
                      </a:r>
                      <a:r>
                        <a:rPr lang="es-MX" sz="1500" dirty="0">
                          <a:effectLst/>
                        </a:rPr>
                        <a:t>, el </a:t>
                      </a:r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rendimiento</a:t>
                      </a:r>
                      <a:r>
                        <a:rPr lang="es-MX" sz="1500" dirty="0">
                          <a:effectLst/>
                        </a:rPr>
                        <a:t> y la </a:t>
                      </a:r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seguridad</a:t>
                      </a:r>
                      <a:r>
                        <a:rPr lang="es-MX" sz="1500" dirty="0">
                          <a:effectLst/>
                        </a:rPr>
                        <a:t> del software.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14971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>
                          <a:effectLst/>
                        </a:rPr>
                        <a:t>Gestión de la configuración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Control y seguimiento de los cambios realizados en el software </a:t>
                      </a:r>
                      <a:r>
                        <a:rPr lang="es-MX" sz="1500" dirty="0">
                          <a:effectLst/>
                        </a:rPr>
                        <a:t>y sus componentes para garantizar la integridad y la consistencia del producto final.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4432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>
                          <a:effectLst/>
                        </a:rPr>
                        <a:t>Auditorías de calidad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Evaluación periódica de los procesos de desarrollo y las prácticas de </a:t>
                      </a:r>
                      <a:r>
                        <a:rPr lang="es-MX" sz="1500" dirty="0" err="1">
                          <a:effectLst/>
                          <a:highlight>
                            <a:srgbClr val="00FFFF"/>
                          </a:highlight>
                        </a:rPr>
                        <a:t>SQA</a:t>
                      </a:r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s-MX" sz="1500" dirty="0">
                          <a:effectLst/>
                        </a:rPr>
                        <a:t>para identificar áreas de mejora y asegurar el cumplimiento de los estándares de calidad.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338535"/>
                  </a:ext>
                </a:extLst>
              </a:tr>
              <a:tr h="592204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 dirty="0">
                          <a:effectLst/>
                        </a:rPr>
                        <a:t>Mejora continua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Identificación y aplicación de mejoras en los procesos de desarrollo y en las prácticas de </a:t>
                      </a:r>
                      <a:r>
                        <a:rPr lang="es-MX" sz="1500" dirty="0" err="1">
                          <a:effectLst/>
                          <a:highlight>
                            <a:srgbClr val="00FFFF"/>
                          </a:highlight>
                        </a:rPr>
                        <a:t>SQA</a:t>
                      </a:r>
                      <a:r>
                        <a:rPr lang="es-MX" sz="15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s-MX" sz="1500" dirty="0">
                          <a:effectLst/>
                        </a:rPr>
                        <a:t>para optimizar la calidad del software y aumentar la eficiencia del equipo de desarrollo.</a:t>
                      </a:r>
                    </a:p>
                  </a:txBody>
                  <a:tcPr marL="35667" marR="35667" marT="17833" marB="1783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6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272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0" y="1279572"/>
            <a:ext cx="102002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solidFill>
                  <a:srgbClr val="FF0000"/>
                </a:solidFill>
              </a:rPr>
              <a:t>Integración del Software </a:t>
            </a:r>
            <a:r>
              <a:rPr lang="es-CO" sz="1600" b="1" dirty="0" err="1">
                <a:solidFill>
                  <a:srgbClr val="FF0000"/>
                </a:solidFill>
              </a:rPr>
              <a:t>Quality</a:t>
            </a:r>
            <a:r>
              <a:rPr lang="es-CO" sz="1600" b="1" dirty="0">
                <a:solidFill>
                  <a:srgbClr val="FF0000"/>
                </a:solidFill>
              </a:rPr>
              <a:t> </a:t>
            </a:r>
            <a:r>
              <a:rPr lang="es-CO" sz="1600" b="1" dirty="0" err="1">
                <a:solidFill>
                  <a:srgbClr val="FF0000"/>
                </a:solidFill>
              </a:rPr>
              <a:t>Assurance</a:t>
            </a:r>
            <a:r>
              <a:rPr lang="es-CO" sz="1600" b="1" dirty="0">
                <a:solidFill>
                  <a:srgbClr val="FF0000"/>
                </a:solidFill>
              </a:rPr>
              <a:t> (</a:t>
            </a:r>
            <a:r>
              <a:rPr lang="es-CO" sz="1600" b="1" dirty="0" err="1">
                <a:solidFill>
                  <a:srgbClr val="FF0000"/>
                </a:solidFill>
              </a:rPr>
              <a:t>SQA</a:t>
            </a:r>
            <a:r>
              <a:rPr lang="es-CO" sz="1600" b="1" dirty="0">
                <a:solidFill>
                  <a:srgbClr val="FF0000"/>
                </a:solidFill>
              </a:rPr>
              <a:t>) en las diferentes etapas del Software </a:t>
            </a:r>
            <a:r>
              <a:rPr lang="es-CO" sz="1600" b="1" dirty="0" err="1">
                <a:solidFill>
                  <a:srgbClr val="FF0000"/>
                </a:solidFill>
              </a:rPr>
              <a:t>Development</a:t>
            </a:r>
            <a:r>
              <a:rPr lang="es-CO" sz="1600" b="1" dirty="0">
                <a:solidFill>
                  <a:srgbClr val="FF0000"/>
                </a:solidFill>
              </a:rPr>
              <a:t> </a:t>
            </a:r>
            <a:r>
              <a:rPr lang="es-CO" sz="1600" b="1" dirty="0" err="1">
                <a:solidFill>
                  <a:srgbClr val="FF0000"/>
                </a:solidFill>
              </a:rPr>
              <a:t>Life</a:t>
            </a:r>
            <a:r>
              <a:rPr lang="es-CO" sz="1600" b="1" dirty="0">
                <a:solidFill>
                  <a:srgbClr val="FF0000"/>
                </a:solidFill>
              </a:rPr>
              <a:t> </a:t>
            </a:r>
            <a:r>
              <a:rPr lang="es-CO" sz="1600" b="1" dirty="0" err="1">
                <a:solidFill>
                  <a:srgbClr val="FF0000"/>
                </a:solidFill>
              </a:rPr>
              <a:t>Cycle</a:t>
            </a:r>
            <a:r>
              <a:rPr lang="es-CO" sz="1600" b="1" dirty="0">
                <a:solidFill>
                  <a:srgbClr val="FF0000"/>
                </a:solidFill>
              </a:rPr>
              <a:t> (</a:t>
            </a:r>
            <a:r>
              <a:rPr lang="es-CO" sz="1600" b="1" dirty="0" err="1">
                <a:solidFill>
                  <a:srgbClr val="FF0000"/>
                </a:solidFill>
              </a:rPr>
              <a:t>SDLC</a:t>
            </a:r>
            <a:r>
              <a:rPr lang="es-CO" sz="1600" b="1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EE96A97-B85A-4386-A85D-41707CC10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51435"/>
              </p:ext>
            </p:extLst>
          </p:nvPr>
        </p:nvGraphicFramePr>
        <p:xfrm>
          <a:off x="272656" y="1759531"/>
          <a:ext cx="11729953" cy="4117489"/>
        </p:xfrm>
        <a:graphic>
          <a:graphicData uri="http://schemas.openxmlformats.org/drawingml/2006/table">
            <a:tbl>
              <a:tblPr/>
              <a:tblGrid>
                <a:gridCol w="1494000">
                  <a:extLst>
                    <a:ext uri="{9D8B030D-6E8A-4147-A177-3AD203B41FA5}">
                      <a16:colId xmlns:a16="http://schemas.microsoft.com/office/drawing/2014/main" val="1467669551"/>
                    </a:ext>
                  </a:extLst>
                </a:gridCol>
                <a:gridCol w="5521911">
                  <a:extLst>
                    <a:ext uri="{9D8B030D-6E8A-4147-A177-3AD203B41FA5}">
                      <a16:colId xmlns:a16="http://schemas.microsoft.com/office/drawing/2014/main" val="1409142457"/>
                    </a:ext>
                  </a:extLst>
                </a:gridCol>
                <a:gridCol w="4714042">
                  <a:extLst>
                    <a:ext uri="{9D8B030D-6E8A-4147-A177-3AD203B41FA5}">
                      <a16:colId xmlns:a16="http://schemas.microsoft.com/office/drawing/2014/main" val="3747185383"/>
                    </a:ext>
                  </a:extLst>
                </a:gridCol>
              </a:tblGrid>
              <a:tr h="296371">
                <a:tc>
                  <a:txBody>
                    <a:bodyPr/>
                    <a:lstStyle/>
                    <a:p>
                      <a:pPr fontAlgn="b"/>
                      <a:r>
                        <a:rPr lang="es-CO" sz="1600" b="1">
                          <a:solidFill>
                            <a:srgbClr val="FFFF00"/>
                          </a:solidFill>
                          <a:effectLst/>
                        </a:rPr>
                        <a:t>Etapa del SDLC</a:t>
                      </a:r>
                    </a:p>
                  </a:txBody>
                  <a:tcPr marL="45804" marR="45804" marT="22902" marB="22902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600" b="1">
                          <a:solidFill>
                            <a:srgbClr val="FFFF0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45804" marR="45804" marT="22902" marB="22902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600" b="1" dirty="0">
                          <a:solidFill>
                            <a:srgbClr val="FFFF00"/>
                          </a:solidFill>
                          <a:effectLst/>
                        </a:rPr>
                        <a:t>Actividades de </a:t>
                      </a:r>
                      <a:r>
                        <a:rPr lang="es-CO" sz="1600" b="1" dirty="0" err="1">
                          <a:solidFill>
                            <a:srgbClr val="FFFF00"/>
                          </a:solidFill>
                          <a:effectLst/>
                        </a:rPr>
                        <a:t>SQA</a:t>
                      </a:r>
                      <a:endParaRPr lang="es-CO" sz="1600" b="1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45804" marR="45804" marT="22902" marB="22902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86749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Planificación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Establecimiento de objetivos y planificación del proyecto.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Definición de estándares de calidad y procesos de </a:t>
                      </a:r>
                      <a:r>
                        <a:rPr lang="es-MX" sz="1600" dirty="0" err="1">
                          <a:effectLst/>
                        </a:rPr>
                        <a:t>SQA</a:t>
                      </a:r>
                      <a:r>
                        <a:rPr lang="es-MX" sz="1600" dirty="0">
                          <a:effectLst/>
                        </a:rPr>
                        <a:t>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4733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Análisis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Recopilación y análisis de requisitos.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Revisión de requisitos para garantizar claridad y coherencia.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31877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Diseño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Elaboración del diseño detallado del software.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Revisión de diseño y aseguramiento de cumplimiento de estándares de calidad.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558291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Implementación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Desarrollo del software según el diseño establecido.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Supervisión del cumplimiento de estándares de codificación.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895699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Pruebas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Realización de pruebas para identificar defectos.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Planificación, ejecución y seguimiento de pruebas de SQA.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799793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Despliegue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Puesta en marcha del software en el entorno de producción.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Participación en pruebas de aceptación del usuario final.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454212"/>
                  </a:ext>
                </a:extLst>
              </a:tr>
              <a:tr h="545874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Mantenimiento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Actualizaciones y mejoras continuas del software.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Gestión de calidad durante cambios y actualizaciones.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07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869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0" y="1130673"/>
            <a:ext cx="109625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600" b="1" dirty="0">
                <a:solidFill>
                  <a:srgbClr val="FF0000"/>
                </a:solidFill>
              </a:rPr>
              <a:t>Integración del Software </a:t>
            </a:r>
            <a:r>
              <a:rPr lang="es-CO" sz="1600" b="1" dirty="0" err="1">
                <a:solidFill>
                  <a:srgbClr val="FF0000"/>
                </a:solidFill>
              </a:rPr>
              <a:t>Quality</a:t>
            </a:r>
            <a:r>
              <a:rPr lang="es-CO" sz="1600" b="1" dirty="0">
                <a:solidFill>
                  <a:srgbClr val="FF0000"/>
                </a:solidFill>
              </a:rPr>
              <a:t> </a:t>
            </a:r>
            <a:r>
              <a:rPr lang="es-CO" sz="1600" b="1" dirty="0" err="1">
                <a:solidFill>
                  <a:srgbClr val="FF0000"/>
                </a:solidFill>
              </a:rPr>
              <a:t>Assurance</a:t>
            </a:r>
            <a:r>
              <a:rPr lang="es-CO" sz="1600" b="1" dirty="0">
                <a:solidFill>
                  <a:srgbClr val="FF0000"/>
                </a:solidFill>
              </a:rPr>
              <a:t> (</a:t>
            </a:r>
            <a:r>
              <a:rPr lang="es-CO" sz="1600" b="1" dirty="0" err="1">
                <a:solidFill>
                  <a:srgbClr val="FF0000"/>
                </a:solidFill>
              </a:rPr>
              <a:t>SQA</a:t>
            </a:r>
            <a:r>
              <a:rPr lang="es-CO" sz="1600" b="1" dirty="0">
                <a:solidFill>
                  <a:srgbClr val="FF0000"/>
                </a:solidFill>
              </a:rPr>
              <a:t>) en las diferentes etapas del </a:t>
            </a:r>
            <a:r>
              <a:rPr lang="en-US" sz="1600" b="1" dirty="0">
                <a:solidFill>
                  <a:srgbClr val="FF0000"/>
                </a:solidFill>
              </a:rPr>
              <a:t> Secure Software Development Life Cycle (</a:t>
            </a:r>
            <a:r>
              <a:rPr lang="en-US" sz="1600" b="1" dirty="0" err="1">
                <a:solidFill>
                  <a:srgbClr val="FF0000"/>
                </a:solidFill>
              </a:rPr>
              <a:t>SSDLC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  <a:endParaRPr lang="es-CO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7185C7B-D1AC-4B8C-A097-DA29ABE69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40614"/>
              </p:ext>
            </p:extLst>
          </p:nvPr>
        </p:nvGraphicFramePr>
        <p:xfrm>
          <a:off x="124287" y="1530782"/>
          <a:ext cx="11771790" cy="4216380"/>
        </p:xfrm>
        <a:graphic>
          <a:graphicData uri="http://schemas.openxmlformats.org/drawingml/2006/table">
            <a:tbl>
              <a:tblPr/>
              <a:tblGrid>
                <a:gridCol w="2086253">
                  <a:extLst>
                    <a:ext uri="{9D8B030D-6E8A-4147-A177-3AD203B41FA5}">
                      <a16:colId xmlns:a16="http://schemas.microsoft.com/office/drawing/2014/main" val="790299450"/>
                    </a:ext>
                  </a:extLst>
                </a:gridCol>
                <a:gridCol w="4927107">
                  <a:extLst>
                    <a:ext uri="{9D8B030D-6E8A-4147-A177-3AD203B41FA5}">
                      <a16:colId xmlns:a16="http://schemas.microsoft.com/office/drawing/2014/main" val="1396529317"/>
                    </a:ext>
                  </a:extLst>
                </a:gridCol>
                <a:gridCol w="4758430">
                  <a:extLst>
                    <a:ext uri="{9D8B030D-6E8A-4147-A177-3AD203B41FA5}">
                      <a16:colId xmlns:a16="http://schemas.microsoft.com/office/drawing/2014/main" val="2178136282"/>
                    </a:ext>
                  </a:extLst>
                </a:gridCol>
              </a:tblGrid>
              <a:tr h="144644">
                <a:tc>
                  <a:txBody>
                    <a:bodyPr/>
                    <a:lstStyle/>
                    <a:p>
                      <a:pPr fontAlgn="b"/>
                      <a:r>
                        <a:rPr lang="es-CO" sz="1600" b="1">
                          <a:solidFill>
                            <a:srgbClr val="7BEEFD"/>
                          </a:solidFill>
                          <a:effectLst/>
                        </a:rPr>
                        <a:t>Etapa del SSDLC</a:t>
                      </a:r>
                    </a:p>
                  </a:txBody>
                  <a:tcPr marL="38507" marR="38507" marT="19254" marB="1925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600" b="1">
                          <a:solidFill>
                            <a:srgbClr val="7BEEFD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38507" marR="38507" marT="19254" marB="1925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600" b="1" dirty="0">
                          <a:solidFill>
                            <a:srgbClr val="7BEEFD"/>
                          </a:solidFill>
                          <a:effectLst/>
                        </a:rPr>
                        <a:t>Actividades de </a:t>
                      </a:r>
                      <a:r>
                        <a:rPr lang="es-CO" sz="1600" b="1" dirty="0" err="1">
                          <a:solidFill>
                            <a:srgbClr val="7BEEFD"/>
                          </a:solidFill>
                          <a:effectLst/>
                        </a:rPr>
                        <a:t>SQA</a:t>
                      </a:r>
                      <a:endParaRPr lang="es-CO" sz="1600" b="1" dirty="0">
                        <a:solidFill>
                          <a:srgbClr val="7BEEFD"/>
                        </a:solidFill>
                        <a:effectLst/>
                      </a:endParaRPr>
                    </a:p>
                  </a:txBody>
                  <a:tcPr marL="38507" marR="38507" marT="19254" marB="1925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62932"/>
                  </a:ext>
                </a:extLst>
              </a:tr>
              <a:tr h="555500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>
                          <a:effectLst/>
                        </a:rPr>
                        <a:t>Planificación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Establecimiento de objetivos de seguridad y planificación del proyecto.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Definición de estándares de seguridad y procesos de aseguramiento de calidad.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43355"/>
                  </a:ext>
                </a:extLst>
              </a:tr>
              <a:tr h="451343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>
                          <a:effectLst/>
                        </a:rPr>
                        <a:t>Análisis de riesgos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Identificación y evaluación de posibles riesgos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Revisión de riesgos de seguridad y definición de controles de calidad.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315851"/>
                  </a:ext>
                </a:extLst>
              </a:tr>
              <a:tr h="659656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Diseño seguro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Elaboración de un diseño seguro basado en los requisitos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Revisión de diseño seguro y aseguramiento de cumplimiento de estándares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128647"/>
                  </a:ext>
                </a:extLst>
              </a:tr>
              <a:tr h="555500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>
                          <a:effectLst/>
                        </a:rPr>
                        <a:t>Implementación segura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Desarrollo del software con enfoque en prácticas seguras de codificación.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Supervisión del cumplimiento de estándares de codificación segura.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84806"/>
                  </a:ext>
                </a:extLst>
              </a:tr>
              <a:tr h="555500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>
                          <a:effectLst/>
                        </a:rPr>
                        <a:t>Pruebas de seguridad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Realización de pruebas para identificar vulnerabilidades y fallos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Planificación, ejecución y seguimiento de pruebas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326713"/>
                  </a:ext>
                </a:extLst>
              </a:tr>
              <a:tr h="451343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>
                          <a:effectLst/>
                        </a:rPr>
                        <a:t>Despliegue seguro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Implementación segura del software en el entorno de producción.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Participación en pruebas de seguridad de aceptación del usuario final.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844807"/>
                  </a:ext>
                </a:extLst>
              </a:tr>
              <a:tr h="555500">
                <a:tc>
                  <a:txBody>
                    <a:bodyPr/>
                    <a:lstStyle/>
                    <a:p>
                      <a:pPr fontAlgn="base"/>
                      <a:r>
                        <a:rPr lang="es-CO" sz="1600" b="1" dirty="0">
                          <a:effectLst/>
                        </a:rPr>
                        <a:t>Mantenimiento seguro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Actualizaciones y mejoras continuas del software, manteniendo la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Gestión de calidad durante cambios y actualizaciones de seguridad.</a:t>
                      </a:r>
                    </a:p>
                  </a:txBody>
                  <a:tcPr marL="38507" marR="38507" marT="19254" marB="1925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17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638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109491" y="3090446"/>
            <a:ext cx="1552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Las métricas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B88F33-8B0F-42BA-94BC-5A4C1F7A780F}"/>
              </a:ext>
            </a:extLst>
          </p:cNvPr>
          <p:cNvSpPr/>
          <p:nvPr/>
        </p:nvSpPr>
        <p:spPr>
          <a:xfrm>
            <a:off x="2391051" y="1782396"/>
            <a:ext cx="969145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>
                <a:solidFill>
                  <a:srgbClr val="0D0D0D"/>
                </a:solidFill>
                <a:latin typeface="Söhne"/>
              </a:rPr>
              <a:t>Es una </a:t>
            </a:r>
            <a:r>
              <a:rPr lang="es-MX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medida cuantitativa o cualitativa</a:t>
            </a:r>
            <a:r>
              <a:rPr lang="es-MX" dirty="0">
                <a:solidFill>
                  <a:srgbClr val="0D0D0D"/>
                </a:solidFill>
                <a:latin typeface="Söhne"/>
              </a:rPr>
              <a:t> utilizada para evaluar diversos aspectos del proceso de desarrollo, calidad y desempeño del software.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MX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>
                <a:highlight>
                  <a:srgbClr val="00FFFF"/>
                </a:highlight>
              </a:rPr>
              <a:t>Proporcionan datos objetivos que permiten monitorear, controlar y mejorar el proceso </a:t>
            </a:r>
            <a:r>
              <a:rPr lang="es-MX" dirty="0"/>
              <a:t>de desarrollo de software, así como el producto resultante.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MX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Pueden </a:t>
            </a:r>
            <a:r>
              <a:rPr lang="es-MX" dirty="0">
                <a:highlight>
                  <a:srgbClr val="00FFFF"/>
                </a:highlight>
              </a:rPr>
              <a:t>abarcar una amplia variedad de áreas</a:t>
            </a:r>
            <a:r>
              <a:rPr lang="es-MX" dirty="0"/>
              <a:t>, como el </a:t>
            </a:r>
            <a:r>
              <a:rPr lang="es-MX" dirty="0">
                <a:solidFill>
                  <a:srgbClr val="FF0000"/>
                </a:solidFill>
              </a:rPr>
              <a:t>tiempo</a:t>
            </a:r>
            <a:r>
              <a:rPr lang="es-MX" dirty="0"/>
              <a:t>, el </a:t>
            </a:r>
            <a:r>
              <a:rPr lang="es-MX" dirty="0">
                <a:solidFill>
                  <a:srgbClr val="FF0000"/>
                </a:solidFill>
              </a:rPr>
              <a:t>costo</a:t>
            </a:r>
            <a:r>
              <a:rPr lang="es-MX" dirty="0"/>
              <a:t>, la </a:t>
            </a:r>
            <a:r>
              <a:rPr lang="es-MX" dirty="0">
                <a:solidFill>
                  <a:srgbClr val="FF0000"/>
                </a:solidFill>
              </a:rPr>
              <a:t>calidad</a:t>
            </a:r>
            <a:r>
              <a:rPr lang="es-MX" dirty="0"/>
              <a:t>, la </a:t>
            </a:r>
            <a:r>
              <a:rPr lang="es-MX" dirty="0">
                <a:solidFill>
                  <a:srgbClr val="FF0000"/>
                </a:solidFill>
              </a:rPr>
              <a:t>seguridad</a:t>
            </a:r>
            <a:r>
              <a:rPr lang="es-MX" dirty="0"/>
              <a:t> y el </a:t>
            </a:r>
            <a:r>
              <a:rPr lang="es-MX" dirty="0">
                <a:solidFill>
                  <a:srgbClr val="FF0000"/>
                </a:solidFill>
              </a:rPr>
              <a:t>rendimiento</a:t>
            </a:r>
            <a:r>
              <a:rPr lang="es-MX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MX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>
                <a:highlight>
                  <a:srgbClr val="00FFFF"/>
                </a:highlight>
              </a:rPr>
              <a:t>Son herramientas importantes en la gestión de proyectos de software y en el aseguramiento de la calidad</a:t>
            </a:r>
            <a:r>
              <a:rPr lang="es-MX" dirty="0"/>
              <a:t>, ya que proporcionan una base objetiva para la toma de decisiones y la evaluación del progreso del proyecto</a:t>
            </a:r>
            <a:endParaRPr lang="es-CO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AD07C17-7918-43F1-8D38-AB19544B1E1C}"/>
              </a:ext>
            </a:extLst>
          </p:cNvPr>
          <p:cNvCxnSpPr>
            <a:stCxn id="4" idx="3"/>
          </p:cNvCxnSpPr>
          <p:nvPr/>
        </p:nvCxnSpPr>
        <p:spPr>
          <a:xfrm flipV="1">
            <a:off x="1661519" y="1997476"/>
            <a:ext cx="806473" cy="129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8329248-C0BC-450E-BB1D-4649CAC37383}"/>
              </a:ext>
            </a:extLst>
          </p:cNvPr>
          <p:cNvCxnSpPr>
            <a:stCxn id="4" idx="3"/>
          </p:cNvCxnSpPr>
          <p:nvPr/>
        </p:nvCxnSpPr>
        <p:spPr>
          <a:xfrm flipV="1">
            <a:off x="1661519" y="2814221"/>
            <a:ext cx="815351" cy="47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DA87E98-9FF8-4704-A4F3-41DA9ABA6672}"/>
              </a:ext>
            </a:extLst>
          </p:cNvPr>
          <p:cNvCxnSpPr>
            <a:stCxn id="4" idx="3"/>
          </p:cNvCxnSpPr>
          <p:nvPr/>
        </p:nvCxnSpPr>
        <p:spPr>
          <a:xfrm>
            <a:off x="1661519" y="3290501"/>
            <a:ext cx="806473" cy="340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7710147-5661-4FCE-98B0-511BB972F101}"/>
              </a:ext>
            </a:extLst>
          </p:cNvPr>
          <p:cNvCxnSpPr>
            <a:stCxn id="4" idx="3"/>
          </p:cNvCxnSpPr>
          <p:nvPr/>
        </p:nvCxnSpPr>
        <p:spPr>
          <a:xfrm>
            <a:off x="1661519" y="3290501"/>
            <a:ext cx="806473" cy="1092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993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65103" y="1261646"/>
            <a:ext cx="1552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Las métricas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BABD29B-078E-4555-8F2F-4515718CD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13425"/>
              </p:ext>
            </p:extLst>
          </p:nvPr>
        </p:nvGraphicFramePr>
        <p:xfrm>
          <a:off x="272296" y="1661756"/>
          <a:ext cx="11100000" cy="3127340"/>
        </p:xfrm>
        <a:graphic>
          <a:graphicData uri="http://schemas.openxmlformats.org/drawingml/2006/table">
            <a:tbl>
              <a:tblPr/>
              <a:tblGrid>
                <a:gridCol w="2772745">
                  <a:extLst>
                    <a:ext uri="{9D8B030D-6E8A-4147-A177-3AD203B41FA5}">
                      <a16:colId xmlns:a16="http://schemas.microsoft.com/office/drawing/2014/main" val="878229181"/>
                    </a:ext>
                  </a:extLst>
                </a:gridCol>
                <a:gridCol w="8327255">
                  <a:extLst>
                    <a:ext uri="{9D8B030D-6E8A-4147-A177-3AD203B41FA5}">
                      <a16:colId xmlns:a16="http://schemas.microsoft.com/office/drawing/2014/main" val="3494905591"/>
                    </a:ext>
                  </a:extLst>
                </a:gridCol>
              </a:tblGrid>
              <a:tr h="944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dirty="0">
                          <a:solidFill>
                            <a:srgbClr val="002060"/>
                          </a:solidFill>
                          <a:effectLst/>
                        </a:rPr>
                        <a:t>Métrica</a:t>
                      </a:r>
                    </a:p>
                  </a:txBody>
                  <a:tcPr marL="59607" marR="59607" marT="29804" marB="2980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dirty="0">
                          <a:solidFill>
                            <a:srgbClr val="00206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59607" marR="59607" marT="29804" marB="29804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71688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solidFill>
                            <a:srgbClr val="002060"/>
                          </a:solidFill>
                          <a:effectLst/>
                        </a:rPr>
                        <a:t>Cobertura de código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Porcentaje del código fuente que ha sido ejecutado durante las pruebas.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40902"/>
                  </a:ext>
                </a:extLst>
              </a:tr>
              <a:tr h="417748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solidFill>
                            <a:srgbClr val="002060"/>
                          </a:solidFill>
                          <a:effectLst/>
                        </a:rPr>
                        <a:t>Número de defectos por línea de código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Cantidad de defectos encontrados en relación con la cantidad de líneas de código escritas.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10030"/>
                  </a:ext>
                </a:extLst>
              </a:tr>
              <a:tr h="417748"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solidFill>
                            <a:srgbClr val="002060"/>
                          </a:solidFill>
                          <a:effectLst/>
                        </a:rPr>
                        <a:t>Tiempo de resolución de defectos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Tiempo promedio necesario para corregir un defecto encontrado durante el desarrollo.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05400"/>
                  </a:ext>
                </a:extLst>
              </a:tr>
              <a:tr h="417748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solidFill>
                            <a:srgbClr val="002060"/>
                          </a:solidFill>
                          <a:effectLst/>
                        </a:rPr>
                        <a:t>Velocidad de entrega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Cantidad de trabajo completado por unidad de tiempo, como historias de usuario entregadas por semana o mes.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74635"/>
                  </a:ext>
                </a:extLst>
              </a:tr>
              <a:tr h="321180"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solidFill>
                            <a:srgbClr val="002060"/>
                          </a:solidFill>
                          <a:effectLst/>
                        </a:rPr>
                        <a:t>Satisfacción del cliente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Evaluación del cliente sobre la calidad y el rendimiento del software.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870966"/>
                  </a:ext>
                </a:extLst>
              </a:tr>
              <a:tr h="417748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solidFill>
                            <a:srgbClr val="002060"/>
                          </a:solidFill>
                          <a:effectLst/>
                        </a:rPr>
                        <a:t>Nivel de riesgo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Probabilidad e impacto de los riesgos identificados en el proyecto de desarrollo de software.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80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90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2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65103" y="1261646"/>
            <a:ext cx="7661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solidFill>
                  <a:srgbClr val="FF0000"/>
                </a:solidFill>
              </a:rPr>
              <a:t>Caso de Estudio: </a:t>
            </a:r>
            <a:r>
              <a:rPr lang="es-MX" sz="2000" dirty="0"/>
              <a:t>Desarrollo de una Aplicación de Comercio Electrónico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7ABDF0-D44A-47AD-97A0-9C3F3555E44E}"/>
              </a:ext>
            </a:extLst>
          </p:cNvPr>
          <p:cNvSpPr/>
          <p:nvPr/>
        </p:nvSpPr>
        <p:spPr>
          <a:xfrm>
            <a:off x="0" y="2031598"/>
            <a:ext cx="120617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0D0D0D"/>
                </a:solidFill>
                <a:latin typeface="Söhne"/>
              </a:rPr>
              <a:t>Una empresa de comercio electrónico está desarrollando una nueva plataforma en línea para vender productos electrónicos. </a:t>
            </a:r>
          </a:p>
          <a:p>
            <a:r>
              <a:rPr lang="es-MX" dirty="0">
                <a:solidFill>
                  <a:srgbClr val="0D0D0D"/>
                </a:solidFill>
                <a:latin typeface="Söhne"/>
              </a:rPr>
              <a:t>El objetivo es crear una plataforma segura, rápida y fácil de usar que proporcione una experiencia de compra satisfactoria para los clientes y aumente las ventas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321900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2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65103" y="1261646"/>
            <a:ext cx="77413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solidFill>
                  <a:srgbClr val="FF0000"/>
                </a:solidFill>
              </a:rPr>
              <a:t>Caso de Estudio 2: </a:t>
            </a:r>
            <a:r>
              <a:rPr lang="es-MX" sz="2000" dirty="0"/>
              <a:t>Desarrollo de una Aplicación de Comercio Electrónico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7ABDF0-D44A-47AD-97A0-9C3F3555E44E}"/>
              </a:ext>
            </a:extLst>
          </p:cNvPr>
          <p:cNvSpPr/>
          <p:nvPr/>
        </p:nvSpPr>
        <p:spPr>
          <a:xfrm>
            <a:off x="-1" y="1738635"/>
            <a:ext cx="12061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Söhne"/>
              </a:rPr>
              <a:t>Métricas para Evaluar el Caso de Estudio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52EB6BD-273B-43A3-B47E-31489E8BD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25800"/>
              </p:ext>
            </p:extLst>
          </p:nvPr>
        </p:nvGraphicFramePr>
        <p:xfrm>
          <a:off x="213064" y="2184846"/>
          <a:ext cx="11765872" cy="3091514"/>
        </p:xfrm>
        <a:graphic>
          <a:graphicData uri="http://schemas.openxmlformats.org/drawingml/2006/table">
            <a:tbl>
              <a:tblPr/>
              <a:tblGrid>
                <a:gridCol w="2902998">
                  <a:extLst>
                    <a:ext uri="{9D8B030D-6E8A-4147-A177-3AD203B41FA5}">
                      <a16:colId xmlns:a16="http://schemas.microsoft.com/office/drawing/2014/main" val="3612884530"/>
                    </a:ext>
                  </a:extLst>
                </a:gridCol>
                <a:gridCol w="8862874">
                  <a:extLst>
                    <a:ext uri="{9D8B030D-6E8A-4147-A177-3AD203B41FA5}">
                      <a16:colId xmlns:a16="http://schemas.microsoft.com/office/drawing/2014/main" val="4016845015"/>
                    </a:ext>
                  </a:extLst>
                </a:gridCol>
              </a:tblGrid>
              <a:tr h="115626">
                <a:tc>
                  <a:txBody>
                    <a:bodyPr/>
                    <a:lstStyle/>
                    <a:p>
                      <a:pPr fontAlgn="b"/>
                      <a:r>
                        <a:rPr lang="es-CO" sz="1700" b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Métrica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7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82507"/>
                  </a:ext>
                </a:extLst>
              </a:tr>
              <a:tr h="37173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Tiempo de desarrollo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Tiempo total requerido para completar el desarrollo de la plataforma de comercio electrónico.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68525"/>
                  </a:ext>
                </a:extLst>
              </a:tr>
              <a:tr h="37173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Costo del proyecto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Costo total estimado para desarrollar la plataforma, incluyendo recursos humanos y materiales.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015010"/>
                  </a:ext>
                </a:extLst>
              </a:tr>
              <a:tr h="285951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Velocidad de carga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Tiempo promedio que tarda la página principal en cargar en el navegador del usuario.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3247"/>
                  </a:ext>
                </a:extLst>
              </a:tr>
              <a:tr h="37173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Tasa de conversión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Porcentaje de visitantes del sitio web que realizan una compra en comparación con el total de visitantes.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374542"/>
                  </a:ext>
                </a:extLst>
              </a:tr>
              <a:tr h="37173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Número de transacciones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Cantidad total de transacciones realizadas en la plataforma durante un período de tiempo determinado.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957439"/>
                  </a:ext>
                </a:extLst>
              </a:tr>
              <a:tr h="371737"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Índice de abandono del carrito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Porcentaje de usuarios que abandonan el proceso de compra después de agregar productos al carrito de compras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74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26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2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525520-D667-4293-B8FD-C171196FA158}"/>
              </a:ext>
            </a:extLst>
          </p:cNvPr>
          <p:cNvSpPr/>
          <p:nvPr/>
        </p:nvSpPr>
        <p:spPr>
          <a:xfrm>
            <a:off x="65103" y="1261646"/>
            <a:ext cx="77413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solidFill>
                  <a:srgbClr val="FF0000"/>
                </a:solidFill>
              </a:rPr>
              <a:t>Caso de Estudio 2: </a:t>
            </a:r>
            <a:r>
              <a:rPr lang="es-MX" sz="2000" dirty="0"/>
              <a:t>Desarrollo de una Aplicación de Comercio Electrónico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7ABDF0-D44A-47AD-97A0-9C3F3555E44E}"/>
              </a:ext>
            </a:extLst>
          </p:cNvPr>
          <p:cNvSpPr/>
          <p:nvPr/>
        </p:nvSpPr>
        <p:spPr>
          <a:xfrm>
            <a:off x="-1" y="1738635"/>
            <a:ext cx="12061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Söhne"/>
              </a:rPr>
              <a:t>Métricas para Evaluar el Caso de Estudio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52EB6BD-273B-43A3-B47E-31489E8BD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23404"/>
              </p:ext>
            </p:extLst>
          </p:nvPr>
        </p:nvGraphicFramePr>
        <p:xfrm>
          <a:off x="213064" y="3692399"/>
          <a:ext cx="11765872" cy="1989309"/>
        </p:xfrm>
        <a:graphic>
          <a:graphicData uri="http://schemas.openxmlformats.org/drawingml/2006/table">
            <a:tbl>
              <a:tblPr/>
              <a:tblGrid>
                <a:gridCol w="4074851">
                  <a:extLst>
                    <a:ext uri="{9D8B030D-6E8A-4147-A177-3AD203B41FA5}">
                      <a16:colId xmlns:a16="http://schemas.microsoft.com/office/drawing/2014/main" val="3612884530"/>
                    </a:ext>
                  </a:extLst>
                </a:gridCol>
                <a:gridCol w="7691021">
                  <a:extLst>
                    <a:ext uri="{9D8B030D-6E8A-4147-A177-3AD203B41FA5}">
                      <a16:colId xmlns:a16="http://schemas.microsoft.com/office/drawing/2014/main" val="4016845015"/>
                    </a:ext>
                  </a:extLst>
                </a:gridCol>
              </a:tblGrid>
              <a:tr h="590905">
                <a:tc>
                  <a:txBody>
                    <a:bodyPr/>
                    <a:lstStyle/>
                    <a:p>
                      <a:pPr fontAlgn="b"/>
                      <a:r>
                        <a:rPr lang="es-CO" sz="17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Métrica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7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82507"/>
                  </a:ext>
                </a:extLst>
              </a:tr>
              <a:tr h="699202">
                <a:tc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70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68525"/>
                  </a:ext>
                </a:extLst>
              </a:tr>
              <a:tr h="699202">
                <a:tc>
                  <a:txBody>
                    <a:bodyPr/>
                    <a:lstStyle/>
                    <a:p>
                      <a:pPr fontAlgn="base"/>
                      <a:endParaRPr lang="es-CO" sz="170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s-MX" sz="1700" dirty="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015010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BA6DC1D-E77D-43EC-8A9C-FD99B924515B}"/>
              </a:ext>
            </a:extLst>
          </p:cNvPr>
          <p:cNvSpPr/>
          <p:nvPr/>
        </p:nvSpPr>
        <p:spPr>
          <a:xfrm>
            <a:off x="213063" y="2630701"/>
            <a:ext cx="117658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>
                <a:solidFill>
                  <a:srgbClr val="FF0000"/>
                </a:solidFill>
              </a:rPr>
              <a:t>¿Otra métrica? 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2809079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4160754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Cultura y ética de la ingeniería de software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0B7A4FE-E299-4ED9-8745-48AFEFC6D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027936"/>
              </p:ext>
            </p:extLst>
          </p:nvPr>
        </p:nvGraphicFramePr>
        <p:xfrm>
          <a:off x="118326" y="1461162"/>
          <a:ext cx="11937550" cy="5303625"/>
        </p:xfrm>
        <a:graphic>
          <a:graphicData uri="http://schemas.openxmlformats.org/drawingml/2006/table">
            <a:tbl>
              <a:tblPr/>
              <a:tblGrid>
                <a:gridCol w="1967926">
                  <a:extLst>
                    <a:ext uri="{9D8B030D-6E8A-4147-A177-3AD203B41FA5}">
                      <a16:colId xmlns:a16="http://schemas.microsoft.com/office/drawing/2014/main" val="592019732"/>
                    </a:ext>
                  </a:extLst>
                </a:gridCol>
                <a:gridCol w="9969624">
                  <a:extLst>
                    <a:ext uri="{9D8B030D-6E8A-4147-A177-3AD203B41FA5}">
                      <a16:colId xmlns:a16="http://schemas.microsoft.com/office/drawing/2014/main" val="1465657282"/>
                    </a:ext>
                  </a:extLst>
                </a:gridCol>
              </a:tblGrid>
              <a:tr h="240567">
                <a:tc>
                  <a:txBody>
                    <a:bodyPr/>
                    <a:lstStyle/>
                    <a:p>
                      <a:pPr fontAlgn="b"/>
                      <a:r>
                        <a:rPr lang="es-CO" sz="1400" b="1">
                          <a:effectLst/>
                        </a:rPr>
                        <a:t>Aspecto</a:t>
                      </a:r>
                    </a:p>
                  </a:txBody>
                  <a:tcPr marL="18595" marR="18595" marT="9298" marB="929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>
                          <a:effectLst/>
                        </a:rPr>
                        <a:t>Descripción</a:t>
                      </a:r>
                    </a:p>
                  </a:txBody>
                  <a:tcPr marL="18595" marR="18595" marT="9298" marB="929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65805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</a:rPr>
                        <a:t>Colaboración y Trabajo en Equipo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Promoción de la comunicación abierta</a:t>
                      </a:r>
                      <a:r>
                        <a:rPr lang="es-MX" sz="1400" dirty="0">
                          <a:effectLst/>
                        </a:rPr>
                        <a:t>, el respeto mutuo y la capacidad de trabajar en equipo para lograr objetivos comunes.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Fomento de la colaboración </a:t>
                      </a:r>
                      <a:r>
                        <a:rPr lang="es-MX" sz="1400" dirty="0">
                          <a:effectLst/>
                        </a:rPr>
                        <a:t>entre diferentes roles y disciplinas dentro de los equipos de desarrollo de software.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30957"/>
                  </a:ext>
                </a:extLst>
              </a:tr>
              <a:tr h="482145">
                <a:tc>
                  <a:txBody>
                    <a:bodyPr/>
                    <a:lstStyle/>
                    <a:p>
                      <a:pPr fontAlgn="base"/>
                      <a:r>
                        <a:rPr lang="es-CO" sz="1400" dirty="0">
                          <a:effectLst/>
                        </a:rPr>
                        <a:t>Aprendizaje Continuo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Valorización del aprendizaje continuo </a:t>
                      </a:r>
                      <a:r>
                        <a:rPr lang="es-MX" sz="1400" dirty="0">
                          <a:effectLst/>
                        </a:rPr>
                        <a:t>para mantenerse actualizado con las últimas tendencias y avances en tecnología.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</a:rPr>
                        <a:t>Fomento de la adquisición de nuevas habilidades y conocimientos a lo largo de la carrera profesional.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79705"/>
                  </a:ext>
                </a:extLst>
              </a:tr>
              <a:tr h="482145">
                <a:tc>
                  <a:txBody>
                    <a:bodyPr/>
                    <a:lstStyle/>
                    <a:p>
                      <a:pPr fontAlgn="base"/>
                      <a:r>
                        <a:rPr lang="es-CO" sz="1400" dirty="0">
                          <a:effectLst/>
                        </a:rPr>
                        <a:t>Flexibilidad y Adaptabilidad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Promoción de la capacidad de adaptación a cambios rápidos y frecuentes en el entorno tecnológico.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</a:rPr>
                        <a:t>Fomento de la apertura a nuevas ideas, métodos y herramientas, así como afrontar desafíos con creatividad y resiliencia.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334324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CO" sz="1400" dirty="0">
                          <a:effectLst/>
                        </a:rPr>
                        <a:t>Énfasis en la Calidad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Valorización de la calidad del software </a:t>
                      </a:r>
                      <a:r>
                        <a:rPr lang="es-MX" sz="1400" dirty="0">
                          <a:effectLst/>
                        </a:rPr>
                        <a:t>mediante prácticas como </a:t>
                      </a:r>
                      <a:r>
                        <a:rPr lang="es-MX" sz="1400" b="1" dirty="0">
                          <a:solidFill>
                            <a:srgbClr val="FF0000"/>
                          </a:solidFill>
                          <a:effectLst/>
                        </a:rPr>
                        <a:t>la revisión de código</a:t>
                      </a:r>
                      <a:r>
                        <a:rPr lang="es-MX" sz="1400" dirty="0">
                          <a:effectLst/>
                        </a:rPr>
                        <a:t>, las </a:t>
                      </a:r>
                      <a:r>
                        <a:rPr lang="es-MX" sz="1400" b="1" dirty="0">
                          <a:solidFill>
                            <a:srgbClr val="FF0000"/>
                          </a:solidFill>
                          <a:effectLst/>
                        </a:rPr>
                        <a:t>pruebas exhaustivas </a:t>
                      </a:r>
                      <a:r>
                        <a:rPr lang="es-MX" sz="1400" dirty="0">
                          <a:effectLst/>
                        </a:rPr>
                        <a:t>y la </a:t>
                      </a:r>
                      <a:r>
                        <a:rPr lang="es-MX" sz="1400" b="1" dirty="0">
                          <a:solidFill>
                            <a:srgbClr val="FF0000"/>
                          </a:solidFill>
                          <a:effectLst/>
                        </a:rPr>
                        <a:t>adopción de estándares</a:t>
                      </a:r>
                      <a:r>
                        <a:rPr lang="es-MX" sz="1400" dirty="0">
                          <a:effectLst/>
                        </a:rPr>
                        <a:t> y </a:t>
                      </a:r>
                      <a:r>
                        <a:rPr lang="es-MX" sz="1400" b="1" dirty="0">
                          <a:solidFill>
                            <a:srgbClr val="FF0000"/>
                          </a:solidFill>
                          <a:effectLst/>
                        </a:rPr>
                        <a:t>mejores prácticas</a:t>
                      </a:r>
                      <a:r>
                        <a:rPr lang="es-MX" sz="1400" dirty="0">
                          <a:effectLst/>
                        </a:rPr>
                        <a:t>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</a:rPr>
                        <a:t>Compromiso con el desarrollo de software confiable, seguro y eficiente que satisfaga las necesidades y expectativas de los usuarios.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682883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CO" sz="1400" dirty="0">
                          <a:effectLst/>
                        </a:rPr>
                        <a:t>Responsabilidad Social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Reconocimiento de la responsabilidad ética </a:t>
                      </a:r>
                      <a:r>
                        <a:rPr lang="es-MX" sz="1400" dirty="0">
                          <a:effectLst/>
                        </a:rPr>
                        <a:t>de considerar el impacto social de las decisiones y acciones en el desarrollo de software. Compromiso con el desarrollo de tecnologías que respeten los derechos humanos, promuevan la inclusión y la equidad, y minimicen los posibles efectos negativos en la sociedad.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666087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CO" sz="1400" dirty="0">
                          <a:effectLst/>
                        </a:rPr>
                        <a:t>Integridad Profesional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Mantenimiento de altos estándares de integridad y honestidad en todas las actividades profesionales.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</a:rPr>
                        <a:t>Compromiso con la transparencia en la comunicación, el respeto a la propiedad intelectual y la evitación de prácticas engañosas o fraudulentas.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067554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</a:rPr>
                        <a:t>Privacidad y Seguridad de los Datos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Responsabilidad de proteger la privacidad y seguridad de los datos de los usuarios. </a:t>
                      </a:r>
                    </a:p>
                    <a:p>
                      <a:pPr fontAlgn="base"/>
                      <a:r>
                        <a:rPr lang="es-MX" sz="1400" dirty="0">
                          <a:effectLst/>
                        </a:rPr>
                        <a:t>Compromiso con el diseño de sistemas con medidas adecuadas de seguridad cibernética y el respeto a la confidencialidad de la información personal.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5559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</a:rPr>
                        <a:t>Desarrollo Ético de la Inteligencia Artificial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00FFFF"/>
                          </a:highlight>
                        </a:rPr>
                        <a:t>Consideración de los posibles sesgos, discriminaciones y riesgos éticos asociados con los sistemas de inteligencia artificial desarrollados. </a:t>
                      </a:r>
                      <a:r>
                        <a:rPr lang="es-MX" sz="1400" dirty="0">
                          <a:effectLst/>
                        </a:rPr>
                        <a:t>Compromiso con la transparencia en los algoritmos y la implementación de salvaguardias para evitar consecuencias no deseadas, promoviendo un desarrollo ético y responsable de la IA.</a:t>
                      </a:r>
                    </a:p>
                  </a:txBody>
                  <a:tcPr marL="18595" marR="18595" marT="9298" marB="92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22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3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4160754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Cultura y ética de la ingeniería de software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0F1794-E96D-4ABC-8FAA-622C8B7B5CAA}"/>
              </a:ext>
            </a:extLst>
          </p:cNvPr>
          <p:cNvSpPr/>
          <p:nvPr/>
        </p:nvSpPr>
        <p:spPr>
          <a:xfrm>
            <a:off x="118326" y="17777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latin typeface="Söhne"/>
              </a:rPr>
              <a:t>Caso de Estudio:</a:t>
            </a:r>
            <a:r>
              <a:rPr lang="es-MX" b="1" dirty="0">
                <a:solidFill>
                  <a:srgbClr val="0D0D0D"/>
                </a:solidFill>
                <a:latin typeface="Söhne"/>
              </a:rPr>
              <a:t> Desarrollo de una Aplicación Móvil de Salud</a:t>
            </a:r>
          </a:p>
          <a:p>
            <a:br>
              <a:rPr lang="es-MX" dirty="0"/>
            </a:br>
            <a:endParaRPr lang="es-CO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249108-EC06-4C23-B927-847E0D41EC57}"/>
              </a:ext>
            </a:extLst>
          </p:cNvPr>
          <p:cNvSpPr/>
          <p:nvPr/>
        </p:nvSpPr>
        <p:spPr>
          <a:xfrm>
            <a:off x="48827" y="2243391"/>
            <a:ext cx="113190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0D0D0D"/>
                </a:solidFill>
                <a:latin typeface="Söhne"/>
              </a:rPr>
              <a:t>Una empresa de tecnología está desarrollando una aplicación móvil de salud destinada a ayudar a las personas a llevar un estilo de vida más saludable. La aplicación proporcionará funciones como seguimiento de actividad física, registro de dieta y nutrición, monitoreo de signos vitales y recordatorios para medicamentos y citas médicas.</a:t>
            </a: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8DA425-06F3-49B6-8EA8-C45DD8B32E0F}"/>
              </a:ext>
            </a:extLst>
          </p:cNvPr>
          <p:cNvSpPr/>
          <p:nvPr/>
        </p:nvSpPr>
        <p:spPr>
          <a:xfrm>
            <a:off x="215980" y="3924315"/>
            <a:ext cx="108011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i="1" dirty="0">
                <a:solidFill>
                  <a:srgbClr val="FF0000"/>
                </a:solidFill>
                <a:latin typeface="Söhne"/>
              </a:rPr>
              <a:t>Visión holística del enfoque ético y cultural en el desarrollo de software</a:t>
            </a:r>
            <a:endParaRPr lang="es-CO" b="1" i="1" dirty="0">
              <a:solidFill>
                <a:srgbClr val="FF000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F2A7C5D-A564-4E5C-B049-5CBC07ED74D8}"/>
              </a:ext>
            </a:extLst>
          </p:cNvPr>
          <p:cNvCxnSpPr/>
          <p:nvPr/>
        </p:nvCxnSpPr>
        <p:spPr>
          <a:xfrm>
            <a:off x="683581" y="4293647"/>
            <a:ext cx="0" cy="1532938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627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3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4160754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Cultura y ética de la ingeniería de software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0F1794-E96D-4ABC-8FAA-622C8B7B5CAA}"/>
              </a:ext>
            </a:extLst>
          </p:cNvPr>
          <p:cNvSpPr/>
          <p:nvPr/>
        </p:nvSpPr>
        <p:spPr>
          <a:xfrm>
            <a:off x="4435897" y="103577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b="1" dirty="0">
                <a:solidFill>
                  <a:srgbClr val="FF0000"/>
                </a:solidFill>
                <a:latin typeface="Söhne"/>
              </a:rPr>
              <a:t>Caso de Estudio:</a:t>
            </a:r>
            <a:r>
              <a:rPr lang="es-MX" b="1" dirty="0">
                <a:solidFill>
                  <a:srgbClr val="0D0D0D"/>
                </a:solidFill>
                <a:latin typeface="Söhne"/>
              </a:rPr>
              <a:t> Desarrollo de una Aplicación Móvil de Salud</a:t>
            </a:r>
          </a:p>
          <a:p>
            <a:br>
              <a:rPr lang="es-MX" dirty="0"/>
            </a:b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B2CD492-97A7-46FF-8AD2-8352E020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27166"/>
              </p:ext>
            </p:extLst>
          </p:nvPr>
        </p:nvGraphicFramePr>
        <p:xfrm>
          <a:off x="171656" y="1568171"/>
          <a:ext cx="11830953" cy="5063447"/>
        </p:xfrm>
        <a:graphic>
          <a:graphicData uri="http://schemas.openxmlformats.org/drawingml/2006/table">
            <a:tbl>
              <a:tblPr/>
              <a:tblGrid>
                <a:gridCol w="2953284">
                  <a:extLst>
                    <a:ext uri="{9D8B030D-6E8A-4147-A177-3AD203B41FA5}">
                      <a16:colId xmlns:a16="http://schemas.microsoft.com/office/drawing/2014/main" val="1769893422"/>
                    </a:ext>
                  </a:extLst>
                </a:gridCol>
                <a:gridCol w="8877669">
                  <a:extLst>
                    <a:ext uri="{9D8B030D-6E8A-4147-A177-3AD203B41FA5}">
                      <a16:colId xmlns:a16="http://schemas.microsoft.com/office/drawing/2014/main" val="12648065"/>
                    </a:ext>
                  </a:extLst>
                </a:gridCol>
              </a:tblGrid>
              <a:tr h="359369">
                <a:tc>
                  <a:txBody>
                    <a:bodyPr/>
                    <a:lstStyle/>
                    <a:p>
                      <a:pPr fontAlgn="b"/>
                      <a:r>
                        <a:rPr lang="es-CO" sz="1600" b="1">
                          <a:solidFill>
                            <a:srgbClr val="FFC000"/>
                          </a:solidFill>
                          <a:effectLst/>
                        </a:rPr>
                        <a:t>Aspecto</a:t>
                      </a:r>
                    </a:p>
                  </a:txBody>
                  <a:tcPr marL="31305" marR="31305" marT="15652" marB="15652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600" b="1" dirty="0">
                          <a:solidFill>
                            <a:srgbClr val="FFC00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31305" marR="31305" marT="15652" marB="15652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030181"/>
                  </a:ext>
                </a:extLst>
              </a:tr>
              <a:tr h="996335"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</a:rPr>
                        <a:t>Colaboración y Trabajo en Equipo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El equipo de desarrollo trabaja colaborativamente</a:t>
                      </a:r>
                      <a:r>
                        <a:rPr lang="es-MX" sz="1600" dirty="0">
                          <a:effectLst/>
                        </a:rPr>
                        <a:t>, con comunicación abierta y respetuosa entre diseñadores, desarrolladores y profesionales de la salud. Se valoran las opiniones de cada miembro del equipo para crear una aplicación integral.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607924"/>
                  </a:ext>
                </a:extLst>
              </a:tr>
              <a:tr h="996335">
                <a:tc>
                  <a:txBody>
                    <a:bodyPr/>
                    <a:lstStyle/>
                    <a:p>
                      <a:pPr fontAlgn="base"/>
                      <a:r>
                        <a:rPr lang="es-CO" sz="1600" dirty="0">
                          <a:effectLst/>
                        </a:rPr>
                        <a:t>Aprendizaje Continuo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Se mantienen actualizados con las últimas investigaciones y avances en salud y tecnología</a:t>
                      </a:r>
                      <a:r>
                        <a:rPr lang="es-MX" sz="1600" dirty="0">
                          <a:effectLst/>
                        </a:rPr>
                        <a:t>, participando en cursos y eventos relevantes. Se incorporan constantemente nuevas funcionalidades basadas en la retroalimentación del usuario y la medicina preventiva.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2517"/>
                  </a:ext>
                </a:extLst>
              </a:tr>
              <a:tr h="677852">
                <a:tc>
                  <a:txBody>
                    <a:bodyPr/>
                    <a:lstStyle/>
                    <a:p>
                      <a:pPr fontAlgn="base"/>
                      <a:r>
                        <a:rPr lang="es-CO" sz="1600">
                          <a:effectLst/>
                        </a:rPr>
                        <a:t>Énfasis en la Calidad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Se realizan pruebas exhaustivas para garantizar un funcionamiento seguro y confiable. </a:t>
                      </a:r>
                      <a:r>
                        <a:rPr lang="es-MX" sz="1600" dirty="0">
                          <a:effectLst/>
                        </a:rPr>
                        <a:t>Se siguen las mejores prácticas de diseño para una experiencia de usuario intuitiva y accesible.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7226"/>
                  </a:ext>
                </a:extLst>
              </a:tr>
              <a:tr h="677852">
                <a:tc>
                  <a:txBody>
                    <a:bodyPr/>
                    <a:lstStyle/>
                    <a:p>
                      <a:pPr fontAlgn="base"/>
                      <a:r>
                        <a:rPr lang="es-CO" sz="1600">
                          <a:effectLst/>
                        </a:rPr>
                        <a:t>Responsabilidad Social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Se toman medidas para proteger la privacidad y seguridad de los datos de los usuarios</a:t>
                      </a:r>
                      <a:r>
                        <a:rPr lang="es-MX" sz="1600" dirty="0">
                          <a:effectLst/>
                        </a:rPr>
                        <a:t>, obteniendo su consentimiento informado y aplicando medidas de seguridad cibernética.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662450"/>
                  </a:ext>
                </a:extLst>
              </a:tr>
              <a:tr h="677852">
                <a:tc>
                  <a:txBody>
                    <a:bodyPr/>
                    <a:lstStyle/>
                    <a:p>
                      <a:pPr fontAlgn="base"/>
                      <a:r>
                        <a:rPr lang="es-CO" sz="1600">
                          <a:effectLst/>
                        </a:rPr>
                        <a:t>Integridad Profesional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Se adhieren a altos estándares de integridad y ética profesional</a:t>
                      </a:r>
                      <a:r>
                        <a:rPr lang="es-MX" sz="1600" dirty="0">
                          <a:effectLst/>
                        </a:rPr>
                        <a:t>, evitando conflictos de intereses y garantizando la transparencia en la comunicación con los usuarios.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70038"/>
                  </a:ext>
                </a:extLst>
              </a:tr>
              <a:tr h="677852">
                <a:tc>
                  <a:txBody>
                    <a:bodyPr/>
                    <a:lstStyle/>
                    <a:p>
                      <a:pPr fontAlgn="base"/>
                      <a:r>
                        <a:rPr lang="es-MX" sz="1600">
                          <a:effectLst/>
                        </a:rPr>
                        <a:t>Desarrollo Ético de la IA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600" dirty="0">
                          <a:effectLst/>
                          <a:highlight>
                            <a:srgbClr val="00FFFF"/>
                          </a:highlight>
                        </a:rPr>
                        <a:t>Se presta atención a posibles sesgos y riesgos éticos en el uso de algoritmos de IA</a:t>
                      </a:r>
                      <a:r>
                        <a:rPr lang="es-MX" sz="1600" dirty="0">
                          <a:effectLst/>
                        </a:rPr>
                        <a:t>, implementando salvaguardias para garantizar la equidad y la imparcialidad en el procesamiento de datos.</a:t>
                      </a:r>
                    </a:p>
                  </a:txBody>
                  <a:tcPr marL="31305" marR="31305" marT="15652" marB="15652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15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424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4748479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– Estándares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19834E2-4E56-4F62-88B6-A3F570088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810810"/>
              </p:ext>
            </p:extLst>
          </p:nvPr>
        </p:nvGraphicFramePr>
        <p:xfrm>
          <a:off x="118325" y="1475246"/>
          <a:ext cx="11848773" cy="5200761"/>
        </p:xfrm>
        <a:graphic>
          <a:graphicData uri="http://schemas.openxmlformats.org/drawingml/2006/table">
            <a:tbl>
              <a:tblPr/>
              <a:tblGrid>
                <a:gridCol w="1712062">
                  <a:extLst>
                    <a:ext uri="{9D8B030D-6E8A-4147-A177-3AD203B41FA5}">
                      <a16:colId xmlns:a16="http://schemas.microsoft.com/office/drawing/2014/main" val="17716875"/>
                    </a:ext>
                  </a:extLst>
                </a:gridCol>
                <a:gridCol w="5217292">
                  <a:extLst>
                    <a:ext uri="{9D8B030D-6E8A-4147-A177-3AD203B41FA5}">
                      <a16:colId xmlns:a16="http://schemas.microsoft.com/office/drawing/2014/main" val="4127077218"/>
                    </a:ext>
                  </a:extLst>
                </a:gridCol>
                <a:gridCol w="4919419">
                  <a:extLst>
                    <a:ext uri="{9D8B030D-6E8A-4147-A177-3AD203B41FA5}">
                      <a16:colId xmlns:a16="http://schemas.microsoft.com/office/drawing/2014/main" val="1583444534"/>
                    </a:ext>
                  </a:extLst>
                </a:gridCol>
              </a:tblGrid>
              <a:tr h="251724">
                <a:tc>
                  <a:txBody>
                    <a:bodyPr/>
                    <a:lstStyle/>
                    <a:p>
                      <a:pPr fontAlgn="b"/>
                      <a:r>
                        <a:rPr lang="es-CO" sz="1400" b="1">
                          <a:solidFill>
                            <a:schemeClr val="bg1"/>
                          </a:solidFill>
                          <a:effectLst/>
                        </a:rPr>
                        <a:t>Estándar</a:t>
                      </a:r>
                    </a:p>
                  </a:txBody>
                  <a:tcPr marL="20920" marR="20920" marT="10460" marB="1046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20920" marR="20920" marT="10460" marB="1046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Función</a:t>
                      </a:r>
                    </a:p>
                  </a:txBody>
                  <a:tcPr marL="20920" marR="20920" marT="10460" marB="10460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27330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>
                          <a:solidFill>
                            <a:srgbClr val="FF0000"/>
                          </a:solidFill>
                          <a:effectLst/>
                        </a:rPr>
                        <a:t>CMM (Capability Maturity Model)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Modelo utilizado para evaluar y mejorar la madurez de los procesos </a:t>
                      </a:r>
                      <a:r>
                        <a:rPr lang="es-MX" sz="1400" dirty="0">
                          <a:effectLst/>
                        </a:rPr>
                        <a:t>de desarrollo de software en una organización.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>
                          <a:effectLst/>
                        </a:rPr>
                        <a:t>Sirve como un marco de referencia para comprender y mejorar la capacidad de una organización para desarrollar software de alta calidad de manera consistente y predecible.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102"/>
                  </a:ext>
                </a:extLst>
              </a:tr>
              <a:tr h="939463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>
                          <a:solidFill>
                            <a:srgbClr val="FF0000"/>
                          </a:solidFill>
                          <a:effectLst/>
                        </a:rPr>
                        <a:t>ISO/IEC 15504 (SPICE)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Estándar internacional utilizado para evaluar y mejorar la capacidad de los procesos de desarrollo y mantenimiento de software </a:t>
                      </a:r>
                      <a:r>
                        <a:rPr lang="es-MX" sz="1400" dirty="0">
                          <a:effectLst/>
                        </a:rPr>
                        <a:t>en una organización.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>
                          <a:effectLst/>
                        </a:rPr>
                        <a:t>Proporciona un enfoque estructurado y sistemático para la evaluación y mejora de los procesos de software, ayudando a las organizaciones a aumentar su eficiencia y calidad en el desarrollo de software.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726333"/>
                  </a:ext>
                </a:extLst>
              </a:tr>
              <a:tr h="939463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>
                          <a:solidFill>
                            <a:srgbClr val="FF0000"/>
                          </a:solidFill>
                          <a:effectLst/>
                        </a:rPr>
                        <a:t>CMMI (Capability Maturity Model Integration)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Evolución del </a:t>
                      </a:r>
                      <a:r>
                        <a:rPr lang="es-MX" sz="1400" dirty="0" err="1">
                          <a:effectLst/>
                          <a:highlight>
                            <a:srgbClr val="7BEEFD"/>
                          </a:highlight>
                        </a:rPr>
                        <a:t>CMM</a:t>
                      </a:r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 que integra varios modelos de madurez de capacidad.</a:t>
                      </a:r>
                      <a:r>
                        <a:rPr lang="es-MX" sz="1400" dirty="0">
                          <a:effectLst/>
                        </a:rPr>
                        <a:t> Sirve como un marco integral para mejorar y evaluar la madurez de los procesos en diferentes áreas de una organización.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>
                          <a:effectLst/>
                        </a:rPr>
                        <a:t>Permite establecer prácticas de gestión y desarrollo de software efectivas y eficientes en toda la empresa, resultando en una mayor eficiencia, calidad y consistencia en la entrega de productos de software.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63156"/>
                  </a:ext>
                </a:extLst>
              </a:tr>
              <a:tr h="939463">
                <a:tc>
                  <a:txBody>
                    <a:bodyPr/>
                    <a:lstStyle/>
                    <a:p>
                      <a:pPr fontAlgn="base"/>
                      <a:r>
                        <a:rPr lang="es-CO" sz="1400" b="1" dirty="0">
                          <a:solidFill>
                            <a:srgbClr val="FF0000"/>
                          </a:solidFill>
                          <a:effectLst/>
                        </a:rPr>
                        <a:t>ISO/IEC 25010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Estándar que define un modelo de calidad de producto de software</a:t>
                      </a:r>
                      <a:r>
                        <a:rPr lang="es-MX" sz="1400" dirty="0">
                          <a:effectLst/>
                        </a:rPr>
                        <a:t>, especificando un conjunto de características y </a:t>
                      </a:r>
                      <a:r>
                        <a:rPr lang="es-MX" sz="1400" dirty="0" err="1">
                          <a:effectLst/>
                        </a:rPr>
                        <a:t>subcaracterísticas</a:t>
                      </a:r>
                      <a:r>
                        <a:rPr lang="es-MX" sz="1400" dirty="0">
                          <a:effectLst/>
                        </a:rPr>
                        <a:t> de calidad.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>
                          <a:effectLst/>
                        </a:rPr>
                        <a:t>Proporciona un marco para definir, medir y mejorar la calidad del producto de software en términos de sus características, rendimiento, fiabilidad, usabilidad, seguridad y otros atributos importantes.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13355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>
                          <a:solidFill>
                            <a:srgbClr val="FF0000"/>
                          </a:solidFill>
                          <a:effectLst/>
                        </a:rPr>
                        <a:t>Modelo de Calidad de McCall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Modelo que define seis áreas de calidad de software: </a:t>
                      </a:r>
                      <a:r>
                        <a:rPr lang="es-MX" sz="1400" dirty="0">
                          <a:effectLst/>
                        </a:rPr>
                        <a:t>corrección, fiabilidad, eficiencia, integridad, usabilidad y adaptabilidad.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>
                          <a:effectLst/>
                        </a:rPr>
                        <a:t>Proporciona un marco para evaluar la calidad del software en términos de diversas áreas que afectan su funcionalidad, fiabilidad, rendimiento y capacidad de adaptación.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8738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fontAlgn="base"/>
                      <a:r>
                        <a:rPr lang="es-MX" sz="1400" b="1" dirty="0">
                          <a:solidFill>
                            <a:srgbClr val="FF0000"/>
                          </a:solidFill>
                          <a:effectLst/>
                        </a:rPr>
                        <a:t>Modelo de Calidad de Boehm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  <a:highlight>
                            <a:srgbClr val="7BEEFD"/>
                          </a:highlight>
                        </a:rPr>
                        <a:t>Modelo que se centra en la calidad del producto y del proceso</a:t>
                      </a:r>
                      <a:r>
                        <a:rPr lang="es-MX" sz="1400" dirty="0">
                          <a:effectLst/>
                        </a:rPr>
                        <a:t>. Define áreas de calidad de producto, como fiabilidad, eficiencia y usabilidad, y calidad del proceso, como eficacia y eficiencia.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400" dirty="0">
                          <a:effectLst/>
                        </a:rPr>
                        <a:t>Proporciona un marco para evaluar y mejorar tanto la calidad del producto de software como la eficacia y eficiencia de los procesos utilizados para desarrollarlo.</a:t>
                      </a:r>
                    </a:p>
                  </a:txBody>
                  <a:tcPr marL="20920" marR="20920" marT="10460" marB="1046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9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846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0D3AD1-DB18-47B2-95C9-544C2990E0B0}"/>
              </a:ext>
            </a:extLst>
          </p:cNvPr>
          <p:cNvSpPr/>
          <p:nvPr/>
        </p:nvSpPr>
        <p:spPr>
          <a:xfrm>
            <a:off x="2454030" y="1690578"/>
            <a:ext cx="10295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>
                <a:solidFill>
                  <a:srgbClr val="FF0000"/>
                </a:solidFill>
                <a:latin typeface="Söhne"/>
              </a:rPr>
              <a:t>Son marcos teóricos y atributos específicos utilizados para evaluar y medir la calidad del software.</a:t>
            </a:r>
            <a:endParaRPr lang="es-CO" i="1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54CB8D-9090-4D21-A9ED-81D0E81ECD9E}"/>
              </a:ext>
            </a:extLst>
          </p:cNvPr>
          <p:cNvCxnSpPr>
            <a:cxnSpLocks/>
          </p:cNvCxnSpPr>
          <p:nvPr/>
        </p:nvCxnSpPr>
        <p:spPr>
          <a:xfrm>
            <a:off x="4030462" y="1216081"/>
            <a:ext cx="0" cy="53282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EC1BD7A-7E33-4E70-8A41-C06667F32EAD}"/>
              </a:ext>
            </a:extLst>
          </p:cNvPr>
          <p:cNvCxnSpPr>
            <a:cxnSpLocks/>
          </p:cNvCxnSpPr>
          <p:nvPr/>
        </p:nvCxnSpPr>
        <p:spPr>
          <a:xfrm flipH="1">
            <a:off x="3665801" y="1216081"/>
            <a:ext cx="346906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EEFF3C-1878-4107-BC8A-C956EAC9A81C}"/>
              </a:ext>
            </a:extLst>
          </p:cNvPr>
          <p:cNvSpPr/>
          <p:nvPr/>
        </p:nvSpPr>
        <p:spPr>
          <a:xfrm>
            <a:off x="118326" y="3359743"/>
            <a:ext cx="233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rgbClr val="0D0D0D"/>
                </a:solidFill>
                <a:latin typeface="Söhne"/>
              </a:rPr>
              <a:t>Modelo ISO/IEC 25010</a:t>
            </a:r>
            <a:endParaRPr lang="es-CO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84327A-3E85-4857-9AEC-9C5CE3EECACA}"/>
              </a:ext>
            </a:extLst>
          </p:cNvPr>
          <p:cNvSpPr/>
          <p:nvPr/>
        </p:nvSpPr>
        <p:spPr>
          <a:xfrm>
            <a:off x="2454030" y="2146930"/>
            <a:ext cx="932663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Funcionalidad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Capacidad del software para proporcionar funciones que satisfagan las necesidades especificadas.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Fiabilidad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Capacidad del software para mantener un nivel de rendimiento especificado bajo condiciones establecidas durante un período de tiempo determinado.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Usabilidad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Facilidad de uso del software por parte de los usuarios previstos para realizar tareas específicas con efectividad, eficiencia y satisfacción.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Eficiencia en el desempeño:</a:t>
            </a:r>
            <a:r>
              <a:rPr lang="es-MX" sz="1500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 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Desempeño relativo del software en términos de cantidad de recursos utilizados en relación con la cantidad de recursos proporcionados.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Compatibilidad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Capacidad del software para interactuar con otros sistemas especificados.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Mantenibilidad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Capacidad del software para ser modificado, incluyendo correcciones, mejoras o adaptaciones.</a:t>
            </a:r>
          </a:p>
          <a:p>
            <a:endParaRPr lang="es-MX" sz="1500" dirty="0">
              <a:solidFill>
                <a:srgbClr val="0D0D0D"/>
              </a:solidFill>
              <a:latin typeface="Söhne"/>
            </a:endParaRPr>
          </a:p>
          <a:p>
            <a:r>
              <a:rPr lang="es-MX" sz="1500" b="1" dirty="0">
                <a:solidFill>
                  <a:srgbClr val="0D0D0D"/>
                </a:solidFill>
                <a:highlight>
                  <a:srgbClr val="00FFFF"/>
                </a:highlight>
                <a:latin typeface="Söhne"/>
              </a:rPr>
              <a:t>Portabilidad</a:t>
            </a:r>
            <a:r>
              <a:rPr lang="es-MX" sz="1500" b="1" dirty="0">
                <a:solidFill>
                  <a:srgbClr val="0D0D0D"/>
                </a:solidFill>
                <a:latin typeface="Söhne"/>
              </a:rPr>
              <a:t>:</a:t>
            </a:r>
            <a:r>
              <a:rPr lang="es-MX" sz="1500" dirty="0">
                <a:solidFill>
                  <a:srgbClr val="0D0D0D"/>
                </a:solidFill>
                <a:latin typeface="Söhne"/>
              </a:rPr>
              <a:t> Capacidad del software para ser transferido de un entorno a otro.</a:t>
            </a:r>
            <a:endParaRPr lang="es-MX" sz="15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687499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0D3AD1-DB18-47B2-95C9-544C2990E0B0}"/>
              </a:ext>
            </a:extLst>
          </p:cNvPr>
          <p:cNvSpPr/>
          <p:nvPr/>
        </p:nvSpPr>
        <p:spPr>
          <a:xfrm>
            <a:off x="2454030" y="1690578"/>
            <a:ext cx="10295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>
                <a:solidFill>
                  <a:srgbClr val="FF0000"/>
                </a:solidFill>
                <a:latin typeface="Söhne"/>
              </a:rPr>
              <a:t>Son marcos teóricos y atributos específicos utilizados para evaluar y medir la calidad del software.</a:t>
            </a:r>
            <a:endParaRPr lang="es-CO" i="1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54CB8D-9090-4D21-A9ED-81D0E81ECD9E}"/>
              </a:ext>
            </a:extLst>
          </p:cNvPr>
          <p:cNvCxnSpPr>
            <a:cxnSpLocks/>
          </p:cNvCxnSpPr>
          <p:nvPr/>
        </p:nvCxnSpPr>
        <p:spPr>
          <a:xfrm>
            <a:off x="4030462" y="1216081"/>
            <a:ext cx="0" cy="53282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EC1BD7A-7E33-4E70-8A41-C06667F32EAD}"/>
              </a:ext>
            </a:extLst>
          </p:cNvPr>
          <p:cNvCxnSpPr>
            <a:cxnSpLocks/>
          </p:cNvCxnSpPr>
          <p:nvPr/>
        </p:nvCxnSpPr>
        <p:spPr>
          <a:xfrm flipH="1">
            <a:off x="3665801" y="1216081"/>
            <a:ext cx="346906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EEFF3C-1878-4107-BC8A-C956EAC9A81C}"/>
              </a:ext>
            </a:extLst>
          </p:cNvPr>
          <p:cNvSpPr/>
          <p:nvPr/>
        </p:nvSpPr>
        <p:spPr>
          <a:xfrm>
            <a:off x="118327" y="3359743"/>
            <a:ext cx="2252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D0D0D"/>
                </a:solidFill>
                <a:latin typeface="Söhne"/>
              </a:rPr>
              <a:t>Modelo de Calidad de McCall</a:t>
            </a:r>
            <a:endParaRPr lang="es-CO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84327A-3E85-4857-9AEC-9C5CE3EECACA}"/>
              </a:ext>
            </a:extLst>
          </p:cNvPr>
          <p:cNvSpPr/>
          <p:nvPr/>
        </p:nvSpPr>
        <p:spPr>
          <a:xfrm>
            <a:off x="2454030" y="2146930"/>
            <a:ext cx="9326637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700" b="1" dirty="0">
                <a:highlight>
                  <a:srgbClr val="00FFFF"/>
                </a:highlight>
              </a:rPr>
              <a:t>Corrección</a:t>
            </a:r>
            <a:r>
              <a:rPr lang="es-MX" sz="1700" b="1" dirty="0"/>
              <a:t>:</a:t>
            </a:r>
            <a:r>
              <a:rPr lang="es-MX" sz="1700" dirty="0"/>
              <a:t> Capacidad del software para realizar sus funciones requeridas sin fallas.</a:t>
            </a:r>
          </a:p>
          <a:p>
            <a:endParaRPr lang="es-MX" sz="1700" dirty="0">
              <a:highlight>
                <a:srgbClr val="00FFFF"/>
              </a:highlight>
            </a:endParaRPr>
          </a:p>
          <a:p>
            <a:r>
              <a:rPr lang="es-MX" sz="1700" b="1" dirty="0">
                <a:highlight>
                  <a:srgbClr val="00FFFF"/>
                </a:highlight>
              </a:rPr>
              <a:t>Fiabilidad:</a:t>
            </a:r>
            <a:r>
              <a:rPr lang="es-MX" sz="1700" dirty="0">
                <a:highlight>
                  <a:srgbClr val="00FFFF"/>
                </a:highlight>
              </a:rPr>
              <a:t> </a:t>
            </a:r>
            <a:r>
              <a:rPr lang="es-MX" sz="1700" dirty="0"/>
              <a:t>Probabilidad de que el software funcione sin fallas durante un período específico y bajo ciertas condiciones.</a:t>
            </a:r>
          </a:p>
          <a:p>
            <a:endParaRPr lang="es-MX" sz="1700" dirty="0">
              <a:highlight>
                <a:srgbClr val="00FFFF"/>
              </a:highlight>
            </a:endParaRPr>
          </a:p>
          <a:p>
            <a:r>
              <a:rPr lang="es-MX" sz="1700" b="1" dirty="0">
                <a:highlight>
                  <a:srgbClr val="00FFFF"/>
                </a:highlight>
              </a:rPr>
              <a:t>Eficiencia:</a:t>
            </a:r>
            <a:r>
              <a:rPr lang="es-MX" sz="1700" dirty="0">
                <a:highlight>
                  <a:srgbClr val="00FFFF"/>
                </a:highlight>
              </a:rPr>
              <a:t> </a:t>
            </a:r>
            <a:r>
              <a:rPr lang="es-MX" sz="1700" dirty="0"/>
              <a:t>Capacidad del software para realizar sus funciones requeridas dentro de los límites de recursos establecidos.</a:t>
            </a:r>
          </a:p>
          <a:p>
            <a:endParaRPr lang="es-MX" sz="1700" dirty="0">
              <a:highlight>
                <a:srgbClr val="00FFFF"/>
              </a:highlight>
            </a:endParaRPr>
          </a:p>
          <a:p>
            <a:r>
              <a:rPr lang="es-MX" sz="1700" b="1" dirty="0">
                <a:highlight>
                  <a:srgbClr val="00FFFF"/>
                </a:highlight>
              </a:rPr>
              <a:t>Integridad</a:t>
            </a:r>
            <a:r>
              <a:rPr lang="es-MX" sz="1700" b="1" dirty="0"/>
              <a:t>:</a:t>
            </a:r>
            <a:r>
              <a:rPr lang="es-MX" sz="1700" dirty="0"/>
              <a:t> Capacidad del software para proteger contra el acceso no autorizado o el daño.</a:t>
            </a:r>
          </a:p>
          <a:p>
            <a:endParaRPr lang="es-MX" sz="1700" dirty="0">
              <a:highlight>
                <a:srgbClr val="00FFFF"/>
              </a:highlight>
            </a:endParaRPr>
          </a:p>
          <a:p>
            <a:r>
              <a:rPr lang="es-MX" sz="1700" b="1" dirty="0">
                <a:highlight>
                  <a:srgbClr val="00FFFF"/>
                </a:highlight>
              </a:rPr>
              <a:t>Usabilidad:</a:t>
            </a:r>
            <a:r>
              <a:rPr lang="es-MX" sz="1700" dirty="0">
                <a:highlight>
                  <a:srgbClr val="00FFFF"/>
                </a:highlight>
              </a:rPr>
              <a:t> </a:t>
            </a:r>
            <a:r>
              <a:rPr lang="es-MX" sz="1700" dirty="0"/>
              <a:t>Facilidad de uso y comprensión del software.</a:t>
            </a:r>
          </a:p>
          <a:p>
            <a:endParaRPr lang="es-MX" sz="1700" dirty="0">
              <a:highlight>
                <a:srgbClr val="00FFFF"/>
              </a:highlight>
            </a:endParaRPr>
          </a:p>
          <a:p>
            <a:r>
              <a:rPr lang="es-MX" sz="1700" b="1" dirty="0">
                <a:highlight>
                  <a:srgbClr val="00FFFF"/>
                </a:highlight>
              </a:rPr>
              <a:t>Adaptabilidad</a:t>
            </a:r>
            <a:r>
              <a:rPr lang="es-MX" sz="1700" b="1" dirty="0"/>
              <a:t>:</a:t>
            </a:r>
            <a:r>
              <a:rPr lang="es-MX" sz="1700" dirty="0"/>
              <a:t> Capacidad del software para ser modificado para satisfacer diferentes requisitos de usuario o entorno.</a:t>
            </a:r>
          </a:p>
        </p:txBody>
      </p:sp>
    </p:spTree>
    <p:extLst>
      <p:ext uri="{BB962C8B-B14F-4D97-AF65-F5344CB8AC3E}">
        <p14:creationId xmlns:p14="http://schemas.microsoft.com/office/powerpoint/2010/main" val="3055076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0D3AD1-DB18-47B2-95C9-544C2990E0B0}"/>
              </a:ext>
            </a:extLst>
          </p:cNvPr>
          <p:cNvSpPr/>
          <p:nvPr/>
        </p:nvSpPr>
        <p:spPr>
          <a:xfrm>
            <a:off x="2454030" y="1690578"/>
            <a:ext cx="10295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>
                <a:solidFill>
                  <a:srgbClr val="FF0000"/>
                </a:solidFill>
                <a:latin typeface="Söhne"/>
              </a:rPr>
              <a:t>Son marcos teóricos y atributos específicos utilizados para evaluar y medir la calidad del software.</a:t>
            </a:r>
            <a:endParaRPr lang="es-CO" i="1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54CB8D-9090-4D21-A9ED-81D0E81ECD9E}"/>
              </a:ext>
            </a:extLst>
          </p:cNvPr>
          <p:cNvCxnSpPr>
            <a:cxnSpLocks/>
          </p:cNvCxnSpPr>
          <p:nvPr/>
        </p:nvCxnSpPr>
        <p:spPr>
          <a:xfrm>
            <a:off x="4030462" y="1216081"/>
            <a:ext cx="0" cy="53282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EC1BD7A-7E33-4E70-8A41-C06667F32EAD}"/>
              </a:ext>
            </a:extLst>
          </p:cNvPr>
          <p:cNvCxnSpPr>
            <a:cxnSpLocks/>
          </p:cNvCxnSpPr>
          <p:nvPr/>
        </p:nvCxnSpPr>
        <p:spPr>
          <a:xfrm flipH="1">
            <a:off x="3665801" y="1216081"/>
            <a:ext cx="346906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EEFF3C-1878-4107-BC8A-C956EAC9A81C}"/>
              </a:ext>
            </a:extLst>
          </p:cNvPr>
          <p:cNvSpPr/>
          <p:nvPr/>
        </p:nvSpPr>
        <p:spPr>
          <a:xfrm>
            <a:off x="118327" y="3359743"/>
            <a:ext cx="2252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Modelo de Calidad de Boehm</a:t>
            </a:r>
            <a:endParaRPr lang="es-CO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84327A-3E85-4857-9AEC-9C5CE3EECACA}"/>
              </a:ext>
            </a:extLst>
          </p:cNvPr>
          <p:cNvSpPr/>
          <p:nvPr/>
        </p:nvSpPr>
        <p:spPr>
          <a:xfrm>
            <a:off x="2747036" y="2713813"/>
            <a:ext cx="93266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highlight>
                  <a:srgbClr val="00FFFF"/>
                </a:highlight>
              </a:rPr>
              <a:t>Calidad de Producto:</a:t>
            </a:r>
            <a:r>
              <a:rPr lang="es-MX" dirty="0">
                <a:highlight>
                  <a:srgbClr val="00FFFF"/>
                </a:highlight>
              </a:rPr>
              <a:t> </a:t>
            </a:r>
          </a:p>
          <a:p>
            <a:r>
              <a:rPr lang="es-MX" dirty="0"/>
              <a:t>Incluye características como fiabilidad, eficiencia, usabilidad y mantenibilidad.</a:t>
            </a:r>
          </a:p>
          <a:p>
            <a:endParaRPr lang="es-MX" dirty="0"/>
          </a:p>
          <a:p>
            <a:r>
              <a:rPr lang="es-MX" b="1" dirty="0">
                <a:highlight>
                  <a:srgbClr val="00FFFF"/>
                </a:highlight>
              </a:rPr>
              <a:t>Calidad del Proceso:</a:t>
            </a:r>
            <a:r>
              <a:rPr lang="es-MX" dirty="0">
                <a:highlight>
                  <a:srgbClr val="00FFFF"/>
                </a:highlight>
              </a:rPr>
              <a:t> </a:t>
            </a:r>
          </a:p>
          <a:p>
            <a:r>
              <a:rPr lang="es-MX" dirty="0"/>
              <a:t>Incluye características del proceso de desarrollo de software, como la eficacia, la eficiencia y la adherencia a los estándares y procedimientos establecidos.</a:t>
            </a:r>
          </a:p>
        </p:txBody>
      </p:sp>
    </p:spTree>
    <p:extLst>
      <p:ext uri="{BB962C8B-B14F-4D97-AF65-F5344CB8AC3E}">
        <p14:creationId xmlns:p14="http://schemas.microsoft.com/office/powerpoint/2010/main" val="581786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0717CD1-4D43-47EC-A545-98DECF01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604726"/>
              </p:ext>
            </p:extLst>
          </p:nvPr>
        </p:nvGraphicFramePr>
        <p:xfrm>
          <a:off x="118326" y="1872672"/>
          <a:ext cx="11831018" cy="3720259"/>
        </p:xfrm>
        <a:graphic>
          <a:graphicData uri="http://schemas.openxmlformats.org/drawingml/2006/table">
            <a:tbl>
              <a:tblPr/>
              <a:tblGrid>
                <a:gridCol w="1284346">
                  <a:extLst>
                    <a:ext uri="{9D8B030D-6E8A-4147-A177-3AD203B41FA5}">
                      <a16:colId xmlns:a16="http://schemas.microsoft.com/office/drawing/2014/main" val="808958537"/>
                    </a:ext>
                  </a:extLst>
                </a:gridCol>
                <a:gridCol w="1429305">
                  <a:extLst>
                    <a:ext uri="{9D8B030D-6E8A-4147-A177-3AD203B41FA5}">
                      <a16:colId xmlns:a16="http://schemas.microsoft.com/office/drawing/2014/main" val="2965643834"/>
                    </a:ext>
                  </a:extLst>
                </a:gridCol>
                <a:gridCol w="9117367">
                  <a:extLst>
                    <a:ext uri="{9D8B030D-6E8A-4147-A177-3AD203B41FA5}">
                      <a16:colId xmlns:a16="http://schemas.microsoft.com/office/drawing/2014/main" val="2345500405"/>
                    </a:ext>
                  </a:extLst>
                </a:gridCol>
              </a:tblGrid>
              <a:tr h="58137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Modelo de Calidad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>
                          <a:solidFill>
                            <a:srgbClr val="FFFF00"/>
                          </a:solidFill>
                          <a:effectLst/>
                        </a:rPr>
                        <a:t>Características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Ejemplo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77105"/>
                  </a:ext>
                </a:extLst>
              </a:tr>
              <a:tr h="3138887">
                <a:tc>
                  <a:txBody>
                    <a:bodyPr/>
                    <a:lstStyle/>
                    <a:p>
                      <a:pPr fontAlgn="base"/>
                      <a:r>
                        <a:rPr lang="es-CO" sz="1500" b="1" dirty="0">
                          <a:solidFill>
                            <a:srgbClr val="FF0000"/>
                          </a:solidFill>
                          <a:effectLst/>
                        </a:rPr>
                        <a:t>ISO/IEC 25010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Funcionalidad, Fiabilidad, Usabilidad, Eficiencia en el desempeño, Compatibilidad, Mantenibilidad, Portabilidad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Un sistema de gestión de ventas en línea debe tener funcionalidades que permitan a los usuarios realizar compras, agregar productos al carrito y realizar pagos de forma segura.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Además, debe ser confiable para manejar grandes volúmenes de transacciones y estar disponible durante horas pico de tráfico. La interfaz de usuario debe ser intuitiva y fácil de usar, permitiendo a los usuarios navegar por el sitio y completar transacciones sin dificultad.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El sistema debe ser eficiente en términos de tiempo de carga de páginas y procesamiento de pedidos.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También debe ser compatible con diferentes navegadores web y dispositivos, y ser fácilmente mantenible y adaptable a cambios futuros.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58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543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0717CD1-4D43-47EC-A545-98DECF01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62240"/>
              </p:ext>
            </p:extLst>
          </p:nvPr>
        </p:nvGraphicFramePr>
        <p:xfrm>
          <a:off x="118326" y="1482056"/>
          <a:ext cx="11831018" cy="4364372"/>
        </p:xfrm>
        <a:graphic>
          <a:graphicData uri="http://schemas.openxmlformats.org/drawingml/2006/table">
            <a:tbl>
              <a:tblPr/>
              <a:tblGrid>
                <a:gridCol w="1461899">
                  <a:extLst>
                    <a:ext uri="{9D8B030D-6E8A-4147-A177-3AD203B41FA5}">
                      <a16:colId xmlns:a16="http://schemas.microsoft.com/office/drawing/2014/main" val="808958537"/>
                    </a:ext>
                  </a:extLst>
                </a:gridCol>
                <a:gridCol w="1207363">
                  <a:extLst>
                    <a:ext uri="{9D8B030D-6E8A-4147-A177-3AD203B41FA5}">
                      <a16:colId xmlns:a16="http://schemas.microsoft.com/office/drawing/2014/main" val="2965643834"/>
                    </a:ext>
                  </a:extLst>
                </a:gridCol>
                <a:gridCol w="9161756">
                  <a:extLst>
                    <a:ext uri="{9D8B030D-6E8A-4147-A177-3AD203B41FA5}">
                      <a16:colId xmlns:a16="http://schemas.microsoft.com/office/drawing/2014/main" val="2345500405"/>
                    </a:ext>
                  </a:extLst>
                </a:gridCol>
              </a:tblGrid>
              <a:tr h="3904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Modelo de Calidad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>
                          <a:solidFill>
                            <a:srgbClr val="FFFF00"/>
                          </a:solidFill>
                          <a:effectLst/>
                        </a:rPr>
                        <a:t>Características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Ejemplo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77105"/>
                  </a:ext>
                </a:extLst>
              </a:tr>
              <a:tr h="1625196">
                <a:tc>
                  <a:txBody>
                    <a:bodyPr/>
                    <a:lstStyle/>
                    <a:p>
                      <a:pPr fontAlgn="base"/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Modelo de Calidad de McCall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Corrección, Fiabilidad, Eficiencia, Integridad, Usabilidad, Adaptabilidad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Un sistema de gestión de inventario debe ser correcto en términos de mantener registros precisos de los niveles de inventario y evitar discrepancias.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Debe ser fiable para garantizar que los datos de inventario estén disponibles cuando sea necesario y no se pierdan ni se corrompan.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Además, debe ser eficiente en el uso de recursos de hardware y software, minimizando el tiempo de procesamiento de transacciones y consultas.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La integridad del sistema es fundamental para proteger los datos de inventario contra accesos no autorizados o modificaciones indebidas.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La usabilidad es importante para que los usuarios puedan realizar fácilmente tareas como agregar, eliminar o actualizar elementos de inventario.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Finalmente, el sistema debe ser adaptable para permitir la incorporación de nuevas funcionalidades o cambios en los requisitos del negocio.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83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84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2DC127E-B816-433E-90AF-00E7362CB619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0717CD1-4D43-47EC-A545-98DECF01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96413"/>
              </p:ext>
            </p:extLst>
          </p:nvPr>
        </p:nvGraphicFramePr>
        <p:xfrm>
          <a:off x="118326" y="1482056"/>
          <a:ext cx="11831018" cy="4310427"/>
        </p:xfrm>
        <a:graphic>
          <a:graphicData uri="http://schemas.openxmlformats.org/drawingml/2006/table">
            <a:tbl>
              <a:tblPr/>
              <a:tblGrid>
                <a:gridCol w="1586187">
                  <a:extLst>
                    <a:ext uri="{9D8B030D-6E8A-4147-A177-3AD203B41FA5}">
                      <a16:colId xmlns:a16="http://schemas.microsoft.com/office/drawing/2014/main" val="808958537"/>
                    </a:ext>
                  </a:extLst>
                </a:gridCol>
                <a:gridCol w="1171852">
                  <a:extLst>
                    <a:ext uri="{9D8B030D-6E8A-4147-A177-3AD203B41FA5}">
                      <a16:colId xmlns:a16="http://schemas.microsoft.com/office/drawing/2014/main" val="2965643834"/>
                    </a:ext>
                  </a:extLst>
                </a:gridCol>
                <a:gridCol w="9072979">
                  <a:extLst>
                    <a:ext uri="{9D8B030D-6E8A-4147-A177-3AD203B41FA5}">
                      <a16:colId xmlns:a16="http://schemas.microsoft.com/office/drawing/2014/main" val="2345500405"/>
                    </a:ext>
                  </a:extLst>
                </a:gridCol>
              </a:tblGrid>
              <a:tr h="413741"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>
                          <a:solidFill>
                            <a:srgbClr val="FFFF00"/>
                          </a:solidFill>
                          <a:effectLst/>
                        </a:rPr>
                        <a:t>Modelo de Calidad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>
                          <a:solidFill>
                            <a:srgbClr val="FFFF00"/>
                          </a:solidFill>
                          <a:effectLst/>
                        </a:rPr>
                        <a:t>Características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500" b="1" dirty="0">
                          <a:solidFill>
                            <a:srgbClr val="FFFF00"/>
                          </a:solidFill>
                          <a:effectLst/>
                        </a:rPr>
                        <a:t>Ejemplo</a:t>
                      </a:r>
                    </a:p>
                  </a:txBody>
                  <a:tcPr marL="10485" marR="10485" marT="5243" marB="5243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77105"/>
                  </a:ext>
                </a:extLst>
              </a:tr>
              <a:tr h="1625196">
                <a:tc>
                  <a:txBody>
                    <a:bodyPr/>
                    <a:lstStyle/>
                    <a:p>
                      <a:pPr fontAlgn="base"/>
                      <a:r>
                        <a:rPr lang="es-MX" sz="1500" b="1" dirty="0">
                          <a:solidFill>
                            <a:srgbClr val="FF0000"/>
                          </a:solidFill>
                          <a:effectLst/>
                        </a:rPr>
                        <a:t>Modelo de Calidad de Boehm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Calidad de Producto, Calidad del Proceso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500" dirty="0">
                          <a:effectLst/>
                        </a:rPr>
                        <a:t>La calidad de producto se refiere a las características del software, como la fiabilidad, la eficiencia, la usabilidad y la mantenibilidad.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Por ejemplo, un sistema de reservas de vuelos debe ser confiable para que los usuarios puedan reservar vuelos sin preocuparse por errores o fallos.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También debe ser eficiente en términos de velocidad de búsqueda y reserva de vuelos.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La interfaz de usuario debe ser fácil de usar para que los usuarios puedan navegar y reservar vuelos sin dificultad.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Además, el sistema debe ser fácilmente mantenible para permitir correcciones de errores y actualizaciones periódicas.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La calidad del proceso se refiere a la eficacia y la eficiencia del proceso de desarrollo de software. </a:t>
                      </a:r>
                    </a:p>
                    <a:p>
                      <a:pPr fontAlgn="base"/>
                      <a:endParaRPr lang="es-MX" sz="1500" dirty="0">
                        <a:effectLst/>
                      </a:endParaRPr>
                    </a:p>
                    <a:p>
                      <a:pPr fontAlgn="base"/>
                      <a:r>
                        <a:rPr lang="es-MX" sz="1500" dirty="0">
                          <a:effectLst/>
                        </a:rPr>
                        <a:t>Por ejemplo, un equipo de desarrollo que sigue prácticas ágiles puede ser más efectivo en la entrega de software de alta calidad de manera oportuna y dentro del presupuesto.</a:t>
                      </a:r>
                    </a:p>
                  </a:txBody>
                  <a:tcPr marL="10485" marR="10485" marT="5243" marB="5243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424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666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295B1F-F0B6-47B4-B912-4A0F8FFE56BB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4</a:t>
            </a:r>
            <a:endParaRPr lang="es-CO" b="1" dirty="0">
              <a:solidFill>
                <a:srgbClr val="C0000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92A855-0AB9-4834-A9E7-D43750446035}"/>
              </a:ext>
            </a:extLst>
          </p:cNvPr>
          <p:cNvSpPr/>
          <p:nvPr/>
        </p:nvSpPr>
        <p:spPr>
          <a:xfrm>
            <a:off x="118325" y="1997839"/>
            <a:ext cx="116978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>
                <a:solidFill>
                  <a:srgbClr val="0D0D0D"/>
                </a:solidFill>
                <a:latin typeface="Söhne"/>
              </a:rPr>
              <a:t>Una tienda en línea está desarrollando un nuevo sistema de gestión de ventas para mejorar la eficiencia y la experiencia del usuario. </a:t>
            </a:r>
          </a:p>
          <a:p>
            <a:r>
              <a:rPr lang="es-MX" sz="2000" dirty="0">
                <a:solidFill>
                  <a:srgbClr val="0D0D0D"/>
                </a:solidFill>
                <a:latin typeface="Söhne"/>
              </a:rPr>
              <a:t>El sistema debe manejar el proceso de ventas desde la selección de productos hasta el pago y la entrega. </a:t>
            </a:r>
          </a:p>
          <a:p>
            <a:r>
              <a:rPr lang="es-MX" sz="2000" dirty="0">
                <a:solidFill>
                  <a:srgbClr val="0D0D0D"/>
                </a:solidFill>
                <a:highlight>
                  <a:srgbClr val="7BEEFD"/>
                </a:highlight>
                <a:latin typeface="Söhne"/>
              </a:rPr>
              <a:t>Se necesita una evaluación exhaustiva de la calidad del software </a:t>
            </a:r>
            <a:r>
              <a:rPr lang="es-MX" sz="2000" dirty="0">
                <a:solidFill>
                  <a:srgbClr val="0D0D0D"/>
                </a:solidFill>
                <a:latin typeface="Söhne"/>
              </a:rPr>
              <a:t>para garantizar que el sistema cumpla con los estándares de calidad esperados y proporcione una experiencia satisfactoria para los usuarios.</a:t>
            </a:r>
          </a:p>
          <a:p>
            <a:br>
              <a:rPr lang="es-MX" sz="2000" dirty="0"/>
            </a:b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096958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5E67A24-0787-456F-9856-1115E52E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022"/>
            <a:ext cx="5708342" cy="78737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D20FDEF-880D-42CA-8404-86FD40119E70}"/>
              </a:ext>
            </a:extLst>
          </p:cNvPr>
          <p:cNvSpPr/>
          <p:nvPr/>
        </p:nvSpPr>
        <p:spPr>
          <a:xfrm>
            <a:off x="118326" y="1031415"/>
            <a:ext cx="353859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Söhne"/>
              </a:rPr>
              <a:t>Modelos y características de calidad</a:t>
            </a:r>
            <a:endParaRPr lang="es-CO" dirty="0">
              <a:solidFill>
                <a:srgbClr val="FFFFFF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4510E1F-98E9-4406-A6B3-97442EFFE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41135"/>
              </p:ext>
            </p:extLst>
          </p:nvPr>
        </p:nvGraphicFramePr>
        <p:xfrm>
          <a:off x="118326" y="1456293"/>
          <a:ext cx="11964183" cy="4370287"/>
        </p:xfrm>
        <a:graphic>
          <a:graphicData uri="http://schemas.openxmlformats.org/drawingml/2006/table">
            <a:tbl>
              <a:tblPr/>
              <a:tblGrid>
                <a:gridCol w="1903988">
                  <a:extLst>
                    <a:ext uri="{9D8B030D-6E8A-4147-A177-3AD203B41FA5}">
                      <a16:colId xmlns:a16="http://schemas.microsoft.com/office/drawing/2014/main" val="3226299041"/>
                    </a:ext>
                  </a:extLst>
                </a:gridCol>
                <a:gridCol w="2671664">
                  <a:extLst>
                    <a:ext uri="{9D8B030D-6E8A-4147-A177-3AD203B41FA5}">
                      <a16:colId xmlns:a16="http://schemas.microsoft.com/office/drawing/2014/main" val="2595878208"/>
                    </a:ext>
                  </a:extLst>
                </a:gridCol>
                <a:gridCol w="7388531">
                  <a:extLst>
                    <a:ext uri="{9D8B030D-6E8A-4147-A177-3AD203B41FA5}">
                      <a16:colId xmlns:a16="http://schemas.microsoft.com/office/drawing/2014/main" val="1205629599"/>
                    </a:ext>
                  </a:extLst>
                </a:gridCol>
              </a:tblGrid>
              <a:tr h="314296">
                <a:tc>
                  <a:txBody>
                    <a:bodyPr/>
                    <a:lstStyle/>
                    <a:p>
                      <a:pPr fontAlgn="b"/>
                      <a:r>
                        <a:rPr lang="es-CO" sz="1700" b="1">
                          <a:solidFill>
                            <a:srgbClr val="002060"/>
                          </a:solidFill>
                          <a:effectLst/>
                        </a:rPr>
                        <a:t>Aspecto de Calidad</a:t>
                      </a:r>
                    </a:p>
                  </a:txBody>
                  <a:tcPr marL="27196" marR="27196" marT="13598" marB="1359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700" b="1">
                          <a:solidFill>
                            <a:srgbClr val="002060"/>
                          </a:solidFill>
                          <a:effectLst/>
                        </a:rPr>
                        <a:t>Métrica</a:t>
                      </a:r>
                    </a:p>
                  </a:txBody>
                  <a:tcPr marL="27196" marR="27196" marT="13598" marB="1359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700" b="1" dirty="0">
                          <a:solidFill>
                            <a:srgbClr val="002060"/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27196" marR="27196" marT="13598" marB="13598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491267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Funcionalidad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Cobertura de Pruebas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Porcentaje de código o funcionalidad cubierta por pruebas automatizadas.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955793"/>
                  </a:ext>
                </a:extLst>
              </a:tr>
              <a:tr h="314296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Complejidad Ciclomática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Número de caminos linealmente independientes a través del código.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28883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Fiabilidad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Tasa de Fallas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Número de fallas experimentadas durante un periodo específico.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600071"/>
                  </a:ext>
                </a:extLst>
              </a:tr>
              <a:tr h="598735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Tiempo Medio entre Fallas (</a:t>
                      </a:r>
                      <a:r>
                        <a:rPr lang="es-MX" sz="1700" dirty="0" err="1">
                          <a:effectLst/>
                        </a:rPr>
                        <a:t>MTBF</a:t>
                      </a:r>
                      <a:r>
                        <a:rPr lang="es-MX" sz="1700" dirty="0">
                          <a:effectLst/>
                        </a:rPr>
                        <a:t>)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Promedio de tiempo entre fallos en el software.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16823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Usabilidad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Tiempo de Aprendizaje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Tiempo requerido para que un usuario aprenda a utilizar el software.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60449"/>
                  </a:ext>
                </a:extLst>
              </a:tr>
              <a:tr h="314296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Tasa de Error de Usuario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Número de errores cometidos por los usuarios al interactuar con el software.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803914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Eficiencia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Tiempo de Respuesta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Tiempo promedio que tarda el sistema en responder a las solicitudes.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771501"/>
                  </a:ext>
                </a:extLst>
              </a:tr>
              <a:tr h="314296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Uso de Recursos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Utilización de recursos como CPU, memoria y almacenamiento.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94744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Mantenibilidad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Índice de Cohesión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Grado en que los componentes de software están relacionados entre sí.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345446"/>
                  </a:ext>
                </a:extLst>
              </a:tr>
              <a:tr h="314296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Índice de Acoplamiento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Grado en que los componentes de software dependen entre sí.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306869"/>
                  </a:ext>
                </a:extLst>
              </a:tr>
              <a:tr h="314296">
                <a:tc rowSpan="2"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Portabilidad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 dirty="0">
                          <a:effectLst/>
                        </a:rPr>
                        <a:t>Adaptabilidad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>
                          <a:effectLst/>
                        </a:rPr>
                        <a:t>Facilidad con la que el software puede ser adaptado a diferentes entornos.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703008"/>
                  </a:ext>
                </a:extLst>
              </a:tr>
              <a:tr h="314296">
                <a:tc vMerge="1">
                  <a:txBody>
                    <a:bodyPr/>
                    <a:lstStyle/>
                    <a:p>
                      <a:pPr fontAlgn="base"/>
                      <a:endParaRPr lang="es-CO" sz="1700" dirty="0">
                        <a:effectLst/>
                      </a:endParaRP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CO" sz="1700">
                          <a:effectLst/>
                        </a:rPr>
                        <a:t>Reusabilidad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MX" sz="1700" dirty="0">
                          <a:effectLst/>
                        </a:rPr>
                        <a:t>Porcentaje de componentes de software que pueden ser reutilizados.</a:t>
                      </a:r>
                    </a:p>
                  </a:txBody>
                  <a:tcPr marL="27196" marR="27196" marT="13598" marB="1359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8192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E41941BA-EA5C-4316-A3B3-22C6EEF72AA0}"/>
              </a:ext>
            </a:extLst>
          </p:cNvPr>
          <p:cNvSpPr/>
          <p:nvPr/>
        </p:nvSpPr>
        <p:spPr>
          <a:xfrm>
            <a:off x="-1" y="747133"/>
            <a:ext cx="10688715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002060"/>
                </a:solidFill>
                <a:latin typeface="Söhne"/>
              </a:rPr>
              <a:t>Fundamentos de la calidad de software: </a:t>
            </a:r>
            <a:r>
              <a:rPr lang="es-CO" b="1" dirty="0">
                <a:solidFill>
                  <a:srgbClr val="C00000"/>
                </a:solidFill>
                <a:latin typeface="Söhne"/>
              </a:rPr>
              <a:t>Caso de estudio 4</a:t>
            </a:r>
            <a:endParaRPr lang="es-CO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1280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4529</Words>
  <Application>Microsoft Office PowerPoint</Application>
  <PresentationFormat>Panorámica</PresentationFormat>
  <Paragraphs>498</Paragraphs>
  <Slides>31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Century Gothic</vt:lpstr>
      <vt:lpstr>Söhne</vt:lpstr>
      <vt:lpstr>Wingdings</vt:lpstr>
      <vt:lpstr>Tema de Office</vt:lpstr>
      <vt:lpstr>Presentación de PowerPoint</vt:lpstr>
      <vt:lpstr>TEMARIO: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42</cp:revision>
  <dcterms:created xsi:type="dcterms:W3CDTF">2024-01-22T15:06:30Z</dcterms:created>
  <dcterms:modified xsi:type="dcterms:W3CDTF">2026-07-16T23:33:12Z</dcterms:modified>
</cp:coreProperties>
</file>