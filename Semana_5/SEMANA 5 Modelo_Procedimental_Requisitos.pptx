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9" r:id="rId3"/>
    <p:sldId id="331" r:id="rId4"/>
    <p:sldId id="290" r:id="rId5"/>
    <p:sldId id="270" r:id="rId6"/>
    <p:sldId id="282" r:id="rId7"/>
    <p:sldId id="283" r:id="rId8"/>
    <p:sldId id="284" r:id="rId9"/>
    <p:sldId id="286" r:id="rId10"/>
    <p:sldId id="271" r:id="rId11"/>
    <p:sldId id="287" r:id="rId12"/>
    <p:sldId id="288" r:id="rId13"/>
    <p:sldId id="293" r:id="rId14"/>
    <p:sldId id="307" r:id="rId15"/>
    <p:sldId id="308" r:id="rId16"/>
    <p:sldId id="289" r:id="rId17"/>
    <p:sldId id="272" r:id="rId18"/>
    <p:sldId id="309" r:id="rId19"/>
    <p:sldId id="310" r:id="rId20"/>
    <p:sldId id="294" r:id="rId21"/>
    <p:sldId id="273" r:id="rId22"/>
    <p:sldId id="311" r:id="rId23"/>
    <p:sldId id="318" r:id="rId24"/>
    <p:sldId id="312" r:id="rId25"/>
    <p:sldId id="319" r:id="rId26"/>
    <p:sldId id="313" r:id="rId27"/>
    <p:sldId id="320" r:id="rId28"/>
    <p:sldId id="295" r:id="rId29"/>
    <p:sldId id="274" r:id="rId30"/>
    <p:sldId id="314" r:id="rId31"/>
    <p:sldId id="316" r:id="rId32"/>
    <p:sldId id="315" r:id="rId33"/>
    <p:sldId id="317" r:id="rId34"/>
    <p:sldId id="296" r:id="rId35"/>
    <p:sldId id="275" r:id="rId36"/>
    <p:sldId id="321" r:id="rId37"/>
    <p:sldId id="323" r:id="rId38"/>
    <p:sldId id="322" r:id="rId39"/>
    <p:sldId id="324" r:id="rId40"/>
    <p:sldId id="297" r:id="rId41"/>
    <p:sldId id="276" r:id="rId42"/>
    <p:sldId id="325" r:id="rId43"/>
    <p:sldId id="327" r:id="rId44"/>
    <p:sldId id="326" r:id="rId45"/>
    <p:sldId id="328" r:id="rId46"/>
    <p:sldId id="298" r:id="rId47"/>
    <p:sldId id="277" r:id="rId48"/>
    <p:sldId id="329" r:id="rId49"/>
    <p:sldId id="330" r:id="rId50"/>
    <p:sldId id="278" r:id="rId51"/>
    <p:sldId id="279" r:id="rId52"/>
    <p:sldId id="280" r:id="rId5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EFD"/>
    <a:srgbClr val="B8F6FE"/>
    <a:srgbClr val="FFFFFF"/>
    <a:srgbClr val="007A37"/>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45D28-35B6-8042-98E8-A2DB3305423D}" v="6" dt="2024-03-01T21:35:48.99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6374" autoAdjust="0"/>
  </p:normalViewPr>
  <p:slideViewPr>
    <p:cSldViewPr snapToGrid="0">
      <p:cViewPr varScale="1">
        <p:scale>
          <a:sx n="97" d="100"/>
          <a:sy n="97" d="100"/>
        </p:scale>
        <p:origin x="108" y="384"/>
      </p:cViewPr>
      <p:guideLst/>
    </p:cSldViewPr>
  </p:slideViewPr>
  <p:notesTextViewPr>
    <p:cViewPr>
      <p:scale>
        <a:sx n="1" d="1"/>
        <a:sy n="1" d="1"/>
      </p:scale>
      <p:origin x="0" y="0"/>
    </p:cViewPr>
  </p:notesTextViewPr>
  <p:sorterViewPr>
    <p:cViewPr>
      <p:scale>
        <a:sx n="130" d="100"/>
        <a:sy n="130" d="100"/>
      </p:scale>
      <p:origin x="0" y="-1024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5C25A-EB36-47A0-9FD7-DE8450ACEFF0}" type="datetimeFigureOut">
              <a:rPr lang="es-CO" smtClean="0"/>
              <a:t>7/06/2026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C55DB-397F-4AC6-8647-D1E20B065C4D}" type="slidenum">
              <a:rPr lang="es-CO" smtClean="0"/>
              <a:t>‹Nº›</a:t>
            </a:fld>
            <a:endParaRPr lang="es-CO"/>
          </a:p>
        </p:txBody>
      </p:sp>
    </p:spTree>
    <p:extLst>
      <p:ext uri="{BB962C8B-B14F-4D97-AF65-F5344CB8AC3E}">
        <p14:creationId xmlns:p14="http://schemas.microsoft.com/office/powerpoint/2010/main" val="125371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02CA4-C192-8B80-83B1-6DF31E1D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AEEFF-19FB-DA42-3613-B548E644F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2CD24-91E0-6BA7-5E51-BAEAE1BBF4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12F0D-A0B6-0D61-DC72-E86E8618536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996620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FE6465-9E2C-F7D1-1025-017C427D60B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12FCAB6-F63E-EA0F-01F2-8E3E1C2B7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99D3401-411E-EE18-DCDF-19B6CD4F8413}"/>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18F1AF5F-7707-9BBB-28C2-ECB54EF253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A4DE97-7E1B-9F6C-1FEE-5248F845732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00522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38F18-1C0B-0749-058E-1B0E686BC5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E53D8DE-7C2E-BD97-A2AA-88F4EE1D14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241F956-2A51-B46A-6C84-292248ABCBC8}"/>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3987A6C4-FA66-E3C7-C032-D85598F3E1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C0D02B-4304-EE2A-7E8C-0B375B0E798F}"/>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518678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2CDD2-34BE-1894-DA03-D379832127A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FCB16E9-FD19-12B7-D1BA-245A60284C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DC213C5-1FA3-FA2A-3678-2ADA22CC3EC3}"/>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C45E7D18-5809-0535-9B55-5867923310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40B6F2-CB20-8B3A-9673-FAA2CDC1DCA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344739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0887D-BAD9-E85D-38D1-19C82452DAD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0A55F1D-7973-0849-FAC7-2ED08D995CA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21175A7-F5D8-ADBE-35ED-2EA07ECACD7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55B74CC-3C64-9425-489C-24DB5B4923DB}"/>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6" name="Marcador de pie de página 5">
            <a:extLst>
              <a:ext uri="{FF2B5EF4-FFF2-40B4-BE49-F238E27FC236}">
                <a16:creationId xmlns:a16="http://schemas.microsoft.com/office/drawing/2014/main" id="{0949404E-8840-6F19-6ECE-CBDEE7D3B7B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467B64-DB77-85DF-90EC-68DC705D5571}"/>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8151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812DA-5830-C2DA-FEC4-9F93505A585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C15237-094B-515A-A77F-0F30C24DE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199354-1A5B-0CF0-3712-B0B77DEA31F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B310BE-BFEF-A116-C85B-AC716031C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A1E757-3A71-28BB-8A9E-ECEA14D187A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BF01BB1-AD86-2BA0-55E8-8951173DFEE5}"/>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8" name="Marcador de pie de página 7">
            <a:extLst>
              <a:ext uri="{FF2B5EF4-FFF2-40B4-BE49-F238E27FC236}">
                <a16:creationId xmlns:a16="http://schemas.microsoft.com/office/drawing/2014/main" id="{E514BB14-7FDE-B22B-DBE5-F68508CF3E8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4445680-3080-CA10-7F3C-A949E505D29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10776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9DD37-5352-2F73-3A29-4538B3E97BA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B8BDF24-B2D4-B274-E41E-B863DADA0D3C}"/>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4" name="Marcador de pie de página 3">
            <a:extLst>
              <a:ext uri="{FF2B5EF4-FFF2-40B4-BE49-F238E27FC236}">
                <a16:creationId xmlns:a16="http://schemas.microsoft.com/office/drawing/2014/main" id="{BDFFC90A-39FD-B1DE-A6E9-4C076C92E9A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9F9A598-81CC-A97C-4ED5-351CC2B2BE0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1485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D21982-7EB1-D639-9FE6-2ED2E1E5B915}"/>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3" name="Marcador de pie de página 2">
            <a:extLst>
              <a:ext uri="{FF2B5EF4-FFF2-40B4-BE49-F238E27FC236}">
                <a16:creationId xmlns:a16="http://schemas.microsoft.com/office/drawing/2014/main" id="{CB4BA5B4-1ACB-A6E1-8153-F6017EC0892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D3346AA-BB89-908E-34AC-B5C0BB4FD7D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9165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E547-B4C9-54C6-166C-68F57B52C0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505AAA1-ED18-5D90-54DF-27F28CDEB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DAB449D-32A1-2028-FDD4-838932A96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E5BA6E-6660-0920-EEC0-2CE2AA83518E}"/>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6" name="Marcador de pie de página 5">
            <a:extLst>
              <a:ext uri="{FF2B5EF4-FFF2-40B4-BE49-F238E27FC236}">
                <a16:creationId xmlns:a16="http://schemas.microsoft.com/office/drawing/2014/main" id="{00B30D8E-B087-EA02-03E2-521DFA4911A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5C3B8D4-7896-270C-F6AB-532E0B8BEF57}"/>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8540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AE17D-485A-ECB9-B3CF-28BF2EEDC97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86ACA8F-B1F8-B561-1D8A-F688DA253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CE67B78-E7A8-5297-69F2-9F2F3E2F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791531-116A-C123-A7D4-1AB359D94BEB}"/>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6" name="Marcador de pie de página 5">
            <a:extLst>
              <a:ext uri="{FF2B5EF4-FFF2-40B4-BE49-F238E27FC236}">
                <a16:creationId xmlns:a16="http://schemas.microsoft.com/office/drawing/2014/main" id="{8E162658-4EB8-E7B1-D7CD-832BF8532B0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1D045AE-C0E6-8B3A-974C-D535A28130B6}"/>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69345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68E0A-C617-9494-7FAF-EE98EDB3E7C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3F01092-4D79-7865-173C-3380705A57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FB4A24B-2361-24B8-088C-8A82963BEF81}"/>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F4B4E638-2A05-64BB-86B6-F7A751FAA3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6CA604-5EC2-B4B2-BCDA-A72C5B4B9B9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0289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8B9AF1-B843-BB83-C453-61FDF2F92C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F26157F-1794-7926-228C-B16FC0F9725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04E3A9-CC90-9107-B985-908B92FF6019}"/>
              </a:ext>
            </a:extLst>
          </p:cNvPr>
          <p:cNvSpPr>
            <a:spLocks noGrp="1"/>
          </p:cNvSpPr>
          <p:nvPr>
            <p:ph type="dt" sz="half" idx="10"/>
          </p:nvPr>
        </p:nvSpPr>
        <p:spPr/>
        <p:txBody>
          <a:body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2DEB48AE-EC58-2E10-FC72-45F6A53E4AA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2C0554D-9DB8-83AA-D250-A01E05DD562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9948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C8005C-7059-394A-5A7F-ADC560A00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81F0D5C-0C3B-8E6D-BFE1-56159D559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5E041F9-8DD3-E69E-92E5-4B036E7F04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508EDE-BAAD-1743-A60D-6B891320FA45}" type="datetimeFigureOut">
              <a:rPr lang="es-CO" smtClean="0"/>
              <a:t>7/06/2026</a:t>
            </a:fld>
            <a:endParaRPr lang="es-CO"/>
          </a:p>
        </p:txBody>
      </p:sp>
      <p:sp>
        <p:nvSpPr>
          <p:cNvPr id="5" name="Marcador de pie de página 4">
            <a:extLst>
              <a:ext uri="{FF2B5EF4-FFF2-40B4-BE49-F238E27FC236}">
                <a16:creationId xmlns:a16="http://schemas.microsoft.com/office/drawing/2014/main" id="{83B60668-6D85-2862-B828-AA14A716B8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0B7542E-F1B7-7AC5-E112-1617942BE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A12EED-67C1-B54C-BDC1-C9887C8F6E96}" type="slidenum">
              <a:rPr lang="es-CO" smtClean="0"/>
              <a:t>‹Nº›</a:t>
            </a:fld>
            <a:endParaRPr lang="es-CO"/>
          </a:p>
        </p:txBody>
      </p:sp>
    </p:spTree>
    <p:extLst>
      <p:ext uri="{BB962C8B-B14F-4D97-AF65-F5344CB8AC3E}">
        <p14:creationId xmlns:p14="http://schemas.microsoft.com/office/powerpoint/2010/main" val="3811630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r>
              <a:rPr lang="es-CO" sz="3200" dirty="0">
                <a:solidFill>
                  <a:schemeClr val="bg1"/>
                </a:solidFill>
                <a:latin typeface="Century Gothic" panose="020B0502020202020204" pitchFamily="34" charset="0"/>
              </a:rPr>
              <a:t>Técnicas de gestión de la calidad</a:t>
            </a:r>
            <a:endParaRPr lang="es-MX" sz="3200" dirty="0">
              <a:solidFill>
                <a:schemeClr val="bg1"/>
              </a:solidFill>
              <a:latin typeface="Century Gothic" panose="020B0502020202020204" pitchFamily="34" charset="0"/>
            </a:endParaRPr>
          </a:p>
          <a:p>
            <a:r>
              <a:rPr lang="es-MX" sz="2800" b="1" dirty="0">
                <a:solidFill>
                  <a:srgbClr val="7BEEFD"/>
                </a:solidFill>
                <a:latin typeface="Century Gothic" panose="020B0502020202020204" pitchFamily="34" charset="0"/>
              </a:rPr>
              <a:t>Semana 5</a:t>
            </a:r>
          </a:p>
          <a:p>
            <a:endParaRPr lang="es-MX" sz="3200" dirty="0">
              <a:solidFill>
                <a:schemeClr val="bg1"/>
              </a:solidFill>
              <a:latin typeface="Century Gothic" panose="020B0502020202020204" pitchFamily="34" charset="0"/>
            </a:endParaRPr>
          </a:p>
        </p:txBody>
      </p:sp>
      <p:sp>
        <p:nvSpPr>
          <p:cNvPr id="3" name="CuadroTexto 2">
            <a:extLst>
              <a:ext uri="{FF2B5EF4-FFF2-40B4-BE49-F238E27FC236}">
                <a16:creationId xmlns:a16="http://schemas.microsoft.com/office/drawing/2014/main" id="{5F3E6BE4-7154-2DBB-20C3-ECAD809310C4}"/>
              </a:ext>
            </a:extLst>
          </p:cNvPr>
          <p:cNvSpPr txBox="1"/>
          <p:nvPr/>
        </p:nvSpPr>
        <p:spPr>
          <a:xfrm>
            <a:off x="3439125" y="422961"/>
            <a:ext cx="7746740" cy="830997"/>
          </a:xfrm>
          <a:prstGeom prst="rect">
            <a:avLst/>
          </a:prstGeom>
          <a:noFill/>
        </p:spPr>
        <p:txBody>
          <a:bodyPr wrap="square">
            <a:spAutoFit/>
          </a:bodyPr>
          <a:lstStyle/>
          <a:p>
            <a:pPr algn="l">
              <a:buNone/>
            </a:pPr>
            <a:r>
              <a:rPr lang="es-CO" sz="2400" dirty="0">
                <a:solidFill>
                  <a:schemeClr val="bg1"/>
                </a:solidFill>
                <a:latin typeface="Century Gothic" panose="020B0502020202020204" pitchFamily="34" charset="0"/>
              </a:rPr>
              <a:t>Estándares y Métricas de Calidad en el Desarrollo de Software</a:t>
            </a:r>
          </a:p>
        </p:txBody>
      </p:sp>
      <p:sp>
        <p:nvSpPr>
          <p:cNvPr id="5" name="CuadroTexto 4">
            <a:extLst>
              <a:ext uri="{FF2B5EF4-FFF2-40B4-BE49-F238E27FC236}">
                <a16:creationId xmlns:a16="http://schemas.microsoft.com/office/drawing/2014/main" id="{09AA4F8B-7A10-A7C0-4552-A2CE6F7EFDFF}"/>
              </a:ext>
            </a:extLst>
          </p:cNvPr>
          <p:cNvSpPr txBox="1"/>
          <p:nvPr/>
        </p:nvSpPr>
        <p:spPr>
          <a:xfrm>
            <a:off x="218734" y="4934707"/>
            <a:ext cx="7746740" cy="1261884"/>
          </a:xfrm>
          <a:prstGeom prst="rect">
            <a:avLst/>
          </a:prstGeom>
          <a:noFill/>
        </p:spPr>
        <p:txBody>
          <a:bodyPr wrap="square">
            <a:spAutoFit/>
          </a:bodyPr>
          <a:lstStyle/>
          <a:p>
            <a:pPr algn="l">
              <a:buNone/>
            </a:pPr>
            <a:r>
              <a:rPr lang="es-CO" sz="2800" b="1" dirty="0">
                <a:solidFill>
                  <a:srgbClr val="7BEEFD"/>
                </a:solidFill>
                <a:latin typeface="Century Gothic" panose="020B0502020202020204" pitchFamily="34" charset="0"/>
              </a:rPr>
              <a:t>Resultados de aprendizaje:</a:t>
            </a:r>
          </a:p>
          <a:p>
            <a:pPr marL="342900" indent="-342900">
              <a:buFont typeface="Wingdings" panose="05000000000000000000" pitchFamily="2" charset="2"/>
              <a:buChar char="ü"/>
            </a:pPr>
            <a:r>
              <a:rPr lang="es-CO" sz="2400" dirty="0">
                <a:solidFill>
                  <a:schemeClr val="bg1"/>
                </a:solidFill>
                <a:latin typeface="Century Gothic" panose="020B0502020202020204" pitchFamily="34" charset="0"/>
              </a:rPr>
              <a:t>Realiza la especificación del software.</a:t>
            </a:r>
          </a:p>
          <a:p>
            <a:pPr marL="342900" indent="-342900">
              <a:buFont typeface="Wingdings" panose="05000000000000000000" pitchFamily="2" charset="2"/>
              <a:buChar char="ü"/>
            </a:pPr>
            <a:r>
              <a:rPr lang="es-CO" sz="2400" dirty="0">
                <a:solidFill>
                  <a:schemeClr val="bg1"/>
                </a:solidFill>
                <a:latin typeface="Century Gothic" panose="020B0502020202020204" pitchFamily="34" charset="0"/>
              </a:rPr>
              <a:t>Identifica los requisitos de calidad del software</a:t>
            </a:r>
          </a:p>
        </p:txBody>
      </p:sp>
    </p:spTree>
    <p:extLst>
      <p:ext uri="{BB962C8B-B14F-4D97-AF65-F5344CB8AC3E}">
        <p14:creationId xmlns:p14="http://schemas.microsoft.com/office/powerpoint/2010/main" val="128420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626392" y="2428432"/>
            <a:ext cx="10038498" cy="1120820"/>
          </a:xfrm>
          <a:prstGeom prst="rect">
            <a:avLst/>
          </a:prstGeom>
        </p:spPr>
        <p:txBody>
          <a:bodyPr vert="horz" wrap="square" lIns="0" tIns="12700" rIns="0" bIns="0" rtlCol="0">
            <a:spAutoFit/>
          </a:bodyPr>
          <a:lstStyle/>
          <a:p>
            <a:pPr marL="12700" algn="ctr">
              <a:lnSpc>
                <a:spcPct val="100000"/>
              </a:lnSpc>
            </a:pPr>
            <a:r>
              <a:rPr lang="es-MX" sz="3600" b="1" spc="-10" dirty="0">
                <a:solidFill>
                  <a:srgbClr val="003366"/>
                </a:solidFill>
                <a:latin typeface="Calibri"/>
              </a:rPr>
              <a:t>Modelo Procedimental para la Especificación de Requisitos</a:t>
            </a:r>
            <a:endParaRPr lang="es-CO" sz="3600" b="1" spc="-10" dirty="0">
              <a:solidFill>
                <a:srgbClr val="0033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01478-A123-FE4B-58DC-5B962ACF2B8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A032E816-CE82-BCFE-32F2-D6ACED9EA975}"/>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D14D72DD-9E41-9833-DFAC-27626CC89D73}"/>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Contenido</a:t>
            </a:r>
          </a:p>
        </p:txBody>
      </p:sp>
      <p:sp>
        <p:nvSpPr>
          <p:cNvPr id="7" name="Content">
            <a:extLst>
              <a:ext uri="{FF2B5EF4-FFF2-40B4-BE49-F238E27FC236}">
                <a16:creationId xmlns:a16="http://schemas.microsoft.com/office/drawing/2014/main" id="{5D2C44AB-6EB4-6579-64B1-B96115377BEA}"/>
              </a:ext>
            </a:extLst>
          </p:cNvPr>
          <p:cNvSpPr/>
          <p:nvPr/>
        </p:nvSpPr>
        <p:spPr>
          <a:xfrm>
            <a:off x="419100" y="1701800"/>
            <a:ext cx="5461000" cy="3949700"/>
          </a:xfrm>
          <a:prstGeom prst="rect">
            <a:avLst/>
          </a:prstGeom>
        </p:spPr>
        <p:txBody>
          <a:bodyPr wrap="square" anchor="t"/>
          <a:lstStyle/>
          <a:p>
            <a:pPr marL="285750" lvl="0" indent="-285750">
              <a:lnSpc>
                <a:spcPct val="104000"/>
              </a:lnSpc>
              <a:spcAft>
                <a:spcPts val="500"/>
              </a:spcAft>
              <a:buFont typeface="+mj-lt"/>
              <a:buAutoNum type="arabicPeriod"/>
            </a:pPr>
            <a:r>
              <a:rPr lang="es-CO" sz="1300" b="1" dirty="0">
                <a:solidFill>
                  <a:srgbClr val="003366"/>
                </a:solidFill>
                <a:latin typeface="Calibri"/>
              </a:rPr>
              <a:t>Definición del Contexto de Uso y Aplicación del Software</a:t>
            </a:r>
          </a:p>
          <a:p>
            <a:pPr marL="514350" lvl="1" indent="-171450">
              <a:lnSpc>
                <a:spcPct val="102000"/>
              </a:lnSpc>
              <a:spcAft>
                <a:spcPts val="200"/>
              </a:spcAft>
              <a:buFont typeface="Arial"/>
              <a:buChar char="–"/>
            </a:pPr>
            <a:r>
              <a:rPr lang="es-CO" sz="1050" dirty="0">
                <a:solidFill>
                  <a:srgbClr val="404040"/>
                </a:solidFill>
                <a:latin typeface="Calibri"/>
              </a:rPr>
              <a:t>Escenarios y estereotipos de usuario</a:t>
            </a:r>
          </a:p>
          <a:p>
            <a:pPr marL="514350" lvl="1" indent="-171450">
              <a:lnSpc>
                <a:spcPct val="102000"/>
              </a:lnSpc>
              <a:spcAft>
                <a:spcPts val="200"/>
              </a:spcAft>
              <a:buFont typeface="Arial"/>
              <a:buChar char="–"/>
            </a:pPr>
            <a:r>
              <a:rPr lang="es-CO" sz="1050" dirty="0">
                <a:solidFill>
                  <a:srgbClr val="404040"/>
                </a:solidFill>
                <a:latin typeface="Calibri"/>
              </a:rPr>
              <a:t>Acta de definición de objetivos</a:t>
            </a:r>
          </a:p>
          <a:p>
            <a:pPr marL="285750" lvl="0" indent="-285750">
              <a:lnSpc>
                <a:spcPct val="104000"/>
              </a:lnSpc>
              <a:spcAft>
                <a:spcPts val="500"/>
              </a:spcAft>
              <a:buFont typeface="+mj-lt"/>
              <a:buAutoNum type="arabicPeriod" startAt="2"/>
            </a:pPr>
            <a:r>
              <a:rPr lang="es-CO" sz="1300" b="1" dirty="0">
                <a:solidFill>
                  <a:srgbClr val="003366"/>
                </a:solidFill>
                <a:latin typeface="Calibri"/>
              </a:rPr>
              <a:t>Identificación y Registro de Stakeholders</a:t>
            </a:r>
          </a:p>
          <a:p>
            <a:pPr marL="514350" lvl="1" indent="-171450">
              <a:lnSpc>
                <a:spcPct val="102000"/>
              </a:lnSpc>
              <a:spcAft>
                <a:spcPts val="200"/>
              </a:spcAft>
              <a:buFont typeface="Arial"/>
              <a:buChar char="–"/>
            </a:pPr>
            <a:r>
              <a:rPr lang="es-CO" sz="1050" dirty="0">
                <a:solidFill>
                  <a:srgbClr val="404040"/>
                </a:solidFill>
                <a:latin typeface="Calibri"/>
              </a:rPr>
              <a:t>Tabla de stakeholders y relación operativa</a:t>
            </a:r>
          </a:p>
          <a:p>
            <a:pPr marL="285750" lvl="0" indent="-285750">
              <a:lnSpc>
                <a:spcPct val="104000"/>
              </a:lnSpc>
              <a:spcAft>
                <a:spcPts val="500"/>
              </a:spcAft>
              <a:buFont typeface="+mj-lt"/>
              <a:buAutoNum type="arabicPeriod" startAt="3"/>
            </a:pPr>
            <a:r>
              <a:rPr lang="es-CO" sz="1300" b="1" dirty="0">
                <a:solidFill>
                  <a:srgbClr val="003366"/>
                </a:solidFill>
                <a:latin typeface="Calibri"/>
              </a:rPr>
              <a:t>Construcción de la Matriz Usuario-Escenario (Educción — Preparación)</a:t>
            </a:r>
          </a:p>
          <a:p>
            <a:pPr marL="514350" lvl="1" indent="-171450">
              <a:lnSpc>
                <a:spcPct val="102000"/>
              </a:lnSpc>
              <a:spcAft>
                <a:spcPts val="200"/>
              </a:spcAft>
              <a:buFont typeface="Arial"/>
              <a:buChar char="–"/>
            </a:pPr>
            <a:r>
              <a:rPr lang="es-CO" sz="1050" dirty="0">
                <a:solidFill>
                  <a:srgbClr val="404040"/>
                </a:solidFill>
                <a:latin typeface="Calibri"/>
              </a:rPr>
              <a:t>Matrices Usuario × Escenario y Objetivo × Escenario</a:t>
            </a:r>
          </a:p>
          <a:p>
            <a:pPr marL="285750" lvl="0" indent="-285750">
              <a:lnSpc>
                <a:spcPct val="104000"/>
              </a:lnSpc>
              <a:spcAft>
                <a:spcPts val="500"/>
              </a:spcAft>
              <a:buFont typeface="+mj-lt"/>
              <a:buAutoNum type="arabicPeriod" startAt="4"/>
            </a:pPr>
            <a:r>
              <a:rPr lang="es-CO" sz="1300" b="1" dirty="0">
                <a:solidFill>
                  <a:srgbClr val="003366"/>
                </a:solidFill>
                <a:latin typeface="Calibri"/>
              </a:rPr>
              <a:t>Diseño y Aplicación de Instrumentos de Entrevista (Educción — Captura)</a:t>
            </a:r>
          </a:p>
          <a:p>
            <a:pPr marL="514350" lvl="1" indent="-171450">
              <a:lnSpc>
                <a:spcPct val="102000"/>
              </a:lnSpc>
              <a:spcAft>
                <a:spcPts val="200"/>
              </a:spcAft>
              <a:buFont typeface="Arial"/>
              <a:buChar char="–"/>
            </a:pPr>
            <a:r>
              <a:rPr lang="es-CO" sz="1050" dirty="0">
                <a:solidFill>
                  <a:srgbClr val="404040"/>
                </a:solidFill>
                <a:latin typeface="Calibri"/>
              </a:rPr>
              <a:t>Fichas de entrevista y listas de chequeo</a:t>
            </a:r>
          </a:p>
          <a:p>
            <a:pPr marL="285750" lvl="0" indent="-285750">
              <a:lnSpc>
                <a:spcPct val="104000"/>
              </a:lnSpc>
              <a:spcAft>
                <a:spcPts val="500"/>
              </a:spcAft>
              <a:buFont typeface="+mj-lt"/>
              <a:buAutoNum type="arabicPeriod" startAt="5"/>
            </a:pPr>
            <a:r>
              <a:rPr lang="es-CO" sz="1300" b="1" dirty="0">
                <a:solidFill>
                  <a:srgbClr val="003366"/>
                </a:solidFill>
                <a:latin typeface="Calibri"/>
              </a:rPr>
              <a:t>Consolidación y Validación mediante Actas de Entrevista (Educción — Cierre)</a:t>
            </a:r>
          </a:p>
          <a:p>
            <a:pPr marL="514350" lvl="1" indent="-171450">
              <a:lnSpc>
                <a:spcPct val="102000"/>
              </a:lnSpc>
              <a:spcAft>
                <a:spcPts val="200"/>
              </a:spcAft>
              <a:buFont typeface="Arial"/>
              <a:buChar char="–"/>
            </a:pPr>
            <a:r>
              <a:rPr lang="es-CO" sz="1050" dirty="0">
                <a:solidFill>
                  <a:srgbClr val="404040"/>
                </a:solidFill>
                <a:latin typeface="Calibri"/>
              </a:rPr>
              <a:t>Registro consolidado y actas validadas</a:t>
            </a:r>
          </a:p>
        </p:txBody>
      </p:sp>
      <p:sp>
        <p:nvSpPr>
          <p:cNvPr id="77" name="Content Right">
            <a:extLst>
              <a:ext uri="{FF2B5EF4-FFF2-40B4-BE49-F238E27FC236}">
                <a16:creationId xmlns:a16="http://schemas.microsoft.com/office/drawing/2014/main" id="{5D2C44AB-6EB4-6579-64B1-B96115377BEA}"/>
              </a:ext>
            </a:extLst>
          </p:cNvPr>
          <p:cNvSpPr/>
          <p:nvPr/>
        </p:nvSpPr>
        <p:spPr>
          <a:xfrm>
            <a:off x="6070600" y="1701800"/>
            <a:ext cx="5562600" cy="3949700"/>
          </a:xfrm>
          <a:prstGeom prst="rect">
            <a:avLst/>
          </a:prstGeom>
        </p:spPr>
        <p:txBody>
          <a:bodyPr wrap="square" anchor="t"/>
          <a:lstStyle/>
          <a:p>
            <a:pPr marL="285750" lvl="0" indent="-285750">
              <a:lnSpc>
                <a:spcPct val="104000"/>
              </a:lnSpc>
              <a:spcAft>
                <a:spcPts val="500"/>
              </a:spcAft>
              <a:buFont typeface="+mj-lt"/>
              <a:buAutoNum type="arabicPeriod" startAt="6"/>
            </a:pPr>
            <a:r>
              <a:rPr lang="es-CO" sz="1300" b="1" dirty="0">
                <a:solidFill>
                  <a:srgbClr val="003366"/>
                </a:solidFill>
                <a:latin typeface="Calibri"/>
              </a:rPr>
              <a:t>Análisis, Agrupación y Caracterización de Escenarios (Elicitación)</a:t>
            </a:r>
          </a:p>
          <a:p>
            <a:pPr marL="514350" lvl="1" indent="-171450">
              <a:lnSpc>
                <a:spcPct val="102000"/>
              </a:lnSpc>
              <a:spcAft>
                <a:spcPts val="200"/>
              </a:spcAft>
              <a:buFont typeface="Arial"/>
              <a:buChar char="–"/>
            </a:pPr>
            <a:r>
              <a:rPr lang="es-CO" sz="1050" dirty="0">
                <a:solidFill>
                  <a:srgbClr val="404040"/>
                </a:solidFill>
                <a:latin typeface="Calibri"/>
              </a:rPr>
              <a:t>Fichas de caracterización y análisis de calidad</a:t>
            </a:r>
          </a:p>
          <a:p>
            <a:pPr marL="285750" lvl="0" indent="-285750">
              <a:lnSpc>
                <a:spcPct val="104000"/>
              </a:lnSpc>
              <a:spcAft>
                <a:spcPts val="500"/>
              </a:spcAft>
              <a:buFont typeface="+mj-lt"/>
              <a:buAutoNum type="arabicPeriod" startAt="7"/>
            </a:pPr>
            <a:r>
              <a:rPr lang="es-CO" sz="1300" b="1" dirty="0">
                <a:solidFill>
                  <a:srgbClr val="003366"/>
                </a:solidFill>
                <a:latin typeface="Calibri"/>
              </a:rPr>
              <a:t>Elaboración del Catálogo de Requisitos Funcionales (Especificación — Inventario)</a:t>
            </a:r>
          </a:p>
          <a:p>
            <a:pPr marL="514350" lvl="1" indent="-171450">
              <a:lnSpc>
                <a:spcPct val="102000"/>
              </a:lnSpc>
              <a:spcAft>
                <a:spcPts val="200"/>
              </a:spcAft>
              <a:buFont typeface="Arial"/>
              <a:buChar char="–"/>
            </a:pPr>
            <a:r>
              <a:rPr lang="es-CO" sz="1050" dirty="0">
                <a:solidFill>
                  <a:srgbClr val="404040"/>
                </a:solidFill>
                <a:latin typeface="Calibri"/>
              </a:rPr>
              <a:t>Catálogo, métricas y versionalidad</a:t>
            </a:r>
          </a:p>
          <a:p>
            <a:pPr marL="285750" lvl="0" indent="-285750">
              <a:lnSpc>
                <a:spcPct val="104000"/>
              </a:lnSpc>
              <a:spcAft>
                <a:spcPts val="500"/>
              </a:spcAft>
              <a:buFont typeface="+mj-lt"/>
              <a:buAutoNum type="arabicPeriod" startAt="8"/>
            </a:pPr>
            <a:r>
              <a:rPr lang="es-CO" sz="1300" b="1" dirty="0">
                <a:solidFill>
                  <a:srgbClr val="003366"/>
                </a:solidFill>
                <a:latin typeface="Calibri"/>
              </a:rPr>
              <a:t>Especificación Detallada de Requisitos Funcionales (Especificación — Formalización)</a:t>
            </a:r>
          </a:p>
          <a:p>
            <a:pPr marL="514350" lvl="1" indent="-171450">
              <a:lnSpc>
                <a:spcPct val="102000"/>
              </a:lnSpc>
              <a:spcAft>
                <a:spcPts val="200"/>
              </a:spcAft>
              <a:buFont typeface="Arial"/>
              <a:buChar char="–"/>
            </a:pPr>
            <a:r>
              <a:rPr lang="es-CO" sz="1050" dirty="0">
                <a:solidFill>
                  <a:srgbClr val="404040"/>
                </a:solidFill>
                <a:latin typeface="Calibri"/>
              </a:rPr>
              <a:t>Fichas SRS de requisitos funcionales</a:t>
            </a:r>
          </a:p>
          <a:p>
            <a:pPr marL="285750" lvl="0" indent="-285750">
              <a:lnSpc>
                <a:spcPct val="104000"/>
              </a:lnSpc>
              <a:spcAft>
                <a:spcPts val="500"/>
              </a:spcAft>
              <a:buFont typeface="+mj-lt"/>
              <a:buAutoNum type="arabicPeriod" startAt="9"/>
            </a:pPr>
            <a:r>
              <a:rPr lang="es-CO" sz="1300" b="1" dirty="0">
                <a:solidFill>
                  <a:srgbClr val="003366"/>
                </a:solidFill>
                <a:latin typeface="Calibri"/>
              </a:rPr>
              <a:t>Criterios de Calidad Medibles por Paso (ISO/IEC 25010 · IEEE-830)</a:t>
            </a:r>
          </a:p>
          <a:p>
            <a:pPr marL="285750" lvl="0" indent="-285750">
              <a:lnSpc>
                <a:spcPct val="104000"/>
              </a:lnSpc>
              <a:spcAft>
                <a:spcPts val="500"/>
              </a:spcAft>
              <a:buFont typeface="+mj-lt"/>
              <a:buAutoNum type="arabicPeriod" startAt="10"/>
            </a:pPr>
            <a:r>
              <a:rPr lang="es-CO" sz="1300" b="1" dirty="0">
                <a:solidFill>
                  <a:srgbClr val="003366"/>
                </a:solidFill>
                <a:latin typeface="Calibri"/>
              </a:rPr>
              <a:t>Conclusiones</a:t>
            </a:r>
          </a:p>
        </p:txBody>
      </p:sp>
    </p:spTree>
    <p:extLst>
      <p:ext uri="{BB962C8B-B14F-4D97-AF65-F5344CB8AC3E}">
        <p14:creationId xmlns:p14="http://schemas.microsoft.com/office/powerpoint/2010/main" val="1981586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2A5C72E-7D60-9AE1-B7FF-019714A3B99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5E5E3A3-B1AC-232E-21B5-F38DF4507048}"/>
              </a:ext>
            </a:extLst>
          </p:cNvPr>
          <p:cNvSpPr txBox="1"/>
          <p:nvPr/>
        </p:nvSpPr>
        <p:spPr>
          <a:xfrm>
            <a:off x="218734" y="3166762"/>
            <a:ext cx="10967131" cy="200054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1 — </a:t>
            </a:r>
            <a:r>
              <a:rPr lang="es-CO" sz="3200" dirty="0">
                <a:solidFill>
                  <a:prstClr val="white"/>
                </a:solidFill>
                <a:latin typeface="Century Gothic" panose="020B0502020202020204" pitchFamily="34" charset="0"/>
              </a:rPr>
              <a:t>Definición del contexto de uso y propósito del software</a:t>
            </a:r>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972650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1 — Definición del Contexto de Uso y Propósito del Software</a:t>
            </a:r>
          </a:p>
        </p:txBody>
      </p:sp>
      <p:sp>
        <p:nvSpPr>
          <p:cNvPr id="7" name="Content"/>
          <p:cNvSpPr/>
          <p:nvPr/>
        </p:nvSpPr>
        <p:spPr>
          <a:xfrm>
            <a:off x="421004" y="1600000"/>
            <a:ext cx="11210866" cy="4265962"/>
          </a:xfrm>
          <a:prstGeom prst="rect">
            <a:avLst/>
          </a:prstGeom>
        </p:spPr>
        <p:txBody>
          <a:bodyPr wrap="square" anchor="t"/>
          <a:lstStyle/>
          <a:p>
            <a:pPr marL="0" lvl="0" indent="0">
              <a:lnSpc>
                <a:spcPct val="107000"/>
              </a:lnSpc>
              <a:spcAft>
                <a:spcPts val="200"/>
              </a:spcAft>
              <a:buNone/>
            </a:pPr>
            <a:r>
              <a:rPr lang="es-CO" sz="1400" b="1" dirty="0">
                <a:solidFill>
                  <a:srgbClr val="003366"/>
                </a:solidFill>
                <a:latin typeface="Calibri"/>
              </a:rPr>
              <a:t>Descripción técnica:</a:t>
            </a:r>
          </a:p>
          <a:p>
            <a:pPr marL="228600" lvl="0" indent="0">
              <a:lnSpc>
                <a:spcPct val="107000"/>
              </a:lnSpc>
              <a:spcAft>
                <a:spcPts val="400"/>
              </a:spcAft>
              <a:buNone/>
            </a:pPr>
            <a:r>
              <a:rPr lang="es-CO" sz="1200" dirty="0"/>
              <a:t>Se identifican el propósito del sistema, los escenarios de uso y los tipos de usuarios involucrados. Esta etapa establece el marco conceptual que orienta el análisis posterior y permite comprender el entorno operativo del software.</a:t>
            </a:r>
            <a:r>
              <a:rPr lang="es-CO" sz="1200" dirty="0">
                <a:solidFill>
                  <a:srgbClr val="333333"/>
                </a:solidFill>
                <a:latin typeface="Calibri"/>
              </a:rPr>
              <a:t> </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propósito del software (para qué), </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escenarios de despliegue (en qué entornos) y </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perfiles de usuario (quiénes).</a:t>
            </a:r>
          </a:p>
          <a:p>
            <a:pPr marL="228600" lvl="0">
              <a:lnSpc>
                <a:spcPct val="107000"/>
              </a:lnSpc>
              <a:spcAft>
                <a:spcPts val="400"/>
              </a:spcAft>
            </a:pPr>
            <a:r>
              <a:rPr lang="es-CO" sz="1200" dirty="0">
                <a:solidFill>
                  <a:srgbClr val="333333"/>
                </a:solidFill>
                <a:latin typeface="Calibri"/>
              </a:rPr>
              <a:t>Constituye la base ontológica que delimita el universo de discurso del sistema y previene la especificación de funcionalidades fuera de alcance.</a:t>
            </a:r>
          </a:p>
          <a:p>
            <a:pPr marL="0" lvl="0" indent="0">
              <a:lnSpc>
                <a:spcPct val="107000"/>
              </a:lnSpc>
              <a:spcAft>
                <a:spcPts val="200"/>
              </a:spcAft>
              <a:buNone/>
            </a:pPr>
            <a:r>
              <a:rPr lang="es-CO" sz="14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Análisis de dominio (negocio) y revisión documental institucional.</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Talleres de definición de alcance (scoping workshops).</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Matrices de escenarios de despliegue.</a:t>
            </a:r>
          </a:p>
          <a:p>
            <a:pPr marL="514350" lvl="0" indent="-285750">
              <a:lnSpc>
                <a:spcPct val="107000"/>
              </a:lnSpc>
              <a:spcAft>
                <a:spcPts val="400"/>
              </a:spcAft>
              <a:buFont typeface="Wingdings" panose="05000000000000000000" pitchFamily="2" charset="2"/>
              <a:buChar char="ü"/>
            </a:pPr>
            <a:r>
              <a:rPr lang="es-CO" sz="1200" dirty="0">
                <a:solidFill>
                  <a:srgbClr val="333333"/>
                </a:solidFill>
                <a:latin typeface="Calibri"/>
              </a:rPr>
              <a:t>Estereotipos de usuario (user stereotypes).</a:t>
            </a:r>
          </a:p>
          <a:p>
            <a:pPr marL="0" lvl="0" indent="0">
              <a:lnSpc>
                <a:spcPct val="107000"/>
              </a:lnSpc>
              <a:spcAft>
                <a:spcPts val="200"/>
              </a:spcAft>
              <a:buNone/>
            </a:pPr>
            <a:r>
              <a:rPr lang="es-CO" sz="1400" b="1" dirty="0">
                <a:solidFill>
                  <a:srgbClr val="003366"/>
                </a:solidFill>
                <a:latin typeface="Calibri"/>
              </a:rPr>
              <a:t>Artefacto/entregable: (Instrumentos)</a:t>
            </a:r>
          </a:p>
          <a:p>
            <a:pPr marL="514350" lvl="0" indent="-285750">
              <a:lnSpc>
                <a:spcPct val="107000"/>
              </a:lnSpc>
              <a:spcAft>
                <a:spcPts val="400"/>
              </a:spcAft>
              <a:buFont typeface="Wingdings" panose="05000000000000000000" pitchFamily="2" charset="2"/>
              <a:buChar char="ü"/>
            </a:pPr>
            <a:r>
              <a:rPr lang="es-CO" sz="1200" dirty="0"/>
              <a:t>Tabla de escenarios (Tabla 1), </a:t>
            </a:r>
          </a:p>
          <a:p>
            <a:pPr marL="514350" lvl="0" indent="-285750">
              <a:lnSpc>
                <a:spcPct val="107000"/>
              </a:lnSpc>
              <a:spcAft>
                <a:spcPts val="400"/>
              </a:spcAft>
              <a:buFont typeface="Wingdings" panose="05000000000000000000" pitchFamily="2" charset="2"/>
              <a:buChar char="ü"/>
            </a:pPr>
            <a:r>
              <a:rPr lang="es-CO" sz="1200" dirty="0"/>
              <a:t>tabla de estereotipos de usuario (Tabla 2) y </a:t>
            </a:r>
          </a:p>
          <a:p>
            <a:pPr marL="514350" lvl="0" indent="-285750">
              <a:lnSpc>
                <a:spcPct val="107000"/>
              </a:lnSpc>
              <a:spcAft>
                <a:spcPts val="400"/>
              </a:spcAft>
              <a:buFont typeface="Wingdings" panose="05000000000000000000" pitchFamily="2" charset="2"/>
              <a:buChar char="ü"/>
            </a:pPr>
            <a:r>
              <a:rPr lang="es-CO" sz="1200" dirty="0"/>
              <a:t>Acta de Definición de Objetivos (Figura 3) </a:t>
            </a:r>
            <a:r>
              <a:rPr lang="es-CO" sz="1200" dirty="0">
                <a:solidFill>
                  <a:srgbClr val="333333"/>
                </a:solidFill>
              </a:rPr>
              <a:t>(formaliza la negociación entre el representante institucional y el gestor del proyecto).</a:t>
            </a:r>
            <a:endParaRPr lang="es-CO" sz="1200" dirty="0">
              <a:solidFill>
                <a:srgbClr val="333333"/>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80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Tabla 1 — Definición de Escenarios | Sistema de Gestión Académica</a:t>
            </a:r>
          </a:p>
        </p:txBody>
      </p:sp>
      <p:graphicFrame>
        <p:nvGraphicFramePr>
          <p:cNvPr id="10" name="Tabla escenarios"/>
          <p:cNvGraphicFramePr>
            <a:graphicFrameLocks noGrp="1"/>
          </p:cNvGraphicFramePr>
          <p:nvPr/>
        </p:nvGraphicFramePr>
        <p:xfrm>
          <a:off x="300000" y="1500000"/>
          <a:ext cx="11600000" cy="4250000"/>
        </p:xfrm>
        <a:graphic>
          <a:graphicData uri="http://schemas.openxmlformats.org/drawingml/2006/table">
            <a:tbl>
              <a:tblPr firstRow="1" bandRow="1">
                <a:tableStyleId>{5C22544A-7EE6-4342-B048-85BDC9FD1C3A}</a:tableStyleId>
              </a:tblPr>
              <a:tblGrid>
                <a:gridCol w="1200000">
                  <a:extLst>
                    <a:ext uri="{9D8B030D-6E8A-4147-A177-3AD203B41FA5}">
                      <a16:colId xmlns:a16="http://schemas.microsoft.com/office/drawing/2014/main" val="20000"/>
                    </a:ext>
                  </a:extLst>
                </a:gridCol>
                <a:gridCol w="2200000">
                  <a:extLst>
                    <a:ext uri="{9D8B030D-6E8A-4147-A177-3AD203B41FA5}">
                      <a16:colId xmlns:a16="http://schemas.microsoft.com/office/drawing/2014/main" val="20001"/>
                    </a:ext>
                  </a:extLst>
                </a:gridCol>
                <a:gridCol w="8200000">
                  <a:extLst>
                    <a:ext uri="{9D8B030D-6E8A-4147-A177-3AD203B41FA5}">
                      <a16:colId xmlns:a16="http://schemas.microsoft.com/office/drawing/2014/main" val="20002"/>
                    </a:ext>
                  </a:extLst>
                </a:gridCol>
              </a:tblGrid>
              <a:tr h="600000">
                <a:tc>
                  <a:txBody>
                    <a:bodyPr/>
                    <a:lstStyle/>
                    <a:p>
                      <a:r>
                        <a:rPr lang="es-CO" sz="1400" b="1" dirty="0">
                          <a:solidFill>
                            <a:srgbClr val="FFFFFF"/>
                          </a:solidFill>
                          <a:latin typeface="Calibri"/>
                        </a:rPr>
                        <a:t>Código</a:t>
                      </a:r>
                    </a:p>
                  </a:txBody>
                  <a:tcPr>
                    <a:solidFill>
                      <a:srgbClr val="003366"/>
                    </a:solidFill>
                  </a:tcPr>
                </a:tc>
                <a:tc>
                  <a:txBody>
                    <a:bodyPr/>
                    <a:lstStyle/>
                    <a:p>
                      <a:r>
                        <a:rPr lang="es-CO" sz="1400" b="1" dirty="0">
                          <a:solidFill>
                            <a:srgbClr val="FFFFFF"/>
                          </a:solidFill>
                          <a:latin typeface="Calibri"/>
                        </a:rPr>
                        <a:t>Escenario</a:t>
                      </a:r>
                    </a:p>
                  </a:txBody>
                  <a:tcPr>
                    <a:solidFill>
                      <a:srgbClr val="003366"/>
                    </a:solidFill>
                  </a:tcPr>
                </a:tc>
                <a:tc>
                  <a:txBody>
                    <a:bodyPr/>
                    <a:lstStyle/>
                    <a:p>
                      <a:r>
                        <a:rPr lang="es-CO" sz="1400" b="1" dirty="0">
                          <a:solidFill>
                            <a:srgbClr val="FFFFFF"/>
                          </a:solidFill>
                          <a:latin typeface="Calibri"/>
                        </a:rPr>
                        <a:t>Descripción</a:t>
                      </a:r>
                    </a:p>
                  </a:txBody>
                  <a:tcPr>
                    <a:solidFill>
                      <a:srgbClr val="003366"/>
                    </a:solidFill>
                  </a:tcPr>
                </a:tc>
                <a:extLst>
                  <a:ext uri="{0D108BD9-81ED-4DB2-BD59-A6C34878D82A}">
                    <a16:rowId xmlns:a16="http://schemas.microsoft.com/office/drawing/2014/main" val="10000"/>
                  </a:ext>
                </a:extLst>
              </a:tr>
              <a:tr h="750000">
                <a:tc>
                  <a:txBody>
                    <a:bodyPr/>
                    <a:lstStyle/>
                    <a:p>
                      <a:r>
                        <a:rPr lang="es-CO" sz="1300" b="1" dirty="0">
                          <a:solidFill>
                            <a:srgbClr val="003366"/>
                          </a:solidFill>
                          <a:latin typeface="Calibri"/>
                        </a:rPr>
                        <a:t>E1</a:t>
                      </a:r>
                    </a:p>
                  </a:txBody>
                  <a:tcPr>
                    <a:solidFill>
                      <a:srgbClr val="E8EEF5"/>
                    </a:solidFill>
                  </a:tcPr>
                </a:tc>
                <a:tc>
                  <a:txBody>
                    <a:bodyPr/>
                    <a:lstStyle/>
                    <a:p>
                      <a:r>
                        <a:rPr lang="es-CO" sz="1300" b="1" dirty="0">
                          <a:solidFill>
                            <a:srgbClr val="003366"/>
                          </a:solidFill>
                          <a:latin typeface="Calibri"/>
                        </a:rPr>
                        <a:t>Secretaría Académica</a:t>
                      </a:r>
                    </a:p>
                  </a:txBody>
                  <a:tcPr>
                    <a:solidFill>
                      <a:srgbClr val="E8EEF5"/>
                    </a:solidFill>
                  </a:tcPr>
                </a:tc>
                <a:tc>
                  <a:txBody>
                    <a:bodyPr/>
                    <a:lstStyle/>
                    <a:p>
                      <a:r>
                        <a:rPr lang="es-CO" sz="1300" dirty="0">
                          <a:solidFill>
                            <a:srgbClr val="333333"/>
                          </a:solidFill>
                          <a:latin typeface="Calibri"/>
                        </a:rPr>
                        <a:t>Oficina central donde el personal administrativo gestiona matrículas, planes de estudio, actas de calificaciones y expedición de certificados. Acceso desde equipos de escritorio en red LAN institucional.</a:t>
                      </a:r>
                    </a:p>
                  </a:txBody>
                  <a:tcPr>
                    <a:solidFill>
                      <a:srgbClr val="E8EEF5"/>
                    </a:solidFill>
                  </a:tcPr>
                </a:tc>
                <a:extLst>
                  <a:ext uri="{0D108BD9-81ED-4DB2-BD59-A6C34878D82A}">
                    <a16:rowId xmlns:a16="http://schemas.microsoft.com/office/drawing/2014/main" val="10001"/>
                  </a:ext>
                </a:extLst>
              </a:tr>
              <a:tr h="750000">
                <a:tc>
                  <a:txBody>
                    <a:bodyPr/>
                    <a:lstStyle/>
                    <a:p>
                      <a:r>
                        <a:rPr lang="es-CO" sz="1300" b="1" dirty="0">
                          <a:solidFill>
                            <a:srgbClr val="003366"/>
                          </a:solidFill>
                          <a:latin typeface="Calibri"/>
                        </a:rPr>
                        <a:t>E2</a:t>
                      </a:r>
                    </a:p>
                  </a:txBody>
                  <a:tcPr>
                    <a:solidFill>
                      <a:srgbClr val="FFFFFF"/>
                    </a:solidFill>
                  </a:tcPr>
                </a:tc>
                <a:tc>
                  <a:txBody>
                    <a:bodyPr/>
                    <a:lstStyle/>
                    <a:p>
                      <a:r>
                        <a:rPr lang="es-CO" sz="1300" b="1" dirty="0">
                          <a:solidFill>
                            <a:srgbClr val="003366"/>
                          </a:solidFill>
                          <a:latin typeface="Calibri"/>
                        </a:rPr>
                        <a:t>Coordinación de Programa</a:t>
                      </a:r>
                    </a:p>
                  </a:txBody>
                  <a:tcPr>
                    <a:solidFill>
                      <a:srgbClr val="FFFFFF"/>
                    </a:solidFill>
                  </a:tcPr>
                </a:tc>
                <a:tc>
                  <a:txBody>
                    <a:bodyPr/>
                    <a:lstStyle/>
                    <a:p>
                      <a:r>
                        <a:rPr lang="es-CO" sz="1300" dirty="0">
                          <a:solidFill>
                            <a:srgbClr val="333333"/>
                          </a:solidFill>
                          <a:latin typeface="Calibri"/>
                        </a:rPr>
                        <a:t>Espacio desde el cual los coordinadores supervisan el estado académico, asignan docentes a asignaturas y gestionan horarios por periodo lectivo.</a:t>
                      </a:r>
                    </a:p>
                  </a:txBody>
                  <a:tcPr>
                    <a:solidFill>
                      <a:srgbClr val="FFFFFF"/>
                    </a:solidFill>
                  </a:tcPr>
                </a:tc>
                <a:extLst>
                  <a:ext uri="{0D108BD9-81ED-4DB2-BD59-A6C34878D82A}">
                    <a16:rowId xmlns:a16="http://schemas.microsoft.com/office/drawing/2014/main" val="10002"/>
                  </a:ext>
                </a:extLst>
              </a:tr>
              <a:tr h="750000">
                <a:tc>
                  <a:txBody>
                    <a:bodyPr/>
                    <a:lstStyle/>
                    <a:p>
                      <a:r>
                        <a:rPr lang="es-CO" sz="1300" b="1" dirty="0">
                          <a:solidFill>
                            <a:srgbClr val="003366"/>
                          </a:solidFill>
                          <a:latin typeface="Calibri"/>
                        </a:rPr>
                        <a:t>E3</a:t>
                      </a:r>
                    </a:p>
                  </a:txBody>
                  <a:tcPr>
                    <a:solidFill>
                      <a:srgbClr val="E8EEF5"/>
                    </a:solidFill>
                  </a:tcPr>
                </a:tc>
                <a:tc>
                  <a:txBody>
                    <a:bodyPr/>
                    <a:lstStyle/>
                    <a:p>
                      <a:r>
                        <a:rPr lang="es-CO" sz="1300" b="1" dirty="0">
                          <a:solidFill>
                            <a:srgbClr val="003366"/>
                          </a:solidFill>
                          <a:latin typeface="Calibri"/>
                        </a:rPr>
                        <a:t>Aula / Plataforma Docente</a:t>
                      </a:r>
                    </a:p>
                  </a:txBody>
                  <a:tcPr>
                    <a:solidFill>
                      <a:srgbClr val="E8EEF5"/>
                    </a:solidFill>
                  </a:tcPr>
                </a:tc>
                <a:tc>
                  <a:txBody>
                    <a:bodyPr/>
                    <a:lstStyle/>
                    <a:p>
                      <a:r>
                        <a:rPr lang="es-CO" sz="1300" dirty="0">
                          <a:solidFill>
                            <a:srgbClr val="333333"/>
                          </a:solidFill>
                          <a:latin typeface="Calibri"/>
                        </a:rPr>
                        <a:t>Entorno de trabajo del docente para registro de asistencia, carga de notas parciales y finales, y consulta del listado oficial de estudiantes matriculados por grupo.</a:t>
                      </a:r>
                    </a:p>
                  </a:txBody>
                  <a:tcPr>
                    <a:solidFill>
                      <a:srgbClr val="E8EEF5"/>
                    </a:solidFill>
                  </a:tcPr>
                </a:tc>
                <a:extLst>
                  <a:ext uri="{0D108BD9-81ED-4DB2-BD59-A6C34878D82A}">
                    <a16:rowId xmlns:a16="http://schemas.microsoft.com/office/drawing/2014/main" val="10003"/>
                  </a:ext>
                </a:extLst>
              </a:tr>
              <a:tr h="700000">
                <a:tc>
                  <a:txBody>
                    <a:bodyPr/>
                    <a:lstStyle/>
                    <a:p>
                      <a:r>
                        <a:rPr lang="es-CO" sz="1300" b="1" dirty="0">
                          <a:solidFill>
                            <a:srgbClr val="003366"/>
                          </a:solidFill>
                          <a:latin typeface="Calibri"/>
                        </a:rPr>
                        <a:t>E4</a:t>
                      </a:r>
                    </a:p>
                  </a:txBody>
                  <a:tcPr>
                    <a:solidFill>
                      <a:srgbClr val="FFFFFF"/>
                    </a:solidFill>
                  </a:tcPr>
                </a:tc>
                <a:tc>
                  <a:txBody>
                    <a:bodyPr/>
                    <a:lstStyle/>
                    <a:p>
                      <a:r>
                        <a:rPr lang="es-CO" sz="1300" b="1" dirty="0">
                          <a:solidFill>
                            <a:srgbClr val="003366"/>
                          </a:solidFill>
                          <a:latin typeface="Calibri"/>
                        </a:rPr>
                        <a:t>Portal del Estudiante</a:t>
                      </a:r>
                    </a:p>
                  </a:txBody>
                  <a:tcPr>
                    <a:solidFill>
                      <a:srgbClr val="FFFFFF"/>
                    </a:solidFill>
                  </a:tcPr>
                </a:tc>
                <a:tc>
                  <a:txBody>
                    <a:bodyPr/>
                    <a:lstStyle/>
                    <a:p>
                      <a:r>
                        <a:rPr lang="es-CO" sz="1300" dirty="0">
                          <a:solidFill>
                            <a:srgbClr val="333333"/>
                          </a:solidFill>
                          <a:latin typeface="Calibri"/>
                        </a:rPr>
                        <a:t>Acceso vía web y móvil mediante el cual el estudiante consulta historial académico, descarga documentos, verifica su matrícula y recibe notificaciones.</a:t>
                      </a:r>
                    </a:p>
                  </a:txBody>
                  <a:tcPr>
                    <a:solidFill>
                      <a:srgbClr val="FFFFFF"/>
                    </a:solidFill>
                  </a:tcPr>
                </a:tc>
                <a:extLst>
                  <a:ext uri="{0D108BD9-81ED-4DB2-BD59-A6C34878D82A}">
                    <a16:rowId xmlns:a16="http://schemas.microsoft.com/office/drawing/2014/main" val="10004"/>
                  </a:ext>
                </a:extLst>
              </a:tr>
              <a:tr h="700000">
                <a:tc>
                  <a:txBody>
                    <a:bodyPr/>
                    <a:lstStyle/>
                    <a:p>
                      <a:r>
                        <a:rPr lang="es-CO" sz="1300" b="1" dirty="0">
                          <a:solidFill>
                            <a:srgbClr val="003366"/>
                          </a:solidFill>
                          <a:latin typeface="Calibri"/>
                        </a:rPr>
                        <a:t>E5</a:t>
                      </a:r>
                    </a:p>
                  </a:txBody>
                  <a:tcPr>
                    <a:solidFill>
                      <a:srgbClr val="E8EEF5"/>
                    </a:solidFill>
                  </a:tcPr>
                </a:tc>
                <a:tc>
                  <a:txBody>
                    <a:bodyPr/>
                    <a:lstStyle/>
                    <a:p>
                      <a:r>
                        <a:rPr lang="es-CO" sz="1300" b="1" dirty="0">
                          <a:solidFill>
                            <a:srgbClr val="003366"/>
                          </a:solidFill>
                          <a:latin typeface="Calibri"/>
                        </a:rPr>
                        <a:t>Dirección Institucional</a:t>
                      </a:r>
                    </a:p>
                  </a:txBody>
                  <a:tcPr>
                    <a:solidFill>
                      <a:srgbClr val="E8EEF5"/>
                    </a:solidFill>
                  </a:tcPr>
                </a:tc>
                <a:tc>
                  <a:txBody>
                    <a:bodyPr/>
                    <a:lstStyle/>
                    <a:p>
                      <a:r>
                        <a:rPr lang="es-CO" sz="1300" dirty="0">
                          <a:solidFill>
                            <a:srgbClr val="333333"/>
                          </a:solidFill>
                          <a:latin typeface="Calibri"/>
                        </a:rPr>
                        <a:t>Panel de consulta gerencial para directivos: reportes consolidados de rendimiento académico, tasas de deserción y estadísticas comparativas por periodo.</a:t>
                      </a:r>
                    </a:p>
                  </a:txBody>
                  <a:tcPr>
                    <a:solidFill>
                      <a:srgbClr val="E8EEF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80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Tabla 2 — Estereotipos de Usuario | Sistema de Gestión Académica</a:t>
            </a:r>
          </a:p>
        </p:txBody>
      </p:sp>
      <p:graphicFrame>
        <p:nvGraphicFramePr>
          <p:cNvPr id="10" name="Tabla usuarios"/>
          <p:cNvGraphicFramePr>
            <a:graphicFrameLocks noGrp="1"/>
          </p:cNvGraphicFramePr>
          <p:nvPr/>
        </p:nvGraphicFramePr>
        <p:xfrm>
          <a:off x="300000" y="1500000"/>
          <a:ext cx="11600000" cy="4750000"/>
        </p:xfrm>
        <a:graphic>
          <a:graphicData uri="http://schemas.openxmlformats.org/drawingml/2006/table">
            <a:tbl>
              <a:tblPr firstRow="1" bandRow="1">
                <a:tableStyleId>{5C22544A-7EE6-4342-B048-85BDC9FD1C3A}</a:tableStyleId>
              </a:tblPr>
              <a:tblGrid>
                <a:gridCol w="12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8000000">
                  <a:extLst>
                    <a:ext uri="{9D8B030D-6E8A-4147-A177-3AD203B41FA5}">
                      <a16:colId xmlns:a16="http://schemas.microsoft.com/office/drawing/2014/main" val="20002"/>
                    </a:ext>
                  </a:extLst>
                </a:gridCol>
              </a:tblGrid>
              <a:tr h="550000">
                <a:tc>
                  <a:txBody>
                    <a:bodyPr/>
                    <a:lstStyle/>
                    <a:p>
                      <a:r>
                        <a:rPr lang="es-CO" sz="1400" b="1" dirty="0">
                          <a:solidFill>
                            <a:srgbClr val="FFFFFF"/>
                          </a:solidFill>
                          <a:latin typeface="Calibri"/>
                        </a:rPr>
                        <a:t>Código</a:t>
                      </a:r>
                    </a:p>
                  </a:txBody>
                  <a:tcPr>
                    <a:solidFill>
                      <a:srgbClr val="003366"/>
                    </a:solidFill>
                  </a:tcPr>
                </a:tc>
                <a:tc>
                  <a:txBody>
                    <a:bodyPr/>
                    <a:lstStyle/>
                    <a:p>
                      <a:r>
                        <a:rPr lang="es-CO" sz="1400" b="1" dirty="0">
                          <a:solidFill>
                            <a:srgbClr val="FFFFFF"/>
                          </a:solidFill>
                          <a:latin typeface="Calibri"/>
                        </a:rPr>
                        <a:t>Usuario</a:t>
                      </a:r>
                    </a:p>
                  </a:txBody>
                  <a:tcPr>
                    <a:solidFill>
                      <a:srgbClr val="003366"/>
                    </a:solidFill>
                  </a:tcPr>
                </a:tc>
                <a:tc>
                  <a:txBody>
                    <a:bodyPr/>
                    <a:lstStyle/>
                    <a:p>
                      <a:r>
                        <a:rPr lang="es-CO" sz="1400" b="1" dirty="0">
                          <a:solidFill>
                            <a:srgbClr val="FFFFFF"/>
                          </a:solidFill>
                          <a:latin typeface="Calibri"/>
                        </a:rPr>
                        <a:t>Para qué usa el software</a:t>
                      </a:r>
                    </a:p>
                  </a:txBody>
                  <a:tcPr>
                    <a:solidFill>
                      <a:srgbClr val="003366"/>
                    </a:solidFill>
                  </a:tcPr>
                </a:tc>
                <a:extLst>
                  <a:ext uri="{0D108BD9-81ED-4DB2-BD59-A6C34878D82A}">
                    <a16:rowId xmlns:a16="http://schemas.microsoft.com/office/drawing/2014/main" val="10000"/>
                  </a:ext>
                </a:extLst>
              </a:tr>
              <a:tr h="700000">
                <a:tc>
                  <a:txBody>
                    <a:bodyPr/>
                    <a:lstStyle/>
                    <a:p>
                      <a:r>
                        <a:rPr lang="es-CO" sz="1250" b="1" dirty="0">
                          <a:solidFill>
                            <a:srgbClr val="003366"/>
                          </a:solidFill>
                          <a:latin typeface="Calibri"/>
                        </a:rPr>
                        <a:t>U001</a:t>
                      </a:r>
                    </a:p>
                  </a:txBody>
                  <a:tcPr>
                    <a:solidFill>
                      <a:srgbClr val="E8EEF5"/>
                    </a:solidFill>
                  </a:tcPr>
                </a:tc>
                <a:tc>
                  <a:txBody>
                    <a:bodyPr/>
                    <a:lstStyle/>
                    <a:p>
                      <a:r>
                        <a:rPr lang="es-CO" sz="1250" b="1" dirty="0">
                          <a:solidFill>
                            <a:srgbClr val="003366"/>
                          </a:solidFill>
                          <a:latin typeface="Calibri"/>
                        </a:rPr>
                        <a:t>Auxiliar de Secretaría</a:t>
                      </a:r>
                    </a:p>
                  </a:txBody>
                  <a:tcPr>
                    <a:solidFill>
                      <a:srgbClr val="E8EEF5"/>
                    </a:solidFill>
                  </a:tcPr>
                </a:tc>
                <a:tc>
                  <a:txBody>
                    <a:bodyPr/>
                    <a:lstStyle/>
                    <a:p>
                      <a:r>
                        <a:rPr lang="es-CO" sz="1250" dirty="0">
                          <a:solidFill>
                            <a:srgbClr val="333333"/>
                          </a:solidFill>
                          <a:latin typeface="Calibri"/>
                        </a:rPr>
                        <a:t>Registra y actualiza datos de matrícula. Genera y expide certificados de estudio y constancias. Carga y cierra actas de calificaciones por periodo.</a:t>
                      </a:r>
                    </a:p>
                  </a:txBody>
                  <a:tcPr>
                    <a:solidFill>
                      <a:srgbClr val="E8EEF5"/>
                    </a:solidFill>
                  </a:tcPr>
                </a:tc>
                <a:extLst>
                  <a:ext uri="{0D108BD9-81ED-4DB2-BD59-A6C34878D82A}">
                    <a16:rowId xmlns:a16="http://schemas.microsoft.com/office/drawing/2014/main" val="10001"/>
                  </a:ext>
                </a:extLst>
              </a:tr>
              <a:tr h="700000">
                <a:tc>
                  <a:txBody>
                    <a:bodyPr/>
                    <a:lstStyle/>
                    <a:p>
                      <a:r>
                        <a:rPr lang="es-CO" sz="1250" b="1" dirty="0">
                          <a:solidFill>
                            <a:srgbClr val="003366"/>
                          </a:solidFill>
                          <a:latin typeface="Calibri"/>
                        </a:rPr>
                        <a:t>U002</a:t>
                      </a:r>
                    </a:p>
                  </a:txBody>
                  <a:tcPr>
                    <a:solidFill>
                      <a:srgbClr val="FFFFFF"/>
                    </a:solidFill>
                  </a:tcPr>
                </a:tc>
                <a:tc>
                  <a:txBody>
                    <a:bodyPr/>
                    <a:lstStyle/>
                    <a:p>
                      <a:r>
                        <a:rPr lang="es-CO" sz="1250" b="1" dirty="0">
                          <a:solidFill>
                            <a:srgbClr val="003366"/>
                          </a:solidFill>
                          <a:latin typeface="Calibri"/>
                        </a:rPr>
                        <a:t>Coordinador de Programa</a:t>
                      </a:r>
                    </a:p>
                  </a:txBody>
                  <a:tcPr>
                    <a:solidFill>
                      <a:srgbClr val="FFFFFF"/>
                    </a:solidFill>
                  </a:tcPr>
                </a:tc>
                <a:tc>
                  <a:txBody>
                    <a:bodyPr/>
                    <a:lstStyle/>
                    <a:p>
                      <a:r>
                        <a:rPr lang="es-CO" sz="1250" dirty="0">
                          <a:solidFill>
                            <a:srgbClr val="333333"/>
                          </a:solidFill>
                          <a:latin typeface="Calibri"/>
                        </a:rPr>
                        <a:t>Consulta avance académico por cohorte. Asigna docentes a grupos. Aprueba ajustes de matrícula. Genera reportes de rendimiento por asignatura.</a:t>
                      </a:r>
                    </a:p>
                  </a:txBody>
                  <a:tcPr>
                    <a:solidFill>
                      <a:srgbClr val="FFFFFF"/>
                    </a:solidFill>
                  </a:tcPr>
                </a:tc>
                <a:extLst>
                  <a:ext uri="{0D108BD9-81ED-4DB2-BD59-A6C34878D82A}">
                    <a16:rowId xmlns:a16="http://schemas.microsoft.com/office/drawing/2014/main" val="10002"/>
                  </a:ext>
                </a:extLst>
              </a:tr>
              <a:tr h="700000">
                <a:tc>
                  <a:txBody>
                    <a:bodyPr/>
                    <a:lstStyle/>
                    <a:p>
                      <a:r>
                        <a:rPr lang="es-CO" sz="1250" b="1" dirty="0">
                          <a:solidFill>
                            <a:srgbClr val="003366"/>
                          </a:solidFill>
                          <a:latin typeface="Calibri"/>
                        </a:rPr>
                        <a:t>U003</a:t>
                      </a:r>
                    </a:p>
                  </a:txBody>
                  <a:tcPr>
                    <a:solidFill>
                      <a:srgbClr val="E8EEF5"/>
                    </a:solidFill>
                  </a:tcPr>
                </a:tc>
                <a:tc>
                  <a:txBody>
                    <a:bodyPr/>
                    <a:lstStyle/>
                    <a:p>
                      <a:r>
                        <a:rPr lang="es-CO" sz="1250" b="1" dirty="0">
                          <a:solidFill>
                            <a:srgbClr val="003366"/>
                          </a:solidFill>
                          <a:latin typeface="Calibri"/>
                        </a:rPr>
                        <a:t>Docente</a:t>
                      </a:r>
                    </a:p>
                  </a:txBody>
                  <a:tcPr>
                    <a:solidFill>
                      <a:srgbClr val="E8EEF5"/>
                    </a:solidFill>
                  </a:tcPr>
                </a:tc>
                <a:tc>
                  <a:txBody>
                    <a:bodyPr/>
                    <a:lstStyle/>
                    <a:p>
                      <a:r>
                        <a:rPr lang="es-CO" sz="1250" dirty="0">
                          <a:solidFill>
                            <a:srgbClr val="333333"/>
                          </a:solidFill>
                          <a:latin typeface="Calibri"/>
                        </a:rPr>
                        <a:t>Registra asistencia por sesión. Ingresa calificaciones parciales y finales. Consulta el listado oficial de estudiantes por grupo asignado.</a:t>
                      </a:r>
                    </a:p>
                  </a:txBody>
                  <a:tcPr>
                    <a:solidFill>
                      <a:srgbClr val="E8EEF5"/>
                    </a:solidFill>
                  </a:tcPr>
                </a:tc>
                <a:extLst>
                  <a:ext uri="{0D108BD9-81ED-4DB2-BD59-A6C34878D82A}">
                    <a16:rowId xmlns:a16="http://schemas.microsoft.com/office/drawing/2014/main" val="10003"/>
                  </a:ext>
                </a:extLst>
              </a:tr>
              <a:tr h="700000">
                <a:tc>
                  <a:txBody>
                    <a:bodyPr/>
                    <a:lstStyle/>
                    <a:p>
                      <a:r>
                        <a:rPr lang="es-CO" sz="1250" b="1" dirty="0">
                          <a:solidFill>
                            <a:srgbClr val="003366"/>
                          </a:solidFill>
                          <a:latin typeface="Calibri"/>
                        </a:rPr>
                        <a:t>U004</a:t>
                      </a:r>
                    </a:p>
                  </a:txBody>
                  <a:tcPr>
                    <a:solidFill>
                      <a:srgbClr val="FFFFFF"/>
                    </a:solidFill>
                  </a:tcPr>
                </a:tc>
                <a:tc>
                  <a:txBody>
                    <a:bodyPr/>
                    <a:lstStyle/>
                    <a:p>
                      <a:r>
                        <a:rPr lang="es-CO" sz="1250" b="1" dirty="0">
                          <a:solidFill>
                            <a:srgbClr val="003366"/>
                          </a:solidFill>
                          <a:latin typeface="Calibri"/>
                        </a:rPr>
                        <a:t>Estudiante</a:t>
                      </a:r>
                    </a:p>
                  </a:txBody>
                  <a:tcPr>
                    <a:solidFill>
                      <a:srgbClr val="FFFFFF"/>
                    </a:solidFill>
                  </a:tcPr>
                </a:tc>
                <a:tc>
                  <a:txBody>
                    <a:bodyPr/>
                    <a:lstStyle/>
                    <a:p>
                      <a:r>
                        <a:rPr lang="es-CO" sz="1250" dirty="0">
                          <a:solidFill>
                            <a:srgbClr val="333333"/>
                          </a:solidFill>
                          <a:latin typeface="Calibri"/>
                        </a:rPr>
                        <a:t>Consulta historial académico y calificaciones. Verifica estado de matrícula y saldo financiero. Descarga certificados en PDF y recibe notificaciones académicas.</a:t>
                      </a:r>
                    </a:p>
                  </a:txBody>
                  <a:tcPr>
                    <a:solidFill>
                      <a:srgbClr val="FFFFFF"/>
                    </a:solidFill>
                  </a:tcPr>
                </a:tc>
                <a:extLst>
                  <a:ext uri="{0D108BD9-81ED-4DB2-BD59-A6C34878D82A}">
                    <a16:rowId xmlns:a16="http://schemas.microsoft.com/office/drawing/2014/main" val="10004"/>
                  </a:ext>
                </a:extLst>
              </a:tr>
              <a:tr h="700000">
                <a:tc>
                  <a:txBody>
                    <a:bodyPr/>
                    <a:lstStyle/>
                    <a:p>
                      <a:r>
                        <a:rPr lang="es-CO" sz="1250" b="1" dirty="0">
                          <a:solidFill>
                            <a:srgbClr val="003366"/>
                          </a:solidFill>
                          <a:latin typeface="Calibri"/>
                        </a:rPr>
                        <a:t>U005</a:t>
                      </a:r>
                    </a:p>
                  </a:txBody>
                  <a:tcPr>
                    <a:solidFill>
                      <a:srgbClr val="E8EEF5"/>
                    </a:solidFill>
                  </a:tcPr>
                </a:tc>
                <a:tc>
                  <a:txBody>
                    <a:bodyPr/>
                    <a:lstStyle/>
                    <a:p>
                      <a:r>
                        <a:rPr lang="es-CO" sz="1250" b="1" dirty="0">
                          <a:solidFill>
                            <a:srgbClr val="003366"/>
                          </a:solidFill>
                          <a:latin typeface="Calibri"/>
                        </a:rPr>
                        <a:t>Director Académico</a:t>
                      </a:r>
                    </a:p>
                  </a:txBody>
                  <a:tcPr>
                    <a:solidFill>
                      <a:srgbClr val="E8EEF5"/>
                    </a:solidFill>
                  </a:tcPr>
                </a:tc>
                <a:tc>
                  <a:txBody>
                    <a:bodyPr/>
                    <a:lstStyle/>
                    <a:p>
                      <a:r>
                        <a:rPr lang="es-CO" sz="1250" dirty="0">
                          <a:solidFill>
                            <a:srgbClr val="333333"/>
                          </a:solidFill>
                          <a:latin typeface="Calibri"/>
                        </a:rPr>
                        <a:t>Accede a tableros de control con indicadores: promedios institucionales, tasas de reprobación, deserción por programa y comparativos entre periodos lectivos.</a:t>
                      </a:r>
                    </a:p>
                  </a:txBody>
                  <a:tcPr>
                    <a:solidFill>
                      <a:srgbClr val="E8EEF5"/>
                    </a:solidFill>
                  </a:tcPr>
                </a:tc>
                <a:extLst>
                  <a:ext uri="{0D108BD9-81ED-4DB2-BD59-A6C34878D82A}">
                    <a16:rowId xmlns:a16="http://schemas.microsoft.com/office/drawing/2014/main" val="10005"/>
                  </a:ext>
                </a:extLst>
              </a:tr>
              <a:tr h="700000">
                <a:tc>
                  <a:txBody>
                    <a:bodyPr/>
                    <a:lstStyle/>
                    <a:p>
                      <a:r>
                        <a:rPr lang="es-CO" sz="1250" b="1" dirty="0">
                          <a:solidFill>
                            <a:srgbClr val="003366"/>
                          </a:solidFill>
                          <a:latin typeface="Calibri"/>
                        </a:rPr>
                        <a:t>U006</a:t>
                      </a:r>
                    </a:p>
                  </a:txBody>
                  <a:tcPr>
                    <a:solidFill>
                      <a:srgbClr val="FFFFFF"/>
                    </a:solidFill>
                  </a:tcPr>
                </a:tc>
                <a:tc>
                  <a:txBody>
                    <a:bodyPr/>
                    <a:lstStyle/>
                    <a:p>
                      <a:r>
                        <a:rPr lang="es-CO" sz="1250" b="1" dirty="0">
                          <a:solidFill>
                            <a:srgbClr val="003366"/>
                          </a:solidFill>
                          <a:latin typeface="Calibri"/>
                        </a:rPr>
                        <a:t>Administrador del Sistema</a:t>
                      </a:r>
                    </a:p>
                  </a:txBody>
                  <a:tcPr>
                    <a:solidFill>
                      <a:srgbClr val="FFFFFF"/>
                    </a:solidFill>
                  </a:tcPr>
                </a:tc>
                <a:tc>
                  <a:txBody>
                    <a:bodyPr/>
                    <a:lstStyle/>
                    <a:p>
                      <a:r>
                        <a:rPr lang="es-CO" sz="1250" dirty="0">
                          <a:solidFill>
                            <a:srgbClr val="333333"/>
                          </a:solidFill>
                          <a:latin typeface="Calibri"/>
                        </a:rPr>
                        <a:t>Gestiona roles y permisos. Realiza copias de seguridad. Configura periodos académicos, parámetros del sistema y catálogos institucionales.</a:t>
                      </a:r>
                    </a:p>
                  </a:txBody>
                  <a:tcP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56111"/>
            <a:ext cx="11500000" cy="307777"/>
          </a:xfrm>
          <a:prstGeom prst="rect">
            <a:avLst/>
          </a:prstGeom>
        </p:spPr>
        <p:txBody>
          <a:bodyPr vert="horz" wrap="square" lIns="0" tIns="0" rIns="0" bIns="0" rtlCol="0">
            <a:spAutoFit/>
          </a:bodyPr>
          <a:lstStyle/>
          <a:p>
            <a:pPr marL="12700">
              <a:lnSpc>
                <a:spcPct val="100000"/>
              </a:lnSpc>
            </a:pPr>
            <a:r>
              <a:rPr lang="es-CO" sz="2000" b="1" spc="-10" dirty="0">
                <a:solidFill>
                  <a:srgbClr val="003366"/>
                </a:solidFill>
                <a:latin typeface="Calibri"/>
              </a:rPr>
              <a:t>Figura 3 — Acta de Definición de Objetivos del Software | CONOCIMIENTO</a:t>
            </a:r>
          </a:p>
        </p:txBody>
      </p:sp>
      <p:sp>
        <p:nvSpPr>
          <p:cNvPr id="20" name="ActaHeader"/>
          <p:cNvSpPr/>
          <p:nvPr/>
        </p:nvSpPr>
        <p:spPr>
          <a:xfrm>
            <a:off x="300000" y="1420000"/>
            <a:ext cx="11600000" cy="430000"/>
          </a:xfrm>
          <a:prstGeom prst="rect">
            <a:avLst/>
          </a:prstGeom>
          <a:solidFill>
            <a:srgbClr val="003366"/>
          </a:solidFill>
        </p:spPr>
        <p:txBody>
          <a:bodyPr wrap="square" lIns="91440" tIns="45720" rIns="91440" bIns="45720" anchor="ctr"/>
          <a:lstStyle/>
          <a:p>
            <a:pPr algn="ctr"/>
            <a:r>
              <a:rPr lang="es-CO" sz="1600" b="1" dirty="0">
                <a:solidFill>
                  <a:srgbClr val="FFFFFF"/>
                </a:solidFill>
                <a:latin typeface="Calibri"/>
              </a:rPr>
              <a:t>ACTA DE DEFINICIÓN DE OBJETIVOS DEL SOFTWARE</a:t>
            </a:r>
          </a:p>
        </p:txBody>
      </p:sp>
      <p:sp>
        <p:nvSpPr>
          <p:cNvPr id="21" name="FormBG"/>
          <p:cNvSpPr/>
          <p:nvPr/>
        </p:nvSpPr>
        <p:spPr>
          <a:xfrm>
            <a:off x="300000" y="1850000"/>
            <a:ext cx="11600000" cy="4600000"/>
          </a:xfrm>
          <a:prstGeom prst="rect">
            <a:avLst/>
          </a:prstGeom>
          <a:solidFill>
            <a:srgbClr val="F5F8FC"/>
          </a:solidFill>
          <a:ln w="19050">
            <a:solidFill>
              <a:srgbClr val="003366"/>
            </a:solidFill>
          </a:ln>
        </p:spPr>
        <p:txBody>
          <a:bodyPr/>
          <a:lstStyle/>
          <a:p>
            <a:endParaRPr/>
          </a:p>
        </p:txBody>
      </p:sp>
      <p:sp>
        <p:nvSpPr>
          <p:cNvPr id="30" name="L1"/>
          <p:cNvSpPr txBox="1"/>
          <p:nvPr/>
        </p:nvSpPr>
        <p:spPr>
          <a:xfrm>
            <a:off x="350000" y="1900000"/>
            <a:ext cx="3000000" cy="320000"/>
          </a:xfrm>
          <a:prstGeom prst="rect">
            <a:avLst/>
          </a:prstGeom>
          <a:solidFill>
            <a:srgbClr val="F5F8FC"/>
          </a:solidFill>
        </p:spPr>
        <p:txBody>
          <a:bodyPr wrap="square" lIns="91440" tIns="45720" rIns="91440" bIns="45720">
            <a:spAutoFit/>
          </a:bodyPr>
          <a:lstStyle/>
          <a:p>
            <a:r>
              <a:rPr lang="es-CO" sz="1200" b="1" i="0" dirty="0">
                <a:solidFill>
                  <a:srgbClr val="003366"/>
                </a:solidFill>
                <a:latin typeface="Calibri"/>
              </a:rPr>
              <a:t>Denominación del Proyecto:</a:t>
            </a:r>
          </a:p>
        </p:txBody>
      </p:sp>
      <p:sp>
        <p:nvSpPr>
          <p:cNvPr id="31" name="V1"/>
          <p:cNvSpPr txBox="1"/>
          <p:nvPr/>
        </p:nvSpPr>
        <p:spPr>
          <a:xfrm>
            <a:off x="3400000" y="1900000"/>
            <a:ext cx="8050000" cy="276999"/>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Sistema de Gestión Académica — Universidad Regional del </a:t>
            </a:r>
            <a:r>
              <a:rPr lang="es-CO" sz="1200" dirty="0">
                <a:solidFill>
                  <a:srgbClr val="333333"/>
                </a:solidFill>
                <a:latin typeface="Calibri"/>
              </a:rPr>
              <a:t>Conocimiento</a:t>
            </a:r>
            <a:endParaRPr lang="es-CO" sz="1200" b="0" i="0" dirty="0">
              <a:solidFill>
                <a:srgbClr val="333333"/>
              </a:solidFill>
              <a:latin typeface="Calibri"/>
            </a:endParaRPr>
          </a:p>
        </p:txBody>
      </p:sp>
      <p:sp>
        <p:nvSpPr>
          <p:cNvPr id="32" name="L2a"/>
          <p:cNvSpPr txBox="1"/>
          <p:nvPr/>
        </p:nvSpPr>
        <p:spPr>
          <a:xfrm>
            <a:off x="350000" y="2280000"/>
            <a:ext cx="2000000" cy="320000"/>
          </a:xfrm>
          <a:prstGeom prst="rect">
            <a:avLst/>
          </a:prstGeom>
          <a:solidFill>
            <a:srgbClr val="F5F8FC"/>
          </a:solidFill>
        </p:spPr>
        <p:txBody>
          <a:bodyPr wrap="square" lIns="91440" tIns="45720" rIns="91440" bIns="45720">
            <a:spAutoFit/>
          </a:bodyPr>
          <a:lstStyle/>
          <a:p>
            <a:r>
              <a:rPr lang="es-CO" sz="1200" b="1" i="0" dirty="0">
                <a:solidFill>
                  <a:srgbClr val="003366"/>
                </a:solidFill>
                <a:latin typeface="Calibri"/>
              </a:rPr>
              <a:t>Fecha de presentación:</a:t>
            </a:r>
          </a:p>
        </p:txBody>
      </p:sp>
      <p:sp>
        <p:nvSpPr>
          <p:cNvPr id="33" name="V2a"/>
          <p:cNvSpPr txBox="1"/>
          <p:nvPr/>
        </p:nvSpPr>
        <p:spPr>
          <a:xfrm>
            <a:off x="2400000" y="2280000"/>
            <a:ext cx="2800000" cy="32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06 / 06 / 2025</a:t>
            </a:r>
          </a:p>
        </p:txBody>
      </p:sp>
      <p:sp>
        <p:nvSpPr>
          <p:cNvPr id="34" name="L2b"/>
          <p:cNvSpPr txBox="1"/>
          <p:nvPr/>
        </p:nvSpPr>
        <p:spPr>
          <a:xfrm>
            <a:off x="5400000" y="2280000"/>
            <a:ext cx="2000000" cy="320000"/>
          </a:xfrm>
          <a:prstGeom prst="rect">
            <a:avLst/>
          </a:prstGeom>
          <a:solidFill>
            <a:srgbClr val="F5F8FC"/>
          </a:solidFill>
        </p:spPr>
        <p:txBody>
          <a:bodyPr wrap="square" lIns="91440" tIns="45720" rIns="91440" bIns="45720">
            <a:spAutoFit/>
          </a:bodyPr>
          <a:lstStyle/>
          <a:p>
            <a:r>
              <a:rPr lang="es-CO" sz="1200" b="1" i="0" dirty="0">
                <a:solidFill>
                  <a:srgbClr val="003366"/>
                </a:solidFill>
                <a:latin typeface="Calibri"/>
              </a:rPr>
              <a:t>Aprobado por:</a:t>
            </a:r>
          </a:p>
        </p:txBody>
      </p:sp>
      <p:sp>
        <p:nvSpPr>
          <p:cNvPr id="35" name="V2b"/>
          <p:cNvSpPr txBox="1"/>
          <p:nvPr/>
        </p:nvSpPr>
        <p:spPr>
          <a:xfrm>
            <a:off x="7450000" y="2280000"/>
            <a:ext cx="4100000" cy="32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Dra. Marcela Fuentes Ríos — Vicerrectora Académica</a:t>
            </a:r>
          </a:p>
        </p:txBody>
      </p:sp>
      <p:sp>
        <p:nvSpPr>
          <p:cNvPr id="36" name="L3"/>
          <p:cNvSpPr txBox="1"/>
          <p:nvPr/>
        </p:nvSpPr>
        <p:spPr>
          <a:xfrm>
            <a:off x="350000" y="2660000"/>
            <a:ext cx="2000000" cy="320000"/>
          </a:xfrm>
          <a:prstGeom prst="rect">
            <a:avLst/>
          </a:prstGeom>
          <a:solidFill>
            <a:srgbClr val="F5F8FC"/>
          </a:solidFill>
        </p:spPr>
        <p:txBody>
          <a:bodyPr wrap="square" lIns="91440" tIns="45720" rIns="91440" bIns="45720">
            <a:spAutoFit/>
          </a:bodyPr>
          <a:lstStyle/>
          <a:p>
            <a:r>
              <a:rPr lang="es-CO" sz="1200" b="1" i="0" dirty="0">
                <a:solidFill>
                  <a:srgbClr val="003366"/>
                </a:solidFill>
                <a:latin typeface="Calibri"/>
              </a:rPr>
              <a:t>Elaborado por:</a:t>
            </a:r>
          </a:p>
        </p:txBody>
      </p:sp>
      <p:sp>
        <p:nvSpPr>
          <p:cNvPr id="37" name="V3"/>
          <p:cNvSpPr txBox="1"/>
          <p:nvPr/>
        </p:nvSpPr>
        <p:spPr>
          <a:xfrm>
            <a:off x="2400000" y="2660000"/>
            <a:ext cx="9150000" cy="32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Ing. Sebastián Mora Castillo — Jefe de Proyecto TI</a:t>
            </a:r>
          </a:p>
        </p:txBody>
      </p:sp>
      <p:sp>
        <p:nvSpPr>
          <p:cNvPr id="38" name="ObjHdr"/>
          <p:cNvSpPr txBox="1"/>
          <p:nvPr/>
        </p:nvSpPr>
        <p:spPr>
          <a:xfrm>
            <a:off x="350000" y="3040000"/>
            <a:ext cx="11200000" cy="320000"/>
          </a:xfrm>
          <a:prstGeom prst="rect">
            <a:avLst/>
          </a:prstGeom>
          <a:solidFill>
            <a:srgbClr val="1C4E8A"/>
          </a:solidFill>
        </p:spPr>
        <p:txBody>
          <a:bodyPr wrap="square" lIns="91440" tIns="45720" rIns="91440" bIns="45720">
            <a:spAutoFit/>
          </a:bodyPr>
          <a:lstStyle/>
          <a:p>
            <a:r>
              <a:rPr lang="es-CO" sz="1200" b="1" i="0" dirty="0">
                <a:solidFill>
                  <a:srgbClr val="FFFFFF"/>
                </a:solidFill>
                <a:latin typeface="Calibri"/>
              </a:rPr>
              <a:t>DETALLE DE COMPETENCIAS / OBJETIVOS DEL SOFTWARE</a:t>
            </a:r>
          </a:p>
        </p:txBody>
      </p:sp>
      <p:sp>
        <p:nvSpPr>
          <p:cNvPr id="40" name="O1"/>
          <p:cNvSpPr txBox="1"/>
          <p:nvPr/>
        </p:nvSpPr>
        <p:spPr>
          <a:xfrm>
            <a:off x="400000" y="3420000"/>
            <a:ext cx="11100000" cy="36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O1. Automatizar el proceso de matrícula de estudiantes por periodo, con validación de requisitos académicos y financieros.</a:t>
            </a:r>
          </a:p>
        </p:txBody>
      </p:sp>
      <p:sp>
        <p:nvSpPr>
          <p:cNvPr id="41" name="O2"/>
          <p:cNvSpPr txBox="1"/>
          <p:nvPr/>
        </p:nvSpPr>
        <p:spPr>
          <a:xfrm>
            <a:off x="400000" y="3830000"/>
            <a:ext cx="11100000" cy="360000"/>
          </a:xfrm>
          <a:prstGeom prst="rect">
            <a:avLst/>
          </a:prstGeom>
          <a:solidFill>
            <a:srgbClr val="F5F8FC"/>
          </a:solidFill>
        </p:spPr>
        <p:txBody>
          <a:bodyPr wrap="square" lIns="91440" tIns="45720" rIns="91440" bIns="45720">
            <a:spAutoFit/>
          </a:bodyPr>
          <a:lstStyle/>
          <a:p>
            <a:r>
              <a:rPr lang="es-CO" sz="1200" b="0" i="0" dirty="0">
                <a:solidFill>
                  <a:srgbClr val="333333"/>
                </a:solidFill>
                <a:latin typeface="Calibri"/>
              </a:rPr>
              <a:t>O2. Gestionar el plan de estudios de cada programa: asignaturas, créditos, prerrequisitos y correquisitos por cohorte de ingreso.</a:t>
            </a:r>
          </a:p>
        </p:txBody>
      </p:sp>
      <p:sp>
        <p:nvSpPr>
          <p:cNvPr id="42" name="O3"/>
          <p:cNvSpPr txBox="1"/>
          <p:nvPr/>
        </p:nvSpPr>
        <p:spPr>
          <a:xfrm>
            <a:off x="400000" y="4240000"/>
            <a:ext cx="11100000" cy="36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O3. Controlar el registro de calificaciones parciales y finales, con cierre controlado de actas y trazabilidad de modificaciones.</a:t>
            </a:r>
          </a:p>
        </p:txBody>
      </p:sp>
      <p:sp>
        <p:nvSpPr>
          <p:cNvPr id="43" name="O4"/>
          <p:cNvSpPr txBox="1"/>
          <p:nvPr/>
        </p:nvSpPr>
        <p:spPr>
          <a:xfrm>
            <a:off x="400000" y="4650000"/>
            <a:ext cx="11100000" cy="360000"/>
          </a:xfrm>
          <a:prstGeom prst="rect">
            <a:avLst/>
          </a:prstGeom>
          <a:solidFill>
            <a:srgbClr val="F5F8FC"/>
          </a:solidFill>
        </p:spPr>
        <p:txBody>
          <a:bodyPr wrap="square" lIns="91440" tIns="45720" rIns="91440" bIns="45720">
            <a:spAutoFit/>
          </a:bodyPr>
          <a:lstStyle/>
          <a:p>
            <a:r>
              <a:rPr lang="es-CO" sz="1200" b="0" i="0" dirty="0">
                <a:solidFill>
                  <a:srgbClr val="333333"/>
                </a:solidFill>
                <a:latin typeface="Calibri"/>
              </a:rPr>
              <a:t>O4. Seguimiento del historial académico individual con cálculo de promedio ponderado y detección de alertas de riesgo académico.</a:t>
            </a:r>
          </a:p>
        </p:txBody>
      </p:sp>
      <p:sp>
        <p:nvSpPr>
          <p:cNvPr id="44" name="O5"/>
          <p:cNvSpPr txBox="1"/>
          <p:nvPr/>
        </p:nvSpPr>
        <p:spPr>
          <a:xfrm>
            <a:off x="400000" y="5060000"/>
            <a:ext cx="11100000" cy="360000"/>
          </a:xfrm>
          <a:prstGeom prst="rect">
            <a:avLst/>
          </a:prstGeom>
          <a:solidFill>
            <a:srgbClr val="FFFFFF"/>
          </a:solidFill>
        </p:spPr>
        <p:txBody>
          <a:bodyPr wrap="square" lIns="91440" tIns="45720" rIns="91440" bIns="45720">
            <a:spAutoFit/>
          </a:bodyPr>
          <a:lstStyle/>
          <a:p>
            <a:r>
              <a:rPr lang="es-CO" sz="1200" b="0" i="0" dirty="0">
                <a:solidFill>
                  <a:srgbClr val="333333"/>
                </a:solidFill>
                <a:latin typeface="Calibri"/>
              </a:rPr>
              <a:t>O5. Generar documentos oficiales (certificados, constancias, paz y salvo) con firma electrónica institucional en formato PDF.</a:t>
            </a:r>
          </a:p>
        </p:txBody>
      </p:sp>
      <p:sp>
        <p:nvSpPr>
          <p:cNvPr id="45" name="O6"/>
          <p:cNvSpPr txBox="1"/>
          <p:nvPr/>
        </p:nvSpPr>
        <p:spPr>
          <a:xfrm>
            <a:off x="400000" y="5470000"/>
            <a:ext cx="11100000" cy="360000"/>
          </a:xfrm>
          <a:prstGeom prst="rect">
            <a:avLst/>
          </a:prstGeom>
          <a:solidFill>
            <a:srgbClr val="F5F8FC"/>
          </a:solidFill>
        </p:spPr>
        <p:txBody>
          <a:bodyPr wrap="square" lIns="91440" tIns="45720" rIns="91440" bIns="45720">
            <a:spAutoFit/>
          </a:bodyPr>
          <a:lstStyle/>
          <a:p>
            <a:r>
              <a:rPr lang="es-CO" sz="1200" b="0" i="0" dirty="0">
                <a:solidFill>
                  <a:srgbClr val="333333"/>
                </a:solidFill>
                <a:latin typeface="Calibri"/>
              </a:rPr>
              <a:t>O6. Proveer tableros de indicadores consolidados por programa, periodo y sede, exportables en PDF y Excel.</a:t>
            </a:r>
          </a:p>
        </p:txBody>
      </p:sp>
      <p:sp>
        <p:nvSpPr>
          <p:cNvPr id="50" name="FL"/>
          <p:cNvSpPr txBox="1"/>
          <p:nvPr/>
        </p:nvSpPr>
        <p:spPr>
          <a:xfrm>
            <a:off x="400000" y="5900000"/>
            <a:ext cx="5500000" cy="380000"/>
          </a:xfrm>
          <a:prstGeom prst="rect">
            <a:avLst/>
          </a:prstGeom>
          <a:solidFill>
            <a:srgbClr val="F0F4FA"/>
          </a:solidFill>
        </p:spPr>
        <p:txBody>
          <a:bodyPr wrap="square" lIns="91440" tIns="45720" rIns="91440" bIns="45720">
            <a:spAutoFit/>
          </a:bodyPr>
          <a:lstStyle/>
          <a:p>
            <a:r>
              <a:rPr lang="es-CO" sz="1100" b="0" i="0" dirty="0">
                <a:solidFill>
                  <a:srgbClr val="003366"/>
                </a:solidFill>
                <a:latin typeface="Calibri"/>
              </a:rPr>
              <a:t>Responsable del Proyecto de Sw:   Ing. Sebastián Mora Castillo  _____________</a:t>
            </a:r>
          </a:p>
        </p:txBody>
      </p:sp>
      <p:sp>
        <p:nvSpPr>
          <p:cNvPr id="51" name="FR"/>
          <p:cNvSpPr txBox="1"/>
          <p:nvPr/>
        </p:nvSpPr>
        <p:spPr>
          <a:xfrm>
            <a:off x="6100000" y="5900000"/>
            <a:ext cx="5700000" cy="380000"/>
          </a:xfrm>
          <a:prstGeom prst="rect">
            <a:avLst/>
          </a:prstGeom>
          <a:solidFill>
            <a:srgbClr val="F0F4FA"/>
          </a:solidFill>
        </p:spPr>
        <p:txBody>
          <a:bodyPr wrap="square" lIns="91440" tIns="45720" rIns="91440" bIns="45720">
            <a:spAutoFit/>
          </a:bodyPr>
          <a:lstStyle/>
          <a:p>
            <a:r>
              <a:rPr lang="es-CO" sz="1100" b="0" i="0" dirty="0">
                <a:solidFill>
                  <a:srgbClr val="003366"/>
                </a:solidFill>
                <a:latin typeface="Calibri"/>
              </a:rPr>
              <a:t>Responsable de la Institución:   Dra. Marcela Fuentes Ríos  _____________</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2 — Identificación de Stakeholders</a:t>
            </a: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12983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2 — Identificación y Registro de Stakeholders</a:t>
            </a:r>
          </a:p>
        </p:txBody>
      </p:sp>
      <p:sp>
        <p:nvSpPr>
          <p:cNvPr id="7" name="Content"/>
          <p:cNvSpPr/>
          <p:nvPr/>
        </p:nvSpPr>
        <p:spPr>
          <a:xfrm>
            <a:off x="421004" y="1600000"/>
            <a:ext cx="11210866" cy="4100000"/>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Se identifican, clasifican y formalizan todos los grupos de interés: stakeholders del lado usuario (directivo responsable y responsable delegado) y del equipo de desarrollo (jefe de proyecto y equipo técnico). Garantiza la trazabilidad de las fuentes de conocimiento, en consonancia con ISO/IEC 29110 para la gestión de partes interesadas.</a:t>
            </a: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Análisis de stakeholders (</a:t>
            </a:r>
            <a:r>
              <a:rPr lang="es-CO" sz="1400" i="1" dirty="0">
                <a:solidFill>
                  <a:srgbClr val="333333"/>
                </a:solidFill>
                <a:latin typeface="Calibri"/>
              </a:rPr>
              <a:t>stakeholder</a:t>
            </a:r>
            <a:r>
              <a:rPr lang="es-CO" sz="1400" dirty="0">
                <a:solidFill>
                  <a:srgbClr val="333333"/>
                </a:solidFill>
                <a:latin typeface="Calibri"/>
              </a:rPr>
              <a:t> </a:t>
            </a:r>
            <a:r>
              <a:rPr lang="es-CO" sz="1400" i="1" dirty="0" err="1">
                <a:solidFill>
                  <a:srgbClr val="333333"/>
                </a:solidFill>
                <a:latin typeface="Calibri"/>
              </a:rPr>
              <a:t>analysis</a:t>
            </a:r>
            <a:r>
              <a:rPr lang="es-CO" sz="1400" dirty="0">
                <a:solidFill>
                  <a:srgbClr val="333333"/>
                </a:solidFill>
                <a:latin typeface="Calibri"/>
              </a:rPr>
              <a:t>).</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Matrices RACI para asignación de roles.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Modelos de contexto organizacional.</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Revisión de organigramas y manuales de funciones.</a:t>
            </a:r>
          </a:p>
          <a:p>
            <a:pPr marL="0" lvl="0" indent="0">
              <a:lnSpc>
                <a:spcPct val="107000"/>
              </a:lnSpc>
              <a:spcAft>
                <a:spcPts val="200"/>
              </a:spcAft>
              <a:buNone/>
            </a:pPr>
            <a:r>
              <a:rPr lang="es-CO" sz="1500" b="1" dirty="0">
                <a:solidFill>
                  <a:srgbClr val="003366"/>
                </a:solidFill>
                <a:latin typeface="Calibri"/>
              </a:rPr>
              <a:t>Artefacto/entregable: (Instrumentos)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Definición de stakeholders (tabla clasificada con roles, responsabilidades y nivel de participación) (Tabla 3)</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Lista operativa de participantes por entrevistas y actividades del proceso. (Figura 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Tabla 3 — Definición de Stakeholders | Sistema de Gestión Académica</a:t>
            </a:r>
          </a:p>
        </p:txBody>
      </p:sp>
      <p:graphicFrame>
        <p:nvGraphicFramePr>
          <p:cNvPr id="10" name="TablaStakeholders"/>
          <p:cNvGraphicFramePr>
            <a:graphicFrameLocks noGrp="1"/>
          </p:cNvGraphicFramePr>
          <p:nvPr/>
        </p:nvGraphicFramePr>
        <p:xfrm>
          <a:off x="300000" y="1450000"/>
          <a:ext cx="11600000" cy="4671600"/>
        </p:xfrm>
        <a:graphic>
          <a:graphicData uri="http://schemas.openxmlformats.org/drawingml/2006/table">
            <a:tbl>
              <a:tblPr firstRow="1" bandRow="1">
                <a:tableStyleId>{5C22544A-7EE6-4342-B048-85BDC9FD1C3A}</a:tableStyleId>
              </a:tblPr>
              <a:tblGrid>
                <a:gridCol w="380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5200000">
                  <a:extLst>
                    <a:ext uri="{9D8B030D-6E8A-4147-A177-3AD203B41FA5}">
                      <a16:colId xmlns:a16="http://schemas.microsoft.com/office/drawing/2014/main" val="20002"/>
                    </a:ext>
                  </a:extLst>
                </a:gridCol>
              </a:tblGrid>
              <a:tr h="580000">
                <a:tc>
                  <a:txBody>
                    <a:bodyPr/>
                    <a:lstStyle/>
                    <a:p>
                      <a:r>
                        <a:rPr lang="es-CO" sz="1400" b="1" dirty="0">
                          <a:solidFill>
                            <a:srgbClr val="FFFFFF"/>
                          </a:solidFill>
                          <a:latin typeface="Calibri"/>
                        </a:rPr>
                        <a:t>Grupo</a:t>
                      </a:r>
                    </a:p>
                  </a:txBody>
                  <a:tcPr>
                    <a:solidFill>
                      <a:srgbClr val="003366"/>
                    </a:solidFill>
                  </a:tcPr>
                </a:tc>
                <a:tc>
                  <a:txBody>
                    <a:bodyPr/>
                    <a:lstStyle/>
                    <a:p>
                      <a:r>
                        <a:rPr lang="es-CO" sz="1400" b="1" dirty="0">
                          <a:solidFill>
                            <a:srgbClr val="FFFFFF"/>
                          </a:solidFill>
                          <a:latin typeface="Calibri"/>
                        </a:rPr>
                        <a:t>Rol / Stakeholder</a:t>
                      </a:r>
                    </a:p>
                  </a:txBody>
                  <a:tcPr>
                    <a:solidFill>
                      <a:srgbClr val="003366"/>
                    </a:solidFill>
                  </a:tcPr>
                </a:tc>
                <a:tc>
                  <a:txBody>
                    <a:bodyPr/>
                    <a:lstStyle/>
                    <a:p>
                      <a:r>
                        <a:rPr lang="es-CO" sz="1400" b="1" dirty="0">
                          <a:solidFill>
                            <a:srgbClr val="FFFFFF"/>
                          </a:solidFill>
                          <a:latin typeface="Calibri"/>
                        </a:rPr>
                        <a:t>Responsabilidad en el proyecto</a:t>
                      </a:r>
                    </a:p>
                  </a:txBody>
                  <a:tcPr>
                    <a:solidFill>
                      <a:srgbClr val="003366"/>
                    </a:solidFill>
                  </a:tcPr>
                </a:tc>
                <a:extLst>
                  <a:ext uri="{0D108BD9-81ED-4DB2-BD59-A6C34878D82A}">
                    <a16:rowId xmlns:a16="http://schemas.microsoft.com/office/drawing/2014/main" val="10000"/>
                  </a:ext>
                </a:extLst>
              </a:tr>
              <a:tr h="700000">
                <a:tc>
                  <a:txBody>
                    <a:bodyPr/>
                    <a:lstStyle/>
                    <a:p>
                      <a:r>
                        <a:rPr lang="es-CO" sz="1300" b="1" dirty="0">
                          <a:solidFill>
                            <a:srgbClr val="003366"/>
                          </a:solidFill>
                          <a:latin typeface="Calibri"/>
                        </a:rPr>
                        <a:t>De parte de la</a:t>
                      </a:r>
                    </a:p>
                    <a:p>
                      <a:r>
                        <a:rPr lang="es-CO" sz="1300" b="1" dirty="0">
                          <a:solidFill>
                            <a:srgbClr val="003366"/>
                          </a:solidFill>
                          <a:latin typeface="Calibri"/>
                        </a:rPr>
                        <a:t>institución usuaria</a:t>
                      </a:r>
                    </a:p>
                  </a:txBody>
                  <a:tcPr>
                    <a:solidFill>
                      <a:srgbClr val="E3EBF5"/>
                    </a:solidFill>
                  </a:tcPr>
                </a:tc>
                <a:tc>
                  <a:txBody>
                    <a:bodyPr/>
                    <a:lstStyle/>
                    <a:p>
                      <a:r>
                        <a:rPr lang="es-CO" sz="1300" b="1" dirty="0">
                          <a:solidFill>
                            <a:srgbClr val="1C4E8A"/>
                          </a:solidFill>
                          <a:latin typeface="Calibri"/>
                        </a:rPr>
                        <a:t>Directivo responsable</a:t>
                      </a:r>
                    </a:p>
                  </a:txBody>
                  <a:tcPr>
                    <a:solidFill>
                      <a:srgbClr val="E3EBF5"/>
                    </a:solidFill>
                  </a:tcPr>
                </a:tc>
                <a:tc>
                  <a:txBody>
                    <a:bodyPr/>
                    <a:lstStyle/>
                    <a:p>
                      <a:r>
                        <a:rPr lang="es-CO" sz="1300" dirty="0">
                          <a:solidFill>
                            <a:srgbClr val="333333"/>
                          </a:solidFill>
                          <a:latin typeface="Calibri"/>
                        </a:rPr>
                        <a:t>Dra. Marcela Fuentes Ríos — Vicerrectora Académica. Aprueba el alcance del proyecto y los recursos asignados. Firma el Acta de Definición de Objetivos.</a:t>
                      </a:r>
                    </a:p>
                  </a:txBody>
                  <a:tcPr>
                    <a:solidFill>
                      <a:srgbClr val="E3EBF5"/>
                    </a:solidFill>
                  </a:tcPr>
                </a:tc>
                <a:extLst>
                  <a:ext uri="{0D108BD9-81ED-4DB2-BD59-A6C34878D82A}">
                    <a16:rowId xmlns:a16="http://schemas.microsoft.com/office/drawing/2014/main" val="10001"/>
                  </a:ext>
                </a:extLst>
              </a:tr>
              <a:tr h="700000">
                <a:tc>
                  <a:txBody>
                    <a:bodyPr/>
                    <a:lstStyle/>
                    <a:p>
                      <a:endParaRPr lang="es-CO" sz="1300" dirty="0"/>
                    </a:p>
                  </a:txBody>
                  <a:tcPr>
                    <a:solidFill>
                      <a:srgbClr val="F5F8FC"/>
                    </a:solidFill>
                  </a:tcPr>
                </a:tc>
                <a:tc>
                  <a:txBody>
                    <a:bodyPr/>
                    <a:lstStyle/>
                    <a:p>
                      <a:r>
                        <a:rPr lang="es-CO" sz="1300" b="1" dirty="0">
                          <a:solidFill>
                            <a:srgbClr val="1C4E8A"/>
                          </a:solidFill>
                          <a:latin typeface="Calibri"/>
                        </a:rPr>
                        <a:t>Responsable delegado</a:t>
                      </a:r>
                    </a:p>
                  </a:txBody>
                  <a:tcPr>
                    <a:solidFill>
                      <a:srgbClr val="F5F8FC"/>
                    </a:solidFill>
                  </a:tcPr>
                </a:tc>
                <a:tc>
                  <a:txBody>
                    <a:bodyPr/>
                    <a:lstStyle/>
                    <a:p>
                      <a:r>
                        <a:rPr lang="es-CO" sz="1300" dirty="0">
                          <a:solidFill>
                            <a:srgbClr val="333333"/>
                          </a:solidFill>
                          <a:latin typeface="Calibri"/>
                        </a:rPr>
                        <a:t>Ing. Carolina Ríos Salazar — Coordinadora Académica. Nexo operativo oficial entre la institución y el equipo de desarrollo. Participa en entrevistas y valida actas.</a:t>
                      </a:r>
                    </a:p>
                  </a:txBody>
                  <a:tcPr>
                    <a:solidFill>
                      <a:srgbClr val="F5F8FC"/>
                    </a:solidFill>
                  </a:tcPr>
                </a:tc>
                <a:extLst>
                  <a:ext uri="{0D108BD9-81ED-4DB2-BD59-A6C34878D82A}">
                    <a16:rowId xmlns:a16="http://schemas.microsoft.com/office/drawing/2014/main" val="10002"/>
                  </a:ext>
                </a:extLst>
              </a:tr>
              <a:tr h="650000">
                <a:tc>
                  <a:txBody>
                    <a:bodyPr/>
                    <a:lstStyle/>
                    <a:p>
                      <a:endParaRPr lang="es-CO" sz="1300" dirty="0"/>
                    </a:p>
                  </a:txBody>
                  <a:tcPr>
                    <a:solidFill>
                      <a:srgbClr val="E3EBF5"/>
                    </a:solidFill>
                  </a:tcPr>
                </a:tc>
                <a:tc>
                  <a:txBody>
                    <a:bodyPr/>
                    <a:lstStyle/>
                    <a:p>
                      <a:r>
                        <a:rPr lang="es-CO" sz="1300" b="1" dirty="0">
                          <a:solidFill>
                            <a:srgbClr val="1C4E8A"/>
                          </a:solidFill>
                          <a:latin typeface="Calibri"/>
                        </a:rPr>
                        <a:t>Usuarios operativos (U001–U006)</a:t>
                      </a:r>
                    </a:p>
                  </a:txBody>
                  <a:tcPr>
                    <a:solidFill>
                      <a:srgbClr val="E3EBF5"/>
                    </a:solidFill>
                  </a:tcPr>
                </a:tc>
                <a:tc>
                  <a:txBody>
                    <a:bodyPr/>
                    <a:lstStyle/>
                    <a:p>
                      <a:r>
                        <a:rPr lang="es-CO" sz="1300" dirty="0">
                          <a:solidFill>
                            <a:srgbClr val="333333"/>
                          </a:solidFill>
                          <a:latin typeface="Calibri"/>
                        </a:rPr>
                        <a:t>Auxiliar de Secretaría, Coordinador de Programa, Docente, Estudiante, Director Académico, Administrador. Participan en entrevistas y validan información de sus escenarios.</a:t>
                      </a:r>
                    </a:p>
                  </a:txBody>
                  <a:tcPr>
                    <a:solidFill>
                      <a:srgbClr val="E3EBF5"/>
                    </a:solidFill>
                  </a:tcPr>
                </a:tc>
                <a:extLst>
                  <a:ext uri="{0D108BD9-81ED-4DB2-BD59-A6C34878D82A}">
                    <a16:rowId xmlns:a16="http://schemas.microsoft.com/office/drawing/2014/main" val="10003"/>
                  </a:ext>
                </a:extLst>
              </a:tr>
              <a:tr h="700000">
                <a:tc>
                  <a:txBody>
                    <a:bodyPr/>
                    <a:lstStyle/>
                    <a:p>
                      <a:r>
                        <a:rPr lang="es-CO" sz="1300" b="1" dirty="0">
                          <a:solidFill>
                            <a:srgbClr val="FFFFFF"/>
                          </a:solidFill>
                          <a:latin typeface="Calibri"/>
                        </a:rPr>
                        <a:t>De parte del</a:t>
                      </a:r>
                    </a:p>
                    <a:p>
                      <a:r>
                        <a:rPr lang="es-CO" sz="1300" b="1" dirty="0">
                          <a:solidFill>
                            <a:srgbClr val="FFFFFF"/>
                          </a:solidFill>
                          <a:latin typeface="Calibri"/>
                        </a:rPr>
                        <a:t>equipo del proyecto</a:t>
                      </a:r>
                    </a:p>
                  </a:txBody>
                  <a:tcPr>
                    <a:solidFill>
                      <a:srgbClr val="1C4E8A"/>
                    </a:solidFill>
                  </a:tcPr>
                </a:tc>
                <a:tc>
                  <a:txBody>
                    <a:bodyPr/>
                    <a:lstStyle/>
                    <a:p>
                      <a:r>
                        <a:rPr lang="es-CO" sz="1300" b="1" dirty="0">
                          <a:solidFill>
                            <a:srgbClr val="003366"/>
                          </a:solidFill>
                          <a:latin typeface="Calibri"/>
                        </a:rPr>
                        <a:t>Jefe de Proyecto</a:t>
                      </a:r>
                    </a:p>
                  </a:txBody>
                  <a:tcPr>
                    <a:solidFill>
                      <a:srgbClr val="F5F8FC"/>
                    </a:solidFill>
                  </a:tcPr>
                </a:tc>
                <a:tc>
                  <a:txBody>
                    <a:bodyPr/>
                    <a:lstStyle/>
                    <a:p>
                      <a:r>
                        <a:rPr lang="es-CO" sz="1300" dirty="0">
                          <a:solidFill>
                            <a:srgbClr val="333333"/>
                          </a:solidFill>
                          <a:latin typeface="Calibri"/>
                        </a:rPr>
                        <a:t>Ing. Sebastián Mora Castillo. Lidera el equipo de desarrollo, facilita recursos técnicos y tecnológicos, coordina con los stakeholders de la parte usuaria y toma decisiones de alcance.</a:t>
                      </a:r>
                    </a:p>
                  </a:txBody>
                  <a:tcPr>
                    <a:solidFill>
                      <a:srgbClr val="F5F8FC"/>
                    </a:solidFill>
                  </a:tcPr>
                </a:tc>
                <a:extLst>
                  <a:ext uri="{0D108BD9-81ED-4DB2-BD59-A6C34878D82A}">
                    <a16:rowId xmlns:a16="http://schemas.microsoft.com/office/drawing/2014/main" val="10004"/>
                  </a:ext>
                </a:extLst>
              </a:tr>
              <a:tr h="650000">
                <a:tc>
                  <a:txBody>
                    <a:bodyPr/>
                    <a:lstStyle/>
                    <a:p>
                      <a:endParaRPr lang="es-CO" sz="1300" dirty="0"/>
                    </a:p>
                  </a:txBody>
                  <a:tcPr>
                    <a:solidFill>
                      <a:srgbClr val="1C4E8A"/>
                    </a:solidFill>
                  </a:tcPr>
                </a:tc>
                <a:tc>
                  <a:txBody>
                    <a:bodyPr/>
                    <a:lstStyle/>
                    <a:p>
                      <a:r>
                        <a:rPr lang="es-CO" sz="1300" b="1" dirty="0">
                          <a:solidFill>
                            <a:srgbClr val="003366"/>
                          </a:solidFill>
                          <a:latin typeface="Calibri"/>
                        </a:rPr>
                        <a:t>Analistas de requisitos</a:t>
                      </a:r>
                    </a:p>
                  </a:txBody>
                  <a:tcPr>
                    <a:solidFill>
                      <a:srgbClr val="E3EBF5"/>
                    </a:solidFill>
                  </a:tcPr>
                </a:tc>
                <a:tc>
                  <a:txBody>
                    <a:bodyPr/>
                    <a:lstStyle/>
                    <a:p>
                      <a:r>
                        <a:rPr lang="es-CO" sz="1300" dirty="0">
                          <a:solidFill>
                            <a:srgbClr val="333333"/>
                          </a:solidFill>
                          <a:latin typeface="Calibri"/>
                        </a:rPr>
                        <a:t>Ing. Paola Méndez / Ing. Ricardo Torres. Conducen entrevistas, elaboran fichas de caracterización de escenarios y redactan las especificaciones de requisitos funcionales.</a:t>
                      </a:r>
                    </a:p>
                  </a:txBody>
                  <a:tcPr>
                    <a:solidFill>
                      <a:srgbClr val="E3EBF5"/>
                    </a:solidFill>
                  </a:tcPr>
                </a:tc>
                <a:extLst>
                  <a:ext uri="{0D108BD9-81ED-4DB2-BD59-A6C34878D82A}">
                    <a16:rowId xmlns:a16="http://schemas.microsoft.com/office/drawing/2014/main" val="10005"/>
                  </a:ext>
                </a:extLst>
              </a:tr>
              <a:tr h="620000">
                <a:tc>
                  <a:txBody>
                    <a:bodyPr/>
                    <a:lstStyle/>
                    <a:p>
                      <a:endParaRPr lang="es-CO" sz="1300" dirty="0"/>
                    </a:p>
                  </a:txBody>
                  <a:tcPr>
                    <a:solidFill>
                      <a:srgbClr val="1C4E8A"/>
                    </a:solidFill>
                  </a:tcPr>
                </a:tc>
                <a:tc>
                  <a:txBody>
                    <a:bodyPr/>
                    <a:lstStyle/>
                    <a:p>
                      <a:r>
                        <a:rPr lang="es-CO" sz="1300" b="1" dirty="0">
                          <a:solidFill>
                            <a:srgbClr val="003366"/>
                          </a:solidFill>
                          <a:latin typeface="Calibri"/>
                        </a:rPr>
                        <a:t>Arquitecto de software</a:t>
                      </a:r>
                    </a:p>
                  </a:txBody>
                  <a:tcPr>
                    <a:solidFill>
                      <a:srgbClr val="F5F8FC"/>
                    </a:solidFill>
                  </a:tcPr>
                </a:tc>
                <a:tc>
                  <a:txBody>
                    <a:bodyPr/>
                    <a:lstStyle/>
                    <a:p>
                      <a:r>
                        <a:rPr lang="es-CO" sz="1300" dirty="0">
                          <a:solidFill>
                            <a:srgbClr val="333333"/>
                          </a:solidFill>
                          <a:latin typeface="Calibri"/>
                        </a:rPr>
                        <a:t>Ing. Laura Ospina. Revisa la viabilidad técnica de los requisitos y orienta la modularidad funcional durante la fase de elicitación.</a:t>
                      </a:r>
                    </a:p>
                  </a:txBody>
                  <a:tcPr>
                    <a:solidFill>
                      <a:srgbClr val="F5F8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4 — Relación Operativa de Personal a Participar | UCONOCIMIENTO</a:t>
            </a:r>
          </a:p>
        </p:txBody>
      </p:sp>
      <p:sp>
        <p:nvSpPr>
          <p:cNvPr id="20" name="rect20"/>
          <p:cNvSpPr/>
          <p:nvPr/>
        </p:nvSpPr>
        <p:spPr>
          <a:xfrm>
            <a:off x="300000" y="1450000"/>
            <a:ext cx="11600000" cy="5000000"/>
          </a:xfrm>
          <a:prstGeom prst="rect">
            <a:avLst/>
          </a:prstGeom>
          <a:solidFill>
            <a:srgbClr val="F5F8FC"/>
          </a:solidFill>
          <a:ln w="19050">
            <a:solidFill>
              <a:srgbClr val="0033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ormHdr"/>
          <p:cNvSpPr/>
          <p:nvPr/>
        </p:nvSpPr>
        <p:spPr>
          <a:xfrm>
            <a:off x="300000" y="1450000"/>
            <a:ext cx="11600000" cy="42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500" b="1" i="0" u="none" strike="noStrike" kern="1200" cap="none" spc="0" normalizeH="0" baseline="0" noProof="0" dirty="0">
                <a:ln>
                  <a:noFill/>
                </a:ln>
                <a:solidFill>
                  <a:srgbClr val="FFFFFF"/>
                </a:solidFill>
                <a:effectLst/>
                <a:uLnTx/>
                <a:uFillTx/>
                <a:latin typeface="Calibri"/>
                <a:ea typeface="+mn-ea"/>
                <a:cs typeface="+mn-cs"/>
              </a:rPr>
              <a:t>RELACIÓN DE PERSONAL A PARTICIPAR</a:t>
            </a:r>
          </a:p>
        </p:txBody>
      </p:sp>
      <p:sp>
        <p:nvSpPr>
          <p:cNvPr id="30" name="sp30"/>
          <p:cNvSpPr txBox="1"/>
          <p:nvPr/>
        </p:nvSpPr>
        <p:spPr>
          <a:xfrm>
            <a:off x="350000" y="1930000"/>
            <a:ext cx="3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a:t>
            </a:r>
          </a:p>
        </p:txBody>
      </p:sp>
      <p:sp>
        <p:nvSpPr>
          <p:cNvPr id="31" name="sp31"/>
          <p:cNvSpPr txBox="1"/>
          <p:nvPr/>
        </p:nvSpPr>
        <p:spPr>
          <a:xfrm>
            <a:off x="3600000" y="1930000"/>
            <a:ext cx="8200000" cy="276999"/>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Sistema de Gestión Académica — Universidad Regional del </a:t>
            </a:r>
            <a:r>
              <a:rPr lang="es-CO" sz="1200" dirty="0">
                <a:solidFill>
                  <a:srgbClr val="333333"/>
                </a:solidFill>
                <a:latin typeface="Calibri"/>
              </a:rPr>
              <a:t>Conocimiento</a:t>
            </a: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p:txBody>
      </p:sp>
      <p:sp>
        <p:nvSpPr>
          <p:cNvPr id="32" name="sp32"/>
          <p:cNvSpPr txBox="1"/>
          <p:nvPr/>
        </p:nvSpPr>
        <p:spPr>
          <a:xfrm>
            <a:off x="350000" y="2290000"/>
            <a:ext cx="28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Fecha de elaboración:</a:t>
            </a:r>
          </a:p>
        </p:txBody>
      </p:sp>
      <p:sp>
        <p:nvSpPr>
          <p:cNvPr id="33" name="sp33"/>
          <p:cNvSpPr txBox="1"/>
          <p:nvPr/>
        </p:nvSpPr>
        <p:spPr>
          <a:xfrm>
            <a:off x="3200000" y="2290000"/>
            <a:ext cx="20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06 / 06 / 2025</a:t>
            </a:r>
          </a:p>
        </p:txBody>
      </p:sp>
      <p:sp>
        <p:nvSpPr>
          <p:cNvPr id="40" name="rect40"/>
          <p:cNvSpPr/>
          <p:nvPr/>
        </p:nvSpPr>
        <p:spPr>
          <a:xfrm>
            <a:off x="350000" y="2660000"/>
            <a:ext cx="11500000" cy="340000"/>
          </a:xfrm>
          <a:prstGeom prst="rect">
            <a:avLst/>
          </a:prstGeom>
          <a:solidFill>
            <a:srgbClr val="1C4E8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p41"/>
          <p:cNvSpPr txBox="1"/>
          <p:nvPr/>
        </p:nvSpPr>
        <p:spPr>
          <a:xfrm>
            <a:off x="360000" y="2670000"/>
            <a:ext cx="600000" cy="32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N°</a:t>
            </a:r>
          </a:p>
        </p:txBody>
      </p:sp>
      <p:sp>
        <p:nvSpPr>
          <p:cNvPr id="42" name="sp42"/>
          <p:cNvSpPr txBox="1"/>
          <p:nvPr/>
        </p:nvSpPr>
        <p:spPr>
          <a:xfrm>
            <a:off x="1000000" y="2670000"/>
            <a:ext cx="3000000" cy="32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Apellidos y Nombres</a:t>
            </a:r>
          </a:p>
        </p:txBody>
      </p:sp>
      <p:sp>
        <p:nvSpPr>
          <p:cNvPr id="43" name="sp43"/>
          <p:cNvSpPr txBox="1"/>
          <p:nvPr/>
        </p:nvSpPr>
        <p:spPr>
          <a:xfrm>
            <a:off x="4050000" y="2670000"/>
            <a:ext cx="2000000" cy="32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Cargo</a:t>
            </a:r>
          </a:p>
        </p:txBody>
      </p:sp>
      <p:sp>
        <p:nvSpPr>
          <p:cNvPr id="44" name="sp44"/>
          <p:cNvSpPr txBox="1"/>
          <p:nvPr/>
        </p:nvSpPr>
        <p:spPr>
          <a:xfrm>
            <a:off x="6100000" y="2670000"/>
            <a:ext cx="2800000" cy="32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Datos de Contacto</a:t>
            </a:r>
          </a:p>
        </p:txBody>
      </p:sp>
      <p:sp>
        <p:nvSpPr>
          <p:cNvPr id="45" name="sp45"/>
          <p:cNvSpPr txBox="1"/>
          <p:nvPr/>
        </p:nvSpPr>
        <p:spPr>
          <a:xfrm>
            <a:off x="8950000" y="2670000"/>
            <a:ext cx="2800000" cy="32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Motivo de Participación</a:t>
            </a:r>
          </a:p>
        </p:txBody>
      </p:sp>
      <p:sp>
        <p:nvSpPr>
          <p:cNvPr id="100" name="sp100"/>
          <p:cNvSpPr txBox="1"/>
          <p:nvPr/>
        </p:nvSpPr>
        <p:spPr>
          <a:xfrm>
            <a:off x="360000" y="3060000"/>
            <a:ext cx="6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01</a:t>
            </a:r>
          </a:p>
        </p:txBody>
      </p:sp>
      <p:sp>
        <p:nvSpPr>
          <p:cNvPr id="101" name="sp101"/>
          <p:cNvSpPr txBox="1"/>
          <p:nvPr/>
        </p:nvSpPr>
        <p:spPr>
          <a:xfrm>
            <a:off x="1000000" y="3060000"/>
            <a:ext cx="3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Fuentes Ríos, Marcela</a:t>
            </a:r>
          </a:p>
        </p:txBody>
      </p:sp>
      <p:sp>
        <p:nvSpPr>
          <p:cNvPr id="102" name="sp102"/>
          <p:cNvSpPr txBox="1"/>
          <p:nvPr/>
        </p:nvSpPr>
        <p:spPr>
          <a:xfrm>
            <a:off x="4050000" y="3060000"/>
            <a:ext cx="2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Vicerrectora Académica</a:t>
            </a:r>
          </a:p>
        </p:txBody>
      </p:sp>
      <p:sp>
        <p:nvSpPr>
          <p:cNvPr id="103" name="sp103"/>
          <p:cNvSpPr txBox="1"/>
          <p:nvPr/>
        </p:nvSpPr>
        <p:spPr>
          <a:xfrm>
            <a:off x="6100000" y="3060000"/>
            <a:ext cx="2800000" cy="415498"/>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317 420 8800
e-mail: mfuentes@unicon.edu.co</a:t>
            </a:r>
          </a:p>
        </p:txBody>
      </p:sp>
      <p:sp>
        <p:nvSpPr>
          <p:cNvPr id="104" name="sp104"/>
          <p:cNvSpPr txBox="1"/>
          <p:nvPr/>
        </p:nvSpPr>
        <p:spPr>
          <a:xfrm>
            <a:off x="8950000" y="3060000"/>
            <a:ext cx="28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Aprobación de alcance y firma de actas</a:t>
            </a:r>
          </a:p>
        </p:txBody>
      </p:sp>
      <p:sp>
        <p:nvSpPr>
          <p:cNvPr id="110" name="sp110"/>
          <p:cNvSpPr txBox="1"/>
          <p:nvPr/>
        </p:nvSpPr>
        <p:spPr>
          <a:xfrm>
            <a:off x="360000" y="3480000"/>
            <a:ext cx="6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02</a:t>
            </a:r>
          </a:p>
        </p:txBody>
      </p:sp>
      <p:sp>
        <p:nvSpPr>
          <p:cNvPr id="111" name="sp111"/>
          <p:cNvSpPr txBox="1"/>
          <p:nvPr/>
        </p:nvSpPr>
        <p:spPr>
          <a:xfrm>
            <a:off x="1000000" y="3480000"/>
            <a:ext cx="3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Ríos Salazar, Carolina</a:t>
            </a:r>
          </a:p>
        </p:txBody>
      </p:sp>
      <p:sp>
        <p:nvSpPr>
          <p:cNvPr id="112" name="sp112"/>
          <p:cNvSpPr txBox="1"/>
          <p:nvPr/>
        </p:nvSpPr>
        <p:spPr>
          <a:xfrm>
            <a:off x="4050000" y="3480000"/>
            <a:ext cx="2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Coordinadora Académica</a:t>
            </a:r>
          </a:p>
        </p:txBody>
      </p:sp>
      <p:sp>
        <p:nvSpPr>
          <p:cNvPr id="113" name="sp113"/>
          <p:cNvSpPr txBox="1"/>
          <p:nvPr/>
        </p:nvSpPr>
        <p:spPr>
          <a:xfrm>
            <a:off x="6100000" y="3480000"/>
            <a:ext cx="2800000" cy="415498"/>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312 555 0192
e-mail: crios@unicon.edu.co</a:t>
            </a:r>
          </a:p>
        </p:txBody>
      </p:sp>
      <p:sp>
        <p:nvSpPr>
          <p:cNvPr id="114" name="sp114"/>
          <p:cNvSpPr txBox="1"/>
          <p:nvPr/>
        </p:nvSpPr>
        <p:spPr>
          <a:xfrm>
            <a:off x="8950000" y="3480000"/>
            <a:ext cx="28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Enlace operativo; validación de entrevistas</a:t>
            </a:r>
          </a:p>
        </p:txBody>
      </p:sp>
      <p:sp>
        <p:nvSpPr>
          <p:cNvPr id="120" name="sp120"/>
          <p:cNvSpPr txBox="1"/>
          <p:nvPr/>
        </p:nvSpPr>
        <p:spPr>
          <a:xfrm>
            <a:off x="360000" y="3900000"/>
            <a:ext cx="6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03</a:t>
            </a:r>
          </a:p>
        </p:txBody>
      </p:sp>
      <p:sp>
        <p:nvSpPr>
          <p:cNvPr id="121" name="sp121"/>
          <p:cNvSpPr txBox="1"/>
          <p:nvPr/>
        </p:nvSpPr>
        <p:spPr>
          <a:xfrm>
            <a:off x="1000000" y="3900000"/>
            <a:ext cx="3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López Vega, Juan Manuel</a:t>
            </a:r>
          </a:p>
        </p:txBody>
      </p:sp>
      <p:sp>
        <p:nvSpPr>
          <p:cNvPr id="122" name="sp122"/>
          <p:cNvSpPr txBox="1"/>
          <p:nvPr/>
        </p:nvSpPr>
        <p:spPr>
          <a:xfrm>
            <a:off x="4050000" y="3900000"/>
            <a:ext cx="2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Auxiliar de Secretaría</a:t>
            </a:r>
          </a:p>
        </p:txBody>
      </p:sp>
      <p:sp>
        <p:nvSpPr>
          <p:cNvPr id="123" name="sp123"/>
          <p:cNvSpPr txBox="1"/>
          <p:nvPr/>
        </p:nvSpPr>
        <p:spPr>
          <a:xfrm>
            <a:off x="6100000" y="3900000"/>
            <a:ext cx="2800000" cy="415498"/>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311 874 3300
e-mail: jlopez@unicon.edu.co</a:t>
            </a:r>
          </a:p>
        </p:txBody>
      </p:sp>
      <p:sp>
        <p:nvSpPr>
          <p:cNvPr id="124" name="sp124"/>
          <p:cNvSpPr txBox="1"/>
          <p:nvPr/>
        </p:nvSpPr>
        <p:spPr>
          <a:xfrm>
            <a:off x="8950000" y="3900000"/>
            <a:ext cx="28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Fuente: proceso de matrícula y actas</a:t>
            </a:r>
          </a:p>
        </p:txBody>
      </p:sp>
      <p:sp>
        <p:nvSpPr>
          <p:cNvPr id="130" name="sp130"/>
          <p:cNvSpPr txBox="1"/>
          <p:nvPr/>
        </p:nvSpPr>
        <p:spPr>
          <a:xfrm>
            <a:off x="360000" y="4320000"/>
            <a:ext cx="6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04</a:t>
            </a:r>
          </a:p>
        </p:txBody>
      </p:sp>
      <p:sp>
        <p:nvSpPr>
          <p:cNvPr id="131" name="sp131"/>
          <p:cNvSpPr txBox="1"/>
          <p:nvPr/>
        </p:nvSpPr>
        <p:spPr>
          <a:xfrm>
            <a:off x="1000000" y="4320000"/>
            <a:ext cx="3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Gómez Herrera, Sandra</a:t>
            </a:r>
          </a:p>
        </p:txBody>
      </p:sp>
      <p:sp>
        <p:nvSpPr>
          <p:cNvPr id="132" name="sp132"/>
          <p:cNvSpPr txBox="1"/>
          <p:nvPr/>
        </p:nvSpPr>
        <p:spPr>
          <a:xfrm>
            <a:off x="4050000" y="4320000"/>
            <a:ext cx="2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Coordinadora de Programa</a:t>
            </a:r>
          </a:p>
        </p:txBody>
      </p:sp>
      <p:sp>
        <p:nvSpPr>
          <p:cNvPr id="133" name="sp133"/>
          <p:cNvSpPr txBox="1"/>
          <p:nvPr/>
        </p:nvSpPr>
        <p:spPr>
          <a:xfrm>
            <a:off x="6100000" y="4320000"/>
            <a:ext cx="2800000" cy="415498"/>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314 602 1150
e-mail: sgomez@unicon.edu.co</a:t>
            </a:r>
          </a:p>
        </p:txBody>
      </p:sp>
      <p:sp>
        <p:nvSpPr>
          <p:cNvPr id="134" name="sp134"/>
          <p:cNvSpPr txBox="1"/>
          <p:nvPr/>
        </p:nvSpPr>
        <p:spPr>
          <a:xfrm>
            <a:off x="8950000" y="4320000"/>
            <a:ext cx="28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Fuente: asignación docente y horarios</a:t>
            </a:r>
          </a:p>
        </p:txBody>
      </p:sp>
      <p:sp>
        <p:nvSpPr>
          <p:cNvPr id="140" name="sp140"/>
          <p:cNvSpPr txBox="1"/>
          <p:nvPr/>
        </p:nvSpPr>
        <p:spPr>
          <a:xfrm>
            <a:off x="360000" y="4740000"/>
            <a:ext cx="6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05</a:t>
            </a:r>
          </a:p>
        </p:txBody>
      </p:sp>
      <p:sp>
        <p:nvSpPr>
          <p:cNvPr id="141" name="sp141"/>
          <p:cNvSpPr txBox="1"/>
          <p:nvPr/>
        </p:nvSpPr>
        <p:spPr>
          <a:xfrm>
            <a:off x="1000000" y="4740000"/>
            <a:ext cx="3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Pérez Aranda, Carlos A.</a:t>
            </a:r>
          </a:p>
        </p:txBody>
      </p:sp>
      <p:sp>
        <p:nvSpPr>
          <p:cNvPr id="142" name="sp142"/>
          <p:cNvSpPr txBox="1"/>
          <p:nvPr/>
        </p:nvSpPr>
        <p:spPr>
          <a:xfrm>
            <a:off x="4050000" y="4740000"/>
            <a:ext cx="2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Docente — Ingeniería Sistemas</a:t>
            </a:r>
          </a:p>
        </p:txBody>
      </p:sp>
      <p:sp>
        <p:nvSpPr>
          <p:cNvPr id="143" name="sp143"/>
          <p:cNvSpPr txBox="1"/>
          <p:nvPr/>
        </p:nvSpPr>
        <p:spPr>
          <a:xfrm>
            <a:off x="6100000" y="4740000"/>
            <a:ext cx="2800000" cy="415498"/>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318 730 4421
e-mail: cperez@unicon.edu.co</a:t>
            </a:r>
          </a:p>
        </p:txBody>
      </p:sp>
      <p:sp>
        <p:nvSpPr>
          <p:cNvPr id="144" name="sp144"/>
          <p:cNvSpPr txBox="1"/>
          <p:nvPr/>
        </p:nvSpPr>
        <p:spPr>
          <a:xfrm>
            <a:off x="8950000" y="4740000"/>
            <a:ext cx="28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Fuente: registro de notas y asistencia</a:t>
            </a:r>
          </a:p>
        </p:txBody>
      </p:sp>
      <p:sp>
        <p:nvSpPr>
          <p:cNvPr id="150" name="sp150"/>
          <p:cNvSpPr txBox="1"/>
          <p:nvPr/>
        </p:nvSpPr>
        <p:spPr>
          <a:xfrm>
            <a:off x="360000" y="5160000"/>
            <a:ext cx="6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06</a:t>
            </a:r>
          </a:p>
        </p:txBody>
      </p:sp>
      <p:sp>
        <p:nvSpPr>
          <p:cNvPr id="151" name="sp151"/>
          <p:cNvSpPr txBox="1"/>
          <p:nvPr/>
        </p:nvSpPr>
        <p:spPr>
          <a:xfrm>
            <a:off x="1000000" y="5160000"/>
            <a:ext cx="3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Mora Castillo, Sebastián</a:t>
            </a:r>
          </a:p>
        </p:txBody>
      </p:sp>
      <p:sp>
        <p:nvSpPr>
          <p:cNvPr id="152" name="sp152"/>
          <p:cNvSpPr txBox="1"/>
          <p:nvPr/>
        </p:nvSpPr>
        <p:spPr>
          <a:xfrm>
            <a:off x="4050000" y="5160000"/>
            <a:ext cx="2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Jefe de Proyecto TI</a:t>
            </a:r>
          </a:p>
        </p:txBody>
      </p:sp>
      <p:sp>
        <p:nvSpPr>
          <p:cNvPr id="153" name="sp153"/>
          <p:cNvSpPr txBox="1"/>
          <p:nvPr/>
        </p:nvSpPr>
        <p:spPr>
          <a:xfrm>
            <a:off x="6100000" y="5160000"/>
            <a:ext cx="2800000" cy="415498"/>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310 245 9900
e-mail: smora@unicon.edu.co</a:t>
            </a:r>
          </a:p>
        </p:txBody>
      </p:sp>
      <p:sp>
        <p:nvSpPr>
          <p:cNvPr id="154" name="sp154"/>
          <p:cNvSpPr txBox="1"/>
          <p:nvPr/>
        </p:nvSpPr>
        <p:spPr>
          <a:xfrm>
            <a:off x="8950000" y="5160000"/>
            <a:ext cx="28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Coordinación general del equipo técnico</a:t>
            </a:r>
          </a:p>
        </p:txBody>
      </p:sp>
      <p:sp>
        <p:nvSpPr>
          <p:cNvPr id="160" name="sp160"/>
          <p:cNvSpPr txBox="1"/>
          <p:nvPr/>
        </p:nvSpPr>
        <p:spPr>
          <a:xfrm>
            <a:off x="360000" y="5580000"/>
            <a:ext cx="6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07</a:t>
            </a:r>
          </a:p>
        </p:txBody>
      </p:sp>
      <p:sp>
        <p:nvSpPr>
          <p:cNvPr id="161" name="sp161"/>
          <p:cNvSpPr txBox="1"/>
          <p:nvPr/>
        </p:nvSpPr>
        <p:spPr>
          <a:xfrm>
            <a:off x="1000000" y="5580000"/>
            <a:ext cx="3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Méndez Ruiz, Paola</a:t>
            </a:r>
          </a:p>
        </p:txBody>
      </p:sp>
      <p:sp>
        <p:nvSpPr>
          <p:cNvPr id="162" name="sp162"/>
          <p:cNvSpPr txBox="1"/>
          <p:nvPr/>
        </p:nvSpPr>
        <p:spPr>
          <a:xfrm>
            <a:off x="4050000" y="5580000"/>
            <a:ext cx="20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Analista de Requisitos</a:t>
            </a:r>
          </a:p>
        </p:txBody>
      </p:sp>
      <p:sp>
        <p:nvSpPr>
          <p:cNvPr id="163" name="sp163"/>
          <p:cNvSpPr txBox="1"/>
          <p:nvPr/>
        </p:nvSpPr>
        <p:spPr>
          <a:xfrm>
            <a:off x="6100000" y="5580000"/>
            <a:ext cx="2800000" cy="415498"/>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315 388 7740
e-mail: pmendez@unicon.edu.co</a:t>
            </a:r>
          </a:p>
        </p:txBody>
      </p:sp>
      <p:sp>
        <p:nvSpPr>
          <p:cNvPr id="164" name="sp164"/>
          <p:cNvSpPr txBox="1"/>
          <p:nvPr/>
        </p:nvSpPr>
        <p:spPr>
          <a:xfrm>
            <a:off x="8950000" y="5580000"/>
            <a:ext cx="2800000" cy="400000"/>
          </a:xfrm>
          <a:prstGeom prst="rect">
            <a:avLst/>
          </a:prstGeom>
          <a:solidFill>
            <a:srgbClr val="F5F8FC"/>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Conducción de entrevistas y actas</a:t>
            </a:r>
          </a:p>
        </p:txBody>
      </p:sp>
      <p:sp>
        <p:nvSpPr>
          <p:cNvPr id="170" name="sp170"/>
          <p:cNvSpPr txBox="1"/>
          <p:nvPr/>
        </p:nvSpPr>
        <p:spPr>
          <a:xfrm>
            <a:off x="360000" y="6000000"/>
            <a:ext cx="6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08</a:t>
            </a:r>
          </a:p>
        </p:txBody>
      </p:sp>
      <p:sp>
        <p:nvSpPr>
          <p:cNvPr id="171" name="sp171"/>
          <p:cNvSpPr txBox="1"/>
          <p:nvPr/>
        </p:nvSpPr>
        <p:spPr>
          <a:xfrm>
            <a:off x="1000000" y="6000000"/>
            <a:ext cx="3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Torres Cano, Ricardo</a:t>
            </a:r>
          </a:p>
        </p:txBody>
      </p:sp>
      <p:sp>
        <p:nvSpPr>
          <p:cNvPr id="172" name="sp172"/>
          <p:cNvSpPr txBox="1"/>
          <p:nvPr/>
        </p:nvSpPr>
        <p:spPr>
          <a:xfrm>
            <a:off x="4050000" y="6000000"/>
            <a:ext cx="20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Analista de Requisitos</a:t>
            </a:r>
          </a:p>
        </p:txBody>
      </p:sp>
      <p:sp>
        <p:nvSpPr>
          <p:cNvPr id="173" name="sp173"/>
          <p:cNvSpPr txBox="1"/>
          <p:nvPr/>
        </p:nvSpPr>
        <p:spPr>
          <a:xfrm>
            <a:off x="6100000" y="6000000"/>
            <a:ext cx="2800000" cy="415498"/>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1" u="none" strike="noStrike" kern="1200" cap="none" spc="0" normalizeH="0" baseline="0" noProof="0" dirty="0">
                <a:ln>
                  <a:noFill/>
                </a:ln>
                <a:solidFill>
                  <a:srgbClr val="333333"/>
                </a:solidFill>
                <a:effectLst/>
                <a:uLnTx/>
                <a:uFillTx/>
                <a:latin typeface="Calibri"/>
                <a:ea typeface="+mn-ea"/>
                <a:cs typeface="+mn-cs"/>
              </a:rPr>
              <a:t>Tel: 316 490 6620
e-mail: rtorres@unicon.edu.co</a:t>
            </a:r>
          </a:p>
        </p:txBody>
      </p:sp>
      <p:sp>
        <p:nvSpPr>
          <p:cNvPr id="174" name="sp174"/>
          <p:cNvSpPr txBox="1"/>
          <p:nvPr/>
        </p:nvSpPr>
        <p:spPr>
          <a:xfrm>
            <a:off x="8950000" y="6000000"/>
            <a:ext cx="2800000" cy="40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Elaboración de fichas de caracterización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F385E-6135-87BD-E3B8-9500CAD4A4CA}"/>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51F42654-57C1-1CCB-132B-C5D1C64FE18A}"/>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gn="l">
              <a:lnSpc>
                <a:spcPct val="100000"/>
              </a:lnSpc>
            </a:pPr>
            <a:r>
              <a:rPr lang="es-CO" sz="2400" b="1" spc="-10" dirty="0">
                <a:solidFill>
                  <a:srgbClr val="003366"/>
                </a:solidFill>
                <a:latin typeface="Calibri"/>
              </a:rPr>
              <a:t>Figura 4 — Tabla de contraste usuarios – escenarios (Continuación…)</a:t>
            </a:r>
          </a:p>
        </p:txBody>
      </p:sp>
      <p:sp>
        <p:nvSpPr>
          <p:cNvPr id="7" name="Content">
            <a:extLst>
              <a:ext uri="{FF2B5EF4-FFF2-40B4-BE49-F238E27FC236}">
                <a16:creationId xmlns:a16="http://schemas.microsoft.com/office/drawing/2014/main" id="{950BE595-A9D9-29F2-C95C-7C1F29840E50}"/>
              </a:ext>
            </a:extLst>
          </p:cNvPr>
          <p:cNvSpPr/>
          <p:nvPr/>
        </p:nvSpPr>
        <p:spPr>
          <a:xfrm>
            <a:off x="421004" y="1600000"/>
            <a:ext cx="11210866" cy="4100000"/>
          </a:xfrm>
          <a:prstGeom prst="rect">
            <a:avLst/>
          </a:prstGeom>
        </p:spPr>
        <p:txBody>
          <a:bodyPr wrap="square" anchor="t"/>
          <a:lstStyle/>
          <a:p>
            <a:pPr marL="0" lvl="0" indent="0">
              <a:lnSpc>
                <a:spcPct val="107000"/>
              </a:lnSpc>
              <a:spcAft>
                <a:spcPts val="200"/>
              </a:spcAft>
              <a:buNone/>
            </a:pPr>
            <a:endParaRPr lang="es-CO" sz="1400" dirty="0">
              <a:solidFill>
                <a:srgbClr val="333333"/>
              </a:solidFill>
              <a:latin typeface="Calibri"/>
            </a:endParaRPr>
          </a:p>
        </p:txBody>
      </p:sp>
      <p:sp>
        <p:nvSpPr>
          <p:cNvPr id="4" name="CuadroTexto 3">
            <a:extLst>
              <a:ext uri="{FF2B5EF4-FFF2-40B4-BE49-F238E27FC236}">
                <a16:creationId xmlns:a16="http://schemas.microsoft.com/office/drawing/2014/main" id="{80B0E5DD-FC55-DFFF-918D-16EB715488E3}"/>
              </a:ext>
            </a:extLst>
          </p:cNvPr>
          <p:cNvSpPr txBox="1"/>
          <p:nvPr/>
        </p:nvSpPr>
        <p:spPr>
          <a:xfrm>
            <a:off x="131869" y="1951672"/>
            <a:ext cx="10526605" cy="1569660"/>
          </a:xfrm>
          <a:prstGeom prst="rect">
            <a:avLst/>
          </a:prstGeom>
          <a:noFill/>
        </p:spPr>
        <p:txBody>
          <a:bodyPr wrap="square">
            <a:spAutoFit/>
          </a:bodyPr>
          <a:lstStyle/>
          <a:p>
            <a:r>
              <a:rPr lang="es-CO" sz="2400" dirty="0">
                <a:solidFill>
                  <a:srgbClr val="333333"/>
                </a:solidFill>
                <a:latin typeface="Calibri"/>
              </a:rPr>
              <a:t>El presente documento certifica el acuerdo alcanzado entre las partes respecto al alcance funcional del sistema a desarrollar. Cualquier modificación al contenido aquí registrado deberá ser formalizada mediante acta de control de cambios con la firma de ambas partes.</a:t>
            </a:r>
          </a:p>
        </p:txBody>
      </p:sp>
      <p:pic>
        <p:nvPicPr>
          <p:cNvPr id="6" name="Imagen 5">
            <a:extLst>
              <a:ext uri="{FF2B5EF4-FFF2-40B4-BE49-F238E27FC236}">
                <a16:creationId xmlns:a16="http://schemas.microsoft.com/office/drawing/2014/main" id="{811271AA-BDF6-EF7F-E864-898343B7334A}"/>
              </a:ext>
            </a:extLst>
          </p:cNvPr>
          <p:cNvPicPr>
            <a:picLocks noChangeAspect="1"/>
          </p:cNvPicPr>
          <p:nvPr/>
        </p:nvPicPr>
        <p:blipFill>
          <a:blip r:embed="rId2"/>
          <a:stretch>
            <a:fillRect/>
          </a:stretch>
        </p:blipFill>
        <p:spPr>
          <a:xfrm>
            <a:off x="0" y="0"/>
            <a:ext cx="5708342" cy="779307"/>
          </a:xfrm>
          <a:prstGeom prst="rect">
            <a:avLst/>
          </a:prstGeom>
        </p:spPr>
      </p:pic>
    </p:spTree>
    <p:extLst>
      <p:ext uri="{BB962C8B-B14F-4D97-AF65-F5344CB8AC3E}">
        <p14:creationId xmlns:p14="http://schemas.microsoft.com/office/powerpoint/2010/main" val="3926429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782BEB2-C262-C0BD-AB3E-B7B65FBF20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ED569F-8A48-B4B3-FE86-6991DE8E1EF7}"/>
              </a:ext>
            </a:extLst>
          </p:cNvPr>
          <p:cNvSpPr txBox="1"/>
          <p:nvPr/>
        </p:nvSpPr>
        <p:spPr>
          <a:xfrm>
            <a:off x="218734" y="2738137"/>
            <a:ext cx="10967131" cy="15081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Requisitos funcionales del software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134149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E881-0372-4E7D-5C40-DAF68432499E}"/>
            </a:ext>
          </a:extLst>
        </p:cNvPr>
        <p:cNvGrpSpPr/>
        <p:nvPr/>
      </p:nvGrpSpPr>
      <p:grpSpPr>
        <a:xfrm>
          <a:off x="0" y="0"/>
          <a:ext cx="0" cy="0"/>
          <a:chOff x="0" y="0"/>
          <a:chExt cx="0" cy="0"/>
        </a:xfrm>
      </p:grpSpPr>
      <p:sp>
        <p:nvSpPr>
          <p:cNvPr id="5" name="Title">
            <a:extLst>
              <a:ext uri="{FF2B5EF4-FFF2-40B4-BE49-F238E27FC236}">
                <a16:creationId xmlns:a16="http://schemas.microsoft.com/office/drawing/2014/main" id="{B990CCAD-7371-D479-32C4-B6808DFEF028}"/>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gn="l">
              <a:lnSpc>
                <a:spcPct val="100000"/>
              </a:lnSpc>
            </a:pPr>
            <a:r>
              <a:rPr lang="es-CO" sz="2400" b="1" spc="-10" dirty="0">
                <a:solidFill>
                  <a:srgbClr val="003366"/>
                </a:solidFill>
                <a:latin typeface="Calibri"/>
              </a:rPr>
              <a:t>Figura 5. Etapas de la especificación de requisitos funcionales del software</a:t>
            </a:r>
          </a:p>
        </p:txBody>
      </p:sp>
      <p:sp>
        <p:nvSpPr>
          <p:cNvPr id="7" name="Content">
            <a:extLst>
              <a:ext uri="{FF2B5EF4-FFF2-40B4-BE49-F238E27FC236}">
                <a16:creationId xmlns:a16="http://schemas.microsoft.com/office/drawing/2014/main" id="{47FD38E7-4A70-DEBE-A745-920A04FE7458}"/>
              </a:ext>
            </a:extLst>
          </p:cNvPr>
          <p:cNvSpPr/>
          <p:nvPr/>
        </p:nvSpPr>
        <p:spPr>
          <a:xfrm>
            <a:off x="421004" y="1600000"/>
            <a:ext cx="11210866" cy="4100000"/>
          </a:xfrm>
          <a:prstGeom prst="rect">
            <a:avLst/>
          </a:prstGeom>
        </p:spPr>
        <p:txBody>
          <a:bodyPr wrap="square" anchor="t"/>
          <a:lstStyle/>
          <a:p>
            <a:pPr marL="0" marR="0" lvl="0" indent="0" algn="l" defTabSz="914400" rtl="0" eaLnBrk="1" fontAlgn="auto" latinLnBrk="0" hangingPunct="1">
              <a:lnSpc>
                <a:spcPct val="107000"/>
              </a:lnSpc>
              <a:spcBef>
                <a:spcPts val="0"/>
              </a:spcBef>
              <a:spcAft>
                <a:spcPts val="200"/>
              </a:spcAft>
              <a:buClrTx/>
              <a:buSzTx/>
              <a:buFontTx/>
              <a:buNone/>
              <a:tabLst/>
              <a:defRPr/>
            </a:pPr>
            <a:endParaRPr kumimoji="0" lang="es-CO" sz="1400" b="0" i="0" u="none" strike="noStrike" kern="1200" cap="none" spc="0" normalizeH="0" baseline="0" noProof="0" dirty="0">
              <a:ln>
                <a:noFill/>
              </a:ln>
              <a:solidFill>
                <a:srgbClr val="333333"/>
              </a:solidFill>
              <a:effectLst/>
              <a:uLnTx/>
              <a:uFillTx/>
              <a:latin typeface="Calibri"/>
              <a:ea typeface="+mn-ea"/>
              <a:cs typeface="+mn-cs"/>
            </a:endParaRPr>
          </a:p>
        </p:txBody>
      </p:sp>
      <p:sp>
        <p:nvSpPr>
          <p:cNvPr id="4" name="CuadroTexto 3">
            <a:extLst>
              <a:ext uri="{FF2B5EF4-FFF2-40B4-BE49-F238E27FC236}">
                <a16:creationId xmlns:a16="http://schemas.microsoft.com/office/drawing/2014/main" id="{68B32679-DB6A-A74B-09DB-E7B9BE2D46E5}"/>
              </a:ext>
            </a:extLst>
          </p:cNvPr>
          <p:cNvSpPr txBox="1"/>
          <p:nvPr/>
        </p:nvSpPr>
        <p:spPr>
          <a:xfrm>
            <a:off x="2354075" y="4589068"/>
            <a:ext cx="77043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2400" b="0" i="0" u="none" strike="noStrike" kern="1200" cap="none" spc="0" normalizeH="0" baseline="0" noProof="0" dirty="0">
                <a:ln>
                  <a:noFill/>
                </a:ln>
                <a:solidFill>
                  <a:srgbClr val="333333"/>
                </a:solidFill>
                <a:effectLst/>
                <a:uLnTx/>
                <a:uFillTx/>
                <a:latin typeface="Calibri"/>
                <a:ea typeface="+mn-ea"/>
                <a:cs typeface="+mn-cs"/>
              </a:rPr>
              <a:t>Figura 5 – Etapas de la especificación de requisitos</a:t>
            </a:r>
          </a:p>
        </p:txBody>
      </p:sp>
      <p:pic>
        <p:nvPicPr>
          <p:cNvPr id="6" name="Imagen 5">
            <a:extLst>
              <a:ext uri="{FF2B5EF4-FFF2-40B4-BE49-F238E27FC236}">
                <a16:creationId xmlns:a16="http://schemas.microsoft.com/office/drawing/2014/main" id="{2A46DC60-19F3-10DD-EBCB-78B509EE1A05}"/>
              </a:ext>
            </a:extLst>
          </p:cNvPr>
          <p:cNvPicPr>
            <a:picLocks noChangeAspect="1"/>
          </p:cNvPicPr>
          <p:nvPr/>
        </p:nvPicPr>
        <p:blipFill>
          <a:blip r:embed="rId2"/>
          <a:stretch>
            <a:fillRect/>
          </a:stretch>
        </p:blipFill>
        <p:spPr>
          <a:xfrm>
            <a:off x="0" y="0"/>
            <a:ext cx="5708342" cy="779307"/>
          </a:xfrm>
          <a:prstGeom prst="rect">
            <a:avLst/>
          </a:prstGeom>
        </p:spPr>
      </p:pic>
      <p:pic>
        <p:nvPicPr>
          <p:cNvPr id="3" name="Imagen 2">
            <a:extLst>
              <a:ext uri="{FF2B5EF4-FFF2-40B4-BE49-F238E27FC236}">
                <a16:creationId xmlns:a16="http://schemas.microsoft.com/office/drawing/2014/main" id="{C52CAF77-EBC9-B842-E20C-C1C97F8BCC5F}"/>
              </a:ext>
            </a:extLst>
          </p:cNvPr>
          <p:cNvPicPr>
            <a:picLocks noChangeAspect="1"/>
          </p:cNvPicPr>
          <p:nvPr/>
        </p:nvPicPr>
        <p:blipFill>
          <a:blip r:embed="rId3"/>
          <a:stretch>
            <a:fillRect/>
          </a:stretch>
        </p:blipFill>
        <p:spPr>
          <a:xfrm>
            <a:off x="3101080" y="1957707"/>
            <a:ext cx="5989839" cy="2522439"/>
          </a:xfrm>
          <a:prstGeom prst="rect">
            <a:avLst/>
          </a:prstGeom>
        </p:spPr>
      </p:pic>
    </p:spTree>
    <p:extLst>
      <p:ext uri="{BB962C8B-B14F-4D97-AF65-F5344CB8AC3E}">
        <p14:creationId xmlns:p14="http://schemas.microsoft.com/office/powerpoint/2010/main" val="3064847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9413CBF-D368-0735-AD21-60277DB5DE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7CF146-1EB0-AD4E-539D-2A2BEAC21454}"/>
              </a:ext>
            </a:extLst>
          </p:cNvPr>
          <p:cNvSpPr txBox="1"/>
          <p:nvPr/>
        </p:nvSpPr>
        <p:spPr>
          <a:xfrm>
            <a:off x="218734" y="2738137"/>
            <a:ext cx="10967131" cy="397031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3 — C</a:t>
            </a:r>
            <a:r>
              <a:rPr lang="es-CO" sz="3200" dirty="0" err="1">
                <a:solidFill>
                  <a:prstClr val="white"/>
                </a:solidFill>
                <a:latin typeface="Century Gothic" panose="020B0502020202020204" pitchFamily="34" charset="0"/>
              </a:rPr>
              <a:t>onstrucción</a:t>
            </a:r>
            <a:r>
              <a:rPr lang="es-CO" sz="3200" dirty="0">
                <a:solidFill>
                  <a:prstClr val="white"/>
                </a:solidFill>
                <a:latin typeface="Century Gothic" panose="020B0502020202020204" pitchFamily="34" charset="0"/>
              </a:rPr>
              <a:t> de la Matriz Usuario - Escenario (Educción — Fase Preparatoria)</a:t>
            </a:r>
          </a:p>
          <a:p>
            <a:pPr lvl="0"/>
            <a:endParaRPr lang="es-CO" sz="3200" dirty="0">
              <a:solidFill>
                <a:prstClr val="white"/>
              </a:solidFill>
              <a:latin typeface="Century Gothic" panose="020B0502020202020204" pitchFamily="34" charset="0"/>
            </a:endParaRPr>
          </a:p>
          <a:p>
            <a:pPr lvl="0"/>
            <a:r>
              <a:rPr lang="es-CO" sz="3200" dirty="0">
                <a:solidFill>
                  <a:prstClr val="white"/>
                </a:solidFill>
                <a:latin typeface="Century Gothic" panose="020B0502020202020204" pitchFamily="34" charset="0"/>
              </a:rPr>
              <a:t>Planificación de la educción mediante matrices de cobertura</a:t>
            </a:r>
          </a:p>
          <a:p>
            <a:pPr lvl="0"/>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896674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gn="l">
              <a:lnSpc>
                <a:spcPct val="100000"/>
              </a:lnSpc>
            </a:pPr>
            <a:r>
              <a:rPr lang="es-CO" sz="2400" b="1" spc="-10" dirty="0">
                <a:solidFill>
                  <a:srgbClr val="003366"/>
                </a:solidFill>
                <a:latin typeface="Calibri"/>
              </a:rPr>
              <a:t>Paso 3 — Construcción de la Matriz Usuario-Escenario (Educción — Fase Preparatoria)</a:t>
            </a:r>
          </a:p>
        </p:txBody>
      </p:sp>
      <p:sp>
        <p:nvSpPr>
          <p:cNvPr id="7" name="Content"/>
          <p:cNvSpPr/>
          <p:nvPr/>
        </p:nvSpPr>
        <p:spPr>
          <a:xfrm>
            <a:off x="421004" y="1600000"/>
            <a:ext cx="11210866" cy="4100000"/>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Se construyen matrices que relacionan usuarios, escenarios y objetivos para asegurar que todas las necesidades serán abordadas en entrevistas.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El documento indica que debe elaborarse “una matriz de doble entrada… donde se contrastan los objetivos definidos en el Acta de definición… con los escenarios definidos”.</a:t>
            </a:r>
          </a:p>
          <a:p>
            <a:pPr marL="514350" lvl="0" indent="-285750">
              <a:lnSpc>
                <a:spcPct val="107000"/>
              </a:lnSpc>
              <a:spcAft>
                <a:spcPts val="400"/>
              </a:spcAft>
              <a:buFont typeface="Wingdings" panose="05000000000000000000" pitchFamily="2" charset="2"/>
              <a:buChar char="ü"/>
            </a:pPr>
            <a:r>
              <a:rPr lang="es-CO" sz="1400" dirty="0">
                <a:solidFill>
                  <a:srgbClr val="333333"/>
                </a:solidFill>
              </a:rPr>
              <a:t>Actúa como instrumento de planificación de la captura de información y se alinea con el principio de completitud de la IEEE-STD-830.</a:t>
            </a:r>
            <a:endParaRPr lang="es-CO" sz="1400" dirty="0">
              <a:solidFill>
                <a:srgbClr val="333333"/>
              </a:solidFill>
              <a:latin typeface="Calibri"/>
            </a:endParaRPr>
          </a:p>
          <a:p>
            <a:pPr marL="228600" lvl="0">
              <a:lnSpc>
                <a:spcPct val="107000"/>
              </a:lnSpc>
              <a:spcAft>
                <a:spcPts val="400"/>
              </a:spcAft>
            </a:pPr>
            <a:endParaRPr lang="es-CO" sz="1400" dirty="0">
              <a:solidFill>
                <a:srgbClr val="333333"/>
              </a:solidFill>
              <a:latin typeface="Calibri"/>
            </a:endParaRP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Matrices de trazabilidad usuario-escenario.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Análisis de roles y perfiles funcionales.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Técnicas de cobertura de dominio (</a:t>
            </a:r>
            <a:r>
              <a:rPr lang="es-CO" sz="1400" i="1" dirty="0">
                <a:solidFill>
                  <a:srgbClr val="333333"/>
                </a:solidFill>
                <a:latin typeface="Calibri"/>
              </a:rPr>
              <a:t>domain</a:t>
            </a:r>
            <a:r>
              <a:rPr lang="es-CO" sz="1400" dirty="0">
                <a:solidFill>
                  <a:srgbClr val="333333"/>
                </a:solidFill>
                <a:latin typeface="Calibri"/>
              </a:rPr>
              <a:t> </a:t>
            </a:r>
            <a:r>
              <a:rPr lang="es-CO" sz="1400" i="1" dirty="0">
                <a:solidFill>
                  <a:srgbClr val="333333"/>
                </a:solidFill>
                <a:latin typeface="Calibri"/>
              </a:rPr>
              <a:t>coverage</a:t>
            </a:r>
            <a:r>
              <a:rPr lang="es-CO" sz="1400" dirty="0">
                <a:solidFill>
                  <a:srgbClr val="333333"/>
                </a:solidFill>
                <a:latin typeface="Calibri"/>
              </a:rPr>
              <a:t> </a:t>
            </a:r>
            <a:r>
              <a:rPr lang="es-CO" sz="1400" i="1" dirty="0" err="1">
                <a:solidFill>
                  <a:srgbClr val="333333"/>
                </a:solidFill>
                <a:latin typeface="Calibri"/>
              </a:rPr>
              <a:t>analysis</a:t>
            </a:r>
            <a:r>
              <a:rPr lang="es-CO" sz="1400" dirty="0">
                <a:solidFill>
                  <a:srgbClr val="333333"/>
                </a:solidFill>
                <a:latin typeface="Calibri"/>
              </a:rPr>
              <a:t>). Planificación de entrevistas.</a:t>
            </a:r>
          </a:p>
          <a:p>
            <a:pPr marL="228600" lvl="0">
              <a:lnSpc>
                <a:spcPct val="107000"/>
              </a:lnSpc>
              <a:spcAft>
                <a:spcPts val="400"/>
              </a:spcAft>
            </a:pPr>
            <a:endParaRPr lang="es-CO" sz="1400" dirty="0">
              <a:solidFill>
                <a:srgbClr val="333333"/>
              </a:solidFill>
              <a:latin typeface="Calibri"/>
            </a:endParaRPr>
          </a:p>
          <a:p>
            <a:pPr marL="0" lvl="0" indent="0">
              <a:lnSpc>
                <a:spcPct val="107000"/>
              </a:lnSpc>
              <a:spcAft>
                <a:spcPts val="200"/>
              </a:spcAft>
              <a:buNone/>
            </a:pPr>
            <a:r>
              <a:rPr lang="es-CO" sz="1500" b="1" dirty="0">
                <a:solidFill>
                  <a:srgbClr val="003366"/>
                </a:solidFill>
                <a:latin typeface="Calibri"/>
              </a:rPr>
              <a:t>Artefacto/entregable: (Instrumentos)</a:t>
            </a:r>
          </a:p>
          <a:p>
            <a:pPr marL="514350" lvl="0" indent="-285750">
              <a:lnSpc>
                <a:spcPct val="107000"/>
              </a:lnSpc>
              <a:spcAft>
                <a:spcPts val="400"/>
              </a:spcAft>
              <a:buFont typeface="Wingdings" panose="05000000000000000000" pitchFamily="2" charset="2"/>
              <a:buChar char="ü"/>
            </a:pPr>
            <a:r>
              <a:rPr lang="es-CO" sz="1400" dirty="0"/>
              <a:t>Tabla de contraste usuarios – escenarios (Tabla 4).</a:t>
            </a:r>
          </a:p>
          <a:p>
            <a:pPr marL="514350" lvl="0" indent="-285750">
              <a:lnSpc>
                <a:spcPct val="107000"/>
              </a:lnSpc>
              <a:spcAft>
                <a:spcPts val="400"/>
              </a:spcAft>
              <a:buFont typeface="Wingdings" panose="05000000000000000000" pitchFamily="2" charset="2"/>
              <a:buChar char="ü"/>
            </a:pPr>
            <a:r>
              <a:rPr lang="es-CO" sz="1400" dirty="0"/>
              <a:t>Matriz objetivos – escenarios (Tabla 5).</a:t>
            </a:r>
            <a:endParaRPr lang="es-CO" sz="1400" dirty="0">
              <a:solidFill>
                <a:srgbClr val="333333"/>
              </a:solidFill>
              <a:latin typeface="Calibri"/>
            </a:endParaRPr>
          </a:p>
        </p:txBody>
      </p:sp>
      <p:pic>
        <p:nvPicPr>
          <p:cNvPr id="3" name="Imagen 2">
            <a:extLst>
              <a:ext uri="{FF2B5EF4-FFF2-40B4-BE49-F238E27FC236}">
                <a16:creationId xmlns:a16="http://schemas.microsoft.com/office/drawing/2014/main" id="{A0C59D39-7DD8-D0EA-9CE8-1D341F45A588}"/>
              </a:ext>
            </a:extLst>
          </p:cNvPr>
          <p:cNvPicPr>
            <a:picLocks noChangeAspect="1"/>
          </p:cNvPicPr>
          <p:nvPr/>
        </p:nvPicPr>
        <p:blipFill>
          <a:blip r:embed="rId2"/>
          <a:stretch>
            <a:fillRect/>
          </a:stretch>
        </p:blipFill>
        <p:spPr>
          <a:xfrm>
            <a:off x="0" y="0"/>
            <a:ext cx="5708342" cy="7793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Tabla 4 — Matriz Usuario × Escenario | Sistema de Gestión Académica</a:t>
            </a:r>
          </a:p>
        </p:txBody>
      </p:sp>
      <p:graphicFrame>
        <p:nvGraphicFramePr>
          <p:cNvPr id="10" name="Tabla4"/>
          <p:cNvGraphicFramePr>
            <a:graphicFrameLocks noGrp="1"/>
          </p:cNvGraphicFramePr>
          <p:nvPr/>
        </p:nvGraphicFramePr>
        <p:xfrm>
          <a:off x="300000" y="1450000"/>
          <a:ext cx="11600000" cy="5082000"/>
        </p:xfrm>
        <a:graphic>
          <a:graphicData uri="http://schemas.openxmlformats.org/drawingml/2006/table">
            <a:tbl>
              <a:tblPr firstRow="1">
                <a:tableStyleId>{5C22544A-7EE6-4342-B048-85BDC9FD1C3A}</a:tableStyleId>
              </a:tblPr>
              <a:tblGrid>
                <a:gridCol w="2000000">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gridCol w="1400000">
                  <a:extLst>
                    <a:ext uri="{9D8B030D-6E8A-4147-A177-3AD203B41FA5}">
                      <a16:colId xmlns:a16="http://schemas.microsoft.com/office/drawing/2014/main" val="20003"/>
                    </a:ext>
                  </a:extLst>
                </a:gridCol>
                <a:gridCol w="1400000">
                  <a:extLst>
                    <a:ext uri="{9D8B030D-6E8A-4147-A177-3AD203B41FA5}">
                      <a16:colId xmlns:a16="http://schemas.microsoft.com/office/drawing/2014/main" val="20004"/>
                    </a:ext>
                  </a:extLst>
                </a:gridCol>
                <a:gridCol w="1400000">
                  <a:extLst>
                    <a:ext uri="{9D8B030D-6E8A-4147-A177-3AD203B41FA5}">
                      <a16:colId xmlns:a16="http://schemas.microsoft.com/office/drawing/2014/main" val="20005"/>
                    </a:ext>
                  </a:extLst>
                </a:gridCol>
                <a:gridCol w="2600000">
                  <a:extLst>
                    <a:ext uri="{9D8B030D-6E8A-4147-A177-3AD203B41FA5}">
                      <a16:colId xmlns:a16="http://schemas.microsoft.com/office/drawing/2014/main" val="20006"/>
                    </a:ext>
                  </a:extLst>
                </a:gridCol>
              </a:tblGrid>
              <a:tr h="720000">
                <a:tc>
                  <a:txBody>
                    <a:bodyPr/>
                    <a:lstStyle/>
                    <a:p>
                      <a:r>
                        <a:rPr lang="es-CO" sz="1200" b="1" dirty="0">
                          <a:solidFill>
                            <a:srgbClr val="FFFFFF"/>
                          </a:solidFill>
                          <a:latin typeface="Calibri"/>
                        </a:rPr>
                        <a:t>Usuario</a:t>
                      </a:r>
                    </a:p>
                    <a:p>
                      <a:r>
                        <a:rPr lang="es-CO" sz="1000" dirty="0">
                          <a:solidFill>
                            <a:srgbClr val="BDD7EE"/>
                          </a:solidFill>
                          <a:latin typeface="Calibri"/>
                        </a:rPr>
                        <a:t>Código / Rol</a:t>
                      </a:r>
                    </a:p>
                  </a:txBody>
                  <a:tcPr>
                    <a:solidFill>
                      <a:srgbClr val="003366"/>
                    </a:solidFill>
                  </a:tcPr>
                </a:tc>
                <a:tc>
                  <a:txBody>
                    <a:bodyPr/>
                    <a:lstStyle/>
                    <a:p>
                      <a:r>
                        <a:rPr lang="es-CO" sz="1100" b="1" dirty="0">
                          <a:solidFill>
                            <a:srgbClr val="FFFFFF"/>
                          </a:solidFill>
                          <a:latin typeface="Calibri"/>
                        </a:rPr>
                        <a:t>E1</a:t>
                      </a:r>
                    </a:p>
                    <a:p>
                      <a:r>
                        <a:rPr lang="es-CO" sz="1000" b="0" dirty="0">
                          <a:solidFill>
                            <a:srgbClr val="BDD7EE"/>
                          </a:solidFill>
                          <a:latin typeface="Calibri"/>
                        </a:rPr>
                        <a:t>Secretaría Acad.</a:t>
                      </a:r>
                    </a:p>
                  </a:txBody>
                  <a:tcPr>
                    <a:solidFill>
                      <a:srgbClr val="003366"/>
                    </a:solidFill>
                  </a:tcPr>
                </a:tc>
                <a:tc>
                  <a:txBody>
                    <a:bodyPr/>
                    <a:lstStyle/>
                    <a:p>
                      <a:r>
                        <a:rPr lang="es-CO" sz="1100" b="1" dirty="0">
                          <a:solidFill>
                            <a:srgbClr val="FFFFFF"/>
                          </a:solidFill>
                          <a:latin typeface="Calibri"/>
                        </a:rPr>
                        <a:t>E2</a:t>
                      </a:r>
                    </a:p>
                    <a:p>
                      <a:r>
                        <a:rPr lang="es-CO" sz="1000" b="0" dirty="0">
                          <a:solidFill>
                            <a:srgbClr val="BDD7EE"/>
                          </a:solidFill>
                          <a:latin typeface="Calibri"/>
                        </a:rPr>
                        <a:t>Coord. Programa</a:t>
                      </a:r>
                    </a:p>
                  </a:txBody>
                  <a:tcPr>
                    <a:solidFill>
                      <a:srgbClr val="003366"/>
                    </a:solidFill>
                  </a:tcPr>
                </a:tc>
                <a:tc>
                  <a:txBody>
                    <a:bodyPr/>
                    <a:lstStyle/>
                    <a:p>
                      <a:r>
                        <a:rPr lang="es-CO" sz="1100" b="1" dirty="0">
                          <a:solidFill>
                            <a:srgbClr val="FFFFFF"/>
                          </a:solidFill>
                          <a:latin typeface="Calibri"/>
                        </a:rPr>
                        <a:t>E3</a:t>
                      </a:r>
                    </a:p>
                    <a:p>
                      <a:r>
                        <a:rPr lang="es-CO" sz="1000" b="0" dirty="0">
                          <a:solidFill>
                            <a:srgbClr val="BDD7EE"/>
                          </a:solidFill>
                          <a:latin typeface="Calibri"/>
                        </a:rPr>
                        <a:t>Aula / Docente</a:t>
                      </a:r>
                    </a:p>
                  </a:txBody>
                  <a:tcPr>
                    <a:solidFill>
                      <a:srgbClr val="003366"/>
                    </a:solidFill>
                  </a:tcPr>
                </a:tc>
                <a:tc>
                  <a:txBody>
                    <a:bodyPr/>
                    <a:lstStyle/>
                    <a:p>
                      <a:r>
                        <a:rPr lang="es-CO" sz="1100" b="1" dirty="0">
                          <a:solidFill>
                            <a:srgbClr val="FFFFFF"/>
                          </a:solidFill>
                          <a:latin typeface="Calibri"/>
                        </a:rPr>
                        <a:t>E4</a:t>
                      </a:r>
                    </a:p>
                    <a:p>
                      <a:r>
                        <a:rPr lang="es-CO" sz="1000" b="0" dirty="0">
                          <a:solidFill>
                            <a:srgbClr val="BDD7EE"/>
                          </a:solidFill>
                          <a:latin typeface="Calibri"/>
                        </a:rPr>
                        <a:t>Portal Estud.</a:t>
                      </a:r>
                    </a:p>
                  </a:txBody>
                  <a:tcPr>
                    <a:solidFill>
                      <a:srgbClr val="003366"/>
                    </a:solidFill>
                  </a:tcPr>
                </a:tc>
                <a:tc>
                  <a:txBody>
                    <a:bodyPr/>
                    <a:lstStyle/>
                    <a:p>
                      <a:r>
                        <a:rPr lang="es-CO" sz="1100" b="1" dirty="0">
                          <a:solidFill>
                            <a:srgbClr val="FFFFFF"/>
                          </a:solidFill>
                          <a:latin typeface="Calibri"/>
                        </a:rPr>
                        <a:t>E5</a:t>
                      </a:r>
                    </a:p>
                    <a:p>
                      <a:r>
                        <a:rPr lang="es-CO" sz="1000" b="0" dirty="0">
                          <a:solidFill>
                            <a:srgbClr val="BDD7EE"/>
                          </a:solidFill>
                          <a:latin typeface="Calibri"/>
                        </a:rPr>
                        <a:t>Dirección</a:t>
                      </a:r>
                    </a:p>
                  </a:txBody>
                  <a:tcPr>
                    <a:solidFill>
                      <a:srgbClr val="003366"/>
                    </a:solidFill>
                  </a:tcPr>
                </a:tc>
                <a:tc>
                  <a:txBody>
                    <a:bodyPr/>
                    <a:lstStyle/>
                    <a:p>
                      <a:r>
                        <a:rPr lang="es-CO" sz="1100" b="1" dirty="0">
                          <a:solidFill>
                            <a:srgbClr val="FFFFFF"/>
                          </a:solidFill>
                          <a:latin typeface="Calibri"/>
                        </a:rPr>
                        <a:t>Plan de entrevista</a:t>
                      </a:r>
                    </a:p>
                  </a:txBody>
                  <a:tcPr>
                    <a:solidFill>
                      <a:srgbClr val="003366"/>
                    </a:solidFill>
                  </a:tcPr>
                </a:tc>
                <a:extLst>
                  <a:ext uri="{0D108BD9-81ED-4DB2-BD59-A6C34878D82A}">
                    <a16:rowId xmlns:a16="http://schemas.microsoft.com/office/drawing/2014/main" val="10000"/>
                  </a:ext>
                </a:extLst>
              </a:tr>
              <a:tr h="600000">
                <a:tc>
                  <a:txBody>
                    <a:bodyPr/>
                    <a:lstStyle/>
                    <a:p>
                      <a:r>
                        <a:rPr lang="es-CO" sz="1200" b="1" dirty="0">
                          <a:solidFill>
                            <a:srgbClr val="003366"/>
                          </a:solidFill>
                          <a:latin typeface="Calibri"/>
                        </a:rPr>
                        <a:t>U001</a:t>
                      </a:r>
                    </a:p>
                    <a:p>
                      <a:r>
                        <a:rPr lang="es-CO" sz="1050" dirty="0">
                          <a:solidFill>
                            <a:srgbClr val="555555"/>
                          </a:solidFill>
                          <a:latin typeface="Calibri"/>
                        </a:rPr>
                        <a:t>Aux. Secretaría</a:t>
                      </a:r>
                    </a:p>
                  </a:txBody>
                  <a:tcPr>
                    <a:solidFill>
                      <a:srgbClr val="E8EEF7"/>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r>
                        <a:rPr lang="es-CO" sz="1100" i="1" dirty="0">
                          <a:solidFill>
                            <a:srgbClr val="1C4E8A"/>
                          </a:solidFill>
                          <a:latin typeface="Calibri"/>
                        </a:rPr>
                        <a:t>Entrevista en E1, E2</a:t>
                      </a:r>
                    </a:p>
                  </a:txBody>
                  <a:tcPr>
                    <a:solidFill>
                      <a:srgbClr val="E8EEF7"/>
                    </a:solidFill>
                  </a:tcPr>
                </a:tc>
                <a:extLst>
                  <a:ext uri="{0D108BD9-81ED-4DB2-BD59-A6C34878D82A}">
                    <a16:rowId xmlns:a16="http://schemas.microsoft.com/office/drawing/2014/main" val="10001"/>
                  </a:ext>
                </a:extLst>
              </a:tr>
              <a:tr h="600000">
                <a:tc>
                  <a:txBody>
                    <a:bodyPr/>
                    <a:lstStyle/>
                    <a:p>
                      <a:r>
                        <a:rPr lang="es-CO" sz="1200" b="1" dirty="0">
                          <a:solidFill>
                            <a:srgbClr val="003366"/>
                          </a:solidFill>
                          <a:latin typeface="Calibri"/>
                        </a:rPr>
                        <a:t>U002</a:t>
                      </a:r>
                    </a:p>
                    <a:p>
                      <a:r>
                        <a:rPr lang="es-CO" sz="1050" dirty="0">
                          <a:solidFill>
                            <a:srgbClr val="555555"/>
                          </a:solidFill>
                          <a:latin typeface="Calibri"/>
                        </a:rPr>
                        <a:t>Coord. Programa</a:t>
                      </a:r>
                    </a:p>
                  </a:txBody>
                  <a:tcPr>
                    <a:solidFill>
                      <a:srgbClr val="F5F8FC"/>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r>
                        <a:rPr lang="es-CO" sz="1100" i="1" dirty="0">
                          <a:solidFill>
                            <a:srgbClr val="1C4E8A"/>
                          </a:solidFill>
                          <a:latin typeface="Calibri"/>
                        </a:rPr>
                        <a:t>Entrevista en E1, E2, E3</a:t>
                      </a:r>
                    </a:p>
                  </a:txBody>
                  <a:tcPr>
                    <a:solidFill>
                      <a:srgbClr val="F5F8FC"/>
                    </a:solidFill>
                  </a:tcPr>
                </a:tc>
                <a:extLst>
                  <a:ext uri="{0D108BD9-81ED-4DB2-BD59-A6C34878D82A}">
                    <a16:rowId xmlns:a16="http://schemas.microsoft.com/office/drawing/2014/main" val="10002"/>
                  </a:ext>
                </a:extLst>
              </a:tr>
              <a:tr h="600000">
                <a:tc>
                  <a:txBody>
                    <a:bodyPr/>
                    <a:lstStyle/>
                    <a:p>
                      <a:r>
                        <a:rPr lang="es-CO" sz="1200" b="1" dirty="0">
                          <a:solidFill>
                            <a:srgbClr val="003366"/>
                          </a:solidFill>
                          <a:latin typeface="Calibri"/>
                        </a:rPr>
                        <a:t>U003</a:t>
                      </a:r>
                    </a:p>
                    <a:p>
                      <a:r>
                        <a:rPr lang="es-CO" sz="1050" dirty="0">
                          <a:solidFill>
                            <a:srgbClr val="555555"/>
                          </a:solidFill>
                          <a:latin typeface="Calibri"/>
                        </a:rPr>
                        <a:t>Docente</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r>
                        <a:rPr lang="es-CO" sz="1100" i="1" dirty="0">
                          <a:solidFill>
                            <a:srgbClr val="1C4E8A"/>
                          </a:solidFill>
                          <a:latin typeface="Calibri"/>
                        </a:rPr>
                        <a:t>Entrevista en E3</a:t>
                      </a:r>
                    </a:p>
                  </a:txBody>
                  <a:tcPr>
                    <a:solidFill>
                      <a:srgbClr val="E8EEF7"/>
                    </a:solidFill>
                  </a:tcPr>
                </a:tc>
                <a:extLst>
                  <a:ext uri="{0D108BD9-81ED-4DB2-BD59-A6C34878D82A}">
                    <a16:rowId xmlns:a16="http://schemas.microsoft.com/office/drawing/2014/main" val="10003"/>
                  </a:ext>
                </a:extLst>
              </a:tr>
              <a:tr h="600000">
                <a:tc>
                  <a:txBody>
                    <a:bodyPr/>
                    <a:lstStyle/>
                    <a:p>
                      <a:r>
                        <a:rPr lang="es-CO" sz="1200" b="1" dirty="0">
                          <a:solidFill>
                            <a:srgbClr val="003366"/>
                          </a:solidFill>
                          <a:latin typeface="Calibri"/>
                        </a:rPr>
                        <a:t>U004</a:t>
                      </a:r>
                    </a:p>
                    <a:p>
                      <a:r>
                        <a:rPr lang="es-CO" sz="1050" dirty="0">
                          <a:solidFill>
                            <a:srgbClr val="555555"/>
                          </a:solidFill>
                          <a:latin typeface="Calibri"/>
                        </a:rPr>
                        <a:t>Estudiante</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r>
                        <a:rPr lang="es-CO" sz="1100" i="1" dirty="0">
                          <a:solidFill>
                            <a:srgbClr val="1C4E8A"/>
                          </a:solidFill>
                          <a:latin typeface="Calibri"/>
                        </a:rPr>
                        <a:t>Entrevista en E4</a:t>
                      </a:r>
                    </a:p>
                  </a:txBody>
                  <a:tcPr>
                    <a:solidFill>
                      <a:srgbClr val="F5F8FC"/>
                    </a:solidFill>
                  </a:tcPr>
                </a:tc>
                <a:extLst>
                  <a:ext uri="{0D108BD9-81ED-4DB2-BD59-A6C34878D82A}">
                    <a16:rowId xmlns:a16="http://schemas.microsoft.com/office/drawing/2014/main" val="10004"/>
                  </a:ext>
                </a:extLst>
              </a:tr>
              <a:tr h="600000">
                <a:tc>
                  <a:txBody>
                    <a:bodyPr/>
                    <a:lstStyle/>
                    <a:p>
                      <a:r>
                        <a:rPr lang="es-CO" sz="1200" b="1" dirty="0">
                          <a:solidFill>
                            <a:srgbClr val="003366"/>
                          </a:solidFill>
                          <a:latin typeface="Calibri"/>
                        </a:rPr>
                        <a:t>U005</a:t>
                      </a:r>
                    </a:p>
                    <a:p>
                      <a:r>
                        <a:rPr lang="es-CO" sz="1050" dirty="0">
                          <a:solidFill>
                            <a:srgbClr val="555555"/>
                          </a:solidFill>
                          <a:latin typeface="Calibri"/>
                        </a:rPr>
                        <a:t>Director Acad.</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400" b="1" dirty="0">
                          <a:solidFill>
                            <a:srgbClr val="AAAAAA"/>
                          </a:solidFill>
                          <a:latin typeface="Calibri"/>
                        </a:rPr>
                        <a:t>—</a:t>
                      </a:r>
                    </a:p>
                  </a:txBody>
                  <a:tcPr>
                    <a:solidFill>
                      <a:srgbClr val="E8EEF7"/>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r>
                        <a:rPr lang="es-CO" sz="1100" i="1" dirty="0">
                          <a:solidFill>
                            <a:srgbClr val="1C4E8A"/>
                          </a:solidFill>
                          <a:latin typeface="Calibri"/>
                        </a:rPr>
                        <a:t>Entrevista en E2, E5</a:t>
                      </a:r>
                    </a:p>
                  </a:txBody>
                  <a:tcPr>
                    <a:solidFill>
                      <a:srgbClr val="E8EEF7"/>
                    </a:solidFill>
                  </a:tcPr>
                </a:tc>
                <a:extLst>
                  <a:ext uri="{0D108BD9-81ED-4DB2-BD59-A6C34878D82A}">
                    <a16:rowId xmlns:a16="http://schemas.microsoft.com/office/drawing/2014/main" val="10005"/>
                  </a:ext>
                </a:extLst>
              </a:tr>
              <a:tr h="600000">
                <a:tc>
                  <a:txBody>
                    <a:bodyPr/>
                    <a:lstStyle/>
                    <a:p>
                      <a:r>
                        <a:rPr lang="es-CO" sz="1200" b="1" dirty="0">
                          <a:solidFill>
                            <a:srgbClr val="003366"/>
                          </a:solidFill>
                          <a:latin typeface="Calibri"/>
                        </a:rPr>
                        <a:t>U006</a:t>
                      </a:r>
                    </a:p>
                    <a:p>
                      <a:r>
                        <a:rPr lang="es-CO" sz="1050" dirty="0">
                          <a:solidFill>
                            <a:srgbClr val="555555"/>
                          </a:solidFill>
                          <a:latin typeface="Calibri"/>
                        </a:rPr>
                        <a:t>Administrador</a:t>
                      </a:r>
                    </a:p>
                  </a:txBody>
                  <a:tcPr>
                    <a:solidFill>
                      <a:srgbClr val="F5F8FC"/>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400" b="1" dirty="0">
                          <a:solidFill>
                            <a:srgbClr val="AAAAAA"/>
                          </a:solidFill>
                          <a:latin typeface="Calibri"/>
                        </a:rPr>
                        <a:t>—</a:t>
                      </a:r>
                    </a:p>
                  </a:txBody>
                  <a:tcPr>
                    <a:solidFill>
                      <a:srgbClr val="F5F8FC"/>
                    </a:solidFill>
                  </a:tcPr>
                </a:tc>
                <a:tc>
                  <a:txBody>
                    <a:bodyPr/>
                    <a:lstStyle/>
                    <a:p>
                      <a:pPr algn="ctr"/>
                      <a:r>
                        <a:rPr lang="es-CO" sz="1600" b="1" dirty="0">
                          <a:solidFill>
                            <a:srgbClr val="FFFFFF"/>
                          </a:solidFill>
                          <a:latin typeface="Calibri"/>
                        </a:rPr>
                        <a:t>✔</a:t>
                      </a:r>
                    </a:p>
                  </a:txBody>
                  <a:tcPr>
                    <a:solidFill>
                      <a:srgbClr val="1C4E8A"/>
                    </a:solidFill>
                  </a:tcPr>
                </a:tc>
                <a:tc>
                  <a:txBody>
                    <a:bodyPr/>
                    <a:lstStyle/>
                    <a:p>
                      <a:r>
                        <a:rPr lang="es-CO" sz="1100" i="1" dirty="0">
                          <a:solidFill>
                            <a:srgbClr val="1C4E8A"/>
                          </a:solidFill>
                          <a:latin typeface="Calibri"/>
                        </a:rPr>
                        <a:t>Entrevista en E1, E5</a:t>
                      </a:r>
                    </a:p>
                  </a:txBody>
                  <a:tcPr>
                    <a:solidFill>
                      <a:srgbClr val="F5F8FC"/>
                    </a:solidFill>
                  </a:tcPr>
                </a:tc>
                <a:extLst>
                  <a:ext uri="{0D108BD9-81ED-4DB2-BD59-A6C34878D82A}">
                    <a16:rowId xmlns:a16="http://schemas.microsoft.com/office/drawing/2014/main" val="10006"/>
                  </a:ext>
                </a:extLst>
              </a:tr>
              <a:tr h="450000">
                <a:tc>
                  <a:txBody>
                    <a:bodyPr/>
                    <a:lstStyle/>
                    <a:p>
                      <a:r>
                        <a:rPr lang="es-CO" sz="1100" b="1" dirty="0">
                          <a:solidFill>
                            <a:srgbClr val="FFFFFF"/>
                          </a:solidFill>
                          <a:latin typeface="Calibri"/>
                        </a:rPr>
                        <a:t>✔ Participa en el escenario (fuente de conocimiento para entrevista)    — No participa en el escenario</a:t>
                      </a:r>
                    </a:p>
                  </a:txBody>
                  <a:tcPr>
                    <a:solidFill>
                      <a:srgbClr val="1C4E8A"/>
                    </a:solidFill>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Tabla 5 — Matriz Objetivo × Escenario | Sistema de Gestión Académica</a:t>
            </a:r>
          </a:p>
        </p:txBody>
      </p:sp>
      <p:graphicFrame>
        <p:nvGraphicFramePr>
          <p:cNvPr id="10" name="Tabla5"/>
          <p:cNvGraphicFramePr>
            <a:graphicFrameLocks noGrp="1"/>
          </p:cNvGraphicFramePr>
          <p:nvPr/>
        </p:nvGraphicFramePr>
        <p:xfrm>
          <a:off x="300000" y="1450000"/>
          <a:ext cx="11600000" cy="5194360"/>
        </p:xfrm>
        <a:graphic>
          <a:graphicData uri="http://schemas.openxmlformats.org/drawingml/2006/table">
            <a:tbl>
              <a:tblPr firstRow="1">
                <a:tableStyleId>{5C22544A-7EE6-4342-B048-85BDC9FD1C3A}</a:tableStyleId>
              </a:tblPr>
              <a:tblGrid>
                <a:gridCol w="3400000">
                  <a:extLst>
                    <a:ext uri="{9D8B030D-6E8A-4147-A177-3AD203B41FA5}">
                      <a16:colId xmlns:a16="http://schemas.microsoft.com/office/drawing/2014/main" val="20000"/>
                    </a:ext>
                  </a:extLst>
                </a:gridCol>
                <a:gridCol w="1100000">
                  <a:extLst>
                    <a:ext uri="{9D8B030D-6E8A-4147-A177-3AD203B41FA5}">
                      <a16:colId xmlns:a16="http://schemas.microsoft.com/office/drawing/2014/main" val="20001"/>
                    </a:ext>
                  </a:extLst>
                </a:gridCol>
                <a:gridCol w="1100000">
                  <a:extLst>
                    <a:ext uri="{9D8B030D-6E8A-4147-A177-3AD203B41FA5}">
                      <a16:colId xmlns:a16="http://schemas.microsoft.com/office/drawing/2014/main" val="20002"/>
                    </a:ext>
                  </a:extLst>
                </a:gridCol>
                <a:gridCol w="1100000">
                  <a:extLst>
                    <a:ext uri="{9D8B030D-6E8A-4147-A177-3AD203B41FA5}">
                      <a16:colId xmlns:a16="http://schemas.microsoft.com/office/drawing/2014/main" val="20003"/>
                    </a:ext>
                  </a:extLst>
                </a:gridCol>
                <a:gridCol w="1100000">
                  <a:extLst>
                    <a:ext uri="{9D8B030D-6E8A-4147-A177-3AD203B41FA5}">
                      <a16:colId xmlns:a16="http://schemas.microsoft.com/office/drawing/2014/main" val="20004"/>
                    </a:ext>
                  </a:extLst>
                </a:gridCol>
                <a:gridCol w="1100000">
                  <a:extLst>
                    <a:ext uri="{9D8B030D-6E8A-4147-A177-3AD203B41FA5}">
                      <a16:colId xmlns:a16="http://schemas.microsoft.com/office/drawing/2014/main" val="20005"/>
                    </a:ext>
                  </a:extLst>
                </a:gridCol>
                <a:gridCol w="2700000">
                  <a:extLst>
                    <a:ext uri="{9D8B030D-6E8A-4147-A177-3AD203B41FA5}">
                      <a16:colId xmlns:a16="http://schemas.microsoft.com/office/drawing/2014/main" val="20006"/>
                    </a:ext>
                  </a:extLst>
                </a:gridCol>
              </a:tblGrid>
              <a:tr h="760000">
                <a:tc>
                  <a:txBody>
                    <a:bodyPr/>
                    <a:lstStyle/>
                    <a:p>
                      <a:r>
                        <a:rPr lang="es-CO" sz="1200" b="1" dirty="0">
                          <a:solidFill>
                            <a:srgbClr val="FFFFFF"/>
                          </a:solidFill>
                          <a:latin typeface="Calibri"/>
                        </a:rPr>
                        <a:t>Objetivo</a:t>
                      </a:r>
                    </a:p>
                    <a:p>
                      <a:r>
                        <a:rPr lang="es-CO" sz="1000" dirty="0">
                          <a:solidFill>
                            <a:srgbClr val="BDD7EE"/>
                          </a:solidFill>
                          <a:latin typeface="Calibri"/>
                        </a:rPr>
                        <a:t>Cód. / Descripción</a:t>
                      </a:r>
                    </a:p>
                  </a:txBody>
                  <a:tcPr>
                    <a:solidFill>
                      <a:srgbClr val="003366"/>
                    </a:solidFill>
                  </a:tcPr>
                </a:tc>
                <a:tc>
                  <a:txBody>
                    <a:bodyPr/>
                    <a:lstStyle/>
                    <a:p>
                      <a:pPr algn="ctr"/>
                      <a:r>
                        <a:rPr lang="es-CO" sz="1100" b="1" dirty="0">
                          <a:solidFill>
                            <a:srgbClr val="FFFFFF"/>
                          </a:solidFill>
                          <a:latin typeface="Calibri"/>
                        </a:rPr>
                        <a:t>E1</a:t>
                      </a:r>
                    </a:p>
                    <a:p>
                      <a:pPr algn="ctr"/>
                      <a:r>
                        <a:rPr lang="es-CO" sz="1000" b="0" dirty="0">
                          <a:solidFill>
                            <a:srgbClr val="BDD7EE"/>
                          </a:solidFill>
                          <a:latin typeface="Calibri"/>
                        </a:rPr>
                        <a:t>Secretaría</a:t>
                      </a:r>
                    </a:p>
                  </a:txBody>
                  <a:tcPr>
                    <a:solidFill>
                      <a:srgbClr val="003366"/>
                    </a:solidFill>
                  </a:tcPr>
                </a:tc>
                <a:tc>
                  <a:txBody>
                    <a:bodyPr/>
                    <a:lstStyle/>
                    <a:p>
                      <a:pPr algn="ctr"/>
                      <a:r>
                        <a:rPr lang="es-CO" sz="1100" b="1" dirty="0">
                          <a:solidFill>
                            <a:srgbClr val="FFFFFF"/>
                          </a:solidFill>
                          <a:latin typeface="Calibri"/>
                        </a:rPr>
                        <a:t>E2</a:t>
                      </a:r>
                    </a:p>
                    <a:p>
                      <a:pPr algn="ctr"/>
                      <a:r>
                        <a:rPr lang="es-CO" sz="1000" b="0" dirty="0">
                          <a:solidFill>
                            <a:srgbClr val="BDD7EE"/>
                          </a:solidFill>
                          <a:latin typeface="Calibri"/>
                        </a:rPr>
                        <a:t>Coord.</a:t>
                      </a:r>
                    </a:p>
                  </a:txBody>
                  <a:tcPr>
                    <a:solidFill>
                      <a:srgbClr val="003366"/>
                    </a:solidFill>
                  </a:tcPr>
                </a:tc>
                <a:tc>
                  <a:txBody>
                    <a:bodyPr/>
                    <a:lstStyle/>
                    <a:p>
                      <a:pPr algn="ctr"/>
                      <a:r>
                        <a:rPr lang="es-CO" sz="1100" b="1" dirty="0">
                          <a:solidFill>
                            <a:srgbClr val="FFFFFF"/>
                          </a:solidFill>
                          <a:latin typeface="Calibri"/>
                        </a:rPr>
                        <a:t>E3</a:t>
                      </a:r>
                    </a:p>
                    <a:p>
                      <a:pPr algn="ctr"/>
                      <a:r>
                        <a:rPr lang="es-CO" sz="1000" b="0" dirty="0">
                          <a:solidFill>
                            <a:srgbClr val="BDD7EE"/>
                          </a:solidFill>
                          <a:latin typeface="Calibri"/>
                        </a:rPr>
                        <a:t>Aula</a:t>
                      </a:r>
                    </a:p>
                  </a:txBody>
                  <a:tcPr>
                    <a:solidFill>
                      <a:srgbClr val="003366"/>
                    </a:solidFill>
                  </a:tcPr>
                </a:tc>
                <a:tc>
                  <a:txBody>
                    <a:bodyPr/>
                    <a:lstStyle/>
                    <a:p>
                      <a:pPr algn="ctr"/>
                      <a:r>
                        <a:rPr lang="es-CO" sz="1100" b="1" dirty="0">
                          <a:solidFill>
                            <a:srgbClr val="FFFFFF"/>
                          </a:solidFill>
                          <a:latin typeface="Calibri"/>
                        </a:rPr>
                        <a:t>E4</a:t>
                      </a:r>
                    </a:p>
                    <a:p>
                      <a:pPr algn="ctr"/>
                      <a:r>
                        <a:rPr lang="es-CO" sz="1000" b="0" dirty="0">
                          <a:solidFill>
                            <a:srgbClr val="BDD7EE"/>
                          </a:solidFill>
                          <a:latin typeface="Calibri"/>
                        </a:rPr>
                        <a:t>Portal</a:t>
                      </a:r>
                    </a:p>
                    <a:p>
                      <a:pPr algn="ctr"/>
                      <a:r>
                        <a:rPr lang="es-CO" sz="1000" b="0" dirty="0">
                          <a:solidFill>
                            <a:srgbClr val="BDD7EE"/>
                          </a:solidFill>
                          <a:latin typeface="Calibri"/>
                        </a:rPr>
                        <a:t>Estud.</a:t>
                      </a:r>
                    </a:p>
                  </a:txBody>
                  <a:tcPr>
                    <a:solidFill>
                      <a:srgbClr val="003366"/>
                    </a:solidFill>
                  </a:tcPr>
                </a:tc>
                <a:tc>
                  <a:txBody>
                    <a:bodyPr/>
                    <a:lstStyle/>
                    <a:p>
                      <a:pPr algn="ctr"/>
                      <a:r>
                        <a:rPr lang="es-CO" sz="1100" b="1" dirty="0">
                          <a:solidFill>
                            <a:srgbClr val="FFFFFF"/>
                          </a:solidFill>
                          <a:latin typeface="Calibri"/>
                        </a:rPr>
                        <a:t>E5</a:t>
                      </a:r>
                    </a:p>
                    <a:p>
                      <a:pPr algn="ctr"/>
                      <a:r>
                        <a:rPr lang="es-CO" sz="1000" b="0" dirty="0">
                          <a:solidFill>
                            <a:srgbClr val="BDD7EE"/>
                          </a:solidFill>
                          <a:latin typeface="Calibri"/>
                        </a:rPr>
                        <a:t>Direcc.</a:t>
                      </a:r>
                    </a:p>
                  </a:txBody>
                  <a:tcPr>
                    <a:solidFill>
                      <a:srgbClr val="003366"/>
                    </a:solidFill>
                  </a:tcPr>
                </a:tc>
                <a:tc>
                  <a:txBody>
                    <a:bodyPr/>
                    <a:lstStyle/>
                    <a:p>
                      <a:r>
                        <a:rPr lang="es-CO" sz="1100" b="1" dirty="0">
                          <a:solidFill>
                            <a:srgbClr val="FFFFFF"/>
                          </a:solidFill>
                          <a:latin typeface="Calibri"/>
                        </a:rPr>
                        <a:t>Usuarios a entrevistar</a:t>
                      </a:r>
                    </a:p>
                  </a:txBody>
                  <a:tcPr>
                    <a:solidFill>
                      <a:srgbClr val="003366"/>
                    </a:solidFill>
                  </a:tcPr>
                </a:tc>
                <a:extLst>
                  <a:ext uri="{0D108BD9-81ED-4DB2-BD59-A6C34878D82A}">
                    <a16:rowId xmlns:a16="http://schemas.microsoft.com/office/drawing/2014/main" val="10000"/>
                  </a:ext>
                </a:extLst>
              </a:tr>
              <a:tr h="640000">
                <a:tc>
                  <a:txBody>
                    <a:bodyPr/>
                    <a:lstStyle/>
                    <a:p>
                      <a:r>
                        <a:rPr lang="es-CO" sz="1200" b="1" dirty="0">
                          <a:solidFill>
                            <a:srgbClr val="003366"/>
                          </a:solidFill>
                          <a:latin typeface="Calibri"/>
                        </a:rPr>
                        <a:t>O1</a:t>
                      </a:r>
                    </a:p>
                    <a:p>
                      <a:r>
                        <a:rPr lang="es-CO" sz="1050" dirty="0">
                          <a:solidFill>
                            <a:srgbClr val="444444"/>
                          </a:solidFill>
                          <a:latin typeface="Calibri"/>
                        </a:rPr>
                        <a:t>Automatizar matrícula de estudiantes con validación académica y financiera</a:t>
                      </a:r>
                    </a:p>
                  </a:txBody>
                  <a:tcPr>
                    <a:solidFill>
                      <a:srgbClr val="E8EEF7"/>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pPr algn="ctr"/>
                      <a:r>
                        <a:rPr lang="es-CO" sz="1400" b="1" dirty="0">
                          <a:solidFill>
                            <a:srgbClr val="FFFFFF"/>
                          </a:solidFill>
                          <a:latin typeface="Calibri"/>
                        </a:rPr>
                        <a:t>○</a:t>
                      </a:r>
                    </a:p>
                    <a:p>
                      <a:pPr algn="ctr"/>
                      <a:r>
                        <a:rPr lang="es-CO" sz="900" dirty="0">
                          <a:solidFill>
                            <a:srgbClr val="BDD7EE"/>
                          </a:solidFill>
                          <a:latin typeface="Calibri"/>
                        </a:rPr>
                        <a:t>Secundario</a:t>
                      </a:r>
                    </a:p>
                  </a:txBody>
                  <a:tcPr>
                    <a:solidFill>
                      <a:srgbClr val="1C4E8A"/>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r>
                        <a:rPr lang="es-CO" sz="1150" b="1" i="1" dirty="0">
                          <a:solidFill>
                            <a:srgbClr val="1C4E8A"/>
                          </a:solidFill>
                          <a:latin typeface="Calibri"/>
                        </a:rPr>
                        <a:t>U001, U002</a:t>
                      </a:r>
                    </a:p>
                  </a:txBody>
                  <a:tcPr>
                    <a:solidFill>
                      <a:srgbClr val="E8EEF7"/>
                    </a:solidFill>
                  </a:tcPr>
                </a:tc>
                <a:extLst>
                  <a:ext uri="{0D108BD9-81ED-4DB2-BD59-A6C34878D82A}">
                    <a16:rowId xmlns:a16="http://schemas.microsoft.com/office/drawing/2014/main" val="10001"/>
                  </a:ext>
                </a:extLst>
              </a:tr>
              <a:tr h="640000">
                <a:tc>
                  <a:txBody>
                    <a:bodyPr/>
                    <a:lstStyle/>
                    <a:p>
                      <a:r>
                        <a:rPr lang="es-CO" sz="1200" b="1" dirty="0">
                          <a:solidFill>
                            <a:srgbClr val="003366"/>
                          </a:solidFill>
                          <a:latin typeface="Calibri"/>
                        </a:rPr>
                        <a:t>O2</a:t>
                      </a:r>
                    </a:p>
                    <a:p>
                      <a:r>
                        <a:rPr lang="es-CO" sz="1050" dirty="0">
                          <a:solidFill>
                            <a:srgbClr val="444444"/>
                          </a:solidFill>
                          <a:latin typeface="Calibri"/>
                        </a:rPr>
                        <a:t>Gestionar plan de estudios: asignaturas, créditos, prerrequisitos por cohorte</a:t>
                      </a:r>
                    </a:p>
                  </a:txBody>
                  <a:tcPr>
                    <a:solidFill>
                      <a:srgbClr val="F5F8FC"/>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r>
                        <a:rPr lang="es-CO" sz="1150" b="1" i="1" dirty="0">
                          <a:solidFill>
                            <a:srgbClr val="1C4E8A"/>
                          </a:solidFill>
                          <a:latin typeface="Calibri"/>
                        </a:rPr>
                        <a:t>U001, U002</a:t>
                      </a:r>
                    </a:p>
                  </a:txBody>
                  <a:tcPr>
                    <a:solidFill>
                      <a:srgbClr val="F5F8FC"/>
                    </a:solidFill>
                  </a:tcPr>
                </a:tc>
                <a:extLst>
                  <a:ext uri="{0D108BD9-81ED-4DB2-BD59-A6C34878D82A}">
                    <a16:rowId xmlns:a16="http://schemas.microsoft.com/office/drawing/2014/main" val="10002"/>
                  </a:ext>
                </a:extLst>
              </a:tr>
              <a:tr h="640000">
                <a:tc>
                  <a:txBody>
                    <a:bodyPr/>
                    <a:lstStyle/>
                    <a:p>
                      <a:r>
                        <a:rPr lang="es-CO" sz="1200" b="1" dirty="0">
                          <a:solidFill>
                            <a:srgbClr val="003366"/>
                          </a:solidFill>
                          <a:latin typeface="Calibri"/>
                        </a:rPr>
                        <a:t>O3</a:t>
                      </a:r>
                    </a:p>
                    <a:p>
                      <a:r>
                        <a:rPr lang="es-CO" sz="1050" dirty="0">
                          <a:solidFill>
                            <a:srgbClr val="444444"/>
                          </a:solidFill>
                          <a:latin typeface="Calibri"/>
                        </a:rPr>
                        <a:t>Controlar registro de calificaciones parciales y finales; cierre de actas</a:t>
                      </a:r>
                    </a:p>
                  </a:txBody>
                  <a:tcPr>
                    <a:solidFill>
                      <a:srgbClr val="E8EEF7"/>
                    </a:solidFill>
                  </a:tcPr>
                </a:tc>
                <a:tc>
                  <a:txBody>
                    <a:bodyPr/>
                    <a:lstStyle/>
                    <a:p>
                      <a:pPr algn="ctr"/>
                      <a:r>
                        <a:rPr lang="es-CO" sz="1400" b="1" dirty="0">
                          <a:solidFill>
                            <a:srgbClr val="FFFFFF"/>
                          </a:solidFill>
                          <a:latin typeface="Calibri"/>
                        </a:rPr>
                        <a:t>○</a:t>
                      </a:r>
                    </a:p>
                    <a:p>
                      <a:pPr algn="ctr"/>
                      <a:r>
                        <a:rPr lang="es-CO" sz="900" dirty="0">
                          <a:solidFill>
                            <a:srgbClr val="BDD7EE"/>
                          </a:solidFill>
                          <a:latin typeface="Calibri"/>
                        </a:rPr>
                        <a:t>Secundario</a:t>
                      </a:r>
                    </a:p>
                  </a:txBody>
                  <a:tcPr>
                    <a:solidFill>
                      <a:srgbClr val="1C4E8A"/>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1" dirty="0">
                          <a:solidFill>
                            <a:srgbClr val="FFFFFF"/>
                          </a:solidFill>
                          <a:latin typeface="Calibri"/>
                        </a:rPr>
                        <a:t>○</a:t>
                      </a:r>
                    </a:p>
                    <a:p>
                      <a:pPr algn="ctr"/>
                      <a:r>
                        <a:rPr lang="es-CO" sz="900" dirty="0">
                          <a:solidFill>
                            <a:srgbClr val="BDD7EE"/>
                          </a:solidFill>
                          <a:latin typeface="Calibri"/>
                        </a:rPr>
                        <a:t>Secundario</a:t>
                      </a:r>
                    </a:p>
                  </a:txBody>
                  <a:tcPr>
                    <a:solidFill>
                      <a:srgbClr val="1C4E8A"/>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r>
                        <a:rPr lang="es-CO" sz="1150" b="1" i="1" dirty="0">
                          <a:solidFill>
                            <a:srgbClr val="1C4E8A"/>
                          </a:solidFill>
                          <a:latin typeface="Calibri"/>
                        </a:rPr>
                        <a:t>U001, U002, U003, U004</a:t>
                      </a:r>
                    </a:p>
                  </a:txBody>
                  <a:tcPr>
                    <a:solidFill>
                      <a:srgbClr val="E8EEF7"/>
                    </a:solidFill>
                  </a:tcPr>
                </a:tc>
                <a:extLst>
                  <a:ext uri="{0D108BD9-81ED-4DB2-BD59-A6C34878D82A}">
                    <a16:rowId xmlns:a16="http://schemas.microsoft.com/office/drawing/2014/main" val="10003"/>
                  </a:ext>
                </a:extLst>
              </a:tr>
              <a:tr h="640000">
                <a:tc>
                  <a:txBody>
                    <a:bodyPr/>
                    <a:lstStyle/>
                    <a:p>
                      <a:r>
                        <a:rPr lang="es-CO" sz="1200" b="1" dirty="0">
                          <a:solidFill>
                            <a:srgbClr val="003366"/>
                          </a:solidFill>
                          <a:latin typeface="Calibri"/>
                        </a:rPr>
                        <a:t>O4</a:t>
                      </a:r>
                    </a:p>
                    <a:p>
                      <a:r>
                        <a:rPr lang="es-CO" sz="1050" dirty="0">
                          <a:solidFill>
                            <a:srgbClr val="444444"/>
                          </a:solidFill>
                          <a:latin typeface="Calibri"/>
                        </a:rPr>
                        <a:t>Seguimiento del historial académico e indicadores de riesgo académico</a:t>
                      </a:r>
                    </a:p>
                  </a:txBody>
                  <a:tcPr>
                    <a:solidFill>
                      <a:srgbClr val="F5F8FC"/>
                    </a:solidFill>
                  </a:tcPr>
                </a:tc>
                <a:tc>
                  <a:txBody>
                    <a:bodyPr/>
                    <a:lstStyle/>
                    <a:p>
                      <a:pPr algn="ctr"/>
                      <a:r>
                        <a:rPr lang="es-CO" sz="1400" b="1" dirty="0">
                          <a:solidFill>
                            <a:srgbClr val="FFFFFF"/>
                          </a:solidFill>
                          <a:latin typeface="Calibri"/>
                        </a:rPr>
                        <a:t>○</a:t>
                      </a:r>
                    </a:p>
                    <a:p>
                      <a:pPr algn="ctr"/>
                      <a:r>
                        <a:rPr lang="es-CO" sz="900" dirty="0">
                          <a:solidFill>
                            <a:srgbClr val="BDD7EE"/>
                          </a:solidFill>
                          <a:latin typeface="Calibri"/>
                        </a:rPr>
                        <a:t>Secundario</a:t>
                      </a:r>
                    </a:p>
                  </a:txBody>
                  <a:tcPr>
                    <a:solidFill>
                      <a:srgbClr val="1C4E8A"/>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1" dirty="0">
                          <a:solidFill>
                            <a:srgbClr val="FFFFFF"/>
                          </a:solidFill>
                          <a:latin typeface="Calibri"/>
                        </a:rPr>
                        <a:t>○</a:t>
                      </a:r>
                    </a:p>
                    <a:p>
                      <a:pPr algn="ctr"/>
                      <a:r>
                        <a:rPr lang="es-CO" sz="900" dirty="0">
                          <a:solidFill>
                            <a:srgbClr val="BDD7EE"/>
                          </a:solidFill>
                          <a:latin typeface="Calibri"/>
                        </a:rPr>
                        <a:t>Secundario</a:t>
                      </a:r>
                    </a:p>
                  </a:txBody>
                  <a:tcPr>
                    <a:solidFill>
                      <a:srgbClr val="1C4E8A"/>
                    </a:solidFill>
                  </a:tcPr>
                </a:tc>
                <a:tc>
                  <a:txBody>
                    <a:bodyPr/>
                    <a:lstStyle/>
                    <a:p>
                      <a:r>
                        <a:rPr lang="es-CO" sz="1150" b="1" i="1" dirty="0">
                          <a:solidFill>
                            <a:srgbClr val="1C4E8A"/>
                          </a:solidFill>
                          <a:latin typeface="Calibri"/>
                        </a:rPr>
                        <a:t>U002, U004, U005</a:t>
                      </a:r>
                    </a:p>
                  </a:txBody>
                  <a:tcPr>
                    <a:solidFill>
                      <a:srgbClr val="F5F8FC"/>
                    </a:solidFill>
                  </a:tcPr>
                </a:tc>
                <a:extLst>
                  <a:ext uri="{0D108BD9-81ED-4DB2-BD59-A6C34878D82A}">
                    <a16:rowId xmlns:a16="http://schemas.microsoft.com/office/drawing/2014/main" val="10004"/>
                  </a:ext>
                </a:extLst>
              </a:tr>
              <a:tr h="640000">
                <a:tc>
                  <a:txBody>
                    <a:bodyPr/>
                    <a:lstStyle/>
                    <a:p>
                      <a:r>
                        <a:rPr lang="es-CO" sz="1200" b="1" dirty="0">
                          <a:solidFill>
                            <a:srgbClr val="003366"/>
                          </a:solidFill>
                          <a:latin typeface="Calibri"/>
                        </a:rPr>
                        <a:t>O5</a:t>
                      </a:r>
                    </a:p>
                    <a:p>
                      <a:r>
                        <a:rPr lang="es-CO" sz="1050" dirty="0">
                          <a:solidFill>
                            <a:srgbClr val="444444"/>
                          </a:solidFill>
                          <a:latin typeface="Calibri"/>
                        </a:rPr>
                        <a:t>Generar documentos oficiales con firma electrónica (certificados, paz y salvo)</a:t>
                      </a:r>
                    </a:p>
                  </a:txBody>
                  <a:tcPr>
                    <a:solidFill>
                      <a:srgbClr val="E8EEF7"/>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E8EEF7"/>
                    </a:solidFill>
                  </a:tcPr>
                </a:tc>
                <a:tc>
                  <a:txBody>
                    <a:bodyPr/>
                    <a:lstStyle/>
                    <a:p>
                      <a:r>
                        <a:rPr lang="es-CO" sz="1150" b="1" i="1" dirty="0">
                          <a:solidFill>
                            <a:srgbClr val="1C4E8A"/>
                          </a:solidFill>
                          <a:latin typeface="Calibri"/>
                        </a:rPr>
                        <a:t>U001, U004</a:t>
                      </a:r>
                    </a:p>
                  </a:txBody>
                  <a:tcPr>
                    <a:solidFill>
                      <a:srgbClr val="E8EEF7"/>
                    </a:solidFill>
                  </a:tcPr>
                </a:tc>
                <a:extLst>
                  <a:ext uri="{0D108BD9-81ED-4DB2-BD59-A6C34878D82A}">
                    <a16:rowId xmlns:a16="http://schemas.microsoft.com/office/drawing/2014/main" val="10005"/>
                  </a:ext>
                </a:extLst>
              </a:tr>
              <a:tr h="640000">
                <a:tc>
                  <a:txBody>
                    <a:bodyPr/>
                    <a:lstStyle/>
                    <a:p>
                      <a:r>
                        <a:rPr lang="es-CO" sz="1200" b="1" dirty="0">
                          <a:solidFill>
                            <a:srgbClr val="003366"/>
                          </a:solidFill>
                          <a:latin typeface="Calibri"/>
                        </a:rPr>
                        <a:t>O6</a:t>
                      </a:r>
                    </a:p>
                    <a:p>
                      <a:r>
                        <a:rPr lang="es-CO" sz="1050" dirty="0">
                          <a:solidFill>
                            <a:srgbClr val="444444"/>
                          </a:solidFill>
                          <a:latin typeface="Calibri"/>
                        </a:rPr>
                        <a:t>Proveer tableros de indicadores consolidados por programa, periodo y sede</a:t>
                      </a:r>
                    </a:p>
                  </a:txBody>
                  <a:tcPr>
                    <a:solidFill>
                      <a:srgbClr val="F5F8FC"/>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400" b="0" dirty="0">
                          <a:solidFill>
                            <a:srgbClr val="AAAAAA"/>
                          </a:solidFill>
                          <a:latin typeface="Calibri"/>
                        </a:rPr>
                        <a:t>—</a:t>
                      </a:r>
                    </a:p>
                  </a:txBody>
                  <a:tcPr>
                    <a:solidFill>
                      <a:srgbClr val="F5F8FC"/>
                    </a:solidFill>
                  </a:tcPr>
                </a:tc>
                <a:tc>
                  <a:txBody>
                    <a:bodyPr/>
                    <a:lstStyle/>
                    <a:p>
                      <a:pPr algn="ctr"/>
                      <a:r>
                        <a:rPr lang="es-CO" sz="1600" b="1" dirty="0">
                          <a:solidFill>
                            <a:srgbClr val="FFFFFF"/>
                          </a:solidFill>
                          <a:latin typeface="Calibri"/>
                        </a:rPr>
                        <a:t>✔</a:t>
                      </a:r>
                    </a:p>
                    <a:p>
                      <a:pPr algn="ctr"/>
                      <a:r>
                        <a:rPr lang="es-CO" sz="900" dirty="0">
                          <a:solidFill>
                            <a:srgbClr val="BDD7EE"/>
                          </a:solidFill>
                          <a:latin typeface="Calibri"/>
                        </a:rPr>
                        <a:t>Primario</a:t>
                      </a:r>
                    </a:p>
                  </a:txBody>
                  <a:tcPr>
                    <a:solidFill>
                      <a:srgbClr val="003366"/>
                    </a:solidFill>
                  </a:tcPr>
                </a:tc>
                <a:tc>
                  <a:txBody>
                    <a:bodyPr/>
                    <a:lstStyle/>
                    <a:p>
                      <a:r>
                        <a:rPr lang="es-CO" sz="1150" b="1" i="1" dirty="0">
                          <a:solidFill>
                            <a:srgbClr val="1C4E8A"/>
                          </a:solidFill>
                          <a:latin typeface="Calibri"/>
                        </a:rPr>
                        <a:t>U002, U005</a:t>
                      </a:r>
                    </a:p>
                  </a:txBody>
                  <a:tcPr>
                    <a:solidFill>
                      <a:srgbClr val="F5F8FC"/>
                    </a:solidFill>
                  </a:tcPr>
                </a:tc>
                <a:extLst>
                  <a:ext uri="{0D108BD9-81ED-4DB2-BD59-A6C34878D82A}">
                    <a16:rowId xmlns:a16="http://schemas.microsoft.com/office/drawing/2014/main" val="10006"/>
                  </a:ext>
                </a:extLst>
              </a:tr>
              <a:tr h="430000">
                <a:tc>
                  <a:txBody>
                    <a:bodyPr/>
                    <a:lstStyle/>
                    <a:p>
                      <a:r>
                        <a:rPr lang="es-CO" sz="1100" b="1" dirty="0">
                          <a:solidFill>
                            <a:srgbClr val="FFFFFF"/>
                          </a:solidFill>
                          <a:latin typeface="Calibri"/>
                        </a:rPr>
                        <a:t>✔ Cobertura primaria (escenario principal del objetivo)    ○ Cobertura secundaria (escenario complementario)    — No aplica</a:t>
                      </a:r>
                    </a:p>
                  </a:txBody>
                  <a:tcPr>
                    <a:solidFill>
                      <a:srgbClr val="1C4E8A"/>
                    </a:solidFill>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7EA3A8B-FB73-DD0F-E0E3-7FD7241968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0E3656-DD75-27D5-5F06-50151E197377}"/>
              </a:ext>
            </a:extLst>
          </p:cNvPr>
          <p:cNvSpPr txBox="1"/>
          <p:nvPr/>
        </p:nvSpPr>
        <p:spPr>
          <a:xfrm>
            <a:off x="218734" y="3166762"/>
            <a:ext cx="10967131" cy="200054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4 — </a:t>
            </a:r>
            <a:r>
              <a:rPr lang="es-CO" sz="3200" dirty="0">
                <a:solidFill>
                  <a:prstClr val="white"/>
                </a:solidFill>
                <a:latin typeface="Century Gothic" panose="020B0502020202020204" pitchFamily="34" charset="0"/>
              </a:rPr>
              <a:t>Diseño y Aplicación de Instrumentos de Entrevista (Educción — Captura)</a:t>
            </a:r>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4054796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4 — Análisis y agrupación de características por funcionalidad (Elicitación)</a:t>
            </a:r>
          </a:p>
        </p:txBody>
      </p:sp>
      <p:sp>
        <p:nvSpPr>
          <p:cNvPr id="7" name="Content"/>
          <p:cNvSpPr/>
          <p:nvPr/>
        </p:nvSpPr>
        <p:spPr>
          <a:xfrm>
            <a:off x="421004" y="1600000"/>
            <a:ext cx="11210866" cy="4100000"/>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Se diseñan cuestionarios diferenciados por tipo de usuario, estructurados en función del orden de objetivos y escenarios definidos, considerando que los entrevistados no poseen formación técnica en ingeniería de software. Las entrevistas se ejecutan conforme al calendario establecido, con posibilidad de iteraciones para aclarar incomprendidos o ampliar detalles. Esta actividad corresponde a la fase de </a:t>
            </a:r>
            <a:r>
              <a:rPr lang="es-CO" sz="1400" i="1" dirty="0" err="1">
                <a:solidFill>
                  <a:srgbClr val="333333"/>
                </a:solidFill>
                <a:latin typeface="Calibri"/>
              </a:rPr>
              <a:t>knowledge</a:t>
            </a:r>
            <a:r>
              <a:rPr lang="es-CO" sz="1400" dirty="0">
                <a:solidFill>
                  <a:srgbClr val="333333"/>
                </a:solidFill>
                <a:latin typeface="Calibri"/>
              </a:rPr>
              <a:t> </a:t>
            </a:r>
            <a:r>
              <a:rPr lang="es-CO" sz="1400" i="1" dirty="0" err="1">
                <a:solidFill>
                  <a:srgbClr val="333333"/>
                </a:solidFill>
                <a:latin typeface="Calibri"/>
              </a:rPr>
              <a:t>elicitation</a:t>
            </a:r>
            <a:r>
              <a:rPr lang="es-CO" sz="1400" dirty="0">
                <a:solidFill>
                  <a:srgbClr val="333333"/>
                </a:solidFill>
                <a:latin typeface="Calibri"/>
              </a:rPr>
              <a:t> del SWEBOK v4, que reconoce la entrevista como técnica primaria para la captura de conocimiento tácito del dominio.</a:t>
            </a: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Entrevistas estructuradas y semiestructuradas.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Cuestionarios por perfil de usuario.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Listas de chequeo de ejecución (</a:t>
            </a:r>
            <a:r>
              <a:rPr lang="es-CO" sz="1400" i="1" dirty="0" err="1">
                <a:solidFill>
                  <a:srgbClr val="333333"/>
                </a:solidFill>
                <a:latin typeface="Calibri"/>
              </a:rPr>
              <a:t>checklists</a:t>
            </a:r>
            <a:r>
              <a:rPr lang="es-CO" sz="1400" dirty="0">
                <a:solidFill>
                  <a:srgbClr val="333333"/>
                </a:solidFill>
                <a:latin typeface="Calibri"/>
              </a:rPr>
              <a:t>).</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Grabación y transcripción con consentimiento informado.</a:t>
            </a:r>
          </a:p>
          <a:p>
            <a:pPr marL="0" lvl="0" indent="0">
              <a:lnSpc>
                <a:spcPct val="107000"/>
              </a:lnSpc>
              <a:spcAft>
                <a:spcPts val="200"/>
              </a:spcAft>
              <a:buNone/>
            </a:pPr>
            <a:r>
              <a:rPr lang="es-CO" sz="1500" b="1" dirty="0">
                <a:solidFill>
                  <a:srgbClr val="003366"/>
                </a:solidFill>
                <a:latin typeface="Calibri"/>
              </a:rPr>
              <a:t>Artefacto/entregable:</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Fichas de entrevista por usuario.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Lista de cotejo de ejecución con control de versionalidad de sesiones realizadas. (Figura 6)</a:t>
            </a:r>
          </a:p>
          <a:p>
            <a:pPr marL="514350" lvl="0" indent="-285750">
              <a:lnSpc>
                <a:spcPct val="107000"/>
              </a:lnSpc>
              <a:spcAft>
                <a:spcPts val="400"/>
              </a:spcAft>
              <a:buFont typeface="Wingdings" panose="05000000000000000000" pitchFamily="2" charset="2"/>
              <a:buChar char="ü"/>
            </a:pPr>
            <a:r>
              <a:rPr lang="es-CO" sz="1400" dirty="0"/>
              <a:t>Actas de Entrevista (Figura 7)</a:t>
            </a:r>
            <a:endParaRPr lang="es-CO" sz="1400" dirty="0">
              <a:solidFill>
                <a:srgbClr val="333333"/>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Ficha de Entrevista — Cuestionario U001 | Auxiliar de Secretaría Académica</a:t>
            </a:r>
          </a:p>
        </p:txBody>
      </p:sp>
      <p:sp>
        <p:nvSpPr>
          <p:cNvPr id="20" name="FormBG"/>
          <p:cNvSpPr/>
          <p:nvPr/>
        </p:nvSpPr>
        <p:spPr>
          <a:xfrm>
            <a:off x="300000" y="1450000"/>
            <a:ext cx="11600000" cy="5000000"/>
          </a:xfrm>
          <a:prstGeom prst="rect">
            <a:avLst/>
          </a:prstGeom>
          <a:solidFill>
            <a:srgbClr val="F5F8FC"/>
          </a:solidFill>
          <a:ln w="19050">
            <a:solidFill>
              <a:srgbClr val="0033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dr21"/>
          <p:cNvSpPr/>
          <p:nvPr/>
        </p:nvSpPr>
        <p:spPr>
          <a:xfrm>
            <a:off x="300000" y="1450000"/>
            <a:ext cx="11600000" cy="4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FICHA DE ENTREVISTA</a:t>
            </a:r>
          </a:p>
        </p:txBody>
      </p:sp>
      <p:sp>
        <p:nvSpPr>
          <p:cNvPr id="30" name="b30"/>
          <p:cNvSpPr txBox="1"/>
          <p:nvPr/>
        </p:nvSpPr>
        <p:spPr>
          <a:xfrm>
            <a:off x="350000" y="1910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Sistema de Gestión Académica — CONOCIMIENTO</a:t>
            </a:r>
          </a:p>
        </p:txBody>
      </p:sp>
      <p:sp>
        <p:nvSpPr>
          <p:cNvPr id="31" name="b31"/>
          <p:cNvSpPr txBox="1"/>
          <p:nvPr/>
        </p:nvSpPr>
        <p:spPr>
          <a:xfrm>
            <a:off x="5900000" y="1910000"/>
            <a:ext cx="24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N° Ficha: FE-001</a:t>
            </a:r>
          </a:p>
        </p:txBody>
      </p:sp>
      <p:sp>
        <p:nvSpPr>
          <p:cNvPr id="32" name="b32"/>
          <p:cNvSpPr txBox="1"/>
          <p:nvPr/>
        </p:nvSpPr>
        <p:spPr>
          <a:xfrm>
            <a:off x="8350000" y="1910000"/>
            <a:ext cx="34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N° Versión: 1.0</a:t>
            </a:r>
          </a:p>
        </p:txBody>
      </p:sp>
      <p:sp>
        <p:nvSpPr>
          <p:cNvPr id="33" name="b33"/>
          <p:cNvSpPr txBox="1"/>
          <p:nvPr/>
        </p:nvSpPr>
        <p:spPr>
          <a:xfrm>
            <a:off x="350000" y="2280000"/>
            <a:ext cx="35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Usuario entrevistado:  López Vega, Juan Manuel</a:t>
            </a:r>
          </a:p>
        </p:txBody>
      </p:sp>
      <p:sp>
        <p:nvSpPr>
          <p:cNvPr id="34" name="b34"/>
          <p:cNvSpPr txBox="1"/>
          <p:nvPr/>
        </p:nvSpPr>
        <p:spPr>
          <a:xfrm>
            <a:off x="3900000" y="2280000"/>
            <a:ext cx="35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Cargo:  Auxiliar de Secretaría Académica</a:t>
            </a:r>
          </a:p>
        </p:txBody>
      </p:sp>
      <p:sp>
        <p:nvSpPr>
          <p:cNvPr id="35" name="b35"/>
          <p:cNvSpPr txBox="1"/>
          <p:nvPr/>
        </p:nvSpPr>
        <p:spPr>
          <a:xfrm>
            <a:off x="7450000" y="2280000"/>
            <a:ext cx="44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Escenarios cubiertos:  E1 — Secretaría Acad.,  E2 — Coord. Programa</a:t>
            </a:r>
          </a:p>
        </p:txBody>
      </p:sp>
      <p:sp>
        <p:nvSpPr>
          <p:cNvPr id="36" name="b36"/>
          <p:cNvSpPr txBox="1"/>
          <p:nvPr/>
        </p:nvSpPr>
        <p:spPr>
          <a:xfrm>
            <a:off x="350000" y="2640000"/>
            <a:ext cx="4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Objetivos abordados:  O1 — Matrícula,  O2 — Plan de estudios,  O5 — Documentos</a:t>
            </a:r>
          </a:p>
        </p:txBody>
      </p:sp>
      <p:sp>
        <p:nvSpPr>
          <p:cNvPr id="37" name="b37"/>
          <p:cNvSpPr txBox="1"/>
          <p:nvPr/>
        </p:nvSpPr>
        <p:spPr>
          <a:xfrm>
            <a:off x="4900000" y="2640000"/>
            <a:ext cx="2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Fecha entrevista:  10 / 06 / 2025</a:t>
            </a:r>
          </a:p>
        </p:txBody>
      </p:sp>
      <p:sp>
        <p:nvSpPr>
          <p:cNvPr id="38" name="b38"/>
          <p:cNvSpPr txBox="1"/>
          <p:nvPr/>
        </p:nvSpPr>
        <p:spPr>
          <a:xfrm>
            <a:off x="7450000" y="2640000"/>
            <a:ext cx="44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Entrevistador:  Ing. Paola Méndez — Analista de Requisitos</a:t>
            </a:r>
          </a:p>
        </p:txBody>
      </p:sp>
      <p:sp>
        <p:nvSpPr>
          <p:cNvPr id="40" name="hdr40"/>
          <p:cNvSpPr/>
          <p:nvPr/>
        </p:nvSpPr>
        <p:spPr>
          <a:xfrm>
            <a:off x="350000" y="3010000"/>
            <a:ext cx="11450000" cy="36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PREGUNTAS DE LA ENTREVISTA</a:t>
            </a:r>
          </a:p>
        </p:txBody>
      </p:sp>
      <p:sp>
        <p:nvSpPr>
          <p:cNvPr id="200" name="b200"/>
          <p:cNvSpPr txBox="1"/>
          <p:nvPr/>
        </p:nvSpPr>
        <p:spPr>
          <a:xfrm>
            <a:off x="350000" y="3060000"/>
            <a:ext cx="5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1.</a:t>
            </a:r>
          </a:p>
        </p:txBody>
      </p:sp>
      <p:sp>
        <p:nvSpPr>
          <p:cNvPr id="201" name="b201"/>
          <p:cNvSpPr txBox="1"/>
          <p:nvPr/>
        </p:nvSpPr>
        <p:spPr>
          <a:xfrm>
            <a:off x="900000" y="3060000"/>
            <a:ext cx="109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¿Cuál es el procedimiento actual para registrar la matrícula de un estudiante? ¿Qué información se captura y en qué orden?</a:t>
            </a:r>
          </a:p>
        </p:txBody>
      </p:sp>
      <p:sp>
        <p:nvSpPr>
          <p:cNvPr id="202" name="b202"/>
          <p:cNvSpPr txBox="1"/>
          <p:nvPr/>
        </p:nvSpPr>
        <p:spPr>
          <a:xfrm>
            <a:off x="350000" y="3550000"/>
            <a:ext cx="5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2.</a:t>
            </a:r>
          </a:p>
        </p:txBody>
      </p:sp>
      <p:sp>
        <p:nvSpPr>
          <p:cNvPr id="203" name="b203"/>
          <p:cNvSpPr txBox="1"/>
          <p:nvPr/>
        </p:nvSpPr>
        <p:spPr>
          <a:xfrm>
            <a:off x="900000" y="3550000"/>
            <a:ext cx="109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¿Qué errores o inconsistencias son más frecuentes durante el proceso de matrícula? ¿Cómo se corrigen actualmente?</a:t>
            </a:r>
          </a:p>
        </p:txBody>
      </p:sp>
      <p:sp>
        <p:nvSpPr>
          <p:cNvPr id="204" name="b204"/>
          <p:cNvSpPr txBox="1"/>
          <p:nvPr/>
        </p:nvSpPr>
        <p:spPr>
          <a:xfrm>
            <a:off x="350000" y="4040000"/>
            <a:ext cx="5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3.</a:t>
            </a:r>
          </a:p>
        </p:txBody>
      </p:sp>
      <p:sp>
        <p:nvSpPr>
          <p:cNvPr id="205" name="b205"/>
          <p:cNvSpPr txBox="1"/>
          <p:nvPr/>
        </p:nvSpPr>
        <p:spPr>
          <a:xfrm>
            <a:off x="900000" y="4040000"/>
            <a:ext cx="109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¿Qué documentos genera usted al cierre de cada periodo académico? ¿Con qué periodicidad y para quién los prepara?</a:t>
            </a:r>
          </a:p>
        </p:txBody>
      </p:sp>
      <p:sp>
        <p:nvSpPr>
          <p:cNvPr id="206" name="b206"/>
          <p:cNvSpPr txBox="1"/>
          <p:nvPr/>
        </p:nvSpPr>
        <p:spPr>
          <a:xfrm>
            <a:off x="350000" y="4530000"/>
            <a:ext cx="5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4.</a:t>
            </a:r>
          </a:p>
        </p:txBody>
      </p:sp>
      <p:sp>
        <p:nvSpPr>
          <p:cNvPr id="207" name="b207"/>
          <p:cNvSpPr txBox="1"/>
          <p:nvPr/>
        </p:nvSpPr>
        <p:spPr>
          <a:xfrm>
            <a:off x="900000" y="4530000"/>
            <a:ext cx="109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¿Qué información necesita consultar con mayor frecuencia durante su jornada laboral? ¿Le resulta accesible en el sistema actual?</a:t>
            </a:r>
          </a:p>
        </p:txBody>
      </p:sp>
      <p:sp>
        <p:nvSpPr>
          <p:cNvPr id="208" name="b208"/>
          <p:cNvSpPr txBox="1"/>
          <p:nvPr/>
        </p:nvSpPr>
        <p:spPr>
          <a:xfrm>
            <a:off x="350000" y="5020000"/>
            <a:ext cx="5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5.</a:t>
            </a:r>
          </a:p>
        </p:txBody>
      </p:sp>
      <p:sp>
        <p:nvSpPr>
          <p:cNvPr id="209" name="b209"/>
          <p:cNvSpPr txBox="1"/>
          <p:nvPr/>
        </p:nvSpPr>
        <p:spPr>
          <a:xfrm>
            <a:off x="900000" y="5020000"/>
            <a:ext cx="10900000" cy="460000"/>
          </a:xfrm>
          <a:prstGeom prst="rect">
            <a:avLst/>
          </a:prstGeom>
          <a:solidFill>
            <a:srgbClr val="F0F4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¿Cómo se notifica actualmente a los estudiantes cuando hay cambios en su estado de matrícula o en sus calificaciones?</a:t>
            </a:r>
          </a:p>
        </p:txBody>
      </p:sp>
      <p:sp>
        <p:nvSpPr>
          <p:cNvPr id="210" name="b210"/>
          <p:cNvSpPr txBox="1"/>
          <p:nvPr/>
        </p:nvSpPr>
        <p:spPr>
          <a:xfrm>
            <a:off x="350000" y="5510000"/>
            <a:ext cx="5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6.</a:t>
            </a:r>
          </a:p>
        </p:txBody>
      </p:sp>
      <p:sp>
        <p:nvSpPr>
          <p:cNvPr id="211" name="b211"/>
          <p:cNvSpPr txBox="1"/>
          <p:nvPr/>
        </p:nvSpPr>
        <p:spPr>
          <a:xfrm>
            <a:off x="900000" y="5510000"/>
            <a:ext cx="10900000" cy="4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¿Qué aspectos del proceso actual le generan mayor demora o reproceso? ¿Tiene alguna sugerencia de mejora?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8A32E-421F-4F7A-0564-42F14873774B}"/>
              </a:ext>
            </a:extLst>
          </p:cNvPr>
          <p:cNvSpPr>
            <a:spLocks noGrp="1"/>
          </p:cNvSpPr>
          <p:nvPr>
            <p:ph type="title"/>
          </p:nvPr>
        </p:nvSpPr>
        <p:spPr>
          <a:xfrm>
            <a:off x="838200" y="609676"/>
            <a:ext cx="10515600" cy="1325563"/>
          </a:xfrm>
        </p:spPr>
        <p:txBody>
          <a:bodyPr/>
          <a:lstStyle/>
          <a:p>
            <a:r>
              <a:rPr lang="es-CO" dirty="0"/>
              <a:t>Ficha de Entrevista FE-001</a:t>
            </a:r>
          </a:p>
        </p:txBody>
      </p:sp>
      <p:sp>
        <p:nvSpPr>
          <p:cNvPr id="3" name="Marcador de contenido 2">
            <a:extLst>
              <a:ext uri="{FF2B5EF4-FFF2-40B4-BE49-F238E27FC236}">
                <a16:creationId xmlns:a16="http://schemas.microsoft.com/office/drawing/2014/main" id="{5B3F31FB-BF91-6140-CC9F-89E05CEC36AB}"/>
              </a:ext>
            </a:extLst>
          </p:cNvPr>
          <p:cNvSpPr>
            <a:spLocks noGrp="1"/>
          </p:cNvSpPr>
          <p:nvPr>
            <p:ph idx="1"/>
          </p:nvPr>
        </p:nvSpPr>
        <p:spPr/>
        <p:txBody>
          <a:bodyPr/>
          <a:lstStyle/>
          <a:p>
            <a:pPr marL="0" indent="0">
              <a:buNone/>
            </a:pPr>
            <a:r>
              <a:rPr lang="es-CO" dirty="0"/>
              <a:t>Cuestionario para U001 (Auxiliar de Secretaría). Encabezado con: proyecto, </a:t>
            </a:r>
            <a:r>
              <a:rPr lang="es-CO" dirty="0" err="1"/>
              <a:t>N°</a:t>
            </a:r>
            <a:r>
              <a:rPr lang="es-CO" dirty="0"/>
              <a:t> ficha, versión, usuario, cargo, escenarios cubiertos (E1, E2), objetivos abordados (O1, O2, O5), fecha y entrevistador. </a:t>
            </a:r>
            <a:r>
              <a:rPr lang="es-CO" b="1" dirty="0"/>
              <a:t>6 preguntas semiestructuradas</a:t>
            </a:r>
            <a:r>
              <a:rPr lang="es-CO" dirty="0"/>
              <a:t> por funcionalidad, en filas alternadas</a:t>
            </a:r>
          </a:p>
        </p:txBody>
      </p:sp>
    </p:spTree>
    <p:extLst>
      <p:ext uri="{BB962C8B-B14F-4D97-AF65-F5344CB8AC3E}">
        <p14:creationId xmlns:p14="http://schemas.microsoft.com/office/powerpoint/2010/main" val="3977542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6 — Lista de Chequeo de Entrevistas | Sistema de Gestión Académica</a:t>
            </a:r>
          </a:p>
        </p:txBody>
      </p:sp>
      <p:sp>
        <p:nvSpPr>
          <p:cNvPr id="30" name="b30"/>
          <p:cNvSpPr txBox="1"/>
          <p:nvPr/>
        </p:nvSpPr>
        <p:spPr>
          <a:xfrm>
            <a:off x="350000" y="1450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31"/>
          <p:cNvSpPr txBox="1"/>
          <p:nvPr/>
        </p:nvSpPr>
        <p:spPr>
          <a:xfrm>
            <a:off x="5900000" y="1450000"/>
            <a:ext cx="30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Fecha de elaboración:  06 / 06 / 2025</a:t>
            </a:r>
          </a:p>
        </p:txBody>
      </p:sp>
      <p:sp>
        <p:nvSpPr>
          <p:cNvPr id="32" name="b32"/>
          <p:cNvSpPr txBox="1"/>
          <p:nvPr/>
        </p:nvSpPr>
        <p:spPr>
          <a:xfrm>
            <a:off x="8950000" y="1450000"/>
            <a:ext cx="30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N° de Versión:  1.1</a:t>
            </a:r>
          </a:p>
        </p:txBody>
      </p:sp>
      <p:graphicFrame>
        <p:nvGraphicFramePr>
          <p:cNvPr id="10" name="Figura6"/>
          <p:cNvGraphicFramePr>
            <a:graphicFrameLocks noGrp="1"/>
          </p:cNvGraphicFramePr>
          <p:nvPr/>
        </p:nvGraphicFramePr>
        <p:xfrm>
          <a:off x="300000" y="1820000"/>
          <a:ext cx="11600000" cy="4450000"/>
        </p:xfrm>
        <a:graphic>
          <a:graphicData uri="http://schemas.openxmlformats.org/drawingml/2006/table">
            <a:tbl>
              <a:tblPr firstRow="1">
                <a:tableStyleId>{5C22544A-7EE6-4342-B048-85BDC9FD1C3A}</a:tableStyleId>
              </a:tblPr>
              <a:tblGrid>
                <a:gridCol w="600000">
                  <a:extLst>
                    <a:ext uri="{9D8B030D-6E8A-4147-A177-3AD203B41FA5}">
                      <a16:colId xmlns:a16="http://schemas.microsoft.com/office/drawing/2014/main" val="20000"/>
                    </a:ext>
                  </a:extLst>
                </a:gridCol>
                <a:gridCol w="2600000">
                  <a:extLst>
                    <a:ext uri="{9D8B030D-6E8A-4147-A177-3AD203B41FA5}">
                      <a16:colId xmlns:a16="http://schemas.microsoft.com/office/drawing/2014/main" val="20001"/>
                    </a:ext>
                  </a:extLst>
                </a:gridCol>
                <a:gridCol w="2500000">
                  <a:extLst>
                    <a:ext uri="{9D8B030D-6E8A-4147-A177-3AD203B41FA5}">
                      <a16:colId xmlns:a16="http://schemas.microsoft.com/office/drawing/2014/main" val="20002"/>
                    </a:ext>
                  </a:extLst>
                </a:gridCol>
                <a:gridCol w="1400000">
                  <a:extLst>
                    <a:ext uri="{9D8B030D-6E8A-4147-A177-3AD203B41FA5}">
                      <a16:colId xmlns:a16="http://schemas.microsoft.com/office/drawing/2014/main" val="20003"/>
                    </a:ext>
                  </a:extLst>
                </a:gridCol>
                <a:gridCol w="1000000">
                  <a:extLst>
                    <a:ext uri="{9D8B030D-6E8A-4147-A177-3AD203B41FA5}">
                      <a16:colId xmlns:a16="http://schemas.microsoft.com/office/drawing/2014/main" val="20004"/>
                    </a:ext>
                  </a:extLst>
                </a:gridCol>
                <a:gridCol w="1900000">
                  <a:extLst>
                    <a:ext uri="{9D8B030D-6E8A-4147-A177-3AD203B41FA5}">
                      <a16:colId xmlns:a16="http://schemas.microsoft.com/office/drawing/2014/main" val="20005"/>
                    </a:ext>
                  </a:extLst>
                </a:gridCol>
                <a:gridCol w="1600000">
                  <a:extLst>
                    <a:ext uri="{9D8B030D-6E8A-4147-A177-3AD203B41FA5}">
                      <a16:colId xmlns:a16="http://schemas.microsoft.com/office/drawing/2014/main" val="20006"/>
                    </a:ext>
                  </a:extLst>
                </a:gridCol>
              </a:tblGrid>
              <a:tr h="530000">
                <a:tc>
                  <a:txBody>
                    <a:bodyPr/>
                    <a:lstStyle/>
                    <a:p>
                      <a:r>
                        <a:rPr lang="es-CO" sz="1200" b="1" dirty="0">
                          <a:solidFill>
                            <a:srgbClr val="FFFFFF"/>
                          </a:solidFill>
                          <a:latin typeface="Calibri"/>
                        </a:rPr>
                        <a:t>N°</a:t>
                      </a:r>
                    </a:p>
                  </a:txBody>
                  <a:tcPr>
                    <a:solidFill>
                      <a:srgbClr val="003366"/>
                    </a:solidFill>
                  </a:tcPr>
                </a:tc>
                <a:tc>
                  <a:txBody>
                    <a:bodyPr/>
                    <a:lstStyle/>
                    <a:p>
                      <a:r>
                        <a:rPr lang="es-CO" sz="1200" b="1" dirty="0">
                          <a:solidFill>
                            <a:srgbClr val="FFFFFF"/>
                          </a:solidFill>
                          <a:latin typeface="Calibri"/>
                        </a:rPr>
                        <a:t>Apellidos y Nombres</a:t>
                      </a:r>
                    </a:p>
                  </a:txBody>
                  <a:tcPr>
                    <a:solidFill>
                      <a:srgbClr val="003366"/>
                    </a:solidFill>
                  </a:tcPr>
                </a:tc>
                <a:tc>
                  <a:txBody>
                    <a:bodyPr/>
                    <a:lstStyle/>
                    <a:p>
                      <a:r>
                        <a:rPr lang="es-CO" sz="1200" b="1" dirty="0">
                          <a:solidFill>
                            <a:srgbClr val="FFFFFF"/>
                          </a:solidFill>
                          <a:latin typeface="Calibri"/>
                        </a:rPr>
                        <a:t>Cargo</a:t>
                      </a:r>
                    </a:p>
                  </a:txBody>
                  <a:tcPr>
                    <a:solidFill>
                      <a:srgbClr val="003366"/>
                    </a:solidFill>
                  </a:tcPr>
                </a:tc>
                <a:tc>
                  <a:txBody>
                    <a:bodyPr/>
                    <a:lstStyle/>
                    <a:p>
                      <a:r>
                        <a:rPr lang="es-CO" sz="1200" b="1" dirty="0">
                          <a:solidFill>
                            <a:srgbClr val="FFFFFF"/>
                          </a:solidFill>
                          <a:latin typeface="Calibri"/>
                        </a:rPr>
                        <a:t>Fecha Entrevista</a:t>
                      </a:r>
                    </a:p>
                  </a:txBody>
                  <a:tcPr>
                    <a:solidFill>
                      <a:srgbClr val="003366"/>
                    </a:solidFill>
                  </a:tcPr>
                </a:tc>
                <a:tc>
                  <a:txBody>
                    <a:bodyPr/>
                    <a:lstStyle/>
                    <a:p>
                      <a:r>
                        <a:rPr lang="es-CO" sz="1200" b="1" dirty="0">
                          <a:solidFill>
                            <a:srgbClr val="FFFFFF"/>
                          </a:solidFill>
                          <a:latin typeface="Calibri"/>
                        </a:rPr>
                        <a:t>Ficha</a:t>
                      </a:r>
                    </a:p>
                  </a:txBody>
                  <a:tcPr>
                    <a:solidFill>
                      <a:srgbClr val="003366"/>
                    </a:solidFill>
                  </a:tcPr>
                </a:tc>
                <a:tc>
                  <a:txBody>
                    <a:bodyPr/>
                    <a:lstStyle/>
                    <a:p>
                      <a:r>
                        <a:rPr lang="es-CO" sz="1200" b="1" dirty="0">
                          <a:solidFill>
                            <a:srgbClr val="FFFFFF"/>
                          </a:solidFill>
                          <a:latin typeface="Calibri"/>
                        </a:rPr>
                        <a:t>Estado</a:t>
                      </a:r>
                    </a:p>
                  </a:txBody>
                  <a:tcPr>
                    <a:solidFill>
                      <a:srgbClr val="003366"/>
                    </a:solidFill>
                  </a:tcPr>
                </a:tc>
                <a:tc>
                  <a:txBody>
                    <a:bodyPr/>
                    <a:lstStyle/>
                    <a:p>
                      <a:r>
                        <a:rPr lang="es-CO" sz="1200" b="1" dirty="0">
                          <a:solidFill>
                            <a:srgbClr val="FFFFFF"/>
                          </a:solidFill>
                          <a:latin typeface="Calibri"/>
                        </a:rPr>
                        <a:t>N° Versión</a:t>
                      </a:r>
                    </a:p>
                  </a:txBody>
                  <a:tcPr>
                    <a:solidFill>
                      <a:srgbClr val="003366"/>
                    </a:solidFill>
                  </a:tcPr>
                </a:tc>
                <a:extLst>
                  <a:ext uri="{0D108BD9-81ED-4DB2-BD59-A6C34878D82A}">
                    <a16:rowId xmlns:a16="http://schemas.microsoft.com/office/drawing/2014/main" val="10000"/>
                  </a:ext>
                </a:extLst>
              </a:tr>
              <a:tr h="490000">
                <a:tc>
                  <a:txBody>
                    <a:bodyPr/>
                    <a:lstStyle/>
                    <a:p>
                      <a:pPr algn="ctr"/>
                      <a:r>
                        <a:rPr lang="es-CO" sz="1200" b="1" dirty="0">
                          <a:solidFill>
                            <a:srgbClr val="003366"/>
                          </a:solidFill>
                          <a:latin typeface="Calibri"/>
                        </a:rPr>
                        <a:t>01</a:t>
                      </a:r>
                    </a:p>
                  </a:txBody>
                  <a:tcPr>
                    <a:solidFill>
                      <a:srgbClr val="E8EEF7"/>
                    </a:solidFill>
                  </a:tcPr>
                </a:tc>
                <a:tc>
                  <a:txBody>
                    <a:bodyPr/>
                    <a:lstStyle/>
                    <a:p>
                      <a:r>
                        <a:rPr lang="es-CO" sz="1200" b="1" dirty="0">
                          <a:solidFill>
                            <a:srgbClr val="1C4E8A"/>
                          </a:solidFill>
                          <a:latin typeface="Calibri"/>
                        </a:rPr>
                        <a:t>López Vega, Juan Manuel</a:t>
                      </a:r>
                    </a:p>
                  </a:txBody>
                  <a:tcPr>
                    <a:solidFill>
                      <a:srgbClr val="E8EEF7"/>
                    </a:solidFill>
                  </a:tcPr>
                </a:tc>
                <a:tc>
                  <a:txBody>
                    <a:bodyPr/>
                    <a:lstStyle/>
                    <a:p>
                      <a:r>
                        <a:rPr lang="es-CO" sz="1150" dirty="0">
                          <a:solidFill>
                            <a:srgbClr val="333333"/>
                          </a:solidFill>
                          <a:latin typeface="Calibri"/>
                        </a:rPr>
                        <a:t>Auxiliar de Secretaría</a:t>
                      </a:r>
                    </a:p>
                  </a:txBody>
                  <a:tcPr>
                    <a:solidFill>
                      <a:srgbClr val="E8EEF7"/>
                    </a:solidFill>
                  </a:tcPr>
                </a:tc>
                <a:tc>
                  <a:txBody>
                    <a:bodyPr/>
                    <a:lstStyle/>
                    <a:p>
                      <a:pPr algn="ctr"/>
                      <a:r>
                        <a:rPr lang="es-CO" sz="1200" dirty="0">
                          <a:solidFill>
                            <a:srgbClr val="333333"/>
                          </a:solidFill>
                          <a:latin typeface="Calibri"/>
                        </a:rPr>
                        <a:t>10/06/2025</a:t>
                      </a:r>
                    </a:p>
                  </a:txBody>
                  <a:tcPr>
                    <a:solidFill>
                      <a:srgbClr val="E8EEF7"/>
                    </a:solidFill>
                  </a:tcPr>
                </a:tc>
                <a:tc>
                  <a:txBody>
                    <a:bodyPr/>
                    <a:lstStyle/>
                    <a:p>
                      <a:pPr algn="ctr"/>
                      <a:r>
                        <a:rPr lang="es-CO" sz="1200" b="1" dirty="0">
                          <a:solidFill>
                            <a:srgbClr val="003366"/>
                          </a:solidFill>
                          <a:latin typeface="Calibri"/>
                        </a:rPr>
                        <a:t>FE-001</a:t>
                      </a:r>
                    </a:p>
                  </a:txBody>
                  <a:tcPr>
                    <a:solidFill>
                      <a:srgbClr val="E8EEF7"/>
                    </a:solidFill>
                  </a:tcPr>
                </a:tc>
                <a:tc>
                  <a:txBody>
                    <a:bodyPr/>
                    <a:lstStyle/>
                    <a:p>
                      <a:pPr algn="ctr"/>
                      <a:r>
                        <a:rPr lang="es-CO" sz="1200" b="1" dirty="0">
                          <a:solidFill>
                            <a:srgbClr val="FFFFFF"/>
                          </a:solidFill>
                          <a:latin typeface="Calibri"/>
                        </a:rPr>
                        <a:t>✔ Realizada</a:t>
                      </a:r>
                    </a:p>
                  </a:txBody>
                  <a:tcPr>
                    <a:solidFill>
                      <a:srgbClr val="003366"/>
                    </a:solidFill>
                  </a:tcPr>
                </a:tc>
                <a:tc>
                  <a:txBody>
                    <a:bodyPr/>
                    <a:lstStyle/>
                    <a:p>
                      <a:pPr algn="ctr"/>
                      <a:r>
                        <a:rPr lang="es-CO" sz="1200" dirty="0">
                          <a:solidFill>
                            <a:srgbClr val="555555"/>
                          </a:solidFill>
                          <a:latin typeface="Calibri"/>
                        </a:rPr>
                        <a:t>1.0</a:t>
                      </a:r>
                    </a:p>
                  </a:txBody>
                  <a:tcPr>
                    <a:solidFill>
                      <a:srgbClr val="E8EEF7"/>
                    </a:solidFill>
                  </a:tcPr>
                </a:tc>
                <a:extLst>
                  <a:ext uri="{0D108BD9-81ED-4DB2-BD59-A6C34878D82A}">
                    <a16:rowId xmlns:a16="http://schemas.microsoft.com/office/drawing/2014/main" val="10001"/>
                  </a:ext>
                </a:extLst>
              </a:tr>
              <a:tr h="490000">
                <a:tc>
                  <a:txBody>
                    <a:bodyPr/>
                    <a:lstStyle/>
                    <a:p>
                      <a:pPr algn="ctr"/>
                      <a:r>
                        <a:rPr lang="es-CO" sz="1200" b="1" dirty="0">
                          <a:solidFill>
                            <a:srgbClr val="003366"/>
                          </a:solidFill>
                          <a:latin typeface="Calibri"/>
                        </a:rPr>
                        <a:t>02</a:t>
                      </a:r>
                    </a:p>
                  </a:txBody>
                  <a:tcPr>
                    <a:solidFill>
                      <a:srgbClr val="F5F8FC"/>
                    </a:solidFill>
                  </a:tcPr>
                </a:tc>
                <a:tc>
                  <a:txBody>
                    <a:bodyPr/>
                    <a:lstStyle/>
                    <a:p>
                      <a:r>
                        <a:rPr lang="es-CO" sz="1200" b="1" dirty="0">
                          <a:solidFill>
                            <a:srgbClr val="1C4E8A"/>
                          </a:solidFill>
                          <a:latin typeface="Calibri"/>
                        </a:rPr>
                        <a:t>Ríos Salazar, Carolina</a:t>
                      </a:r>
                    </a:p>
                  </a:txBody>
                  <a:tcPr>
                    <a:solidFill>
                      <a:srgbClr val="F5F8FC"/>
                    </a:solidFill>
                  </a:tcPr>
                </a:tc>
                <a:tc>
                  <a:txBody>
                    <a:bodyPr/>
                    <a:lstStyle/>
                    <a:p>
                      <a:r>
                        <a:rPr lang="es-CO" sz="1150" dirty="0">
                          <a:solidFill>
                            <a:srgbClr val="333333"/>
                          </a:solidFill>
                          <a:latin typeface="Calibri"/>
                        </a:rPr>
                        <a:t>Coordinadora Académica</a:t>
                      </a:r>
                    </a:p>
                  </a:txBody>
                  <a:tcPr>
                    <a:solidFill>
                      <a:srgbClr val="F5F8FC"/>
                    </a:solidFill>
                  </a:tcPr>
                </a:tc>
                <a:tc>
                  <a:txBody>
                    <a:bodyPr/>
                    <a:lstStyle/>
                    <a:p>
                      <a:pPr algn="ctr"/>
                      <a:r>
                        <a:rPr lang="es-CO" sz="1200" dirty="0">
                          <a:solidFill>
                            <a:srgbClr val="333333"/>
                          </a:solidFill>
                          <a:latin typeface="Calibri"/>
                        </a:rPr>
                        <a:t>11/06/2025</a:t>
                      </a:r>
                    </a:p>
                  </a:txBody>
                  <a:tcPr>
                    <a:solidFill>
                      <a:srgbClr val="F5F8FC"/>
                    </a:solidFill>
                  </a:tcPr>
                </a:tc>
                <a:tc>
                  <a:txBody>
                    <a:bodyPr/>
                    <a:lstStyle/>
                    <a:p>
                      <a:pPr algn="ctr"/>
                      <a:r>
                        <a:rPr lang="es-CO" sz="1200" b="1" dirty="0">
                          <a:solidFill>
                            <a:srgbClr val="003366"/>
                          </a:solidFill>
                          <a:latin typeface="Calibri"/>
                        </a:rPr>
                        <a:t>FE-002</a:t>
                      </a:r>
                    </a:p>
                  </a:txBody>
                  <a:tcPr>
                    <a:solidFill>
                      <a:srgbClr val="F5F8FC"/>
                    </a:solidFill>
                  </a:tcPr>
                </a:tc>
                <a:tc>
                  <a:txBody>
                    <a:bodyPr/>
                    <a:lstStyle/>
                    <a:p>
                      <a:pPr algn="ctr"/>
                      <a:r>
                        <a:rPr lang="es-CO" sz="1200" b="1" dirty="0">
                          <a:solidFill>
                            <a:srgbClr val="FFFFFF"/>
                          </a:solidFill>
                          <a:latin typeface="Calibri"/>
                        </a:rPr>
                        <a:t>✔ Realizada</a:t>
                      </a:r>
                    </a:p>
                  </a:txBody>
                  <a:tcPr>
                    <a:solidFill>
                      <a:srgbClr val="003366"/>
                    </a:solidFill>
                  </a:tcPr>
                </a:tc>
                <a:tc>
                  <a:txBody>
                    <a:bodyPr/>
                    <a:lstStyle/>
                    <a:p>
                      <a:pPr algn="ctr"/>
                      <a:r>
                        <a:rPr lang="es-CO" sz="1200" dirty="0">
                          <a:solidFill>
                            <a:srgbClr val="555555"/>
                          </a:solidFill>
                          <a:latin typeface="Calibri"/>
                        </a:rPr>
                        <a:t>1.0</a:t>
                      </a:r>
                    </a:p>
                  </a:txBody>
                  <a:tcPr>
                    <a:solidFill>
                      <a:srgbClr val="F5F8FC"/>
                    </a:solidFill>
                  </a:tcPr>
                </a:tc>
                <a:extLst>
                  <a:ext uri="{0D108BD9-81ED-4DB2-BD59-A6C34878D82A}">
                    <a16:rowId xmlns:a16="http://schemas.microsoft.com/office/drawing/2014/main" val="10002"/>
                  </a:ext>
                </a:extLst>
              </a:tr>
              <a:tr h="490000">
                <a:tc>
                  <a:txBody>
                    <a:bodyPr/>
                    <a:lstStyle/>
                    <a:p>
                      <a:pPr algn="ctr"/>
                      <a:r>
                        <a:rPr lang="es-CO" sz="1200" b="1" dirty="0">
                          <a:solidFill>
                            <a:srgbClr val="003366"/>
                          </a:solidFill>
                          <a:latin typeface="Calibri"/>
                        </a:rPr>
                        <a:t>03</a:t>
                      </a:r>
                    </a:p>
                  </a:txBody>
                  <a:tcPr>
                    <a:solidFill>
                      <a:srgbClr val="E8EEF7"/>
                    </a:solidFill>
                  </a:tcPr>
                </a:tc>
                <a:tc>
                  <a:txBody>
                    <a:bodyPr/>
                    <a:lstStyle/>
                    <a:p>
                      <a:r>
                        <a:rPr lang="es-CO" sz="1200" b="1" dirty="0">
                          <a:solidFill>
                            <a:srgbClr val="1C4E8A"/>
                          </a:solidFill>
                          <a:latin typeface="Calibri"/>
                        </a:rPr>
                        <a:t>Gómez Herrera, Sandra</a:t>
                      </a:r>
                    </a:p>
                  </a:txBody>
                  <a:tcPr>
                    <a:solidFill>
                      <a:srgbClr val="E8EEF7"/>
                    </a:solidFill>
                  </a:tcPr>
                </a:tc>
                <a:tc>
                  <a:txBody>
                    <a:bodyPr/>
                    <a:lstStyle/>
                    <a:p>
                      <a:r>
                        <a:rPr lang="es-CO" sz="1150" dirty="0">
                          <a:solidFill>
                            <a:srgbClr val="333333"/>
                          </a:solidFill>
                          <a:latin typeface="Calibri"/>
                        </a:rPr>
                        <a:t>Coordinadora de Programa</a:t>
                      </a:r>
                    </a:p>
                  </a:txBody>
                  <a:tcPr>
                    <a:solidFill>
                      <a:srgbClr val="E8EEF7"/>
                    </a:solidFill>
                  </a:tcPr>
                </a:tc>
                <a:tc>
                  <a:txBody>
                    <a:bodyPr/>
                    <a:lstStyle/>
                    <a:p>
                      <a:pPr algn="ctr"/>
                      <a:r>
                        <a:rPr lang="es-CO" sz="1200" dirty="0">
                          <a:solidFill>
                            <a:srgbClr val="333333"/>
                          </a:solidFill>
                          <a:latin typeface="Calibri"/>
                        </a:rPr>
                        <a:t>12/06/2025</a:t>
                      </a:r>
                    </a:p>
                  </a:txBody>
                  <a:tcPr>
                    <a:solidFill>
                      <a:srgbClr val="E8EEF7"/>
                    </a:solidFill>
                  </a:tcPr>
                </a:tc>
                <a:tc>
                  <a:txBody>
                    <a:bodyPr/>
                    <a:lstStyle/>
                    <a:p>
                      <a:pPr algn="ctr"/>
                      <a:r>
                        <a:rPr lang="es-CO" sz="1200" b="1" dirty="0">
                          <a:solidFill>
                            <a:srgbClr val="003366"/>
                          </a:solidFill>
                          <a:latin typeface="Calibri"/>
                        </a:rPr>
                        <a:t>FE-003</a:t>
                      </a:r>
                    </a:p>
                  </a:txBody>
                  <a:tcPr>
                    <a:solidFill>
                      <a:srgbClr val="E8EEF7"/>
                    </a:solidFill>
                  </a:tcPr>
                </a:tc>
                <a:tc>
                  <a:txBody>
                    <a:bodyPr/>
                    <a:lstStyle/>
                    <a:p>
                      <a:pPr algn="ctr"/>
                      <a:r>
                        <a:rPr lang="es-CO" sz="1200" b="1" dirty="0">
                          <a:solidFill>
                            <a:srgbClr val="FFFFFF"/>
                          </a:solidFill>
                          <a:latin typeface="Calibri"/>
                        </a:rPr>
                        <a:t>✔ Realizada</a:t>
                      </a:r>
                    </a:p>
                  </a:txBody>
                  <a:tcPr>
                    <a:solidFill>
                      <a:srgbClr val="003366"/>
                    </a:solidFill>
                  </a:tcPr>
                </a:tc>
                <a:tc>
                  <a:txBody>
                    <a:bodyPr/>
                    <a:lstStyle/>
                    <a:p>
                      <a:pPr algn="ctr"/>
                      <a:r>
                        <a:rPr lang="es-CO" sz="1200" dirty="0">
                          <a:solidFill>
                            <a:srgbClr val="555555"/>
                          </a:solidFill>
                          <a:latin typeface="Calibri"/>
                        </a:rPr>
                        <a:t>1.1</a:t>
                      </a:r>
                    </a:p>
                  </a:txBody>
                  <a:tcPr>
                    <a:solidFill>
                      <a:srgbClr val="E8EEF7"/>
                    </a:solidFill>
                  </a:tcPr>
                </a:tc>
                <a:extLst>
                  <a:ext uri="{0D108BD9-81ED-4DB2-BD59-A6C34878D82A}">
                    <a16:rowId xmlns:a16="http://schemas.microsoft.com/office/drawing/2014/main" val="10003"/>
                  </a:ext>
                </a:extLst>
              </a:tr>
              <a:tr h="490000">
                <a:tc>
                  <a:txBody>
                    <a:bodyPr/>
                    <a:lstStyle/>
                    <a:p>
                      <a:pPr algn="ctr"/>
                      <a:r>
                        <a:rPr lang="es-CO" sz="1200" b="1" dirty="0">
                          <a:solidFill>
                            <a:srgbClr val="003366"/>
                          </a:solidFill>
                          <a:latin typeface="Calibri"/>
                        </a:rPr>
                        <a:t>04</a:t>
                      </a:r>
                    </a:p>
                  </a:txBody>
                  <a:tcPr>
                    <a:solidFill>
                      <a:srgbClr val="F5F8FC"/>
                    </a:solidFill>
                  </a:tcPr>
                </a:tc>
                <a:tc>
                  <a:txBody>
                    <a:bodyPr/>
                    <a:lstStyle/>
                    <a:p>
                      <a:r>
                        <a:rPr lang="es-CO" sz="1200" b="1" dirty="0">
                          <a:solidFill>
                            <a:srgbClr val="1C4E8A"/>
                          </a:solidFill>
                          <a:latin typeface="Calibri"/>
                        </a:rPr>
                        <a:t>Pérez Aranda, Carlos A.</a:t>
                      </a:r>
                    </a:p>
                  </a:txBody>
                  <a:tcPr>
                    <a:solidFill>
                      <a:srgbClr val="F5F8FC"/>
                    </a:solidFill>
                  </a:tcPr>
                </a:tc>
                <a:tc>
                  <a:txBody>
                    <a:bodyPr/>
                    <a:lstStyle/>
                    <a:p>
                      <a:r>
                        <a:rPr lang="es-CO" sz="1150" dirty="0">
                          <a:solidFill>
                            <a:srgbClr val="333333"/>
                          </a:solidFill>
                          <a:latin typeface="Calibri"/>
                        </a:rPr>
                        <a:t>Docente — Ing. de Sistemas</a:t>
                      </a:r>
                    </a:p>
                  </a:txBody>
                  <a:tcPr>
                    <a:solidFill>
                      <a:srgbClr val="F5F8FC"/>
                    </a:solidFill>
                  </a:tcPr>
                </a:tc>
                <a:tc>
                  <a:txBody>
                    <a:bodyPr/>
                    <a:lstStyle/>
                    <a:p>
                      <a:pPr algn="ctr"/>
                      <a:r>
                        <a:rPr lang="es-CO" sz="1200" dirty="0">
                          <a:solidFill>
                            <a:srgbClr val="333333"/>
                          </a:solidFill>
                          <a:latin typeface="Calibri"/>
                        </a:rPr>
                        <a:t>13/06/2025</a:t>
                      </a:r>
                    </a:p>
                  </a:txBody>
                  <a:tcPr>
                    <a:solidFill>
                      <a:srgbClr val="F5F8FC"/>
                    </a:solidFill>
                  </a:tcPr>
                </a:tc>
                <a:tc>
                  <a:txBody>
                    <a:bodyPr/>
                    <a:lstStyle/>
                    <a:p>
                      <a:pPr algn="ctr"/>
                      <a:r>
                        <a:rPr lang="es-CO" sz="1200" b="1" dirty="0">
                          <a:solidFill>
                            <a:srgbClr val="003366"/>
                          </a:solidFill>
                          <a:latin typeface="Calibri"/>
                        </a:rPr>
                        <a:t>FE-004</a:t>
                      </a:r>
                    </a:p>
                  </a:txBody>
                  <a:tcPr>
                    <a:solidFill>
                      <a:srgbClr val="F5F8FC"/>
                    </a:solidFill>
                  </a:tcPr>
                </a:tc>
                <a:tc>
                  <a:txBody>
                    <a:bodyPr/>
                    <a:lstStyle/>
                    <a:p>
                      <a:pPr algn="ctr"/>
                      <a:r>
                        <a:rPr lang="es-CO" sz="1200" b="1" dirty="0">
                          <a:solidFill>
                            <a:srgbClr val="FFFFFF"/>
                          </a:solidFill>
                          <a:latin typeface="Calibri"/>
                        </a:rPr>
                        <a:t>✔ Realizada</a:t>
                      </a:r>
                    </a:p>
                  </a:txBody>
                  <a:tcPr>
                    <a:solidFill>
                      <a:srgbClr val="003366"/>
                    </a:solidFill>
                  </a:tcPr>
                </a:tc>
                <a:tc>
                  <a:txBody>
                    <a:bodyPr/>
                    <a:lstStyle/>
                    <a:p>
                      <a:pPr algn="ctr"/>
                      <a:r>
                        <a:rPr lang="es-CO" sz="1200" dirty="0">
                          <a:solidFill>
                            <a:srgbClr val="555555"/>
                          </a:solidFill>
                          <a:latin typeface="Calibri"/>
                        </a:rPr>
                        <a:t>1.0</a:t>
                      </a:r>
                    </a:p>
                  </a:txBody>
                  <a:tcPr>
                    <a:solidFill>
                      <a:srgbClr val="F5F8FC"/>
                    </a:solidFill>
                  </a:tcPr>
                </a:tc>
                <a:extLst>
                  <a:ext uri="{0D108BD9-81ED-4DB2-BD59-A6C34878D82A}">
                    <a16:rowId xmlns:a16="http://schemas.microsoft.com/office/drawing/2014/main" val="10004"/>
                  </a:ext>
                </a:extLst>
              </a:tr>
              <a:tr h="490000">
                <a:tc>
                  <a:txBody>
                    <a:bodyPr/>
                    <a:lstStyle/>
                    <a:p>
                      <a:pPr algn="ctr"/>
                      <a:r>
                        <a:rPr lang="es-CO" sz="1200" b="1" dirty="0">
                          <a:solidFill>
                            <a:srgbClr val="003366"/>
                          </a:solidFill>
                          <a:latin typeface="Calibri"/>
                        </a:rPr>
                        <a:t>05</a:t>
                      </a:r>
                    </a:p>
                  </a:txBody>
                  <a:tcPr>
                    <a:solidFill>
                      <a:srgbClr val="E8EEF7"/>
                    </a:solidFill>
                  </a:tcPr>
                </a:tc>
                <a:tc>
                  <a:txBody>
                    <a:bodyPr/>
                    <a:lstStyle/>
                    <a:p>
                      <a:r>
                        <a:rPr lang="es-CO" sz="1200" b="1" dirty="0">
                          <a:solidFill>
                            <a:srgbClr val="1C4E8A"/>
                          </a:solidFill>
                          <a:latin typeface="Calibri"/>
                        </a:rPr>
                        <a:t>Martínez Roa, Luisa F.</a:t>
                      </a:r>
                    </a:p>
                  </a:txBody>
                  <a:tcPr>
                    <a:solidFill>
                      <a:srgbClr val="E8EEF7"/>
                    </a:solidFill>
                  </a:tcPr>
                </a:tc>
                <a:tc>
                  <a:txBody>
                    <a:bodyPr/>
                    <a:lstStyle/>
                    <a:p>
                      <a:r>
                        <a:rPr lang="es-CO" sz="1150" dirty="0">
                          <a:solidFill>
                            <a:srgbClr val="333333"/>
                          </a:solidFill>
                          <a:latin typeface="Calibri"/>
                        </a:rPr>
                        <a:t>Docente — Administración</a:t>
                      </a:r>
                    </a:p>
                  </a:txBody>
                  <a:tcPr>
                    <a:solidFill>
                      <a:srgbClr val="E8EEF7"/>
                    </a:solidFill>
                  </a:tcPr>
                </a:tc>
                <a:tc>
                  <a:txBody>
                    <a:bodyPr/>
                    <a:lstStyle/>
                    <a:p>
                      <a:pPr algn="ctr"/>
                      <a:r>
                        <a:rPr lang="es-CO" sz="1200" dirty="0">
                          <a:solidFill>
                            <a:srgbClr val="333333"/>
                          </a:solidFill>
                          <a:latin typeface="Calibri"/>
                        </a:rPr>
                        <a:t>13/06/2025</a:t>
                      </a:r>
                    </a:p>
                  </a:txBody>
                  <a:tcPr>
                    <a:solidFill>
                      <a:srgbClr val="E8EEF7"/>
                    </a:solidFill>
                  </a:tcPr>
                </a:tc>
                <a:tc>
                  <a:txBody>
                    <a:bodyPr/>
                    <a:lstStyle/>
                    <a:p>
                      <a:pPr algn="ctr"/>
                      <a:r>
                        <a:rPr lang="es-CO" sz="1200" b="1" dirty="0">
                          <a:solidFill>
                            <a:srgbClr val="003366"/>
                          </a:solidFill>
                          <a:latin typeface="Calibri"/>
                        </a:rPr>
                        <a:t>FE-004</a:t>
                      </a:r>
                    </a:p>
                  </a:txBody>
                  <a:tcPr>
                    <a:solidFill>
                      <a:srgbClr val="E8EEF7"/>
                    </a:solidFill>
                  </a:tcPr>
                </a:tc>
                <a:tc>
                  <a:txBody>
                    <a:bodyPr/>
                    <a:lstStyle/>
                    <a:p>
                      <a:pPr algn="ctr"/>
                      <a:r>
                        <a:rPr lang="es-CO" sz="1200" b="1" dirty="0">
                          <a:solidFill>
                            <a:srgbClr val="FFFFFF"/>
                          </a:solidFill>
                          <a:latin typeface="Calibri"/>
                        </a:rPr>
                        <a:t>✔ Realizada</a:t>
                      </a:r>
                    </a:p>
                  </a:txBody>
                  <a:tcPr>
                    <a:solidFill>
                      <a:srgbClr val="003366"/>
                    </a:solidFill>
                  </a:tcPr>
                </a:tc>
                <a:tc>
                  <a:txBody>
                    <a:bodyPr/>
                    <a:lstStyle/>
                    <a:p>
                      <a:pPr algn="ctr"/>
                      <a:r>
                        <a:rPr lang="es-CO" sz="1200" dirty="0">
                          <a:solidFill>
                            <a:srgbClr val="555555"/>
                          </a:solidFill>
                          <a:latin typeface="Calibri"/>
                        </a:rPr>
                        <a:t>1.0</a:t>
                      </a:r>
                    </a:p>
                  </a:txBody>
                  <a:tcPr>
                    <a:solidFill>
                      <a:srgbClr val="E8EEF7"/>
                    </a:solidFill>
                  </a:tcPr>
                </a:tc>
                <a:extLst>
                  <a:ext uri="{0D108BD9-81ED-4DB2-BD59-A6C34878D82A}">
                    <a16:rowId xmlns:a16="http://schemas.microsoft.com/office/drawing/2014/main" val="10005"/>
                  </a:ext>
                </a:extLst>
              </a:tr>
              <a:tr h="490000">
                <a:tc>
                  <a:txBody>
                    <a:bodyPr/>
                    <a:lstStyle/>
                    <a:p>
                      <a:pPr algn="ctr"/>
                      <a:r>
                        <a:rPr lang="es-CO" sz="1200" b="1" dirty="0">
                          <a:solidFill>
                            <a:srgbClr val="003366"/>
                          </a:solidFill>
                          <a:latin typeface="Calibri"/>
                        </a:rPr>
                        <a:t>06</a:t>
                      </a:r>
                    </a:p>
                  </a:txBody>
                  <a:tcPr>
                    <a:solidFill>
                      <a:srgbClr val="F5F8FC"/>
                    </a:solidFill>
                  </a:tcPr>
                </a:tc>
                <a:tc>
                  <a:txBody>
                    <a:bodyPr/>
                    <a:lstStyle/>
                    <a:p>
                      <a:r>
                        <a:rPr lang="es-CO" sz="1200" b="1" dirty="0">
                          <a:solidFill>
                            <a:srgbClr val="1C4E8A"/>
                          </a:solidFill>
                          <a:latin typeface="Calibri"/>
                        </a:rPr>
                        <a:t>Rodríguez Mora, David</a:t>
                      </a:r>
                    </a:p>
                  </a:txBody>
                  <a:tcPr>
                    <a:solidFill>
                      <a:srgbClr val="F5F8FC"/>
                    </a:solidFill>
                  </a:tcPr>
                </a:tc>
                <a:tc>
                  <a:txBody>
                    <a:bodyPr/>
                    <a:lstStyle/>
                    <a:p>
                      <a:r>
                        <a:rPr lang="es-CO" sz="1150" dirty="0">
                          <a:solidFill>
                            <a:srgbClr val="333333"/>
                          </a:solidFill>
                          <a:latin typeface="Calibri"/>
                        </a:rPr>
                        <a:t>Estudiante (representante)</a:t>
                      </a:r>
                    </a:p>
                  </a:txBody>
                  <a:tcPr>
                    <a:solidFill>
                      <a:srgbClr val="F5F8FC"/>
                    </a:solidFill>
                  </a:tcPr>
                </a:tc>
                <a:tc>
                  <a:txBody>
                    <a:bodyPr/>
                    <a:lstStyle/>
                    <a:p>
                      <a:pPr algn="ctr"/>
                      <a:r>
                        <a:rPr lang="es-CO" sz="1200" dirty="0">
                          <a:solidFill>
                            <a:srgbClr val="333333"/>
                          </a:solidFill>
                          <a:latin typeface="Calibri"/>
                        </a:rPr>
                        <a:t>16/06/2025</a:t>
                      </a:r>
                    </a:p>
                  </a:txBody>
                  <a:tcPr>
                    <a:solidFill>
                      <a:srgbClr val="F5F8FC"/>
                    </a:solidFill>
                  </a:tcPr>
                </a:tc>
                <a:tc>
                  <a:txBody>
                    <a:bodyPr/>
                    <a:lstStyle/>
                    <a:p>
                      <a:pPr algn="ctr"/>
                      <a:r>
                        <a:rPr lang="es-CO" sz="1200" b="1" dirty="0">
                          <a:solidFill>
                            <a:srgbClr val="003366"/>
                          </a:solidFill>
                          <a:latin typeface="Calibri"/>
                        </a:rPr>
                        <a:t>FE-005</a:t>
                      </a:r>
                    </a:p>
                  </a:txBody>
                  <a:tcPr>
                    <a:solidFill>
                      <a:srgbClr val="F5F8FC"/>
                    </a:solidFill>
                  </a:tcPr>
                </a:tc>
                <a:tc>
                  <a:txBody>
                    <a:bodyPr/>
                    <a:lstStyle/>
                    <a:p>
                      <a:pPr algn="ctr"/>
                      <a:r>
                        <a:rPr lang="es-CO" sz="1200" b="1" dirty="0">
                          <a:solidFill>
                            <a:srgbClr val="1C4E8A"/>
                          </a:solidFill>
                          <a:latin typeface="Calibri"/>
                        </a:rPr>
                        <a:t>⏳ Pendiente</a:t>
                      </a:r>
                    </a:p>
                  </a:txBody>
                  <a:tcPr>
                    <a:solidFill>
                      <a:srgbClr val="F0F4FA"/>
                    </a:solidFill>
                  </a:tcPr>
                </a:tc>
                <a:tc>
                  <a:txBody>
                    <a:bodyPr/>
                    <a:lstStyle/>
                    <a:p>
                      <a:pPr algn="ctr"/>
                      <a:r>
                        <a:rPr lang="es-CO" sz="1200" dirty="0">
                          <a:solidFill>
                            <a:srgbClr val="555555"/>
                          </a:solidFill>
                          <a:latin typeface="Calibri"/>
                        </a:rPr>
                        <a:t>—</a:t>
                      </a:r>
                    </a:p>
                  </a:txBody>
                  <a:tcPr>
                    <a:solidFill>
                      <a:srgbClr val="F5F8FC"/>
                    </a:solidFill>
                  </a:tcPr>
                </a:tc>
                <a:extLst>
                  <a:ext uri="{0D108BD9-81ED-4DB2-BD59-A6C34878D82A}">
                    <a16:rowId xmlns:a16="http://schemas.microsoft.com/office/drawing/2014/main" val="10006"/>
                  </a:ext>
                </a:extLst>
              </a:tr>
              <a:tr h="490000">
                <a:tc>
                  <a:txBody>
                    <a:bodyPr/>
                    <a:lstStyle/>
                    <a:p>
                      <a:pPr algn="ctr"/>
                      <a:r>
                        <a:rPr lang="es-CO" sz="1200" b="1" dirty="0">
                          <a:solidFill>
                            <a:srgbClr val="003366"/>
                          </a:solidFill>
                          <a:latin typeface="Calibri"/>
                        </a:rPr>
                        <a:t>07</a:t>
                      </a:r>
                    </a:p>
                  </a:txBody>
                  <a:tcPr>
                    <a:solidFill>
                      <a:srgbClr val="E8EEF7"/>
                    </a:solidFill>
                  </a:tcPr>
                </a:tc>
                <a:tc>
                  <a:txBody>
                    <a:bodyPr/>
                    <a:lstStyle/>
                    <a:p>
                      <a:r>
                        <a:rPr lang="es-CO" sz="1200" b="1" dirty="0">
                          <a:solidFill>
                            <a:srgbClr val="1C4E8A"/>
                          </a:solidFill>
                          <a:latin typeface="Calibri"/>
                        </a:rPr>
                        <a:t>Fuentes Ríos, Marcela</a:t>
                      </a:r>
                    </a:p>
                  </a:txBody>
                  <a:tcPr>
                    <a:solidFill>
                      <a:srgbClr val="E8EEF7"/>
                    </a:solidFill>
                  </a:tcPr>
                </a:tc>
                <a:tc>
                  <a:txBody>
                    <a:bodyPr/>
                    <a:lstStyle/>
                    <a:p>
                      <a:r>
                        <a:rPr lang="es-CO" sz="1150" dirty="0">
                          <a:solidFill>
                            <a:srgbClr val="333333"/>
                          </a:solidFill>
                          <a:latin typeface="Calibri"/>
                        </a:rPr>
                        <a:t>Vicerrectora Académica</a:t>
                      </a:r>
                    </a:p>
                  </a:txBody>
                  <a:tcPr>
                    <a:solidFill>
                      <a:srgbClr val="E8EEF7"/>
                    </a:solidFill>
                  </a:tcPr>
                </a:tc>
                <a:tc>
                  <a:txBody>
                    <a:bodyPr/>
                    <a:lstStyle/>
                    <a:p>
                      <a:pPr algn="ctr"/>
                      <a:r>
                        <a:rPr lang="es-CO" sz="1200" dirty="0">
                          <a:solidFill>
                            <a:srgbClr val="333333"/>
                          </a:solidFill>
                          <a:latin typeface="Calibri"/>
                        </a:rPr>
                        <a:t>17/06/2025</a:t>
                      </a:r>
                    </a:p>
                  </a:txBody>
                  <a:tcPr>
                    <a:solidFill>
                      <a:srgbClr val="E8EEF7"/>
                    </a:solidFill>
                  </a:tcPr>
                </a:tc>
                <a:tc>
                  <a:txBody>
                    <a:bodyPr/>
                    <a:lstStyle/>
                    <a:p>
                      <a:pPr algn="ctr"/>
                      <a:r>
                        <a:rPr lang="es-CO" sz="1200" b="1" dirty="0">
                          <a:solidFill>
                            <a:srgbClr val="003366"/>
                          </a:solidFill>
                          <a:latin typeface="Calibri"/>
                        </a:rPr>
                        <a:t>FE-006</a:t>
                      </a:r>
                    </a:p>
                  </a:txBody>
                  <a:tcPr>
                    <a:solidFill>
                      <a:srgbClr val="E8EEF7"/>
                    </a:solidFill>
                  </a:tcPr>
                </a:tc>
                <a:tc>
                  <a:txBody>
                    <a:bodyPr/>
                    <a:lstStyle/>
                    <a:p>
                      <a:pPr algn="ctr"/>
                      <a:r>
                        <a:rPr lang="es-CO" sz="1200" b="1" dirty="0">
                          <a:solidFill>
                            <a:srgbClr val="1C4E8A"/>
                          </a:solidFill>
                          <a:latin typeface="Calibri"/>
                        </a:rPr>
                        <a:t>⏳ Pendiente</a:t>
                      </a:r>
                    </a:p>
                  </a:txBody>
                  <a:tcPr>
                    <a:solidFill>
                      <a:srgbClr val="F0F4FA"/>
                    </a:solidFill>
                  </a:tcPr>
                </a:tc>
                <a:tc>
                  <a:txBody>
                    <a:bodyPr/>
                    <a:lstStyle/>
                    <a:p>
                      <a:pPr algn="ctr"/>
                      <a:r>
                        <a:rPr lang="es-CO" sz="1200" dirty="0">
                          <a:solidFill>
                            <a:srgbClr val="555555"/>
                          </a:solidFill>
                          <a:latin typeface="Calibri"/>
                        </a:rPr>
                        <a:t>—</a:t>
                      </a:r>
                    </a:p>
                  </a:txBody>
                  <a:tcPr>
                    <a:solidFill>
                      <a:srgbClr val="E8EEF7"/>
                    </a:solidFill>
                  </a:tcPr>
                </a:tc>
                <a:extLst>
                  <a:ext uri="{0D108BD9-81ED-4DB2-BD59-A6C34878D82A}">
                    <a16:rowId xmlns:a16="http://schemas.microsoft.com/office/drawing/2014/main" val="10007"/>
                  </a:ext>
                </a:extLst>
              </a:tr>
              <a:tr h="490000">
                <a:tc>
                  <a:txBody>
                    <a:bodyPr/>
                    <a:lstStyle/>
                    <a:p>
                      <a:pPr algn="ctr"/>
                      <a:r>
                        <a:rPr lang="es-CO" sz="1200" b="1" dirty="0">
                          <a:solidFill>
                            <a:srgbClr val="003366"/>
                          </a:solidFill>
                          <a:latin typeface="Calibri"/>
                        </a:rPr>
                        <a:t>08</a:t>
                      </a:r>
                    </a:p>
                  </a:txBody>
                  <a:tcPr>
                    <a:solidFill>
                      <a:srgbClr val="F5F8FC"/>
                    </a:solidFill>
                  </a:tcPr>
                </a:tc>
                <a:tc>
                  <a:txBody>
                    <a:bodyPr/>
                    <a:lstStyle/>
                    <a:p>
                      <a:r>
                        <a:rPr lang="es-CO" sz="1200" b="1" dirty="0">
                          <a:solidFill>
                            <a:srgbClr val="1C4E8A"/>
                          </a:solidFill>
                          <a:latin typeface="Calibri"/>
                        </a:rPr>
                        <a:t>Mora Castillo, Sebastián</a:t>
                      </a:r>
                    </a:p>
                  </a:txBody>
                  <a:tcPr>
                    <a:solidFill>
                      <a:srgbClr val="F5F8FC"/>
                    </a:solidFill>
                  </a:tcPr>
                </a:tc>
                <a:tc>
                  <a:txBody>
                    <a:bodyPr/>
                    <a:lstStyle/>
                    <a:p>
                      <a:r>
                        <a:rPr lang="es-CO" sz="1150" dirty="0">
                          <a:solidFill>
                            <a:srgbClr val="333333"/>
                          </a:solidFill>
                          <a:latin typeface="Calibri"/>
                        </a:rPr>
                        <a:t>Jefe de Proyecto TI</a:t>
                      </a:r>
                    </a:p>
                  </a:txBody>
                  <a:tcPr>
                    <a:solidFill>
                      <a:srgbClr val="F5F8FC"/>
                    </a:solidFill>
                  </a:tcPr>
                </a:tc>
                <a:tc>
                  <a:txBody>
                    <a:bodyPr/>
                    <a:lstStyle/>
                    <a:p>
                      <a:pPr algn="ctr"/>
                      <a:r>
                        <a:rPr lang="es-CO" sz="1200" dirty="0">
                          <a:solidFill>
                            <a:srgbClr val="333333"/>
                          </a:solidFill>
                          <a:latin typeface="Calibri"/>
                        </a:rPr>
                        <a:t>18/06/2025</a:t>
                      </a:r>
                    </a:p>
                  </a:txBody>
                  <a:tcPr>
                    <a:solidFill>
                      <a:srgbClr val="F5F8FC"/>
                    </a:solidFill>
                  </a:tcPr>
                </a:tc>
                <a:tc>
                  <a:txBody>
                    <a:bodyPr/>
                    <a:lstStyle/>
                    <a:p>
                      <a:pPr algn="ctr"/>
                      <a:r>
                        <a:rPr lang="es-CO" sz="1200" b="1" dirty="0">
                          <a:solidFill>
                            <a:srgbClr val="003366"/>
                          </a:solidFill>
                          <a:latin typeface="Calibri"/>
                        </a:rPr>
                        <a:t>FE-007</a:t>
                      </a:r>
                    </a:p>
                  </a:txBody>
                  <a:tcPr>
                    <a:solidFill>
                      <a:srgbClr val="F5F8FC"/>
                    </a:solidFill>
                  </a:tcPr>
                </a:tc>
                <a:tc>
                  <a:txBody>
                    <a:bodyPr/>
                    <a:lstStyle/>
                    <a:p>
                      <a:pPr algn="ctr"/>
                      <a:r>
                        <a:rPr lang="es-CO" sz="1200" b="1" dirty="0">
                          <a:solidFill>
                            <a:srgbClr val="1C4E8A"/>
                          </a:solidFill>
                          <a:latin typeface="Calibri"/>
                        </a:rPr>
                        <a:t>⏳ Pendiente</a:t>
                      </a:r>
                    </a:p>
                  </a:txBody>
                  <a:tcPr>
                    <a:solidFill>
                      <a:srgbClr val="F0F4FA"/>
                    </a:solidFill>
                  </a:tcPr>
                </a:tc>
                <a:tc>
                  <a:txBody>
                    <a:bodyPr/>
                    <a:lstStyle/>
                    <a:p>
                      <a:pPr algn="ctr"/>
                      <a:r>
                        <a:rPr lang="es-CO" sz="1200" dirty="0">
                          <a:solidFill>
                            <a:srgbClr val="555555"/>
                          </a:solidFill>
                          <a:latin typeface="Calibri"/>
                        </a:rPr>
                        <a:t>—</a:t>
                      </a:r>
                    </a:p>
                  </a:txBody>
                  <a:tcPr>
                    <a:solidFill>
                      <a:srgbClr val="F5F8FC"/>
                    </a:solidFill>
                  </a:tcPr>
                </a:tc>
                <a:extLst>
                  <a:ext uri="{0D108BD9-81ED-4DB2-BD59-A6C34878D82A}">
                    <a16:rowId xmlns:a16="http://schemas.microsoft.com/office/drawing/2014/main" val="10008"/>
                  </a:ext>
                </a:extLst>
              </a:tr>
            </a:tbl>
          </a:graphicData>
        </a:graphic>
      </p:graphicFrame>
      <p:sp>
        <p:nvSpPr>
          <p:cNvPr id="50" name="b50"/>
          <p:cNvSpPr txBox="1"/>
          <p:nvPr/>
        </p:nvSpPr>
        <p:spPr>
          <a:xfrm>
            <a:off x="300000" y="6480000"/>
            <a:ext cx="5500000" cy="300000"/>
          </a:xfrm>
          <a:prstGeom prst="rect">
            <a:avLst/>
          </a:prstGeom>
          <a:solidFill>
            <a:srgbClr val="E3EB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003366"/>
                </a:solidFill>
                <a:effectLst/>
                <a:uLnTx/>
                <a:uFillTx/>
                <a:latin typeface="Calibri"/>
                <a:ea typeface="+mn-ea"/>
                <a:cs typeface="+mn-cs"/>
              </a:rPr>
              <a:t>✔ Realizada = Entrevista ejecutada y acta firmada por el usuario</a:t>
            </a:r>
          </a:p>
        </p:txBody>
      </p:sp>
      <p:sp>
        <p:nvSpPr>
          <p:cNvPr id="51" name="b51"/>
          <p:cNvSpPr txBox="1"/>
          <p:nvPr/>
        </p:nvSpPr>
        <p:spPr>
          <a:xfrm>
            <a:off x="5900000" y="6480000"/>
            <a:ext cx="5900000" cy="300000"/>
          </a:xfrm>
          <a:prstGeom prst="rect">
            <a:avLst/>
          </a:prstGeom>
          <a:solidFill>
            <a:srgbClr val="E3EB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003366"/>
                </a:solidFill>
                <a:effectLst/>
                <a:uLnTx/>
                <a:uFillTx/>
                <a:latin typeface="Calibri"/>
                <a:ea typeface="+mn-ea"/>
                <a:cs typeface="+mn-cs"/>
              </a:rPr>
              <a:t>⏳ Pendiente = Entrevista programada; aún no ejecutada o sin versión de acta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5CABF-82E7-65B8-A6B9-AECA8B589E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275D89-3414-417A-6F6B-50F95303E202}"/>
              </a:ext>
            </a:extLst>
          </p:cNvPr>
          <p:cNvSpPr>
            <a:spLocks noGrp="1"/>
          </p:cNvSpPr>
          <p:nvPr>
            <p:ph type="title"/>
          </p:nvPr>
        </p:nvSpPr>
        <p:spPr>
          <a:xfrm>
            <a:off x="838200" y="609676"/>
            <a:ext cx="10515600" cy="1325563"/>
          </a:xfrm>
        </p:spPr>
        <p:txBody>
          <a:bodyPr/>
          <a:lstStyle/>
          <a:p>
            <a:r>
              <a:rPr lang="es-CO" b="1" dirty="0"/>
              <a:t>Figura 6 — Lista de Chequeo</a:t>
            </a:r>
            <a:endParaRPr lang="es-CO" dirty="0"/>
          </a:p>
        </p:txBody>
      </p:sp>
      <p:sp>
        <p:nvSpPr>
          <p:cNvPr id="3" name="Marcador de contenido 2">
            <a:extLst>
              <a:ext uri="{FF2B5EF4-FFF2-40B4-BE49-F238E27FC236}">
                <a16:creationId xmlns:a16="http://schemas.microsoft.com/office/drawing/2014/main" id="{7A576BA8-8895-02A8-4044-6C662CDEC960}"/>
              </a:ext>
            </a:extLst>
          </p:cNvPr>
          <p:cNvSpPr>
            <a:spLocks noGrp="1"/>
          </p:cNvSpPr>
          <p:nvPr>
            <p:ph idx="1"/>
          </p:nvPr>
        </p:nvSpPr>
        <p:spPr>
          <a:xfrm>
            <a:off x="838200" y="1825625"/>
            <a:ext cx="10515600" cy="1512998"/>
          </a:xfrm>
        </p:spPr>
        <p:txBody>
          <a:bodyPr/>
          <a:lstStyle/>
          <a:p>
            <a:pPr marL="0" indent="0" algn="just">
              <a:buNone/>
            </a:pPr>
            <a:r>
              <a:rPr lang="es-CO" dirty="0"/>
              <a:t>8 participantes con: nombre, cargo, fecha programada, ficha asignada, estado (</a:t>
            </a:r>
            <a:r>
              <a:rPr lang="es-CO" b="1" dirty="0"/>
              <a:t>✔ Realizada</a:t>
            </a:r>
            <a:r>
              <a:rPr lang="es-CO" dirty="0"/>
              <a:t> en azul oscuro / </a:t>
            </a:r>
            <a:r>
              <a:rPr lang="es-CO" b="1" dirty="0"/>
              <a:t>⏳ Pendiente</a:t>
            </a:r>
            <a:r>
              <a:rPr lang="es-CO" dirty="0"/>
              <a:t> en azul claro) y </a:t>
            </a:r>
            <a:r>
              <a:rPr lang="es-CO" dirty="0" err="1"/>
              <a:t>N°</a:t>
            </a:r>
            <a:r>
              <a:rPr lang="es-CO" dirty="0"/>
              <a:t> de versión. Control de </a:t>
            </a:r>
            <a:r>
              <a:rPr lang="es-CO" dirty="0" err="1"/>
              <a:t>versionalidad</a:t>
            </a:r>
            <a:r>
              <a:rPr lang="es-CO" dirty="0"/>
              <a:t> del instrumento (v1.1)</a:t>
            </a:r>
          </a:p>
        </p:txBody>
      </p:sp>
    </p:spTree>
    <p:extLst>
      <p:ext uri="{BB962C8B-B14F-4D97-AF65-F5344CB8AC3E}">
        <p14:creationId xmlns:p14="http://schemas.microsoft.com/office/powerpoint/2010/main" val="3341320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7 — Acta de Entrevista N° 001 | Sistema de Gestión Académica</a:t>
            </a:r>
          </a:p>
        </p:txBody>
      </p:sp>
      <p:sp>
        <p:nvSpPr>
          <p:cNvPr id="20" name="FormBG"/>
          <p:cNvSpPr/>
          <p:nvPr/>
        </p:nvSpPr>
        <p:spPr>
          <a:xfrm>
            <a:off x="300000" y="1450000"/>
            <a:ext cx="11600000" cy="4980000"/>
          </a:xfrm>
          <a:prstGeom prst="rect">
            <a:avLst/>
          </a:prstGeom>
          <a:solidFill>
            <a:srgbClr val="F5F8FC"/>
          </a:solidFill>
          <a:ln w="19050">
            <a:solidFill>
              <a:srgbClr val="0033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dr21"/>
          <p:cNvSpPr/>
          <p:nvPr/>
        </p:nvSpPr>
        <p:spPr>
          <a:xfrm>
            <a:off x="300000" y="1450000"/>
            <a:ext cx="11600000" cy="4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ACTA DE ENTREVISTA</a:t>
            </a:r>
          </a:p>
        </p:txBody>
      </p:sp>
      <p:sp>
        <p:nvSpPr>
          <p:cNvPr id="30" name="b30"/>
          <p:cNvSpPr txBox="1"/>
          <p:nvPr/>
        </p:nvSpPr>
        <p:spPr>
          <a:xfrm>
            <a:off x="350000" y="1910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31"/>
          <p:cNvSpPr txBox="1"/>
          <p:nvPr/>
        </p:nvSpPr>
        <p:spPr>
          <a:xfrm>
            <a:off x="5900000" y="1910000"/>
            <a:ext cx="30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Acta N°:  001</a:t>
            </a:r>
          </a:p>
        </p:txBody>
      </p:sp>
      <p:sp>
        <p:nvSpPr>
          <p:cNvPr id="32" name="b32"/>
          <p:cNvSpPr txBox="1"/>
          <p:nvPr/>
        </p:nvSpPr>
        <p:spPr>
          <a:xfrm>
            <a:off x="8950000" y="1910000"/>
            <a:ext cx="30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N° de Versión:  1.1</a:t>
            </a:r>
          </a:p>
        </p:txBody>
      </p:sp>
      <p:sp>
        <p:nvSpPr>
          <p:cNvPr id="33" name="b33"/>
          <p:cNvSpPr txBox="1"/>
          <p:nvPr/>
        </p:nvSpPr>
        <p:spPr>
          <a:xfrm>
            <a:off x="350000" y="2270000"/>
            <a:ext cx="42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Apellidos y Nombre del entrevistado:  López Vega, Juan Manuel</a:t>
            </a:r>
          </a:p>
        </p:txBody>
      </p:sp>
      <p:sp>
        <p:nvSpPr>
          <p:cNvPr id="34" name="b34"/>
          <p:cNvSpPr txBox="1"/>
          <p:nvPr/>
        </p:nvSpPr>
        <p:spPr>
          <a:xfrm>
            <a:off x="4600000" y="2270000"/>
            <a:ext cx="37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Cargo:  Auxiliar de Secretaría Académica</a:t>
            </a:r>
          </a:p>
        </p:txBody>
      </p:sp>
      <p:sp>
        <p:nvSpPr>
          <p:cNvPr id="35" name="b35"/>
          <p:cNvSpPr txBox="1"/>
          <p:nvPr/>
        </p:nvSpPr>
        <p:spPr>
          <a:xfrm>
            <a:off x="8350000" y="2270000"/>
            <a:ext cx="36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Fecha de entrevista:  10 / 06 / 2025</a:t>
            </a:r>
          </a:p>
        </p:txBody>
      </p:sp>
      <p:sp>
        <p:nvSpPr>
          <p:cNvPr id="36" name="b36"/>
          <p:cNvSpPr txBox="1"/>
          <p:nvPr/>
        </p:nvSpPr>
        <p:spPr>
          <a:xfrm>
            <a:off x="350000" y="2630000"/>
            <a:ext cx="5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Entrevistador:  Ing. Paola Méndez — Analista de Requisitos</a:t>
            </a:r>
          </a:p>
        </p:txBody>
      </p:sp>
      <p:sp>
        <p:nvSpPr>
          <p:cNvPr id="37" name="b37"/>
          <p:cNvSpPr txBox="1"/>
          <p:nvPr/>
        </p:nvSpPr>
        <p:spPr>
          <a:xfrm>
            <a:off x="5900000" y="2630000"/>
            <a:ext cx="60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N° Entrevista:  1   |   Ficha aplicada:  FE-001   |   Escenarios:  E1, E2</a:t>
            </a:r>
          </a:p>
        </p:txBody>
      </p:sp>
      <p:sp>
        <p:nvSpPr>
          <p:cNvPr id="40" name="hdr40"/>
          <p:cNvSpPr/>
          <p:nvPr/>
        </p:nvSpPr>
        <p:spPr>
          <a:xfrm>
            <a:off x="350000" y="3000000"/>
            <a:ext cx="11450000" cy="36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DETALLE — CARACTERÍSTICAS Y ASPECTOS ANOTADOS</a:t>
            </a:r>
          </a:p>
        </p:txBody>
      </p:sp>
      <p:sp>
        <p:nvSpPr>
          <p:cNvPr id="50" name="det50"/>
          <p:cNvSpPr txBox="1"/>
          <p:nvPr/>
        </p:nvSpPr>
        <p:spPr>
          <a:xfrm>
            <a:off x="350000" y="3420000"/>
            <a:ext cx="11450000" cy="2550000"/>
          </a:xfrm>
          <a:prstGeom prst="rect">
            <a:avLst/>
          </a:prstGeom>
          <a:solidFill>
            <a:srgbClr val="FFFFFF"/>
          </a:solidFill>
        </p:spPr>
        <p:txBody>
          <a:bodyPr wrap="square" lIns="91440" tIns="91440" r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Acta N°: </a:t>
            </a:r>
            <a:r>
              <a:rPr kumimoji="0" lang="es-CO" sz="1200" b="0" i="0" u="none" strike="noStrike" kern="1200" cap="none" spc="0" normalizeH="0" baseline="0" noProof="0" dirty="0">
                <a:ln>
                  <a:noFill/>
                </a:ln>
                <a:solidFill>
                  <a:srgbClr val="333333"/>
                </a:solidFill>
                <a:effectLst/>
                <a:uLnTx/>
                <a:uFillTx/>
                <a:latin typeface="Calibri"/>
                <a:ea typeface="+mn-ea"/>
                <a:cs typeface="+mn-cs"/>
              </a:rPr>
              <a:t>001   |   Fecha: 10/06/2025   |   N° Entrevista: 1   |   Versión: 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Aspecto 1 — Proceso actual de matrícula:</a:t>
            </a:r>
            <a:r>
              <a:rPr kumimoji="0" lang="es-CO" sz="1200" b="0" i="0" u="none" strike="noStrike" kern="1200" cap="none" spc="0" normalizeH="0" baseline="0" noProof="0" dirty="0">
                <a:ln>
                  <a:noFill/>
                </a:ln>
                <a:solidFill>
                  <a:srgbClr val="333333"/>
                </a:solidFill>
                <a:effectLst/>
                <a:uLnTx/>
                <a:uFillTx/>
                <a:latin typeface="Calibri"/>
                <a:ea typeface="+mn-ea"/>
                <a:cs typeface="+mn-cs"/>
              </a:rPr>
              <a:t>  El auxiliar indica que actualmente la matrícula se realiza en planillas físicas y se digitalizan posteriormente en hojas de cálculo. El proceso toma entre 2 y 3 días hábiles por cohorte. Se presentan errores frecuentes por duplicidad de registros y validación manual de prerrequisitos.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Aspecto 2 — Documentos generados:</a:t>
            </a:r>
            <a:r>
              <a:rPr kumimoji="0" lang="es-CO" sz="1200" b="0" i="0" u="none" strike="noStrike" kern="1200" cap="none" spc="0" normalizeH="0" baseline="0" noProof="0" dirty="0">
                <a:ln>
                  <a:noFill/>
                </a:ln>
                <a:solidFill>
                  <a:srgbClr val="333333"/>
                </a:solidFill>
                <a:effectLst/>
                <a:uLnTx/>
                <a:uFillTx/>
                <a:latin typeface="Calibri"/>
                <a:ea typeface="+mn-ea"/>
                <a:cs typeface="+mn-cs"/>
              </a:rPr>
              <a:t>  Se producen: actas de calificaciones, paz y salvo académico y certificados de estudio. Actualmente se elaboran en procesador de texto, sin plantilla unificada. La expedición tarda entre 1 y 3 días según la solicitud.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Aspecto 3 — Necesidades de información frecuente:</a:t>
            </a:r>
            <a:r>
              <a:rPr kumimoji="0" lang="es-CO" sz="1200" b="0" i="0" u="none" strike="noStrike" kern="1200" cap="none" spc="0" normalizeH="0" baseline="0" noProof="0" dirty="0">
                <a:ln>
                  <a:noFill/>
                </a:ln>
                <a:solidFill>
                  <a:srgbClr val="333333"/>
                </a:solidFill>
                <a:effectLst/>
                <a:uLnTx/>
                <a:uFillTx/>
                <a:latin typeface="Calibri"/>
                <a:ea typeface="+mn-ea"/>
                <a:cs typeface="+mn-cs"/>
              </a:rPr>
              <a:t>  Consulta diaria del estado de matrícula por estudiante, verificación de saldo financiero pendiente y revisión de notas finales. Actualmente requiere acceder a tres sistemas diferentes sin integración.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Aspecto 4 — Puntos críticos identificados:</a:t>
            </a:r>
            <a:r>
              <a:rPr kumimoji="0" lang="es-CO" sz="1200" b="0" i="0" u="none" strike="noStrike" kern="1200" cap="none" spc="0" normalizeH="0" baseline="0" noProof="0" dirty="0">
                <a:ln>
                  <a:noFill/>
                </a:ln>
                <a:solidFill>
                  <a:srgbClr val="333333"/>
                </a:solidFill>
                <a:effectLst/>
                <a:uLnTx/>
                <a:uFillTx/>
                <a:latin typeface="Calibri"/>
                <a:ea typeface="+mn-ea"/>
                <a:cs typeface="+mn-cs"/>
              </a:rPr>
              <a:t>  Reproceso por errores en la digitalización de notas (aprox. 15% de registros). Ausencia de notificación automática a estudiantes. Dificultad para generar reportes consolidados por programa.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12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Grado de satisfacción mínimamente aceptable (estimado):</a:t>
            </a:r>
            <a:r>
              <a:rPr kumimoji="0" lang="es-CO" sz="1200" b="0" i="0" u="none" strike="noStrike" kern="1200" cap="none" spc="0" normalizeH="0" baseline="0" noProof="0" dirty="0">
                <a:ln>
                  <a:noFill/>
                </a:ln>
                <a:solidFill>
                  <a:srgbClr val="333333"/>
                </a:solidFill>
                <a:effectLst/>
                <a:uLnTx/>
                <a:uFillTx/>
                <a:latin typeface="Calibri"/>
                <a:ea typeface="+mn-ea"/>
                <a:cs typeface="+mn-cs"/>
              </a:rPr>
              <a:t>  Automatización del 80% del proceso de matrícula y generación inmediata de documentos oficiales con firma electrónica.</a:t>
            </a:r>
          </a:p>
        </p:txBody>
      </p:sp>
      <p:sp>
        <p:nvSpPr>
          <p:cNvPr id="60" name="b60"/>
          <p:cNvSpPr txBox="1"/>
          <p:nvPr/>
        </p:nvSpPr>
        <p:spPr>
          <a:xfrm>
            <a:off x="350000" y="6030000"/>
            <a:ext cx="5500000" cy="34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003366"/>
                </a:solidFill>
                <a:effectLst/>
                <a:uLnTx/>
                <a:uFillTx/>
                <a:latin typeface="Calibri"/>
                <a:ea typeface="+mn-ea"/>
                <a:cs typeface="+mn-cs"/>
              </a:rPr>
              <a:t>Entrevistador:  Ing. Paola Méndez  _______________</a:t>
            </a:r>
          </a:p>
        </p:txBody>
      </p:sp>
      <p:sp>
        <p:nvSpPr>
          <p:cNvPr id="61" name="b61"/>
          <p:cNvSpPr txBox="1"/>
          <p:nvPr/>
        </p:nvSpPr>
        <p:spPr>
          <a:xfrm>
            <a:off x="5900000" y="6030000"/>
            <a:ext cx="5950000" cy="34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003366"/>
                </a:solidFill>
                <a:effectLst/>
                <a:uLnTx/>
                <a:uFillTx/>
                <a:latin typeface="Calibri"/>
                <a:ea typeface="+mn-ea"/>
                <a:cs typeface="+mn-cs"/>
              </a:rPr>
              <a:t>Entrevistado:  Juan Manuel López Vega  _______________</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9678F-66FD-6037-C234-0C6C238104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69A511-04E9-4082-1D09-83F0BC6C9822}"/>
              </a:ext>
            </a:extLst>
          </p:cNvPr>
          <p:cNvSpPr>
            <a:spLocks noGrp="1"/>
          </p:cNvSpPr>
          <p:nvPr>
            <p:ph type="title"/>
          </p:nvPr>
        </p:nvSpPr>
        <p:spPr>
          <a:xfrm>
            <a:off x="838200" y="609676"/>
            <a:ext cx="10515600" cy="1325563"/>
          </a:xfrm>
        </p:spPr>
        <p:txBody>
          <a:bodyPr/>
          <a:lstStyle/>
          <a:p>
            <a:r>
              <a:rPr lang="es-CO" dirty="0"/>
              <a:t>Figura 7 — Acta de Entrevista </a:t>
            </a:r>
            <a:r>
              <a:rPr lang="es-CO" dirty="0" err="1"/>
              <a:t>N°</a:t>
            </a:r>
            <a:r>
              <a:rPr lang="es-CO" dirty="0"/>
              <a:t> 001</a:t>
            </a:r>
          </a:p>
        </p:txBody>
      </p:sp>
      <p:sp>
        <p:nvSpPr>
          <p:cNvPr id="3" name="Marcador de contenido 2">
            <a:extLst>
              <a:ext uri="{FF2B5EF4-FFF2-40B4-BE49-F238E27FC236}">
                <a16:creationId xmlns:a16="http://schemas.microsoft.com/office/drawing/2014/main" id="{6162C2EF-2083-3C17-AC4C-B6C04EF1D1F4}"/>
              </a:ext>
            </a:extLst>
          </p:cNvPr>
          <p:cNvSpPr>
            <a:spLocks noGrp="1"/>
          </p:cNvSpPr>
          <p:nvPr>
            <p:ph idx="1"/>
          </p:nvPr>
        </p:nvSpPr>
        <p:spPr>
          <a:xfrm>
            <a:off x="838200" y="1825625"/>
            <a:ext cx="10515600" cy="1512998"/>
          </a:xfrm>
        </p:spPr>
        <p:txBody>
          <a:bodyPr>
            <a:normAutofit lnSpcReduction="10000"/>
          </a:bodyPr>
          <a:lstStyle/>
          <a:p>
            <a:pPr marL="0" indent="0" algn="just">
              <a:buNone/>
            </a:pPr>
            <a:r>
              <a:rPr lang="es-CO" dirty="0"/>
              <a:t>Acta diligenciada para U001. Cuatro aspectos anotados y clasificados: proceso de matrícula, documentos generados, necesidades de información y puntos críticos. Grado de satisfacción mínimamente aceptable. Líneas de firma entrevistador/entrevistado</a:t>
            </a:r>
          </a:p>
        </p:txBody>
      </p:sp>
    </p:spTree>
    <p:extLst>
      <p:ext uri="{BB962C8B-B14F-4D97-AF65-F5344CB8AC3E}">
        <p14:creationId xmlns:p14="http://schemas.microsoft.com/office/powerpoint/2010/main" val="4132692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6862562-D863-D213-B125-A4A7096255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27D316-F270-25BA-CB69-B2B93C6685FB}"/>
              </a:ext>
            </a:extLst>
          </p:cNvPr>
          <p:cNvSpPr txBox="1"/>
          <p:nvPr/>
        </p:nvSpPr>
        <p:spPr>
          <a:xfrm>
            <a:off x="218734" y="3166762"/>
            <a:ext cx="10967131" cy="200054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5 — </a:t>
            </a:r>
            <a:r>
              <a:rPr lang="es-CO" sz="3200" dirty="0">
                <a:solidFill>
                  <a:prstClr val="white"/>
                </a:solidFill>
                <a:latin typeface="Century Gothic" panose="020B0502020202020204" pitchFamily="34" charset="0"/>
              </a:rPr>
              <a:t>Consolidación y Validación mediante Actas de Entrevista (Educción — Cierre)</a:t>
            </a:r>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9044411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5 — Consolidación y Validación mediante Actas de Entrevista (Educción — Cierre)</a:t>
            </a:r>
          </a:p>
        </p:txBody>
      </p:sp>
      <p:sp>
        <p:nvSpPr>
          <p:cNvPr id="7" name="Content"/>
          <p:cNvSpPr/>
          <p:nvPr/>
        </p:nvSpPr>
        <p:spPr>
          <a:xfrm>
            <a:off x="421004" y="1600000"/>
            <a:ext cx="11210866" cy="3714950"/>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Las entrevistas ejecutadas se resumen por características y aspectos anotados, clasificados temáticamente, y se formalizan en actas de entrevista que deben ser validadas y firmadas por el usuario entrevistado. Este mecanismo de validación garantiza la autenticidad de la información capturada y establece un </a:t>
            </a:r>
            <a:r>
              <a:rPr lang="es-CO" sz="1400" i="1" dirty="0" err="1">
                <a:solidFill>
                  <a:srgbClr val="333333"/>
                </a:solidFill>
                <a:latin typeface="Calibri"/>
              </a:rPr>
              <a:t>baseline</a:t>
            </a:r>
            <a:r>
              <a:rPr lang="es-CO" sz="1400" dirty="0">
                <a:solidFill>
                  <a:srgbClr val="333333"/>
                </a:solidFill>
                <a:latin typeface="Calibri"/>
              </a:rPr>
              <a:t> de conocimiento verificado. La </a:t>
            </a:r>
            <a:r>
              <a:rPr lang="es-CO" sz="1400" dirty="0" err="1">
                <a:solidFill>
                  <a:srgbClr val="333333"/>
                </a:solidFill>
                <a:latin typeface="Calibri"/>
              </a:rPr>
              <a:t>versionalidad</a:t>
            </a:r>
            <a:r>
              <a:rPr lang="es-CO" sz="1400" dirty="0">
                <a:solidFill>
                  <a:srgbClr val="333333"/>
                </a:solidFill>
                <a:latin typeface="Calibri"/>
              </a:rPr>
              <a:t> controlada de las actas permite gestionar los cambios derivados de nuevas sesiones o correcciones, en coherencia con el atributo de calidad de completitud verificable del ISO/IEC 25010.</a:t>
            </a: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Análisis de contenido cualitativo (</a:t>
            </a:r>
            <a:r>
              <a:rPr lang="es-CO" sz="1400" i="1" dirty="0">
                <a:solidFill>
                  <a:srgbClr val="333333"/>
                </a:solidFill>
                <a:latin typeface="Calibri"/>
              </a:rPr>
              <a:t>content</a:t>
            </a:r>
            <a:r>
              <a:rPr lang="es-CO" sz="1400" dirty="0">
                <a:solidFill>
                  <a:srgbClr val="333333"/>
                </a:solidFill>
                <a:latin typeface="Calibri"/>
              </a:rPr>
              <a:t> </a:t>
            </a:r>
            <a:r>
              <a:rPr lang="es-CO" sz="1400" i="1" dirty="0" err="1">
                <a:solidFill>
                  <a:srgbClr val="333333"/>
                </a:solidFill>
                <a:latin typeface="Calibri"/>
              </a:rPr>
              <a:t>analysis</a:t>
            </a:r>
            <a:r>
              <a:rPr lang="es-CO" sz="1400" dirty="0">
                <a:solidFill>
                  <a:srgbClr val="333333"/>
                </a:solidFill>
                <a:latin typeface="Calibri"/>
              </a:rPr>
              <a:t>).</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Validación colaborativa con el usuario (</a:t>
            </a:r>
            <a:r>
              <a:rPr lang="es-CO" sz="1400" i="1" dirty="0" err="1">
                <a:solidFill>
                  <a:srgbClr val="333333"/>
                </a:solidFill>
                <a:latin typeface="Calibri"/>
              </a:rPr>
              <a:t>member</a:t>
            </a:r>
            <a:r>
              <a:rPr lang="es-CO" sz="1400" dirty="0">
                <a:solidFill>
                  <a:srgbClr val="333333"/>
                </a:solidFill>
                <a:latin typeface="Calibri"/>
              </a:rPr>
              <a:t> </a:t>
            </a:r>
            <a:r>
              <a:rPr lang="es-CO" sz="1400" i="1" dirty="0" err="1">
                <a:solidFill>
                  <a:srgbClr val="333333"/>
                </a:solidFill>
                <a:latin typeface="Calibri"/>
              </a:rPr>
              <a:t>checking</a:t>
            </a:r>
            <a:r>
              <a:rPr lang="es-CO" sz="1400" i="1" dirty="0">
                <a:solidFill>
                  <a:srgbClr val="333333"/>
                </a:solidFill>
                <a:latin typeface="Calibri"/>
              </a:rPr>
              <a:t>.</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Control de versiones documental.</a:t>
            </a:r>
          </a:p>
          <a:p>
            <a:pPr marL="0" lvl="0" indent="0">
              <a:lnSpc>
                <a:spcPct val="107000"/>
              </a:lnSpc>
              <a:spcAft>
                <a:spcPts val="200"/>
              </a:spcAft>
              <a:buNone/>
            </a:pPr>
            <a:r>
              <a:rPr lang="es-CO" sz="1500" b="1" dirty="0">
                <a:solidFill>
                  <a:srgbClr val="003366"/>
                </a:solidFill>
                <a:latin typeface="Calibri"/>
              </a:rPr>
              <a:t>Artefacto/entregable:</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Actas de entrevista validadas (con firma del usuario entrevistado y número de versión) clasificadas por escenario y usuario. (Figura 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8 — Registro Consolidado de Actas de Entrevista Validadas | CONOCIMIENTO</a:t>
            </a:r>
          </a:p>
        </p:txBody>
      </p:sp>
      <p:sp>
        <p:nvSpPr>
          <p:cNvPr id="30" name="b30"/>
          <p:cNvSpPr txBox="1"/>
          <p:nvPr/>
        </p:nvSpPr>
        <p:spPr>
          <a:xfrm>
            <a:off x="350000" y="1455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31"/>
          <p:cNvSpPr txBox="1"/>
          <p:nvPr/>
        </p:nvSpPr>
        <p:spPr>
          <a:xfrm>
            <a:off x="5900000" y="1455000"/>
            <a:ext cx="3000000" cy="30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Fecha de elaboración:  20 / 06 / 2025</a:t>
            </a:r>
          </a:p>
        </p:txBody>
      </p:sp>
      <p:sp>
        <p:nvSpPr>
          <p:cNvPr id="32" name="b32"/>
          <p:cNvSpPr txBox="1"/>
          <p:nvPr/>
        </p:nvSpPr>
        <p:spPr>
          <a:xfrm>
            <a:off x="8950000" y="1455000"/>
            <a:ext cx="3000000" cy="30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Responsable:  Ing. Sebastián Mora Castillo</a:t>
            </a:r>
          </a:p>
        </p:txBody>
      </p:sp>
      <p:graphicFrame>
        <p:nvGraphicFramePr>
          <p:cNvPr id="10" name="Figura8"/>
          <p:cNvGraphicFramePr>
            <a:graphicFrameLocks noGrp="1"/>
          </p:cNvGraphicFramePr>
          <p:nvPr>
            <p:extLst>
              <p:ext uri="{D42A27DB-BD31-4B8C-83A1-F6EECF244321}">
                <p14:modId xmlns:p14="http://schemas.microsoft.com/office/powerpoint/2010/main" val="2673976913"/>
              </p:ext>
            </p:extLst>
          </p:nvPr>
        </p:nvGraphicFramePr>
        <p:xfrm>
          <a:off x="300000" y="1820000"/>
          <a:ext cx="11600000" cy="5361800"/>
        </p:xfrm>
        <a:graphic>
          <a:graphicData uri="http://schemas.openxmlformats.org/drawingml/2006/table">
            <a:tbl>
              <a:tblPr firstRow="1">
                <a:tableStyleId>{5C22544A-7EE6-4342-B048-85BDC9FD1C3A}</a:tableStyleId>
              </a:tblPr>
              <a:tblGrid>
                <a:gridCol w="700000">
                  <a:extLst>
                    <a:ext uri="{9D8B030D-6E8A-4147-A177-3AD203B41FA5}">
                      <a16:colId xmlns:a16="http://schemas.microsoft.com/office/drawing/2014/main" val="20000"/>
                    </a:ext>
                  </a:extLst>
                </a:gridCol>
                <a:gridCol w="160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2100000">
                  <a:extLst>
                    <a:ext uri="{9D8B030D-6E8A-4147-A177-3AD203B41FA5}">
                      <a16:colId xmlns:a16="http://schemas.microsoft.com/office/drawing/2014/main" val="20003"/>
                    </a:ext>
                  </a:extLst>
                </a:gridCol>
                <a:gridCol w="190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850000">
                  <a:extLst>
                    <a:ext uri="{9D8B030D-6E8A-4147-A177-3AD203B41FA5}">
                      <a16:colId xmlns:a16="http://schemas.microsoft.com/office/drawing/2014/main" val="20006"/>
                    </a:ext>
                  </a:extLst>
                </a:gridCol>
                <a:gridCol w="1250000">
                  <a:extLst>
                    <a:ext uri="{9D8B030D-6E8A-4147-A177-3AD203B41FA5}">
                      <a16:colId xmlns:a16="http://schemas.microsoft.com/office/drawing/2014/main" val="20007"/>
                    </a:ext>
                  </a:extLst>
                </a:gridCol>
                <a:gridCol w="1400000">
                  <a:extLst>
                    <a:ext uri="{9D8B030D-6E8A-4147-A177-3AD203B41FA5}">
                      <a16:colId xmlns:a16="http://schemas.microsoft.com/office/drawing/2014/main" val="20008"/>
                    </a:ext>
                  </a:extLst>
                </a:gridCol>
              </a:tblGrid>
              <a:tr h="530000">
                <a:tc>
                  <a:txBody>
                    <a:bodyPr/>
                    <a:lstStyle/>
                    <a:p>
                      <a:pPr algn="ctr"/>
                      <a:r>
                        <a:rPr lang="es-CO" sz="1200" b="1" dirty="0">
                          <a:solidFill>
                            <a:srgbClr val="FFFFFF"/>
                          </a:solidFill>
                          <a:latin typeface="Calibri"/>
                        </a:rPr>
                        <a:t>Acta</a:t>
                      </a:r>
                    </a:p>
                  </a:txBody>
                  <a:tcPr>
                    <a:solidFill>
                      <a:srgbClr val="003366"/>
                    </a:solidFill>
                  </a:tcPr>
                </a:tc>
                <a:tc>
                  <a:txBody>
                    <a:bodyPr/>
                    <a:lstStyle/>
                    <a:p>
                      <a:pPr algn="ctr"/>
                      <a:r>
                        <a:rPr lang="es-CO" sz="1200" b="1" dirty="0">
                          <a:solidFill>
                            <a:srgbClr val="FFFFFF"/>
                          </a:solidFill>
                          <a:latin typeface="Calibri"/>
                        </a:rPr>
                        <a:t>Escenario</a:t>
                      </a:r>
                    </a:p>
                  </a:txBody>
                  <a:tcPr>
                    <a:solidFill>
                      <a:srgbClr val="003366"/>
                    </a:solidFill>
                  </a:tcPr>
                </a:tc>
                <a:tc>
                  <a:txBody>
                    <a:bodyPr/>
                    <a:lstStyle/>
                    <a:p>
                      <a:pPr algn="ctr"/>
                      <a:r>
                        <a:rPr lang="es-CO" sz="1200" b="1" dirty="0">
                          <a:solidFill>
                            <a:srgbClr val="FFFFFF"/>
                          </a:solidFill>
                          <a:latin typeface="Calibri"/>
                        </a:rPr>
                        <a:t>Usuario</a:t>
                      </a:r>
                    </a:p>
                  </a:txBody>
                  <a:tcPr>
                    <a:solidFill>
                      <a:srgbClr val="003366"/>
                    </a:solidFill>
                  </a:tcPr>
                </a:tc>
                <a:tc>
                  <a:txBody>
                    <a:bodyPr/>
                    <a:lstStyle/>
                    <a:p>
                      <a:pPr algn="ctr"/>
                      <a:r>
                        <a:rPr lang="es-CO" sz="1200" b="1" dirty="0">
                          <a:solidFill>
                            <a:srgbClr val="FFFFFF"/>
                          </a:solidFill>
                          <a:latin typeface="Calibri"/>
                        </a:rPr>
                        <a:t>Apellidos y Nombres</a:t>
                      </a:r>
                    </a:p>
                  </a:txBody>
                  <a:tcPr>
                    <a:solidFill>
                      <a:srgbClr val="003366"/>
                    </a:solidFill>
                  </a:tcPr>
                </a:tc>
                <a:tc>
                  <a:txBody>
                    <a:bodyPr/>
                    <a:lstStyle/>
                    <a:p>
                      <a:pPr algn="ctr"/>
                      <a:r>
                        <a:rPr lang="es-CO" sz="1200" b="1" dirty="0">
                          <a:solidFill>
                            <a:srgbClr val="FFFFFF"/>
                          </a:solidFill>
                          <a:latin typeface="Calibri"/>
                        </a:rPr>
                        <a:t>Cargo</a:t>
                      </a:r>
                    </a:p>
                  </a:txBody>
                  <a:tcPr>
                    <a:solidFill>
                      <a:srgbClr val="003366"/>
                    </a:solidFill>
                  </a:tcPr>
                </a:tc>
                <a:tc>
                  <a:txBody>
                    <a:bodyPr/>
                    <a:lstStyle/>
                    <a:p>
                      <a:pPr algn="ctr"/>
                      <a:r>
                        <a:rPr lang="es-CO" sz="1200" b="1" dirty="0">
                          <a:solidFill>
                            <a:srgbClr val="FFFFFF"/>
                          </a:solidFill>
                          <a:latin typeface="Calibri"/>
                        </a:rPr>
                        <a:t>Fecha</a:t>
                      </a:r>
                    </a:p>
                  </a:txBody>
                  <a:tcPr>
                    <a:solidFill>
                      <a:srgbClr val="003366"/>
                    </a:solidFill>
                  </a:tcPr>
                </a:tc>
                <a:tc>
                  <a:txBody>
                    <a:bodyPr/>
                    <a:lstStyle/>
                    <a:p>
                      <a:pPr algn="ctr"/>
                      <a:r>
                        <a:rPr lang="es-CO" sz="1200" b="1" dirty="0">
                          <a:solidFill>
                            <a:srgbClr val="FFFFFF"/>
                          </a:solidFill>
                          <a:latin typeface="Calibri"/>
                        </a:rPr>
                        <a:t>Versión</a:t>
                      </a:r>
                    </a:p>
                  </a:txBody>
                  <a:tcPr>
                    <a:solidFill>
                      <a:srgbClr val="003366"/>
                    </a:solidFill>
                  </a:tcPr>
                </a:tc>
                <a:tc>
                  <a:txBody>
                    <a:bodyPr/>
                    <a:lstStyle/>
                    <a:p>
                      <a:pPr algn="ctr"/>
                      <a:r>
                        <a:rPr lang="es-CO" sz="1200" b="1" dirty="0">
                          <a:solidFill>
                            <a:srgbClr val="FFFFFF"/>
                          </a:solidFill>
                          <a:latin typeface="Calibri"/>
                        </a:rPr>
                        <a:t>Estado</a:t>
                      </a:r>
                    </a:p>
                  </a:txBody>
                  <a:tcPr>
                    <a:solidFill>
                      <a:srgbClr val="003366"/>
                    </a:solidFill>
                  </a:tcPr>
                </a:tc>
                <a:tc>
                  <a:txBody>
                    <a:bodyPr/>
                    <a:lstStyle/>
                    <a:p>
                      <a:pPr algn="ctr"/>
                      <a:r>
                        <a:rPr lang="es-CO" sz="1200" b="1" dirty="0">
                          <a:solidFill>
                            <a:srgbClr val="FFFFFF"/>
                          </a:solidFill>
                          <a:latin typeface="Calibri"/>
                        </a:rPr>
                        <a:t>Aspectos clave documentados</a:t>
                      </a:r>
                    </a:p>
                  </a:txBody>
                  <a:tcPr>
                    <a:solidFill>
                      <a:srgbClr val="003366"/>
                    </a:solidFill>
                  </a:tcPr>
                </a:tc>
                <a:extLst>
                  <a:ext uri="{0D108BD9-81ED-4DB2-BD59-A6C34878D82A}">
                    <a16:rowId xmlns:a16="http://schemas.microsoft.com/office/drawing/2014/main" val="10000"/>
                  </a:ext>
                </a:extLst>
              </a:tr>
              <a:tr h="490000">
                <a:tc>
                  <a:txBody>
                    <a:bodyPr/>
                    <a:lstStyle/>
                    <a:p>
                      <a:pPr algn="ctr"/>
                      <a:r>
                        <a:rPr lang="es-CO" sz="1150" b="1" dirty="0">
                          <a:solidFill>
                            <a:srgbClr val="003366"/>
                          </a:solidFill>
                          <a:latin typeface="Calibri"/>
                        </a:rPr>
                        <a:t>A-001</a:t>
                      </a:r>
                    </a:p>
                  </a:txBody>
                  <a:tcPr>
                    <a:solidFill>
                      <a:srgbClr val="E3EBF5"/>
                    </a:solidFill>
                  </a:tcPr>
                </a:tc>
                <a:tc>
                  <a:txBody>
                    <a:bodyPr/>
                    <a:lstStyle/>
                    <a:p>
                      <a:r>
                        <a:rPr lang="es-CO" sz="1100" b="0" dirty="0">
                          <a:solidFill>
                            <a:srgbClr val="333333"/>
                          </a:solidFill>
                          <a:latin typeface="Calibri"/>
                        </a:rPr>
                        <a:t>E1 — Secretaría Acad.</a:t>
                      </a:r>
                    </a:p>
                  </a:txBody>
                  <a:tcPr>
                    <a:solidFill>
                      <a:srgbClr val="E3EBF5"/>
                    </a:solidFill>
                  </a:tcPr>
                </a:tc>
                <a:tc>
                  <a:txBody>
                    <a:bodyPr/>
                    <a:lstStyle/>
                    <a:p>
                      <a:pPr algn="ctr"/>
                      <a:r>
                        <a:rPr lang="es-CO" sz="1150" b="1" dirty="0">
                          <a:solidFill>
                            <a:srgbClr val="1C4E8A"/>
                          </a:solidFill>
                          <a:latin typeface="Calibri"/>
                        </a:rPr>
                        <a:t>U001</a:t>
                      </a:r>
                    </a:p>
                  </a:txBody>
                  <a:tcPr>
                    <a:solidFill>
                      <a:srgbClr val="E3EBF5"/>
                    </a:solidFill>
                  </a:tcPr>
                </a:tc>
                <a:tc>
                  <a:txBody>
                    <a:bodyPr/>
                    <a:lstStyle/>
                    <a:p>
                      <a:r>
                        <a:rPr lang="es-CO" sz="1150" b="1" dirty="0">
                          <a:solidFill>
                            <a:srgbClr val="003366"/>
                          </a:solidFill>
                          <a:latin typeface="Calibri"/>
                        </a:rPr>
                        <a:t>López Vega, Juan Manuel</a:t>
                      </a:r>
                    </a:p>
                  </a:txBody>
                  <a:tcPr>
                    <a:solidFill>
                      <a:srgbClr val="E3EBF5"/>
                    </a:solidFill>
                  </a:tcPr>
                </a:tc>
                <a:tc>
                  <a:txBody>
                    <a:bodyPr/>
                    <a:lstStyle/>
                    <a:p>
                      <a:r>
                        <a:rPr lang="es-CO" sz="1100" b="0" dirty="0">
                          <a:solidFill>
                            <a:srgbClr val="444444"/>
                          </a:solidFill>
                          <a:latin typeface="Calibri"/>
                        </a:rPr>
                        <a:t>Auxiliar de Secretaría</a:t>
                      </a:r>
                    </a:p>
                  </a:txBody>
                  <a:tcPr>
                    <a:solidFill>
                      <a:srgbClr val="E3EBF5"/>
                    </a:solidFill>
                  </a:tcPr>
                </a:tc>
                <a:tc>
                  <a:txBody>
                    <a:bodyPr/>
                    <a:lstStyle/>
                    <a:p>
                      <a:pPr algn="ctr"/>
                      <a:r>
                        <a:rPr lang="es-CO" sz="1100" b="0" dirty="0">
                          <a:solidFill>
                            <a:srgbClr val="333333"/>
                          </a:solidFill>
                          <a:latin typeface="Calibri"/>
                        </a:rPr>
                        <a:t>10/06/2025</a:t>
                      </a:r>
                    </a:p>
                  </a:txBody>
                  <a:tcPr>
                    <a:solidFill>
                      <a:srgbClr val="E3EBF5"/>
                    </a:solidFill>
                  </a:tcPr>
                </a:tc>
                <a:tc>
                  <a:txBody>
                    <a:bodyPr/>
                    <a:lstStyle/>
                    <a:p>
                      <a:pPr algn="ctr"/>
                      <a:r>
                        <a:rPr lang="es-CO" sz="1150" b="0" dirty="0">
                          <a:solidFill>
                            <a:srgbClr val="555555"/>
                          </a:solidFill>
                          <a:latin typeface="Calibri"/>
                        </a:rPr>
                        <a:t>1.1</a:t>
                      </a:r>
                    </a:p>
                  </a:txBody>
                  <a:tcPr>
                    <a:solidFill>
                      <a:srgbClr val="E3EBF5"/>
                    </a:solidFill>
                  </a:tcPr>
                </a:tc>
                <a:tc>
                  <a:txBody>
                    <a:bodyPr/>
                    <a:lstStyle/>
                    <a:p>
                      <a:pPr algn="ctr"/>
                      <a:r>
                        <a:rPr lang="es-CO" sz="1200" b="1" dirty="0">
                          <a:solidFill>
                            <a:srgbClr val="FFFFFF"/>
                          </a:solidFill>
                          <a:latin typeface="Calibri"/>
                        </a:rPr>
                        <a:t>✔ Validada</a:t>
                      </a:r>
                    </a:p>
                  </a:txBody>
                  <a:tcPr>
                    <a:solidFill>
                      <a:srgbClr val="003366"/>
                    </a:solidFill>
                  </a:tcPr>
                </a:tc>
                <a:tc>
                  <a:txBody>
                    <a:bodyPr/>
                    <a:lstStyle/>
                    <a:p>
                      <a:r>
                        <a:rPr lang="es-CO" sz="1100" b="0" dirty="0">
                          <a:solidFill>
                            <a:srgbClr val="444444"/>
                          </a:solidFill>
                          <a:latin typeface="Calibri"/>
                        </a:rPr>
                        <a:t>Matrícula, documentos, reprocesos</a:t>
                      </a:r>
                    </a:p>
                  </a:txBody>
                  <a:tcPr>
                    <a:solidFill>
                      <a:srgbClr val="E3EBF5"/>
                    </a:solidFill>
                  </a:tcPr>
                </a:tc>
                <a:extLst>
                  <a:ext uri="{0D108BD9-81ED-4DB2-BD59-A6C34878D82A}">
                    <a16:rowId xmlns:a16="http://schemas.microsoft.com/office/drawing/2014/main" val="10001"/>
                  </a:ext>
                </a:extLst>
              </a:tr>
              <a:tr h="490000">
                <a:tc>
                  <a:txBody>
                    <a:bodyPr/>
                    <a:lstStyle/>
                    <a:p>
                      <a:pPr algn="ctr"/>
                      <a:r>
                        <a:rPr lang="es-CO" sz="1150" b="1" dirty="0">
                          <a:solidFill>
                            <a:srgbClr val="003366"/>
                          </a:solidFill>
                          <a:latin typeface="Calibri"/>
                        </a:rPr>
                        <a:t>A-002</a:t>
                      </a:r>
                    </a:p>
                  </a:txBody>
                  <a:tcPr>
                    <a:solidFill>
                      <a:srgbClr val="F5F8FC"/>
                    </a:solidFill>
                  </a:tcPr>
                </a:tc>
                <a:tc>
                  <a:txBody>
                    <a:bodyPr/>
                    <a:lstStyle/>
                    <a:p>
                      <a:r>
                        <a:rPr lang="es-CO" sz="1100" b="0" dirty="0">
                          <a:solidFill>
                            <a:srgbClr val="333333"/>
                          </a:solidFill>
                          <a:latin typeface="Calibri"/>
                        </a:rPr>
                        <a:t>E2 — Coord. Programa</a:t>
                      </a:r>
                    </a:p>
                  </a:txBody>
                  <a:tcPr>
                    <a:solidFill>
                      <a:srgbClr val="F5F8FC"/>
                    </a:solidFill>
                  </a:tcPr>
                </a:tc>
                <a:tc>
                  <a:txBody>
                    <a:bodyPr/>
                    <a:lstStyle/>
                    <a:p>
                      <a:pPr algn="ctr"/>
                      <a:r>
                        <a:rPr lang="es-CO" sz="1150" b="1" dirty="0">
                          <a:solidFill>
                            <a:srgbClr val="1C4E8A"/>
                          </a:solidFill>
                          <a:latin typeface="Calibri"/>
                        </a:rPr>
                        <a:t>U002</a:t>
                      </a:r>
                    </a:p>
                  </a:txBody>
                  <a:tcPr>
                    <a:solidFill>
                      <a:srgbClr val="F5F8FC"/>
                    </a:solidFill>
                  </a:tcPr>
                </a:tc>
                <a:tc>
                  <a:txBody>
                    <a:bodyPr/>
                    <a:lstStyle/>
                    <a:p>
                      <a:r>
                        <a:rPr lang="es-CO" sz="1150" b="1" dirty="0">
                          <a:solidFill>
                            <a:srgbClr val="003366"/>
                          </a:solidFill>
                          <a:latin typeface="Calibri"/>
                        </a:rPr>
                        <a:t>Ríos Salazar, Carolina</a:t>
                      </a:r>
                    </a:p>
                  </a:txBody>
                  <a:tcPr>
                    <a:solidFill>
                      <a:srgbClr val="F5F8FC"/>
                    </a:solidFill>
                  </a:tcPr>
                </a:tc>
                <a:tc>
                  <a:txBody>
                    <a:bodyPr/>
                    <a:lstStyle/>
                    <a:p>
                      <a:r>
                        <a:rPr lang="es-CO" sz="1100" b="0" dirty="0">
                          <a:solidFill>
                            <a:srgbClr val="444444"/>
                          </a:solidFill>
                          <a:latin typeface="Calibri"/>
                        </a:rPr>
                        <a:t>Coordinadora Académica</a:t>
                      </a:r>
                    </a:p>
                  </a:txBody>
                  <a:tcPr>
                    <a:solidFill>
                      <a:srgbClr val="F5F8FC"/>
                    </a:solidFill>
                  </a:tcPr>
                </a:tc>
                <a:tc>
                  <a:txBody>
                    <a:bodyPr/>
                    <a:lstStyle/>
                    <a:p>
                      <a:pPr algn="ctr"/>
                      <a:r>
                        <a:rPr lang="es-CO" sz="1100" b="0" dirty="0">
                          <a:solidFill>
                            <a:srgbClr val="333333"/>
                          </a:solidFill>
                          <a:latin typeface="Calibri"/>
                        </a:rPr>
                        <a:t>11/06/2025</a:t>
                      </a:r>
                    </a:p>
                  </a:txBody>
                  <a:tcPr>
                    <a:solidFill>
                      <a:srgbClr val="F5F8FC"/>
                    </a:solidFill>
                  </a:tcPr>
                </a:tc>
                <a:tc>
                  <a:txBody>
                    <a:bodyPr/>
                    <a:lstStyle/>
                    <a:p>
                      <a:pPr algn="ctr"/>
                      <a:r>
                        <a:rPr lang="es-CO" sz="1150" b="0" dirty="0">
                          <a:solidFill>
                            <a:srgbClr val="555555"/>
                          </a:solidFill>
                          <a:latin typeface="Calibri"/>
                        </a:rPr>
                        <a:t>1.0</a:t>
                      </a:r>
                    </a:p>
                  </a:txBody>
                  <a:tcPr>
                    <a:solidFill>
                      <a:srgbClr val="F5F8FC"/>
                    </a:solidFill>
                  </a:tcPr>
                </a:tc>
                <a:tc>
                  <a:txBody>
                    <a:bodyPr/>
                    <a:lstStyle/>
                    <a:p>
                      <a:pPr algn="ctr"/>
                      <a:r>
                        <a:rPr lang="es-CO" sz="1200" b="1" dirty="0">
                          <a:solidFill>
                            <a:srgbClr val="FFFFFF"/>
                          </a:solidFill>
                          <a:latin typeface="Calibri"/>
                        </a:rPr>
                        <a:t>✔ Validada</a:t>
                      </a:r>
                    </a:p>
                  </a:txBody>
                  <a:tcPr>
                    <a:solidFill>
                      <a:srgbClr val="003366"/>
                    </a:solidFill>
                  </a:tcPr>
                </a:tc>
                <a:tc>
                  <a:txBody>
                    <a:bodyPr/>
                    <a:lstStyle/>
                    <a:p>
                      <a:r>
                        <a:rPr lang="es-CO" sz="1100" b="0" dirty="0">
                          <a:solidFill>
                            <a:srgbClr val="444444"/>
                          </a:solidFill>
                          <a:latin typeface="Calibri"/>
                        </a:rPr>
                        <a:t>Asignación docente, horarios, seguimiento cohorte</a:t>
                      </a:r>
                    </a:p>
                  </a:txBody>
                  <a:tcPr>
                    <a:solidFill>
                      <a:srgbClr val="F5F8FC"/>
                    </a:solidFill>
                  </a:tcPr>
                </a:tc>
                <a:extLst>
                  <a:ext uri="{0D108BD9-81ED-4DB2-BD59-A6C34878D82A}">
                    <a16:rowId xmlns:a16="http://schemas.microsoft.com/office/drawing/2014/main" val="10002"/>
                  </a:ext>
                </a:extLst>
              </a:tr>
              <a:tr h="490000">
                <a:tc>
                  <a:txBody>
                    <a:bodyPr/>
                    <a:lstStyle/>
                    <a:p>
                      <a:pPr algn="ctr"/>
                      <a:r>
                        <a:rPr lang="es-CO" sz="1150" b="1" dirty="0">
                          <a:solidFill>
                            <a:srgbClr val="003366"/>
                          </a:solidFill>
                          <a:latin typeface="Calibri"/>
                        </a:rPr>
                        <a:t>A-003</a:t>
                      </a:r>
                    </a:p>
                  </a:txBody>
                  <a:tcPr>
                    <a:solidFill>
                      <a:srgbClr val="E3EBF5"/>
                    </a:solidFill>
                  </a:tcPr>
                </a:tc>
                <a:tc>
                  <a:txBody>
                    <a:bodyPr/>
                    <a:lstStyle/>
                    <a:p>
                      <a:r>
                        <a:rPr lang="es-CO" sz="1100" b="0" dirty="0">
                          <a:solidFill>
                            <a:srgbClr val="333333"/>
                          </a:solidFill>
                          <a:latin typeface="Calibri"/>
                        </a:rPr>
                        <a:t>E2 — Coord. Programa</a:t>
                      </a:r>
                    </a:p>
                  </a:txBody>
                  <a:tcPr>
                    <a:solidFill>
                      <a:srgbClr val="E3EBF5"/>
                    </a:solidFill>
                  </a:tcPr>
                </a:tc>
                <a:tc>
                  <a:txBody>
                    <a:bodyPr/>
                    <a:lstStyle/>
                    <a:p>
                      <a:pPr algn="ctr"/>
                      <a:r>
                        <a:rPr lang="es-CO" sz="1150" b="1" dirty="0">
                          <a:solidFill>
                            <a:srgbClr val="1C4E8A"/>
                          </a:solidFill>
                          <a:latin typeface="Calibri"/>
                        </a:rPr>
                        <a:t>U002</a:t>
                      </a:r>
                    </a:p>
                  </a:txBody>
                  <a:tcPr>
                    <a:solidFill>
                      <a:srgbClr val="E3EBF5"/>
                    </a:solidFill>
                  </a:tcPr>
                </a:tc>
                <a:tc>
                  <a:txBody>
                    <a:bodyPr/>
                    <a:lstStyle/>
                    <a:p>
                      <a:r>
                        <a:rPr lang="es-CO" sz="1150" b="1" dirty="0">
                          <a:solidFill>
                            <a:srgbClr val="003366"/>
                          </a:solidFill>
                          <a:latin typeface="Calibri"/>
                        </a:rPr>
                        <a:t>Gómez Herrera, Sandra</a:t>
                      </a:r>
                    </a:p>
                  </a:txBody>
                  <a:tcPr>
                    <a:solidFill>
                      <a:srgbClr val="E3EBF5"/>
                    </a:solidFill>
                  </a:tcPr>
                </a:tc>
                <a:tc>
                  <a:txBody>
                    <a:bodyPr/>
                    <a:lstStyle/>
                    <a:p>
                      <a:r>
                        <a:rPr lang="es-CO" sz="1100" b="0" dirty="0">
                          <a:solidFill>
                            <a:srgbClr val="444444"/>
                          </a:solidFill>
                          <a:latin typeface="Calibri"/>
                        </a:rPr>
                        <a:t>Coordinadora de Programa</a:t>
                      </a:r>
                    </a:p>
                  </a:txBody>
                  <a:tcPr>
                    <a:solidFill>
                      <a:srgbClr val="E3EBF5"/>
                    </a:solidFill>
                  </a:tcPr>
                </a:tc>
                <a:tc>
                  <a:txBody>
                    <a:bodyPr/>
                    <a:lstStyle/>
                    <a:p>
                      <a:pPr algn="ctr"/>
                      <a:r>
                        <a:rPr lang="es-CO" sz="1100" b="0" dirty="0">
                          <a:solidFill>
                            <a:srgbClr val="333333"/>
                          </a:solidFill>
                          <a:latin typeface="Calibri"/>
                        </a:rPr>
                        <a:t>12/06/2025</a:t>
                      </a:r>
                    </a:p>
                  </a:txBody>
                  <a:tcPr>
                    <a:solidFill>
                      <a:srgbClr val="E3EBF5"/>
                    </a:solidFill>
                  </a:tcPr>
                </a:tc>
                <a:tc>
                  <a:txBody>
                    <a:bodyPr/>
                    <a:lstStyle/>
                    <a:p>
                      <a:pPr algn="ctr"/>
                      <a:r>
                        <a:rPr lang="es-CO" sz="1150" b="0" dirty="0">
                          <a:solidFill>
                            <a:srgbClr val="555555"/>
                          </a:solidFill>
                          <a:latin typeface="Calibri"/>
                        </a:rPr>
                        <a:t>1.1</a:t>
                      </a:r>
                    </a:p>
                  </a:txBody>
                  <a:tcPr>
                    <a:solidFill>
                      <a:srgbClr val="E3EBF5"/>
                    </a:solidFill>
                  </a:tcPr>
                </a:tc>
                <a:tc>
                  <a:txBody>
                    <a:bodyPr/>
                    <a:lstStyle/>
                    <a:p>
                      <a:pPr algn="ctr"/>
                      <a:r>
                        <a:rPr lang="es-CO" sz="1200" b="1" dirty="0">
                          <a:solidFill>
                            <a:srgbClr val="FFFFFF"/>
                          </a:solidFill>
                          <a:latin typeface="Calibri"/>
                        </a:rPr>
                        <a:t>✔ Validada</a:t>
                      </a:r>
                    </a:p>
                  </a:txBody>
                  <a:tcPr>
                    <a:solidFill>
                      <a:srgbClr val="003366"/>
                    </a:solidFill>
                  </a:tcPr>
                </a:tc>
                <a:tc>
                  <a:txBody>
                    <a:bodyPr/>
                    <a:lstStyle/>
                    <a:p>
                      <a:r>
                        <a:rPr lang="es-CO" sz="1100" b="0" dirty="0">
                          <a:solidFill>
                            <a:srgbClr val="444444"/>
                          </a:solidFill>
                          <a:latin typeface="Calibri"/>
                        </a:rPr>
                        <a:t>Plan de estudios, alertas académicas</a:t>
                      </a:r>
                    </a:p>
                  </a:txBody>
                  <a:tcPr>
                    <a:solidFill>
                      <a:srgbClr val="E3EBF5"/>
                    </a:solidFill>
                  </a:tcPr>
                </a:tc>
                <a:extLst>
                  <a:ext uri="{0D108BD9-81ED-4DB2-BD59-A6C34878D82A}">
                    <a16:rowId xmlns:a16="http://schemas.microsoft.com/office/drawing/2014/main" val="10003"/>
                  </a:ext>
                </a:extLst>
              </a:tr>
              <a:tr h="490000">
                <a:tc>
                  <a:txBody>
                    <a:bodyPr/>
                    <a:lstStyle/>
                    <a:p>
                      <a:pPr algn="ctr"/>
                      <a:r>
                        <a:rPr lang="es-CO" sz="1150" b="1" dirty="0">
                          <a:solidFill>
                            <a:srgbClr val="003366"/>
                          </a:solidFill>
                          <a:latin typeface="Calibri"/>
                        </a:rPr>
                        <a:t>A-004</a:t>
                      </a:r>
                    </a:p>
                  </a:txBody>
                  <a:tcPr>
                    <a:solidFill>
                      <a:srgbClr val="F5F8FC"/>
                    </a:solidFill>
                  </a:tcPr>
                </a:tc>
                <a:tc>
                  <a:txBody>
                    <a:bodyPr/>
                    <a:lstStyle/>
                    <a:p>
                      <a:r>
                        <a:rPr lang="es-CO" sz="1100" b="0" dirty="0">
                          <a:solidFill>
                            <a:srgbClr val="333333"/>
                          </a:solidFill>
                          <a:latin typeface="Calibri"/>
                        </a:rPr>
                        <a:t>E3 — Aula / Docente</a:t>
                      </a:r>
                    </a:p>
                  </a:txBody>
                  <a:tcPr>
                    <a:solidFill>
                      <a:srgbClr val="F5F8FC"/>
                    </a:solidFill>
                  </a:tcPr>
                </a:tc>
                <a:tc>
                  <a:txBody>
                    <a:bodyPr/>
                    <a:lstStyle/>
                    <a:p>
                      <a:pPr algn="ctr"/>
                      <a:r>
                        <a:rPr lang="es-CO" sz="1150" b="1" dirty="0">
                          <a:solidFill>
                            <a:srgbClr val="1C4E8A"/>
                          </a:solidFill>
                          <a:latin typeface="Calibri"/>
                        </a:rPr>
                        <a:t>U003</a:t>
                      </a:r>
                    </a:p>
                  </a:txBody>
                  <a:tcPr>
                    <a:solidFill>
                      <a:srgbClr val="F5F8FC"/>
                    </a:solidFill>
                  </a:tcPr>
                </a:tc>
                <a:tc>
                  <a:txBody>
                    <a:bodyPr/>
                    <a:lstStyle/>
                    <a:p>
                      <a:r>
                        <a:rPr lang="es-CO" sz="1150" b="1" dirty="0">
                          <a:solidFill>
                            <a:srgbClr val="003366"/>
                          </a:solidFill>
                          <a:latin typeface="Calibri"/>
                        </a:rPr>
                        <a:t>Pérez Aranda, Carlos A.</a:t>
                      </a:r>
                    </a:p>
                  </a:txBody>
                  <a:tcPr>
                    <a:solidFill>
                      <a:srgbClr val="F5F8FC"/>
                    </a:solidFill>
                  </a:tcPr>
                </a:tc>
                <a:tc>
                  <a:txBody>
                    <a:bodyPr/>
                    <a:lstStyle/>
                    <a:p>
                      <a:r>
                        <a:rPr lang="es-CO" sz="1100" b="0" dirty="0">
                          <a:solidFill>
                            <a:srgbClr val="444444"/>
                          </a:solidFill>
                          <a:latin typeface="Calibri"/>
                        </a:rPr>
                        <a:t>Docente Ing. Sistemas</a:t>
                      </a:r>
                    </a:p>
                  </a:txBody>
                  <a:tcPr>
                    <a:solidFill>
                      <a:srgbClr val="F5F8FC"/>
                    </a:solidFill>
                  </a:tcPr>
                </a:tc>
                <a:tc>
                  <a:txBody>
                    <a:bodyPr/>
                    <a:lstStyle/>
                    <a:p>
                      <a:pPr algn="ctr"/>
                      <a:r>
                        <a:rPr lang="es-CO" sz="1100" b="0" dirty="0">
                          <a:solidFill>
                            <a:srgbClr val="333333"/>
                          </a:solidFill>
                          <a:latin typeface="Calibri"/>
                        </a:rPr>
                        <a:t>13/06/2025</a:t>
                      </a:r>
                    </a:p>
                  </a:txBody>
                  <a:tcPr>
                    <a:solidFill>
                      <a:srgbClr val="F5F8FC"/>
                    </a:solidFill>
                  </a:tcPr>
                </a:tc>
                <a:tc>
                  <a:txBody>
                    <a:bodyPr/>
                    <a:lstStyle/>
                    <a:p>
                      <a:pPr algn="ctr"/>
                      <a:r>
                        <a:rPr lang="es-CO" sz="1150" b="0" dirty="0">
                          <a:solidFill>
                            <a:srgbClr val="555555"/>
                          </a:solidFill>
                          <a:latin typeface="Calibri"/>
                        </a:rPr>
                        <a:t>1.0</a:t>
                      </a:r>
                    </a:p>
                  </a:txBody>
                  <a:tcPr>
                    <a:solidFill>
                      <a:srgbClr val="F5F8FC"/>
                    </a:solidFill>
                  </a:tcPr>
                </a:tc>
                <a:tc>
                  <a:txBody>
                    <a:bodyPr/>
                    <a:lstStyle/>
                    <a:p>
                      <a:pPr algn="ctr"/>
                      <a:r>
                        <a:rPr lang="es-CO" sz="1200" b="1" dirty="0">
                          <a:solidFill>
                            <a:srgbClr val="FFFFFF"/>
                          </a:solidFill>
                          <a:latin typeface="Calibri"/>
                        </a:rPr>
                        <a:t>✔ Validada</a:t>
                      </a:r>
                    </a:p>
                  </a:txBody>
                  <a:tcPr>
                    <a:solidFill>
                      <a:srgbClr val="003366"/>
                    </a:solidFill>
                  </a:tcPr>
                </a:tc>
                <a:tc>
                  <a:txBody>
                    <a:bodyPr/>
                    <a:lstStyle/>
                    <a:p>
                      <a:r>
                        <a:rPr lang="es-CO" sz="1100" b="0" dirty="0">
                          <a:solidFill>
                            <a:srgbClr val="444444"/>
                          </a:solidFill>
                          <a:latin typeface="Calibri"/>
                        </a:rPr>
                        <a:t>Registro notas, asistencia, listados</a:t>
                      </a:r>
                    </a:p>
                  </a:txBody>
                  <a:tcPr>
                    <a:solidFill>
                      <a:srgbClr val="F5F8FC"/>
                    </a:solidFill>
                  </a:tcPr>
                </a:tc>
                <a:extLst>
                  <a:ext uri="{0D108BD9-81ED-4DB2-BD59-A6C34878D82A}">
                    <a16:rowId xmlns:a16="http://schemas.microsoft.com/office/drawing/2014/main" val="10004"/>
                  </a:ext>
                </a:extLst>
              </a:tr>
              <a:tr h="490000">
                <a:tc>
                  <a:txBody>
                    <a:bodyPr/>
                    <a:lstStyle/>
                    <a:p>
                      <a:pPr algn="ctr"/>
                      <a:r>
                        <a:rPr lang="es-CO" sz="1150" b="1" dirty="0">
                          <a:solidFill>
                            <a:srgbClr val="003366"/>
                          </a:solidFill>
                          <a:latin typeface="Calibri"/>
                        </a:rPr>
                        <a:t>A-005</a:t>
                      </a:r>
                    </a:p>
                  </a:txBody>
                  <a:tcPr>
                    <a:solidFill>
                      <a:srgbClr val="E3EBF5"/>
                    </a:solidFill>
                  </a:tcPr>
                </a:tc>
                <a:tc>
                  <a:txBody>
                    <a:bodyPr/>
                    <a:lstStyle/>
                    <a:p>
                      <a:r>
                        <a:rPr lang="es-CO" sz="1100" b="0" dirty="0">
                          <a:solidFill>
                            <a:srgbClr val="333333"/>
                          </a:solidFill>
                          <a:latin typeface="Calibri"/>
                        </a:rPr>
                        <a:t>E3 — Aula / Docente</a:t>
                      </a:r>
                    </a:p>
                  </a:txBody>
                  <a:tcPr>
                    <a:solidFill>
                      <a:srgbClr val="E3EBF5"/>
                    </a:solidFill>
                  </a:tcPr>
                </a:tc>
                <a:tc>
                  <a:txBody>
                    <a:bodyPr/>
                    <a:lstStyle/>
                    <a:p>
                      <a:pPr algn="ctr"/>
                      <a:r>
                        <a:rPr lang="es-CO" sz="1150" b="1" dirty="0">
                          <a:solidFill>
                            <a:srgbClr val="1C4E8A"/>
                          </a:solidFill>
                          <a:latin typeface="Calibri"/>
                        </a:rPr>
                        <a:t>U003</a:t>
                      </a:r>
                    </a:p>
                  </a:txBody>
                  <a:tcPr>
                    <a:solidFill>
                      <a:srgbClr val="E3EBF5"/>
                    </a:solidFill>
                  </a:tcPr>
                </a:tc>
                <a:tc>
                  <a:txBody>
                    <a:bodyPr/>
                    <a:lstStyle/>
                    <a:p>
                      <a:r>
                        <a:rPr lang="es-CO" sz="1150" b="1" dirty="0">
                          <a:solidFill>
                            <a:srgbClr val="003366"/>
                          </a:solidFill>
                          <a:latin typeface="Calibri"/>
                        </a:rPr>
                        <a:t>Martínez Roa, Luisa F.</a:t>
                      </a:r>
                    </a:p>
                  </a:txBody>
                  <a:tcPr>
                    <a:solidFill>
                      <a:srgbClr val="E3EBF5"/>
                    </a:solidFill>
                  </a:tcPr>
                </a:tc>
                <a:tc>
                  <a:txBody>
                    <a:bodyPr/>
                    <a:lstStyle/>
                    <a:p>
                      <a:r>
                        <a:rPr lang="es-CO" sz="1100" b="0" dirty="0">
                          <a:solidFill>
                            <a:srgbClr val="444444"/>
                          </a:solidFill>
                          <a:latin typeface="Calibri"/>
                        </a:rPr>
                        <a:t>Docente Administración</a:t>
                      </a:r>
                    </a:p>
                  </a:txBody>
                  <a:tcPr>
                    <a:solidFill>
                      <a:srgbClr val="E3EBF5"/>
                    </a:solidFill>
                  </a:tcPr>
                </a:tc>
                <a:tc>
                  <a:txBody>
                    <a:bodyPr/>
                    <a:lstStyle/>
                    <a:p>
                      <a:pPr algn="ctr"/>
                      <a:r>
                        <a:rPr lang="es-CO" sz="1100" b="0" dirty="0">
                          <a:solidFill>
                            <a:srgbClr val="333333"/>
                          </a:solidFill>
                          <a:latin typeface="Calibri"/>
                        </a:rPr>
                        <a:t>13/06/2025</a:t>
                      </a:r>
                    </a:p>
                  </a:txBody>
                  <a:tcPr>
                    <a:solidFill>
                      <a:srgbClr val="E3EBF5"/>
                    </a:solidFill>
                  </a:tcPr>
                </a:tc>
                <a:tc>
                  <a:txBody>
                    <a:bodyPr/>
                    <a:lstStyle/>
                    <a:p>
                      <a:pPr algn="ctr"/>
                      <a:r>
                        <a:rPr lang="es-CO" sz="1150" b="0" dirty="0">
                          <a:solidFill>
                            <a:srgbClr val="555555"/>
                          </a:solidFill>
                          <a:latin typeface="Calibri"/>
                        </a:rPr>
                        <a:t>1.0</a:t>
                      </a:r>
                    </a:p>
                  </a:txBody>
                  <a:tcPr>
                    <a:solidFill>
                      <a:srgbClr val="E3EBF5"/>
                    </a:solidFill>
                  </a:tcPr>
                </a:tc>
                <a:tc>
                  <a:txBody>
                    <a:bodyPr/>
                    <a:lstStyle/>
                    <a:p>
                      <a:pPr algn="ctr"/>
                      <a:r>
                        <a:rPr lang="es-CO" sz="1200" b="1" dirty="0">
                          <a:solidFill>
                            <a:srgbClr val="FFFFFF"/>
                          </a:solidFill>
                          <a:latin typeface="Calibri"/>
                        </a:rPr>
                        <a:t>✔ Validada</a:t>
                      </a:r>
                    </a:p>
                  </a:txBody>
                  <a:tcPr>
                    <a:solidFill>
                      <a:srgbClr val="003366"/>
                    </a:solidFill>
                  </a:tcPr>
                </a:tc>
                <a:tc>
                  <a:txBody>
                    <a:bodyPr/>
                    <a:lstStyle/>
                    <a:p>
                      <a:r>
                        <a:rPr lang="es-CO" sz="1100" b="0" dirty="0">
                          <a:solidFill>
                            <a:srgbClr val="444444"/>
                          </a:solidFill>
                          <a:latin typeface="Calibri"/>
                        </a:rPr>
                        <a:t>Flujo de calificaciones, observaciones</a:t>
                      </a:r>
                    </a:p>
                  </a:txBody>
                  <a:tcPr>
                    <a:solidFill>
                      <a:srgbClr val="E3EBF5"/>
                    </a:solidFill>
                  </a:tcPr>
                </a:tc>
                <a:extLst>
                  <a:ext uri="{0D108BD9-81ED-4DB2-BD59-A6C34878D82A}">
                    <a16:rowId xmlns:a16="http://schemas.microsoft.com/office/drawing/2014/main" val="10005"/>
                  </a:ext>
                </a:extLst>
              </a:tr>
              <a:tr h="490000">
                <a:tc>
                  <a:txBody>
                    <a:bodyPr/>
                    <a:lstStyle/>
                    <a:p>
                      <a:pPr algn="ctr"/>
                      <a:r>
                        <a:rPr lang="es-CO" sz="1150" b="1" dirty="0">
                          <a:solidFill>
                            <a:srgbClr val="003366"/>
                          </a:solidFill>
                          <a:latin typeface="Calibri"/>
                        </a:rPr>
                        <a:t>A-006</a:t>
                      </a:r>
                    </a:p>
                  </a:txBody>
                  <a:tcPr>
                    <a:solidFill>
                      <a:srgbClr val="F5F8FC"/>
                    </a:solidFill>
                  </a:tcPr>
                </a:tc>
                <a:tc>
                  <a:txBody>
                    <a:bodyPr/>
                    <a:lstStyle/>
                    <a:p>
                      <a:r>
                        <a:rPr lang="es-CO" sz="1100" b="0" dirty="0">
                          <a:solidFill>
                            <a:srgbClr val="333333"/>
                          </a:solidFill>
                          <a:latin typeface="Calibri"/>
                        </a:rPr>
                        <a:t>E4 — Portal Estud.</a:t>
                      </a:r>
                    </a:p>
                  </a:txBody>
                  <a:tcPr>
                    <a:solidFill>
                      <a:srgbClr val="F5F8FC"/>
                    </a:solidFill>
                  </a:tcPr>
                </a:tc>
                <a:tc>
                  <a:txBody>
                    <a:bodyPr/>
                    <a:lstStyle/>
                    <a:p>
                      <a:pPr algn="ctr"/>
                      <a:r>
                        <a:rPr lang="es-CO" sz="1150" b="1" dirty="0">
                          <a:solidFill>
                            <a:srgbClr val="1C4E8A"/>
                          </a:solidFill>
                          <a:latin typeface="Calibri"/>
                        </a:rPr>
                        <a:t>U004</a:t>
                      </a:r>
                    </a:p>
                  </a:txBody>
                  <a:tcPr>
                    <a:solidFill>
                      <a:srgbClr val="F5F8FC"/>
                    </a:solidFill>
                  </a:tcPr>
                </a:tc>
                <a:tc>
                  <a:txBody>
                    <a:bodyPr/>
                    <a:lstStyle/>
                    <a:p>
                      <a:r>
                        <a:rPr lang="es-CO" sz="1150" b="1" dirty="0">
                          <a:solidFill>
                            <a:srgbClr val="003366"/>
                          </a:solidFill>
                          <a:latin typeface="Calibri"/>
                        </a:rPr>
                        <a:t>Rodríguez Mora, David</a:t>
                      </a:r>
                    </a:p>
                  </a:txBody>
                  <a:tcPr>
                    <a:solidFill>
                      <a:srgbClr val="F5F8FC"/>
                    </a:solidFill>
                  </a:tcPr>
                </a:tc>
                <a:tc>
                  <a:txBody>
                    <a:bodyPr/>
                    <a:lstStyle/>
                    <a:p>
                      <a:r>
                        <a:rPr lang="es-CO" sz="1100" b="0" dirty="0">
                          <a:solidFill>
                            <a:srgbClr val="444444"/>
                          </a:solidFill>
                          <a:latin typeface="Calibri"/>
                        </a:rPr>
                        <a:t>Estudiante (represent.)</a:t>
                      </a:r>
                    </a:p>
                  </a:txBody>
                  <a:tcPr>
                    <a:solidFill>
                      <a:srgbClr val="F5F8FC"/>
                    </a:solidFill>
                  </a:tcPr>
                </a:tc>
                <a:tc>
                  <a:txBody>
                    <a:bodyPr/>
                    <a:lstStyle/>
                    <a:p>
                      <a:pPr algn="ctr"/>
                      <a:r>
                        <a:rPr lang="es-CO" sz="1100" b="0" dirty="0">
                          <a:solidFill>
                            <a:srgbClr val="333333"/>
                          </a:solidFill>
                          <a:latin typeface="Calibri"/>
                        </a:rPr>
                        <a:t>16/06/2025</a:t>
                      </a:r>
                    </a:p>
                  </a:txBody>
                  <a:tcPr>
                    <a:solidFill>
                      <a:srgbClr val="F5F8FC"/>
                    </a:solidFill>
                  </a:tcPr>
                </a:tc>
                <a:tc>
                  <a:txBody>
                    <a:bodyPr/>
                    <a:lstStyle/>
                    <a:p>
                      <a:pPr algn="ctr"/>
                      <a:r>
                        <a:rPr lang="es-CO" sz="1150" b="0" dirty="0">
                          <a:solidFill>
                            <a:srgbClr val="555555"/>
                          </a:solidFill>
                          <a:latin typeface="Calibri"/>
                        </a:rPr>
                        <a:t>—</a:t>
                      </a:r>
                    </a:p>
                  </a:txBody>
                  <a:tcPr>
                    <a:solidFill>
                      <a:srgbClr val="F5F8FC"/>
                    </a:solidFill>
                  </a:tcPr>
                </a:tc>
                <a:tc>
                  <a:txBody>
                    <a:bodyPr/>
                    <a:lstStyle/>
                    <a:p>
                      <a:pPr algn="ctr"/>
                      <a:r>
                        <a:rPr lang="es-CO" sz="1200" b="1" dirty="0">
                          <a:solidFill>
                            <a:srgbClr val="1C4E8A"/>
                          </a:solidFill>
                          <a:latin typeface="Calibri"/>
                        </a:rPr>
                        <a:t>⏳ Pendiente</a:t>
                      </a:r>
                    </a:p>
                  </a:txBody>
                  <a:tcPr>
                    <a:solidFill>
                      <a:srgbClr val="E8EEF7"/>
                    </a:solidFill>
                  </a:tcPr>
                </a:tc>
                <a:tc>
                  <a:txBody>
                    <a:bodyPr/>
                    <a:lstStyle/>
                    <a:p>
                      <a:r>
                        <a:rPr lang="es-CO" sz="1100" b="0" dirty="0">
                          <a:solidFill>
                            <a:srgbClr val="444444"/>
                          </a:solidFill>
                          <a:latin typeface="Calibri"/>
                        </a:rPr>
                        <a:t>Consulta historial, descarga docs., notificaciones</a:t>
                      </a:r>
                    </a:p>
                  </a:txBody>
                  <a:tcPr>
                    <a:solidFill>
                      <a:srgbClr val="F5F8FC"/>
                    </a:solidFill>
                  </a:tcPr>
                </a:tc>
                <a:extLst>
                  <a:ext uri="{0D108BD9-81ED-4DB2-BD59-A6C34878D82A}">
                    <a16:rowId xmlns:a16="http://schemas.microsoft.com/office/drawing/2014/main" val="10006"/>
                  </a:ext>
                </a:extLst>
              </a:tr>
              <a:tr h="490000">
                <a:tc>
                  <a:txBody>
                    <a:bodyPr/>
                    <a:lstStyle/>
                    <a:p>
                      <a:pPr algn="ctr"/>
                      <a:r>
                        <a:rPr lang="es-CO" sz="1150" b="1" dirty="0">
                          <a:solidFill>
                            <a:srgbClr val="003366"/>
                          </a:solidFill>
                          <a:latin typeface="Calibri"/>
                        </a:rPr>
                        <a:t>A-007</a:t>
                      </a:r>
                    </a:p>
                  </a:txBody>
                  <a:tcPr>
                    <a:solidFill>
                      <a:srgbClr val="E3EBF5"/>
                    </a:solidFill>
                  </a:tcPr>
                </a:tc>
                <a:tc>
                  <a:txBody>
                    <a:bodyPr/>
                    <a:lstStyle/>
                    <a:p>
                      <a:r>
                        <a:rPr lang="es-CO" sz="1100" b="0" dirty="0">
                          <a:solidFill>
                            <a:srgbClr val="333333"/>
                          </a:solidFill>
                          <a:latin typeface="Calibri"/>
                        </a:rPr>
                        <a:t>E5 — Dirección</a:t>
                      </a:r>
                    </a:p>
                  </a:txBody>
                  <a:tcPr>
                    <a:solidFill>
                      <a:srgbClr val="E3EBF5"/>
                    </a:solidFill>
                  </a:tcPr>
                </a:tc>
                <a:tc>
                  <a:txBody>
                    <a:bodyPr/>
                    <a:lstStyle/>
                    <a:p>
                      <a:pPr algn="ctr"/>
                      <a:r>
                        <a:rPr lang="es-CO" sz="1150" b="1" dirty="0">
                          <a:solidFill>
                            <a:srgbClr val="1C4E8A"/>
                          </a:solidFill>
                          <a:latin typeface="Calibri"/>
                        </a:rPr>
                        <a:t>U005</a:t>
                      </a:r>
                    </a:p>
                  </a:txBody>
                  <a:tcPr>
                    <a:solidFill>
                      <a:srgbClr val="E3EBF5"/>
                    </a:solidFill>
                  </a:tcPr>
                </a:tc>
                <a:tc>
                  <a:txBody>
                    <a:bodyPr/>
                    <a:lstStyle/>
                    <a:p>
                      <a:r>
                        <a:rPr lang="es-CO" sz="1150" b="1" dirty="0">
                          <a:solidFill>
                            <a:srgbClr val="003366"/>
                          </a:solidFill>
                          <a:latin typeface="Calibri"/>
                        </a:rPr>
                        <a:t>Fuentes Ríos, Marcela</a:t>
                      </a:r>
                    </a:p>
                  </a:txBody>
                  <a:tcPr>
                    <a:solidFill>
                      <a:srgbClr val="E3EBF5"/>
                    </a:solidFill>
                  </a:tcPr>
                </a:tc>
                <a:tc>
                  <a:txBody>
                    <a:bodyPr/>
                    <a:lstStyle/>
                    <a:p>
                      <a:r>
                        <a:rPr lang="es-CO" sz="1100" b="0" dirty="0">
                          <a:solidFill>
                            <a:srgbClr val="444444"/>
                          </a:solidFill>
                          <a:latin typeface="Calibri"/>
                        </a:rPr>
                        <a:t>Vicerrectora Académica</a:t>
                      </a:r>
                    </a:p>
                  </a:txBody>
                  <a:tcPr>
                    <a:solidFill>
                      <a:srgbClr val="E3EBF5"/>
                    </a:solidFill>
                  </a:tcPr>
                </a:tc>
                <a:tc>
                  <a:txBody>
                    <a:bodyPr/>
                    <a:lstStyle/>
                    <a:p>
                      <a:pPr algn="ctr"/>
                      <a:r>
                        <a:rPr lang="es-CO" sz="1100" b="0" dirty="0">
                          <a:solidFill>
                            <a:srgbClr val="333333"/>
                          </a:solidFill>
                          <a:latin typeface="Calibri"/>
                        </a:rPr>
                        <a:t>17/06/2025</a:t>
                      </a:r>
                    </a:p>
                  </a:txBody>
                  <a:tcPr>
                    <a:solidFill>
                      <a:srgbClr val="E3EBF5"/>
                    </a:solidFill>
                  </a:tcPr>
                </a:tc>
                <a:tc>
                  <a:txBody>
                    <a:bodyPr/>
                    <a:lstStyle/>
                    <a:p>
                      <a:pPr algn="ctr"/>
                      <a:r>
                        <a:rPr lang="es-CO" sz="1150" b="0" dirty="0">
                          <a:solidFill>
                            <a:srgbClr val="555555"/>
                          </a:solidFill>
                          <a:latin typeface="Calibri"/>
                        </a:rPr>
                        <a:t>—</a:t>
                      </a:r>
                    </a:p>
                  </a:txBody>
                  <a:tcPr>
                    <a:solidFill>
                      <a:srgbClr val="E3EBF5"/>
                    </a:solidFill>
                  </a:tcPr>
                </a:tc>
                <a:tc>
                  <a:txBody>
                    <a:bodyPr/>
                    <a:lstStyle/>
                    <a:p>
                      <a:pPr algn="ctr"/>
                      <a:r>
                        <a:rPr lang="es-CO" sz="1200" b="1" dirty="0">
                          <a:solidFill>
                            <a:srgbClr val="1C4E8A"/>
                          </a:solidFill>
                          <a:latin typeface="Calibri"/>
                        </a:rPr>
                        <a:t>⏳ Pendiente</a:t>
                      </a:r>
                    </a:p>
                  </a:txBody>
                  <a:tcPr>
                    <a:solidFill>
                      <a:srgbClr val="E8EEF7"/>
                    </a:solidFill>
                  </a:tcPr>
                </a:tc>
                <a:tc>
                  <a:txBody>
                    <a:bodyPr/>
                    <a:lstStyle/>
                    <a:p>
                      <a:r>
                        <a:rPr lang="es-CO" sz="1100" b="0" dirty="0">
                          <a:solidFill>
                            <a:srgbClr val="444444"/>
                          </a:solidFill>
                          <a:latin typeface="Calibri"/>
                        </a:rPr>
                        <a:t>Tableros, indicadores, reportes ejecutivos</a:t>
                      </a:r>
                    </a:p>
                  </a:txBody>
                  <a:tcPr>
                    <a:solidFill>
                      <a:srgbClr val="E3EBF5"/>
                    </a:solidFill>
                  </a:tcPr>
                </a:tc>
                <a:extLst>
                  <a:ext uri="{0D108BD9-81ED-4DB2-BD59-A6C34878D82A}">
                    <a16:rowId xmlns:a16="http://schemas.microsoft.com/office/drawing/2014/main" val="10007"/>
                  </a:ext>
                </a:extLst>
              </a:tr>
              <a:tr h="490000">
                <a:tc>
                  <a:txBody>
                    <a:bodyPr/>
                    <a:lstStyle/>
                    <a:p>
                      <a:pPr algn="ctr"/>
                      <a:r>
                        <a:rPr lang="es-CO" sz="1150" b="1" dirty="0">
                          <a:solidFill>
                            <a:srgbClr val="003366"/>
                          </a:solidFill>
                          <a:latin typeface="Calibri"/>
                        </a:rPr>
                        <a:t>A-008</a:t>
                      </a:r>
                    </a:p>
                  </a:txBody>
                  <a:tcPr>
                    <a:solidFill>
                      <a:srgbClr val="F5F8FC"/>
                    </a:solidFill>
                  </a:tcPr>
                </a:tc>
                <a:tc>
                  <a:txBody>
                    <a:bodyPr/>
                    <a:lstStyle/>
                    <a:p>
                      <a:r>
                        <a:rPr lang="es-CO" sz="1100" b="0" dirty="0">
                          <a:solidFill>
                            <a:srgbClr val="333333"/>
                          </a:solidFill>
                          <a:latin typeface="Calibri"/>
                        </a:rPr>
                        <a:t>E1, E5 — Adm./Dir.</a:t>
                      </a:r>
                    </a:p>
                  </a:txBody>
                  <a:tcPr>
                    <a:solidFill>
                      <a:srgbClr val="F5F8FC"/>
                    </a:solidFill>
                  </a:tcPr>
                </a:tc>
                <a:tc>
                  <a:txBody>
                    <a:bodyPr/>
                    <a:lstStyle/>
                    <a:p>
                      <a:pPr algn="ctr"/>
                      <a:r>
                        <a:rPr lang="es-CO" sz="1150" b="1" dirty="0">
                          <a:solidFill>
                            <a:srgbClr val="1C4E8A"/>
                          </a:solidFill>
                          <a:latin typeface="Calibri"/>
                        </a:rPr>
                        <a:t>U006</a:t>
                      </a:r>
                    </a:p>
                  </a:txBody>
                  <a:tcPr>
                    <a:solidFill>
                      <a:srgbClr val="F5F8FC"/>
                    </a:solidFill>
                  </a:tcPr>
                </a:tc>
                <a:tc>
                  <a:txBody>
                    <a:bodyPr/>
                    <a:lstStyle/>
                    <a:p>
                      <a:r>
                        <a:rPr lang="es-CO" sz="1150" b="1" dirty="0">
                          <a:solidFill>
                            <a:srgbClr val="003366"/>
                          </a:solidFill>
                          <a:latin typeface="Calibri"/>
                        </a:rPr>
                        <a:t>Mora Castillo, Sebastián</a:t>
                      </a:r>
                    </a:p>
                  </a:txBody>
                  <a:tcPr>
                    <a:solidFill>
                      <a:srgbClr val="F5F8FC"/>
                    </a:solidFill>
                  </a:tcPr>
                </a:tc>
                <a:tc>
                  <a:txBody>
                    <a:bodyPr/>
                    <a:lstStyle/>
                    <a:p>
                      <a:r>
                        <a:rPr lang="es-CO" sz="1100" b="0" dirty="0">
                          <a:solidFill>
                            <a:srgbClr val="444444"/>
                          </a:solidFill>
                          <a:latin typeface="Calibri"/>
                        </a:rPr>
                        <a:t>Jefe de Proyecto TI</a:t>
                      </a:r>
                    </a:p>
                  </a:txBody>
                  <a:tcPr>
                    <a:solidFill>
                      <a:srgbClr val="F5F8FC"/>
                    </a:solidFill>
                  </a:tcPr>
                </a:tc>
                <a:tc>
                  <a:txBody>
                    <a:bodyPr/>
                    <a:lstStyle/>
                    <a:p>
                      <a:pPr algn="ctr"/>
                      <a:r>
                        <a:rPr lang="es-CO" sz="1100" b="0" dirty="0">
                          <a:solidFill>
                            <a:srgbClr val="333333"/>
                          </a:solidFill>
                          <a:latin typeface="Calibri"/>
                        </a:rPr>
                        <a:t>18/06/2025</a:t>
                      </a:r>
                    </a:p>
                  </a:txBody>
                  <a:tcPr>
                    <a:solidFill>
                      <a:srgbClr val="F5F8FC"/>
                    </a:solidFill>
                  </a:tcPr>
                </a:tc>
                <a:tc>
                  <a:txBody>
                    <a:bodyPr/>
                    <a:lstStyle/>
                    <a:p>
                      <a:pPr algn="ctr"/>
                      <a:r>
                        <a:rPr lang="es-CO" sz="1150" b="0" dirty="0">
                          <a:solidFill>
                            <a:srgbClr val="555555"/>
                          </a:solidFill>
                          <a:latin typeface="Calibri"/>
                        </a:rPr>
                        <a:t>—</a:t>
                      </a:r>
                    </a:p>
                  </a:txBody>
                  <a:tcPr>
                    <a:solidFill>
                      <a:srgbClr val="F5F8FC"/>
                    </a:solidFill>
                  </a:tcPr>
                </a:tc>
                <a:tc>
                  <a:txBody>
                    <a:bodyPr/>
                    <a:lstStyle/>
                    <a:p>
                      <a:pPr algn="ctr"/>
                      <a:r>
                        <a:rPr lang="es-CO" sz="1200" b="1" dirty="0">
                          <a:solidFill>
                            <a:srgbClr val="1C4E8A"/>
                          </a:solidFill>
                          <a:latin typeface="Calibri"/>
                        </a:rPr>
                        <a:t>⏳ Pendiente</a:t>
                      </a:r>
                    </a:p>
                  </a:txBody>
                  <a:tcPr>
                    <a:solidFill>
                      <a:srgbClr val="E8EEF7"/>
                    </a:solidFill>
                  </a:tcPr>
                </a:tc>
                <a:tc>
                  <a:txBody>
                    <a:bodyPr/>
                    <a:lstStyle/>
                    <a:p>
                      <a:r>
                        <a:rPr lang="es-CO" sz="1100" b="0" dirty="0">
                          <a:solidFill>
                            <a:srgbClr val="444444"/>
                          </a:solidFill>
                          <a:latin typeface="Calibri"/>
                        </a:rPr>
                        <a:t>Config. sistema, roles, parámetros</a:t>
                      </a:r>
                    </a:p>
                  </a:txBody>
                  <a:tcPr>
                    <a:solidFill>
                      <a:srgbClr val="F5F8FC"/>
                    </a:solidFill>
                  </a:tcPr>
                </a:tc>
                <a:extLst>
                  <a:ext uri="{0D108BD9-81ED-4DB2-BD59-A6C34878D82A}">
                    <a16:rowId xmlns:a16="http://schemas.microsoft.com/office/drawing/2014/main" val="10008"/>
                  </a:ext>
                </a:extLst>
              </a:tr>
              <a:tr h="390000">
                <a:tc gridSpan="9">
                  <a:txBody>
                    <a:bodyPr/>
                    <a:lstStyle/>
                    <a:p>
                      <a:r>
                        <a:rPr lang="es-CO" sz="1100" b="1" dirty="0">
                          <a:solidFill>
                            <a:srgbClr val="FFFFFF"/>
                          </a:solidFill>
                          <a:latin typeface="Calibri"/>
                        </a:rPr>
                        <a:t>✔ Validada = Acta firmada por el usuario entrevistado y aprobada por el equipo    ⏳ Pendiente = Entrevista programada; acta aún sin firma de validación</a:t>
                      </a:r>
                    </a:p>
                  </a:txBody>
                  <a:tcPr>
                    <a:solidFill>
                      <a:srgbClr val="1C4E8A"/>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4B1538-5E82-25D6-D234-D43F544E9D94}"/>
              </a:ext>
            </a:extLst>
          </p:cNvPr>
          <p:cNvSpPr>
            <a:spLocks noGrp="1"/>
          </p:cNvSpPr>
          <p:nvPr>
            <p:ph type="title"/>
          </p:nvPr>
        </p:nvSpPr>
        <p:spPr>
          <a:xfrm>
            <a:off x="157716" y="1133189"/>
            <a:ext cx="10515600" cy="338554"/>
          </a:xfrm>
        </p:spPr>
        <p:txBody>
          <a:bodyPr vert="horz" wrap="square" lIns="0" tIns="0" rIns="0" bIns="0" rtlCol="0" anchor="ctr">
            <a:spAutoFit/>
          </a:bodyPr>
          <a:lstStyle/>
          <a:p>
            <a:pPr marL="12700">
              <a:lnSpc>
                <a:spcPct val="100000"/>
              </a:lnSpc>
            </a:pPr>
            <a:r>
              <a:rPr lang="es-CO" sz="2200" b="1" spc="-10" dirty="0">
                <a:solidFill>
                  <a:srgbClr val="003366"/>
                </a:solidFill>
                <a:latin typeface="Calibri"/>
              </a:rPr>
              <a:t>Explicación - Figura 8 – Registro Consolidado</a:t>
            </a:r>
          </a:p>
        </p:txBody>
      </p:sp>
      <p:sp>
        <p:nvSpPr>
          <p:cNvPr id="3" name="Marcador de contenido 2">
            <a:extLst>
              <a:ext uri="{FF2B5EF4-FFF2-40B4-BE49-F238E27FC236}">
                <a16:creationId xmlns:a16="http://schemas.microsoft.com/office/drawing/2014/main" id="{0632C32E-3E8A-BE49-A5D1-95E29BDBD8BC}"/>
              </a:ext>
            </a:extLst>
          </p:cNvPr>
          <p:cNvSpPr>
            <a:spLocks noGrp="1"/>
          </p:cNvSpPr>
          <p:nvPr>
            <p:ph idx="1"/>
          </p:nvPr>
        </p:nvSpPr>
        <p:spPr>
          <a:xfrm>
            <a:off x="838200" y="1825625"/>
            <a:ext cx="10515600" cy="1853240"/>
          </a:xfrm>
        </p:spPr>
        <p:txBody>
          <a:bodyPr>
            <a:normAutofit/>
          </a:bodyPr>
          <a:lstStyle/>
          <a:p>
            <a:pPr marL="0" indent="0">
              <a:buNone/>
            </a:pPr>
            <a:r>
              <a:rPr lang="es-CO" dirty="0"/>
              <a:t>Tabla de control con las </a:t>
            </a:r>
            <a:r>
              <a:rPr lang="es-CO" b="1" dirty="0"/>
              <a:t>8 actas</a:t>
            </a:r>
            <a:r>
              <a:rPr lang="es-CO" dirty="0"/>
              <a:t> del proyecto, clasificadas por escenario y usuario. Columnas: </a:t>
            </a:r>
            <a:r>
              <a:rPr lang="es-CO" dirty="0" err="1"/>
              <a:t>N°</a:t>
            </a:r>
            <a:r>
              <a:rPr lang="es-CO" dirty="0"/>
              <a:t> Acta, Escenario, Código usuario, Nombre, Cargo, Fecha, </a:t>
            </a:r>
            <a:r>
              <a:rPr lang="es-CO" dirty="0" err="1"/>
              <a:t>N°</a:t>
            </a:r>
            <a:r>
              <a:rPr lang="es-CO" dirty="0"/>
              <a:t> Versión, </a:t>
            </a:r>
            <a:r>
              <a:rPr lang="es-CO" b="1" dirty="0"/>
              <a:t>Estado</a:t>
            </a:r>
            <a:r>
              <a:rPr lang="es-CO" dirty="0"/>
              <a:t> (✔ Validada en azul oscuro / ⏳ Pendiente en azul claro) y Aspectos clave documentados</a:t>
            </a:r>
          </a:p>
        </p:txBody>
      </p:sp>
      <p:pic>
        <p:nvPicPr>
          <p:cNvPr id="4" name="Banner">
            <a:extLst>
              <a:ext uri="{FF2B5EF4-FFF2-40B4-BE49-F238E27FC236}">
                <a16:creationId xmlns:a16="http://schemas.microsoft.com/office/drawing/2014/main" id="{31FAB16F-DC5C-920E-3EA2-68962CFF6D9C}"/>
              </a:ext>
            </a:extLst>
          </p:cNvPr>
          <p:cNvPicPr>
            <a:picLocks noChangeAspect="1"/>
          </p:cNvPicPr>
          <p:nvPr/>
        </p:nvPicPr>
        <p:blipFill>
          <a:blip r:embed="rId2"/>
          <a:stretch>
            <a:fillRect/>
          </a:stretch>
        </p:blipFill>
        <p:spPr>
          <a:xfrm>
            <a:off x="0" y="0"/>
            <a:ext cx="5708342" cy="779307"/>
          </a:xfrm>
          <a:prstGeom prst="rect">
            <a:avLst/>
          </a:prstGeom>
        </p:spPr>
      </p:pic>
    </p:spTree>
    <p:extLst>
      <p:ext uri="{BB962C8B-B14F-4D97-AF65-F5344CB8AC3E}">
        <p14:creationId xmlns:p14="http://schemas.microsoft.com/office/powerpoint/2010/main" val="2883034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8 — Acta de Entrevista Validada A-003 | Escenario E2 — Coordinación de Programa</a:t>
            </a:r>
          </a:p>
        </p:txBody>
      </p:sp>
      <p:sp>
        <p:nvSpPr>
          <p:cNvPr id="20" name="FormBG"/>
          <p:cNvSpPr/>
          <p:nvPr/>
        </p:nvSpPr>
        <p:spPr>
          <a:xfrm>
            <a:off x="300000" y="1450000"/>
            <a:ext cx="11600000" cy="4840000"/>
          </a:xfrm>
          <a:prstGeom prst="rect">
            <a:avLst/>
          </a:prstGeom>
          <a:solidFill>
            <a:srgbClr val="F5F8FC"/>
          </a:solidFill>
          <a:ln w="28575">
            <a:solidFill>
              <a:srgbClr val="0033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21"/>
          <p:cNvSpPr/>
          <p:nvPr/>
        </p:nvSpPr>
        <p:spPr>
          <a:xfrm>
            <a:off x="300000" y="1450000"/>
            <a:ext cx="11600000" cy="4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ACTA DE ENTREVISTA — VALIDADA Y FIRMADA</a:t>
            </a:r>
          </a:p>
        </p:txBody>
      </p:sp>
      <p:sp>
        <p:nvSpPr>
          <p:cNvPr id="99" name="Sello"/>
          <p:cNvSpPr/>
          <p:nvPr/>
        </p:nvSpPr>
        <p:spPr>
          <a:xfrm>
            <a:off x="10200000" y="1175000"/>
            <a:ext cx="1600000" cy="700000"/>
          </a:xfrm>
          <a:prstGeom prst="roundRect">
            <a:avLst>
              <a:gd name="adj" fmla="val 25000"/>
            </a:avLst>
          </a:prstGeom>
          <a:solidFill>
            <a:srgbClr val="1C7A2E"/>
          </a:solidFill>
          <a:ln w="38100">
            <a:solidFill>
              <a:srgbClr val="0A4D1A"/>
            </a:solidFill>
          </a:ln>
        </p:spPr>
        <p:txBody>
          <a:bodyPr wrap="square" lIns="45720" tIns="45720" rIns="4572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 VALIDADA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950" b="0" i="0" u="none" strike="noStrike" kern="1200" cap="none" spc="0" normalizeH="0" baseline="0" noProof="0" dirty="0">
                <a:ln>
                  <a:noFill/>
                </a:ln>
                <a:solidFill>
                  <a:srgbClr val="D4FFDD"/>
                </a:solidFill>
                <a:effectLst/>
                <a:uLnTx/>
                <a:uFillTx/>
                <a:latin typeface="Calibri"/>
                <a:ea typeface="+mn-ea"/>
                <a:cs typeface="+mn-cs"/>
              </a:rPr>
              <a:t>v1.1 — 15/06/2025</a:t>
            </a:r>
          </a:p>
        </p:txBody>
      </p:sp>
      <p:sp>
        <p:nvSpPr>
          <p:cNvPr id="30" name="bx30"/>
          <p:cNvSpPr txBox="1"/>
          <p:nvPr/>
        </p:nvSpPr>
        <p:spPr>
          <a:xfrm>
            <a:off x="350000" y="1915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x31"/>
          <p:cNvSpPr txBox="1"/>
          <p:nvPr/>
        </p:nvSpPr>
        <p:spPr>
          <a:xfrm>
            <a:off x="5900000" y="1915000"/>
            <a:ext cx="27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Acta N°:  A-003</a:t>
            </a:r>
          </a:p>
        </p:txBody>
      </p:sp>
      <p:sp>
        <p:nvSpPr>
          <p:cNvPr id="32" name="bx32"/>
          <p:cNvSpPr txBox="1"/>
          <p:nvPr/>
        </p:nvSpPr>
        <p:spPr>
          <a:xfrm>
            <a:off x="8650000" y="1915000"/>
            <a:ext cx="3200000" cy="310000"/>
          </a:xfrm>
          <a:prstGeom prst="rect">
            <a:avLst/>
          </a:prstGeom>
          <a:solidFill>
            <a:srgbClr val="D4FFDD"/>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1C7A2E"/>
                </a:solidFill>
                <a:effectLst/>
                <a:uLnTx/>
                <a:uFillTx/>
                <a:latin typeface="Calibri"/>
                <a:ea typeface="+mn-ea"/>
                <a:cs typeface="+mn-cs"/>
              </a:rPr>
              <a:t>N° Versión:  1.1  |  ISO/IEC 25010</a:t>
            </a:r>
          </a:p>
        </p:txBody>
      </p:sp>
      <p:sp>
        <p:nvSpPr>
          <p:cNvPr id="33" name="bx33"/>
          <p:cNvSpPr txBox="1"/>
          <p:nvPr/>
        </p:nvSpPr>
        <p:spPr>
          <a:xfrm>
            <a:off x="350000" y="2275000"/>
            <a:ext cx="42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Apellidos y Nombre del entrevistado:  Gómez Herrera, Sandra</a:t>
            </a:r>
          </a:p>
        </p:txBody>
      </p:sp>
      <p:sp>
        <p:nvSpPr>
          <p:cNvPr id="34" name="bx34"/>
          <p:cNvSpPr txBox="1"/>
          <p:nvPr/>
        </p:nvSpPr>
        <p:spPr>
          <a:xfrm>
            <a:off x="4600000" y="2275000"/>
            <a:ext cx="37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Cargo:  Coordinadora de Programa — Ing. de Sistemas</a:t>
            </a:r>
          </a:p>
        </p:txBody>
      </p:sp>
      <p:sp>
        <p:nvSpPr>
          <p:cNvPr id="35" name="bx35"/>
          <p:cNvSpPr txBox="1"/>
          <p:nvPr/>
        </p:nvSpPr>
        <p:spPr>
          <a:xfrm>
            <a:off x="8350000" y="2275000"/>
            <a:ext cx="35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Fecha de entrevista:  12 / 06 / 2025</a:t>
            </a:r>
          </a:p>
        </p:txBody>
      </p:sp>
      <p:sp>
        <p:nvSpPr>
          <p:cNvPr id="36" name="bx36"/>
          <p:cNvSpPr txBox="1"/>
          <p:nvPr/>
        </p:nvSpPr>
        <p:spPr>
          <a:xfrm>
            <a:off x="350000" y="2635000"/>
            <a:ext cx="4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Entrevistador:  Ing. Ricardo Torres — Analista de Requisitos</a:t>
            </a:r>
          </a:p>
        </p:txBody>
      </p:sp>
      <p:sp>
        <p:nvSpPr>
          <p:cNvPr id="37" name="bx37"/>
          <p:cNvSpPr txBox="1"/>
          <p:nvPr/>
        </p:nvSpPr>
        <p:spPr>
          <a:xfrm>
            <a:off x="4600000" y="2635000"/>
            <a:ext cx="27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Escenario:  E2 — Coord. Programa</a:t>
            </a:r>
          </a:p>
        </p:txBody>
      </p:sp>
      <p:sp>
        <p:nvSpPr>
          <p:cNvPr id="38" name="bx38"/>
          <p:cNvSpPr txBox="1"/>
          <p:nvPr/>
        </p:nvSpPr>
        <p:spPr>
          <a:xfrm>
            <a:off x="7350000" y="2635000"/>
            <a:ext cx="4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Objetivos abordados:  O2 — Plan estudios,  O3 — Calificaciones,  O4 — Historial / Alertas</a:t>
            </a:r>
          </a:p>
        </p:txBody>
      </p:sp>
      <p:sp>
        <p:nvSpPr>
          <p:cNvPr id="40" name="h40"/>
          <p:cNvSpPr/>
          <p:nvPr/>
        </p:nvSpPr>
        <p:spPr>
          <a:xfrm>
            <a:off x="350000" y="3005000"/>
            <a:ext cx="11450000" cy="355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400" b="1" i="0" u="none" strike="noStrike" kern="1200" cap="none" spc="0" normalizeH="0" baseline="0" noProof="0" dirty="0">
                <a:ln>
                  <a:noFill/>
                </a:ln>
                <a:solidFill>
                  <a:srgbClr val="FFFFFF"/>
                </a:solidFill>
                <a:effectLst/>
                <a:uLnTx/>
                <a:uFillTx/>
                <a:latin typeface="Calibri"/>
                <a:ea typeface="+mn-ea"/>
                <a:cs typeface="+mn-cs"/>
              </a:rPr>
              <a:t>DETALLE — CARACTERÍSTICAS Y ASPECTOS ANOTADOS (clasificados temáticamente)</a:t>
            </a:r>
          </a:p>
        </p:txBody>
      </p:sp>
      <p:sp>
        <p:nvSpPr>
          <p:cNvPr id="50" name="mp50"/>
          <p:cNvSpPr txBox="1"/>
          <p:nvPr/>
        </p:nvSpPr>
        <p:spPr>
          <a:xfrm>
            <a:off x="350000" y="3390504"/>
            <a:ext cx="11450000" cy="2746906"/>
          </a:xfrm>
          <a:prstGeom prst="rect">
            <a:avLst/>
          </a:prstGeom>
          <a:solidFill>
            <a:srgbClr val="FFFFFF"/>
          </a:solidFill>
        </p:spPr>
        <p:txBody>
          <a:bodyPr wrap="square" lIns="91440" tIns="91440" rIns="91440" bIns="9144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Acta N°: </a:t>
            </a:r>
            <a:r>
              <a:rPr kumimoji="0" lang="es-CO" sz="1050" b="0" i="0" u="none" strike="noStrike" kern="1200" cap="none" spc="0" normalizeH="0" baseline="0" noProof="0" dirty="0">
                <a:ln>
                  <a:noFill/>
                </a:ln>
                <a:solidFill>
                  <a:srgbClr val="333333"/>
                </a:solidFill>
                <a:effectLst/>
                <a:uLnTx/>
                <a:uFillTx/>
                <a:latin typeface="Calibri"/>
                <a:ea typeface="+mn-ea"/>
                <a:cs typeface="+mn-cs"/>
              </a:rPr>
              <a:t>A-003   |   N° Entrevista: 1   |   Ficha aplicada: FE-003   |   Versión: 1.1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1C4E8A"/>
                </a:solidFill>
                <a:effectLst/>
                <a:uLnTx/>
                <a:uFillTx/>
                <a:latin typeface="Calibri"/>
                <a:ea typeface="+mn-ea"/>
                <a:cs typeface="+mn-cs"/>
              </a:rPr>
              <a:t>Aspecto 1 — Gestión de asignación docente: </a:t>
            </a:r>
            <a:r>
              <a:rPr kumimoji="0" lang="es-CO" sz="1050" b="0" i="0" u="none" strike="noStrike" kern="1200" cap="none" spc="0" normalizeH="0" baseline="0" noProof="0" dirty="0">
                <a:ln>
                  <a:noFill/>
                </a:ln>
                <a:solidFill>
                  <a:srgbClr val="333333"/>
                </a:solidFill>
                <a:effectLst/>
                <a:uLnTx/>
                <a:uFillTx/>
                <a:latin typeface="Calibri"/>
                <a:ea typeface="+mn-ea"/>
                <a:cs typeface="+mn-cs"/>
              </a:rPr>
              <a:t>La coordinadora indica que actualmente la asignación de docentes a grupos se realiza mediante correo electrónico y planillas físicas al inicio de cada periodo. El proceso involucra validación manual de disponibilidad horaria y carga académica. Se presentan inconsistencias cuando un docente es asignado a dos grupos en el mismo bloque horario sin que el sistema lo detecte.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1C4E8A"/>
                </a:solidFill>
                <a:effectLst/>
                <a:uLnTx/>
                <a:uFillTx/>
                <a:latin typeface="Calibri"/>
                <a:ea typeface="+mn-ea"/>
                <a:cs typeface="+mn-cs"/>
              </a:rPr>
              <a:t>Aspecto 2 — Seguimiento académico por cohorte: </a:t>
            </a:r>
            <a:r>
              <a:rPr kumimoji="0" lang="es-CO" sz="1050" b="0" i="0" u="none" strike="noStrike" kern="1200" cap="none" spc="0" normalizeH="0" baseline="0" noProof="0" dirty="0">
                <a:ln>
                  <a:noFill/>
                </a:ln>
                <a:solidFill>
                  <a:srgbClr val="333333"/>
                </a:solidFill>
                <a:effectLst/>
                <a:uLnTx/>
                <a:uFillTx/>
                <a:latin typeface="Calibri"/>
                <a:ea typeface="+mn-ea"/>
                <a:cs typeface="+mn-cs"/>
              </a:rPr>
              <a:t>El seguimiento del avance de los estudiantes por cohorte se realiza extrayendo datos del sistema actual en formato CSV y procesándolos manualmente en hojas de cálculo. El tiempo de elaboración de un reporte de cohorte es de aproximadamente 4 horas. La coordinadora requiere un tablero actualizado en tiempo real que permita identificar estudiantes en riesgo de deserción.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1C4E8A"/>
                </a:solidFill>
                <a:effectLst/>
                <a:uLnTx/>
                <a:uFillTx/>
                <a:latin typeface="Calibri"/>
                <a:ea typeface="+mn-ea"/>
                <a:cs typeface="+mn-cs"/>
              </a:rPr>
              <a:t>Aspecto 3 — Alertas académicas y reportes por sede: </a:t>
            </a:r>
            <a:r>
              <a:rPr kumimoji="0" lang="es-CO" sz="1050" b="0" i="0" u="none" strike="noStrike" kern="1200" cap="none" spc="0" normalizeH="0" baseline="0" noProof="0" dirty="0">
                <a:ln>
                  <a:noFill/>
                </a:ln>
                <a:solidFill>
                  <a:srgbClr val="333333"/>
                </a:solidFill>
                <a:effectLst/>
                <a:uLnTx/>
                <a:uFillTx/>
                <a:latin typeface="Calibri"/>
                <a:ea typeface="+mn-ea"/>
                <a:cs typeface="+mn-cs"/>
              </a:rPr>
              <a:t>Actualmente no existe un mecanismo automático de alerta cuando un estudiante reprueba tres o más asignaturas en un mismo periodo. Los reportes por sede se consolidan manualmente cada mes con información de diferentes fuentes. Se requiere filtro por programa, sede y periodo lectivo con exportación a PDF y Excel.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1C4E8A"/>
                </a:solidFill>
                <a:effectLst/>
                <a:uLnTx/>
                <a:uFillTx/>
                <a:latin typeface="Calibri"/>
                <a:ea typeface="+mn-ea"/>
                <a:cs typeface="+mn-cs"/>
              </a:rPr>
              <a:t>Aspecto 4 — Grado de satisfacción mínimamente aceptable (estimado por la usuaria): </a:t>
            </a:r>
            <a:r>
              <a:rPr kumimoji="0" lang="es-CO" sz="1050" b="0" i="0" u="none" strike="noStrike" kern="1200" cap="none" spc="0" normalizeH="0" baseline="0" noProof="0" dirty="0">
                <a:ln>
                  <a:noFill/>
                </a:ln>
                <a:solidFill>
                  <a:srgbClr val="333333"/>
                </a:solidFill>
                <a:effectLst/>
                <a:uLnTx/>
                <a:uFillTx/>
                <a:latin typeface="Calibri"/>
                <a:ea typeface="+mn-ea"/>
                <a:cs typeface="+mn-cs"/>
              </a:rPr>
              <a:t>Automatización del 90% de la asignación docente con validación de cruces horarios, generación de reportes de cohorte en tiempo real y sistema de alertas académicas con notificación automática al estudiante y al coordinador.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CO"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C0392B"/>
                </a:solidFill>
                <a:effectLst/>
                <a:uLnTx/>
                <a:uFillTx/>
                <a:latin typeface="Calibri"/>
                <a:ea typeface="+mn-ea"/>
                <a:cs typeface="+mn-cs"/>
              </a:rPr>
              <a:t>Corrección incorporada en v1.1: </a:t>
            </a:r>
            <a:r>
              <a:rPr kumimoji="0" lang="es-CO" sz="1050" b="0" i="0" u="none" strike="noStrike" kern="1200" cap="none" spc="0" normalizeH="0" baseline="0" noProof="0" dirty="0">
                <a:ln>
                  <a:noFill/>
                </a:ln>
                <a:solidFill>
                  <a:srgbClr val="333333"/>
                </a:solidFill>
                <a:effectLst/>
                <a:uLnTx/>
                <a:uFillTx/>
                <a:latin typeface="Calibri"/>
                <a:ea typeface="+mn-ea"/>
                <a:cs typeface="+mn-cs"/>
              </a:rPr>
              <a:t>La usuaria aclaró que los reportes deben discriminar por sede (sede principal y sede norte) y no solo por programa, tal como quedó redactado en la versión 1.0. El equipo ajustó el Aspecto 3 según la indicación.</a:t>
            </a:r>
          </a:p>
        </p:txBody>
      </p:sp>
      <p:sp>
        <p:nvSpPr>
          <p:cNvPr id="60" name="h60"/>
          <p:cNvSpPr/>
          <p:nvPr/>
        </p:nvSpPr>
        <p:spPr>
          <a:xfrm>
            <a:off x="300000" y="6060000"/>
            <a:ext cx="11600000" cy="3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FIRMAS DE VALIDACIÓN</a:t>
            </a:r>
          </a:p>
        </p:txBody>
      </p:sp>
      <p:sp>
        <p:nvSpPr>
          <p:cNvPr id="61" name="bx61"/>
          <p:cNvSpPr txBox="1"/>
          <p:nvPr/>
        </p:nvSpPr>
        <p:spPr>
          <a:xfrm>
            <a:off x="350000" y="6420000"/>
            <a:ext cx="5600000" cy="36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003366"/>
                </a:solidFill>
                <a:effectLst/>
                <a:uLnTx/>
                <a:uFillTx/>
                <a:latin typeface="Calibri"/>
                <a:ea typeface="+mn-ea"/>
                <a:cs typeface="+mn-cs"/>
              </a:rPr>
              <a:t>Entrevistador:  Ing. Ricardo Torres Cano  ___________________________</a:t>
            </a:r>
          </a:p>
        </p:txBody>
      </p:sp>
      <p:sp>
        <p:nvSpPr>
          <p:cNvPr id="62" name="bx62"/>
          <p:cNvSpPr txBox="1"/>
          <p:nvPr/>
        </p:nvSpPr>
        <p:spPr>
          <a:xfrm>
            <a:off x="6050000" y="6420000"/>
            <a:ext cx="5750000" cy="360000"/>
          </a:xfrm>
          <a:prstGeom prst="rect">
            <a:avLst/>
          </a:prstGeom>
          <a:solidFill>
            <a:srgbClr val="D4FFDD"/>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1C7A2E"/>
                </a:solidFill>
                <a:effectLst/>
                <a:uLnTx/>
                <a:uFillTx/>
                <a:latin typeface="Calibri"/>
                <a:ea typeface="+mn-ea"/>
                <a:cs typeface="+mn-cs"/>
              </a:rPr>
              <a:t>Entrevistado:  Sandra Gómez Herrera  ___________________________   Fecha validación: 15/06/2025</a:t>
            </a:r>
          </a:p>
        </p:txBody>
      </p:sp>
      <p:sp>
        <p:nvSpPr>
          <p:cNvPr id="98" name="h98"/>
          <p:cNvSpPr/>
          <p:nvPr/>
        </p:nvSpPr>
        <p:spPr>
          <a:xfrm>
            <a:off x="300000" y="6340000"/>
            <a:ext cx="11600000" cy="350000"/>
          </a:xfrm>
          <a:prstGeom prst="rect">
            <a:avLst/>
          </a:prstGeom>
          <a:solidFill>
            <a:srgbClr val="E3EBF5"/>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1C4E8A"/>
                </a:solidFill>
                <a:effectLst/>
                <a:uLnTx/>
                <a:uFillTx/>
                <a:latin typeface="Calibri"/>
                <a:ea typeface="+mn-ea"/>
                <a:cs typeface="+mn-cs"/>
              </a:rPr>
              <a:t>HISTORIAL DE VERSIONES:  v1.0 — 12/06/2025 (borrador inicial)   |   v1.1 — 15/06/2025 (corrección Aspecto 3: aclaración sobre acceso a reportes por sede)   |   VERSIÓN VIGENTE: 1.1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47AEC-5509-FD51-BF19-269A1A6294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6ACAAB-1102-41E7-FD80-DEFEF224D0AE}"/>
              </a:ext>
            </a:extLst>
          </p:cNvPr>
          <p:cNvSpPr>
            <a:spLocks noGrp="1"/>
          </p:cNvSpPr>
          <p:nvPr>
            <p:ph type="title"/>
          </p:nvPr>
        </p:nvSpPr>
        <p:spPr>
          <a:xfrm>
            <a:off x="157716" y="1133189"/>
            <a:ext cx="10515600" cy="338554"/>
          </a:xfrm>
        </p:spPr>
        <p:txBody>
          <a:bodyPr vert="horz" wrap="square" lIns="0" tIns="0" rIns="0" bIns="0" rtlCol="0" anchor="ctr">
            <a:spAutoFit/>
          </a:bodyPr>
          <a:lstStyle/>
          <a:p>
            <a:pPr marL="12700">
              <a:lnSpc>
                <a:spcPct val="100000"/>
              </a:lnSpc>
            </a:pPr>
            <a:r>
              <a:rPr lang="es-CO" sz="2200" b="1" spc="-10" dirty="0">
                <a:solidFill>
                  <a:srgbClr val="003366"/>
                </a:solidFill>
                <a:latin typeface="Calibri"/>
              </a:rPr>
              <a:t>Explicación - Figura 8  – Acta Validada A-003 | Continuación…</a:t>
            </a:r>
          </a:p>
        </p:txBody>
      </p:sp>
      <p:sp>
        <p:nvSpPr>
          <p:cNvPr id="3" name="Marcador de contenido 2">
            <a:extLst>
              <a:ext uri="{FF2B5EF4-FFF2-40B4-BE49-F238E27FC236}">
                <a16:creationId xmlns:a16="http://schemas.microsoft.com/office/drawing/2014/main" id="{5F875A43-B860-57E7-5934-4A6D9D5CB2CB}"/>
              </a:ext>
            </a:extLst>
          </p:cNvPr>
          <p:cNvSpPr>
            <a:spLocks noGrp="1"/>
          </p:cNvSpPr>
          <p:nvPr>
            <p:ph idx="1"/>
          </p:nvPr>
        </p:nvSpPr>
        <p:spPr>
          <a:xfrm>
            <a:off x="838200" y="1825625"/>
            <a:ext cx="10515600" cy="1853240"/>
          </a:xfrm>
        </p:spPr>
        <p:txBody>
          <a:bodyPr>
            <a:normAutofit fontScale="92500" lnSpcReduction="10000"/>
          </a:bodyPr>
          <a:lstStyle/>
          <a:p>
            <a:pPr marL="0" indent="0">
              <a:buNone/>
            </a:pPr>
            <a:r>
              <a:rPr lang="es-CO" dirty="0"/>
              <a:t>Acta completa diligenciada (Escenario E2, Coordinadora de Programa). Incluye: </a:t>
            </a:r>
            <a:r>
              <a:rPr lang="es-CO" b="1" dirty="0"/>
              <a:t>sello verde ✔ VALIDADA v1.1</a:t>
            </a:r>
            <a:r>
              <a:rPr lang="es-CO" dirty="0"/>
              <a:t>, campo de versión con referencia ISO/IEC 25010, 4 aspectos clasificados temáticamente, </a:t>
            </a:r>
            <a:r>
              <a:rPr lang="es-CO" b="1" dirty="0"/>
              <a:t>corrección en rojo</a:t>
            </a:r>
            <a:r>
              <a:rPr lang="es-CO" dirty="0"/>
              <a:t> incorporada en v1.1 (</a:t>
            </a:r>
            <a:r>
              <a:rPr lang="es-CO" i="1" dirty="0" err="1"/>
              <a:t>member</a:t>
            </a:r>
            <a:r>
              <a:rPr lang="es-CO" i="1" dirty="0"/>
              <a:t> </a:t>
            </a:r>
            <a:r>
              <a:rPr lang="es-CO" i="1" dirty="0" err="1"/>
              <a:t>checking</a:t>
            </a:r>
            <a:r>
              <a:rPr lang="es-CO" dirty="0"/>
              <a:t>), </a:t>
            </a:r>
            <a:r>
              <a:rPr lang="es-CO" b="1" dirty="0"/>
              <a:t>historial de versiones</a:t>
            </a:r>
            <a:r>
              <a:rPr lang="es-CO" dirty="0"/>
              <a:t> (v1.0 → v1.1 con descripción del cambio) y bloque de firmas con fecha de validación</a:t>
            </a:r>
          </a:p>
        </p:txBody>
      </p:sp>
      <p:pic>
        <p:nvPicPr>
          <p:cNvPr id="4" name="Banner">
            <a:extLst>
              <a:ext uri="{FF2B5EF4-FFF2-40B4-BE49-F238E27FC236}">
                <a16:creationId xmlns:a16="http://schemas.microsoft.com/office/drawing/2014/main" id="{83F2D1B9-8B99-13FF-7A55-CA60158D32C3}"/>
              </a:ext>
            </a:extLst>
          </p:cNvPr>
          <p:cNvPicPr>
            <a:picLocks noChangeAspect="1"/>
          </p:cNvPicPr>
          <p:nvPr/>
        </p:nvPicPr>
        <p:blipFill>
          <a:blip r:embed="rId2"/>
          <a:stretch>
            <a:fillRect/>
          </a:stretch>
        </p:blipFill>
        <p:spPr>
          <a:xfrm>
            <a:off x="0" y="0"/>
            <a:ext cx="5708342" cy="779307"/>
          </a:xfrm>
          <a:prstGeom prst="rect">
            <a:avLst/>
          </a:prstGeom>
        </p:spPr>
      </p:pic>
      <p:sp>
        <p:nvSpPr>
          <p:cNvPr id="6" name="CuadroTexto 5">
            <a:extLst>
              <a:ext uri="{FF2B5EF4-FFF2-40B4-BE49-F238E27FC236}">
                <a16:creationId xmlns:a16="http://schemas.microsoft.com/office/drawing/2014/main" id="{2FA7016F-36F6-42BC-3C0E-628B6C591D65}"/>
              </a:ext>
            </a:extLst>
          </p:cNvPr>
          <p:cNvSpPr txBox="1"/>
          <p:nvPr/>
        </p:nvSpPr>
        <p:spPr>
          <a:xfrm>
            <a:off x="838199" y="4032747"/>
            <a:ext cx="10336619" cy="1262267"/>
          </a:xfrm>
          <a:prstGeom prst="rect">
            <a:avLst/>
          </a:prstGeom>
        </p:spPr>
        <p:txBody>
          <a:bodyPr vert="horz" lIns="91440" tIns="45720" rIns="91440" bIns="45720" rtlCol="0">
            <a:normAutofit/>
          </a:bodyPr>
          <a:lstStyle>
            <a:lvl1pPr indent="0">
              <a:lnSpc>
                <a:spcPct val="90000"/>
              </a:lnSpc>
              <a:spcBef>
                <a:spcPts val="100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s-CO" sz="2400" dirty="0"/>
              <a:t>Estos instrumentos son el sello de validación (que garantiza la autenticidad del conocimiento capturado) y el historial de versiones (que operacionaliza el control de cambios exigido por el atributo de completitud verificable del ISO/IEC 25010).</a:t>
            </a:r>
          </a:p>
        </p:txBody>
      </p:sp>
    </p:spTree>
    <p:extLst>
      <p:ext uri="{BB962C8B-B14F-4D97-AF65-F5344CB8AC3E}">
        <p14:creationId xmlns:p14="http://schemas.microsoft.com/office/powerpoint/2010/main" val="1957488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1390D19-83BC-91B1-B395-3EAB2F71F9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637EEF-F0A0-B1E0-D870-F14F3B82E1FB}"/>
              </a:ext>
            </a:extLst>
          </p:cNvPr>
          <p:cNvSpPr txBox="1"/>
          <p:nvPr/>
        </p:nvSpPr>
        <p:spPr>
          <a:xfrm>
            <a:off x="218734" y="3166762"/>
            <a:ext cx="10967131" cy="200054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a:t>
            </a:r>
            <a:r>
              <a:rPr lang="es-CO" sz="3200" dirty="0">
                <a:solidFill>
                  <a:prstClr val="white"/>
                </a:solidFill>
                <a:latin typeface="Century Gothic" panose="020B0502020202020204" pitchFamily="34" charset="0"/>
              </a:rPr>
              <a:t>6</a:t>
            </a:r>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 — Análisis y agrupación de características por funcionalidad (Elicitación)</a:t>
            </a: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018033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6 — Análisis, Agrupación y Caracterización de Escenarios (Elicitación)</a:t>
            </a:r>
          </a:p>
        </p:txBody>
      </p:sp>
      <p:sp>
        <p:nvSpPr>
          <p:cNvPr id="7" name="Content"/>
          <p:cNvSpPr/>
          <p:nvPr/>
        </p:nvSpPr>
        <p:spPr>
          <a:xfrm>
            <a:off x="421004" y="1600000"/>
            <a:ext cx="11210866" cy="3482363"/>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El equipo técnico realiza un rastreo sistemático de todas las características documentadas, agrupándolas por funcionalidad y escenario. Este análisis colectivo constituye una aproximación temprana a la modularidad y permite identificar solapamientos, contradicciones o vacíos en el conocimiento capturado.</a:t>
            </a: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Análisis de afinidad (</a:t>
            </a:r>
            <a:r>
              <a:rPr lang="es-CO" sz="1400" i="1" dirty="0">
                <a:solidFill>
                  <a:srgbClr val="333333"/>
                </a:solidFill>
                <a:latin typeface="Calibri"/>
              </a:rPr>
              <a:t>affinity</a:t>
            </a:r>
            <a:r>
              <a:rPr lang="es-CO" sz="1400" dirty="0">
                <a:solidFill>
                  <a:srgbClr val="333333"/>
                </a:solidFill>
                <a:latin typeface="Calibri"/>
              </a:rPr>
              <a:t> </a:t>
            </a:r>
            <a:r>
              <a:rPr lang="es-CO" sz="1400" i="1" dirty="0" err="1">
                <a:solidFill>
                  <a:srgbClr val="333333"/>
                </a:solidFill>
                <a:latin typeface="Calibri"/>
              </a:rPr>
              <a:t>mapping</a:t>
            </a:r>
            <a:r>
              <a:rPr lang="es-CO" sz="1400" dirty="0">
                <a:solidFill>
                  <a:srgbClr val="333333"/>
                </a:solidFill>
                <a:latin typeface="Calibri"/>
              </a:rPr>
              <a:t>).</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Técnicas de agrupación funcional y priorización (MoSCoW, Kano).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Negociación de alcance con responsable delegado.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Revisiones técnicas del equipo (</a:t>
            </a:r>
            <a:r>
              <a:rPr lang="es-CO" sz="1400" i="1" dirty="0">
                <a:solidFill>
                  <a:srgbClr val="333333"/>
                </a:solidFill>
                <a:latin typeface="Calibri"/>
              </a:rPr>
              <a:t>technical</a:t>
            </a:r>
            <a:r>
              <a:rPr lang="es-CO" sz="1400" dirty="0">
                <a:solidFill>
                  <a:srgbClr val="333333"/>
                </a:solidFill>
                <a:latin typeface="Calibri"/>
              </a:rPr>
              <a:t> </a:t>
            </a:r>
            <a:r>
              <a:rPr lang="es-CO" sz="1400" i="1" dirty="0">
                <a:solidFill>
                  <a:srgbClr val="333333"/>
                </a:solidFill>
                <a:latin typeface="Calibri"/>
              </a:rPr>
              <a:t>peer</a:t>
            </a:r>
            <a:r>
              <a:rPr lang="es-CO" sz="1400" dirty="0">
                <a:solidFill>
                  <a:srgbClr val="333333"/>
                </a:solidFill>
                <a:latin typeface="Calibri"/>
              </a:rPr>
              <a:t> </a:t>
            </a:r>
            <a:r>
              <a:rPr lang="es-CO" sz="1400" i="1" dirty="0">
                <a:solidFill>
                  <a:srgbClr val="333333"/>
                </a:solidFill>
                <a:latin typeface="Calibri"/>
              </a:rPr>
              <a:t>review</a:t>
            </a:r>
            <a:r>
              <a:rPr lang="es-CO" sz="1400" dirty="0">
                <a:solidFill>
                  <a:srgbClr val="333333"/>
                </a:solidFill>
                <a:latin typeface="Calibri"/>
              </a:rPr>
              <a:t>).</a:t>
            </a:r>
          </a:p>
          <a:p>
            <a:pPr marL="0" lvl="0" indent="0">
              <a:lnSpc>
                <a:spcPct val="107000"/>
              </a:lnSpc>
              <a:spcAft>
                <a:spcPts val="200"/>
              </a:spcAft>
              <a:buNone/>
            </a:pPr>
            <a:r>
              <a:rPr lang="es-CO" sz="1500" b="1" dirty="0">
                <a:solidFill>
                  <a:srgbClr val="003366"/>
                </a:solidFill>
                <a:latin typeface="Calibri"/>
              </a:rPr>
              <a:t>Artefacto/entregable:</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Ficha de caracterización de escenarios (con sub-agrupaciones por temas funcionales, detalle de necesidades del usuario y estimación del grado de satisfacción mínimamente aceptable). (Figura 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9 — Ficha de Caracterización | Escenario E2 — Coordinación de Programa</a:t>
            </a:r>
          </a:p>
        </p:txBody>
      </p:sp>
      <p:sp>
        <p:nvSpPr>
          <p:cNvPr id="20" name="FormBG"/>
          <p:cNvSpPr/>
          <p:nvPr/>
        </p:nvSpPr>
        <p:spPr>
          <a:xfrm>
            <a:off x="300000" y="1450000"/>
            <a:ext cx="11600000" cy="5000000"/>
          </a:xfrm>
          <a:prstGeom prst="rect">
            <a:avLst/>
          </a:prstGeom>
          <a:solidFill>
            <a:srgbClr val="F5F8FC"/>
          </a:solidFill>
          <a:ln w="28575">
            <a:solidFill>
              <a:srgbClr val="00336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21"/>
          <p:cNvSpPr/>
          <p:nvPr/>
        </p:nvSpPr>
        <p:spPr>
          <a:xfrm>
            <a:off x="300000" y="1450000"/>
            <a:ext cx="11600000" cy="4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50" b="1" i="0" u="none" strike="noStrike" kern="1200" cap="none" spc="0" normalizeH="0" baseline="0" noProof="0" dirty="0">
                <a:ln>
                  <a:noFill/>
                </a:ln>
                <a:solidFill>
                  <a:srgbClr val="FFFFFF"/>
                </a:solidFill>
                <a:effectLst/>
                <a:uLnTx/>
                <a:uFillTx/>
                <a:latin typeface="Calibri"/>
                <a:ea typeface="+mn-ea"/>
                <a:cs typeface="+mn-cs"/>
              </a:rPr>
              <a:t>FICHA DE CARACTERIZACIÓN DE ESCENARIOS</a:t>
            </a:r>
          </a:p>
        </p:txBody>
      </p:sp>
      <p:sp>
        <p:nvSpPr>
          <p:cNvPr id="30" name="b30"/>
          <p:cNvSpPr txBox="1"/>
          <p:nvPr/>
        </p:nvSpPr>
        <p:spPr>
          <a:xfrm>
            <a:off x="350000" y="1910000"/>
            <a:ext cx="5500000" cy="26161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31"/>
          <p:cNvSpPr txBox="1"/>
          <p:nvPr/>
        </p:nvSpPr>
        <p:spPr>
          <a:xfrm>
            <a:off x="5900000" y="1910000"/>
            <a:ext cx="2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Ficha N°:  FC-002</a:t>
            </a:r>
          </a:p>
        </p:txBody>
      </p:sp>
      <p:sp>
        <p:nvSpPr>
          <p:cNvPr id="32" name="b32"/>
          <p:cNvSpPr txBox="1"/>
          <p:nvPr/>
        </p:nvSpPr>
        <p:spPr>
          <a:xfrm>
            <a:off x="8450000" y="1910000"/>
            <a:ext cx="34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N° Versión:  1.1  |  Fecha: 20/06/2025</a:t>
            </a:r>
          </a:p>
        </p:txBody>
      </p:sp>
      <p:sp>
        <p:nvSpPr>
          <p:cNvPr id="33" name="b33"/>
          <p:cNvSpPr txBox="1"/>
          <p:nvPr/>
        </p:nvSpPr>
        <p:spPr>
          <a:xfrm>
            <a:off x="350000" y="2270000"/>
            <a:ext cx="40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Escenario de despliegue:  E2 — Coordinación de Programa</a:t>
            </a:r>
          </a:p>
        </p:txBody>
      </p:sp>
      <p:sp>
        <p:nvSpPr>
          <p:cNvPr id="34" name="b34"/>
          <p:cNvSpPr txBox="1"/>
          <p:nvPr/>
        </p:nvSpPr>
        <p:spPr>
          <a:xfrm>
            <a:off x="4400000" y="2270000"/>
            <a:ext cx="35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Responsable de elaboración:  Ing. Paola Méndez</a:t>
            </a:r>
          </a:p>
        </p:txBody>
      </p:sp>
      <p:sp>
        <p:nvSpPr>
          <p:cNvPr id="35" name="b35"/>
          <p:cNvSpPr txBox="1"/>
          <p:nvPr/>
        </p:nvSpPr>
        <p:spPr>
          <a:xfrm>
            <a:off x="7950000" y="2270000"/>
            <a:ext cx="39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Actas de origen:  A-002 (v1.0), A-003 (v1.1)</a:t>
            </a:r>
          </a:p>
        </p:txBody>
      </p:sp>
      <p:sp>
        <p:nvSpPr>
          <p:cNvPr id="36" name="b36"/>
          <p:cNvSpPr txBox="1"/>
          <p:nvPr/>
        </p:nvSpPr>
        <p:spPr>
          <a:xfrm>
            <a:off x="350000" y="2630000"/>
            <a:ext cx="5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Técnica de agrupación:  Análisis de afinidad + priorización MoSCoW</a:t>
            </a:r>
          </a:p>
        </p:txBody>
      </p:sp>
      <p:sp>
        <p:nvSpPr>
          <p:cNvPr id="37" name="b37"/>
          <p:cNvSpPr txBox="1"/>
          <p:nvPr/>
        </p:nvSpPr>
        <p:spPr>
          <a:xfrm>
            <a:off x="5900000" y="2630000"/>
            <a:ext cx="26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Revisión técnica:  Equipo completo</a:t>
            </a:r>
          </a:p>
        </p:txBody>
      </p:sp>
      <p:sp>
        <p:nvSpPr>
          <p:cNvPr id="38" name="b38"/>
          <p:cNvSpPr txBox="1"/>
          <p:nvPr/>
        </p:nvSpPr>
        <p:spPr>
          <a:xfrm>
            <a:off x="8550000" y="2630000"/>
            <a:ext cx="33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Negociación alcance:  Ing. Carolina Ríos (resp. delegado)</a:t>
            </a:r>
          </a:p>
        </p:txBody>
      </p:sp>
      <p:sp>
        <p:nvSpPr>
          <p:cNvPr id="40" name="h40"/>
          <p:cNvSpPr/>
          <p:nvPr/>
        </p:nvSpPr>
        <p:spPr>
          <a:xfrm>
            <a:off x="350000" y="2995000"/>
            <a:ext cx="135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Agrupación / Código</a:t>
            </a:r>
          </a:p>
        </p:txBody>
      </p:sp>
      <p:sp>
        <p:nvSpPr>
          <p:cNvPr id="41" name="h41"/>
          <p:cNvSpPr/>
          <p:nvPr/>
        </p:nvSpPr>
        <p:spPr>
          <a:xfrm>
            <a:off x="1750000" y="2995000"/>
            <a:ext cx="405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Necesidad del usuario</a:t>
            </a:r>
          </a:p>
        </p:txBody>
      </p:sp>
      <p:sp>
        <p:nvSpPr>
          <p:cNvPr id="42" name="h42"/>
          <p:cNvSpPr/>
          <p:nvPr/>
        </p:nvSpPr>
        <p:spPr>
          <a:xfrm>
            <a:off x="5900000" y="2995000"/>
            <a:ext cx="155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Prioridad MoSCoW</a:t>
            </a:r>
          </a:p>
        </p:txBody>
      </p:sp>
      <p:sp>
        <p:nvSpPr>
          <p:cNvPr id="43" name="h43"/>
          <p:cNvSpPr/>
          <p:nvPr/>
        </p:nvSpPr>
        <p:spPr>
          <a:xfrm>
            <a:off x="7550000" y="2995000"/>
            <a:ext cx="360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Observación técnica</a:t>
            </a:r>
          </a:p>
        </p:txBody>
      </p:sp>
      <p:sp>
        <p:nvSpPr>
          <p:cNvPr id="44" name="h44"/>
          <p:cNvSpPr/>
          <p:nvPr/>
        </p:nvSpPr>
        <p:spPr>
          <a:xfrm>
            <a:off x="11200000" y="2995000"/>
            <a:ext cx="70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Actas</a:t>
            </a:r>
          </a:p>
        </p:txBody>
      </p:sp>
      <p:sp>
        <p:nvSpPr>
          <p:cNvPr id="200" name="h200"/>
          <p:cNvSpPr/>
          <p:nvPr/>
        </p:nvSpPr>
        <p:spPr>
          <a:xfrm>
            <a:off x="350000" y="3070000"/>
            <a:ext cx="11450000" cy="35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TEMA FUNCIONAL:  ASIGNACIÓN DOCENTE</a:t>
            </a:r>
          </a:p>
        </p:txBody>
      </p:sp>
      <p:sp>
        <p:nvSpPr>
          <p:cNvPr id="300" name="b300"/>
          <p:cNvSpPr txBox="1"/>
          <p:nvPr/>
        </p:nvSpPr>
        <p:spPr>
          <a:xfrm>
            <a:off x="350000" y="3450000"/>
            <a:ext cx="13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F2.1 — Registro de carga académica</a:t>
            </a:r>
          </a:p>
        </p:txBody>
      </p:sp>
      <p:sp>
        <p:nvSpPr>
          <p:cNvPr id="301" name="b301"/>
          <p:cNvSpPr txBox="1"/>
          <p:nvPr/>
        </p:nvSpPr>
        <p:spPr>
          <a:xfrm>
            <a:off x="1750000" y="3450000"/>
            <a:ext cx="40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Registrar la asignación de cada docente por grupo, materia y bloque horario con validación automática de cruces.</a:t>
            </a:r>
          </a:p>
        </p:txBody>
      </p:sp>
      <p:sp>
        <p:nvSpPr>
          <p:cNvPr id="302" name="badge302"/>
          <p:cNvSpPr/>
          <p:nvPr/>
        </p:nvSpPr>
        <p:spPr>
          <a:xfrm>
            <a:off x="5900000" y="3615000"/>
            <a:ext cx="1550000" cy="320000"/>
          </a:xfrm>
          <a:prstGeom prst="roundRect">
            <a:avLst>
              <a:gd name="adj" fmla="val 30000"/>
            </a:avLst>
          </a:prstGeom>
          <a:solidFill>
            <a:srgbClr val="C0392B"/>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Must Have</a:t>
            </a:r>
          </a:p>
        </p:txBody>
      </p:sp>
      <p:sp>
        <p:nvSpPr>
          <p:cNvPr id="303" name="b303"/>
          <p:cNvSpPr txBox="1"/>
          <p:nvPr/>
        </p:nvSpPr>
        <p:spPr>
          <a:xfrm>
            <a:off x="7550000" y="3450000"/>
            <a:ext cx="36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Se requiere módulo de restricciones horarias. Detectar cruce de horario en tiempo real.</a:t>
            </a:r>
          </a:p>
        </p:txBody>
      </p:sp>
      <p:sp>
        <p:nvSpPr>
          <p:cNvPr id="304" name="b304"/>
          <p:cNvSpPr txBox="1"/>
          <p:nvPr/>
        </p:nvSpPr>
        <p:spPr>
          <a:xfrm>
            <a:off x="11200000" y="3450000"/>
            <a:ext cx="7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A-002, A-003</a:t>
            </a:r>
          </a:p>
        </p:txBody>
      </p:sp>
      <p:sp>
        <p:nvSpPr>
          <p:cNvPr id="310" name="b310"/>
          <p:cNvSpPr txBox="1"/>
          <p:nvPr/>
        </p:nvSpPr>
        <p:spPr>
          <a:xfrm>
            <a:off x="350000" y="4150000"/>
            <a:ext cx="13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F2.2 — Detección de conflictos horarios</a:t>
            </a:r>
          </a:p>
        </p:txBody>
      </p:sp>
      <p:sp>
        <p:nvSpPr>
          <p:cNvPr id="311" name="b311"/>
          <p:cNvSpPr txBox="1"/>
          <p:nvPr/>
        </p:nvSpPr>
        <p:spPr>
          <a:xfrm>
            <a:off x="1750000" y="4150000"/>
            <a:ext cx="40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El sistema debe impedir que un docente sea asignado a dos grupos simultáneos en el mismo bloque.</a:t>
            </a:r>
          </a:p>
        </p:txBody>
      </p:sp>
      <p:sp>
        <p:nvSpPr>
          <p:cNvPr id="312" name="badge312"/>
          <p:cNvSpPr/>
          <p:nvPr/>
        </p:nvSpPr>
        <p:spPr>
          <a:xfrm>
            <a:off x="5900000" y="4315000"/>
            <a:ext cx="1550000" cy="320000"/>
          </a:xfrm>
          <a:prstGeom prst="roundRect">
            <a:avLst>
              <a:gd name="adj" fmla="val 30000"/>
            </a:avLst>
          </a:prstGeom>
          <a:solidFill>
            <a:srgbClr val="C0392B"/>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Must Have</a:t>
            </a:r>
          </a:p>
        </p:txBody>
      </p:sp>
      <p:sp>
        <p:nvSpPr>
          <p:cNvPr id="313" name="b313"/>
          <p:cNvSpPr txBox="1"/>
          <p:nvPr/>
        </p:nvSpPr>
        <p:spPr>
          <a:xfrm>
            <a:off x="7550000" y="4150000"/>
            <a:ext cx="36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Regla de negocio crítica; sin ella el módulo de asignación no tiene valor funcional mínimo.</a:t>
            </a:r>
          </a:p>
        </p:txBody>
      </p:sp>
      <p:sp>
        <p:nvSpPr>
          <p:cNvPr id="314" name="b314"/>
          <p:cNvSpPr txBox="1"/>
          <p:nvPr/>
        </p:nvSpPr>
        <p:spPr>
          <a:xfrm>
            <a:off x="11200000" y="4150000"/>
            <a:ext cx="7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A-003</a:t>
            </a:r>
          </a:p>
        </p:txBody>
      </p:sp>
      <p:sp>
        <p:nvSpPr>
          <p:cNvPr id="220" name="h220"/>
          <p:cNvSpPr/>
          <p:nvPr/>
        </p:nvSpPr>
        <p:spPr>
          <a:xfrm>
            <a:off x="350000" y="4850000"/>
            <a:ext cx="11450000" cy="35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TEMA FUNCIONAL:  SEGUIMIENTO ACADÉMICO</a:t>
            </a:r>
          </a:p>
        </p:txBody>
      </p:sp>
      <p:sp>
        <p:nvSpPr>
          <p:cNvPr id="320" name="b320"/>
          <p:cNvSpPr txBox="1"/>
          <p:nvPr/>
        </p:nvSpPr>
        <p:spPr>
          <a:xfrm>
            <a:off x="350000" y="5230000"/>
            <a:ext cx="13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F2.3 — Tablero de cohorte en tiempo real</a:t>
            </a:r>
          </a:p>
        </p:txBody>
      </p:sp>
      <p:sp>
        <p:nvSpPr>
          <p:cNvPr id="321" name="b321"/>
          <p:cNvSpPr txBox="1"/>
          <p:nvPr/>
        </p:nvSpPr>
        <p:spPr>
          <a:xfrm>
            <a:off x="1750000" y="5230000"/>
            <a:ext cx="40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Visualizar el avance académico de cada cohorte con filtros por programa, sede y periodo. Actualización automática.</a:t>
            </a:r>
          </a:p>
        </p:txBody>
      </p:sp>
      <p:sp>
        <p:nvSpPr>
          <p:cNvPr id="322" name="badge322"/>
          <p:cNvSpPr/>
          <p:nvPr/>
        </p:nvSpPr>
        <p:spPr>
          <a:xfrm>
            <a:off x="5900000" y="5395000"/>
            <a:ext cx="1550000" cy="320000"/>
          </a:xfrm>
          <a:prstGeom prst="roundRect">
            <a:avLst>
              <a:gd name="adj" fmla="val 30000"/>
            </a:avLst>
          </a:prstGeom>
          <a:solidFill>
            <a:srgbClr val="C0392B"/>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Must Have</a:t>
            </a:r>
          </a:p>
        </p:txBody>
      </p:sp>
      <p:sp>
        <p:nvSpPr>
          <p:cNvPr id="323" name="b323"/>
          <p:cNvSpPr txBox="1"/>
          <p:nvPr/>
        </p:nvSpPr>
        <p:spPr>
          <a:xfrm>
            <a:off x="7550000" y="5230000"/>
            <a:ext cx="36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Requiere integración con módulo de calificaciones. Reemplaza extracción manual de CSV.</a:t>
            </a:r>
          </a:p>
        </p:txBody>
      </p:sp>
      <p:sp>
        <p:nvSpPr>
          <p:cNvPr id="324" name="b324"/>
          <p:cNvSpPr txBox="1"/>
          <p:nvPr/>
        </p:nvSpPr>
        <p:spPr>
          <a:xfrm>
            <a:off x="11200000" y="5230000"/>
            <a:ext cx="7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A-002, A-003</a:t>
            </a:r>
          </a:p>
        </p:txBody>
      </p:sp>
      <p:sp>
        <p:nvSpPr>
          <p:cNvPr id="330" name="b330"/>
          <p:cNvSpPr txBox="1"/>
          <p:nvPr/>
        </p:nvSpPr>
        <p:spPr>
          <a:xfrm>
            <a:off x="350000" y="5930000"/>
            <a:ext cx="13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F2.4 — Alerta temprana de riesgo académico</a:t>
            </a:r>
          </a:p>
        </p:txBody>
      </p:sp>
      <p:sp>
        <p:nvSpPr>
          <p:cNvPr id="331" name="b331"/>
          <p:cNvSpPr txBox="1"/>
          <p:nvPr/>
        </p:nvSpPr>
        <p:spPr>
          <a:xfrm>
            <a:off x="1750000" y="5930000"/>
            <a:ext cx="40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Notificar automáticamente al coordinador y al docente cuando un estudiante repruebe 3 o más asignaturas en el periodo.</a:t>
            </a:r>
          </a:p>
        </p:txBody>
      </p:sp>
      <p:sp>
        <p:nvSpPr>
          <p:cNvPr id="332" name="badge332"/>
          <p:cNvSpPr/>
          <p:nvPr/>
        </p:nvSpPr>
        <p:spPr>
          <a:xfrm>
            <a:off x="5900000" y="6095000"/>
            <a:ext cx="1550000" cy="320000"/>
          </a:xfrm>
          <a:prstGeom prst="roundRect">
            <a:avLst>
              <a:gd name="adj" fmla="val 30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Should Have</a:t>
            </a:r>
          </a:p>
        </p:txBody>
      </p:sp>
      <p:sp>
        <p:nvSpPr>
          <p:cNvPr id="333" name="b333"/>
          <p:cNvSpPr txBox="1"/>
          <p:nvPr/>
        </p:nvSpPr>
        <p:spPr>
          <a:xfrm>
            <a:off x="7550000" y="5930000"/>
            <a:ext cx="36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Regla configurable por programa. Notificación vía correo y en la plataforma.</a:t>
            </a:r>
          </a:p>
        </p:txBody>
      </p:sp>
      <p:sp>
        <p:nvSpPr>
          <p:cNvPr id="334" name="b334"/>
          <p:cNvSpPr txBox="1"/>
          <p:nvPr/>
        </p:nvSpPr>
        <p:spPr>
          <a:xfrm>
            <a:off x="11200000" y="5930000"/>
            <a:ext cx="7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A-003</a:t>
            </a:r>
          </a:p>
        </p:txBody>
      </p:sp>
      <p:sp>
        <p:nvSpPr>
          <p:cNvPr id="240" name="h240"/>
          <p:cNvSpPr/>
          <p:nvPr/>
        </p:nvSpPr>
        <p:spPr>
          <a:xfrm>
            <a:off x="350000" y="6630000"/>
            <a:ext cx="11450000" cy="35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1" i="0" u="none" strike="noStrike" kern="1200" cap="none" spc="0" normalizeH="0" baseline="0" noProof="0" dirty="0">
                <a:ln>
                  <a:noFill/>
                </a:ln>
                <a:solidFill>
                  <a:srgbClr val="FFFFFF"/>
                </a:solidFill>
                <a:effectLst/>
                <a:uLnTx/>
                <a:uFillTx/>
                <a:latin typeface="Calibri"/>
                <a:ea typeface="+mn-ea"/>
                <a:cs typeface="+mn-cs"/>
              </a:rPr>
              <a:t>TEMA FUNCIONAL:  REPORTES Y ESTADÍSTICAS</a:t>
            </a:r>
          </a:p>
        </p:txBody>
      </p:sp>
      <p:sp>
        <p:nvSpPr>
          <p:cNvPr id="340" name="b340"/>
          <p:cNvSpPr txBox="1"/>
          <p:nvPr/>
        </p:nvSpPr>
        <p:spPr>
          <a:xfrm>
            <a:off x="350000" y="7010000"/>
            <a:ext cx="13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F2.5 — Reporte por sede y programa</a:t>
            </a:r>
          </a:p>
        </p:txBody>
      </p:sp>
      <p:sp>
        <p:nvSpPr>
          <p:cNvPr id="341" name="b341"/>
          <p:cNvSpPr txBox="1"/>
          <p:nvPr/>
        </p:nvSpPr>
        <p:spPr>
          <a:xfrm>
            <a:off x="1750000" y="7010000"/>
            <a:ext cx="405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Generar reportes de rendimiento académico filtrados por programa, sede y periodo lectivo, exportables en PDF y Excel.</a:t>
            </a:r>
          </a:p>
        </p:txBody>
      </p:sp>
      <p:sp>
        <p:nvSpPr>
          <p:cNvPr id="342" name="badge342"/>
          <p:cNvSpPr/>
          <p:nvPr/>
        </p:nvSpPr>
        <p:spPr>
          <a:xfrm>
            <a:off x="5900000" y="7175000"/>
            <a:ext cx="1550000" cy="320000"/>
          </a:xfrm>
          <a:prstGeom prst="roundRect">
            <a:avLst>
              <a:gd name="adj" fmla="val 30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Should Have</a:t>
            </a:r>
          </a:p>
        </p:txBody>
      </p:sp>
      <p:sp>
        <p:nvSpPr>
          <p:cNvPr id="343" name="b343"/>
          <p:cNvSpPr txBox="1"/>
          <p:nvPr/>
        </p:nvSpPr>
        <p:spPr>
          <a:xfrm>
            <a:off x="7550000" y="7010000"/>
            <a:ext cx="36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Corrección incorporada en A-003 v1.1: debe discriminar por sede. Sin esta corrección el alcance sería incompleto.</a:t>
            </a:r>
          </a:p>
        </p:txBody>
      </p:sp>
      <p:sp>
        <p:nvSpPr>
          <p:cNvPr id="344" name="b344"/>
          <p:cNvSpPr txBox="1"/>
          <p:nvPr/>
        </p:nvSpPr>
        <p:spPr>
          <a:xfrm>
            <a:off x="11200000" y="7010000"/>
            <a:ext cx="700000" cy="65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A-002, A-003</a:t>
            </a:r>
          </a:p>
        </p:txBody>
      </p:sp>
      <p:sp>
        <p:nvSpPr>
          <p:cNvPr id="350" name="b350"/>
          <p:cNvSpPr txBox="1"/>
          <p:nvPr/>
        </p:nvSpPr>
        <p:spPr>
          <a:xfrm>
            <a:off x="350000" y="7710000"/>
            <a:ext cx="13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003366"/>
                </a:solidFill>
                <a:effectLst/>
                <a:uLnTx/>
                <a:uFillTx/>
                <a:latin typeface="Calibri"/>
                <a:ea typeface="+mn-ea"/>
                <a:cs typeface="+mn-cs"/>
              </a:rPr>
              <a:t>F2.6 — Histórico comparativo de periodos</a:t>
            </a:r>
          </a:p>
        </p:txBody>
      </p:sp>
      <p:sp>
        <p:nvSpPr>
          <p:cNvPr id="351" name="b351"/>
          <p:cNvSpPr txBox="1"/>
          <p:nvPr/>
        </p:nvSpPr>
        <p:spPr>
          <a:xfrm>
            <a:off x="1750000" y="7710000"/>
            <a:ext cx="405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Comparar indicadores de reprobación y deserción entre dos o más periodos lectivos en una misma vista.</a:t>
            </a:r>
          </a:p>
        </p:txBody>
      </p:sp>
      <p:sp>
        <p:nvSpPr>
          <p:cNvPr id="352" name="badge352"/>
          <p:cNvSpPr/>
          <p:nvPr/>
        </p:nvSpPr>
        <p:spPr>
          <a:xfrm>
            <a:off x="5900000" y="7875000"/>
            <a:ext cx="1550000" cy="320000"/>
          </a:xfrm>
          <a:prstGeom prst="roundRect">
            <a:avLst>
              <a:gd name="adj" fmla="val 30000"/>
            </a:avLst>
          </a:prstGeom>
          <a:solidFill>
            <a:srgbClr val="27AE60"/>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00" b="1" i="0" u="none" strike="noStrike" kern="1200" cap="none" spc="0" normalizeH="0" baseline="0" noProof="0" dirty="0">
                <a:ln>
                  <a:noFill/>
                </a:ln>
                <a:solidFill>
                  <a:srgbClr val="FFFFFF"/>
                </a:solidFill>
                <a:effectLst/>
                <a:uLnTx/>
                <a:uFillTx/>
                <a:latin typeface="Calibri"/>
                <a:ea typeface="+mn-ea"/>
                <a:cs typeface="+mn-cs"/>
              </a:rPr>
              <a:t>Could Have</a:t>
            </a:r>
          </a:p>
        </p:txBody>
      </p:sp>
      <p:sp>
        <p:nvSpPr>
          <p:cNvPr id="353" name="b353"/>
          <p:cNvSpPr txBox="1"/>
          <p:nvPr/>
        </p:nvSpPr>
        <p:spPr>
          <a:xfrm>
            <a:off x="7550000" y="7710000"/>
            <a:ext cx="36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0" i="0" u="none" strike="noStrike" kern="1200" cap="none" spc="0" normalizeH="0" baseline="0" noProof="0" dirty="0">
                <a:ln>
                  <a:noFill/>
                </a:ln>
                <a:solidFill>
                  <a:srgbClr val="444444"/>
                </a:solidFill>
                <a:effectLst/>
                <a:uLnTx/>
                <a:uFillTx/>
                <a:latin typeface="Calibri"/>
                <a:ea typeface="+mn-ea"/>
                <a:cs typeface="+mn-cs"/>
              </a:rPr>
              <a:t>Funcionalidad deseable para dirección. No es crítica para la operación de la coordinación.</a:t>
            </a:r>
          </a:p>
        </p:txBody>
      </p:sp>
      <p:sp>
        <p:nvSpPr>
          <p:cNvPr id="354" name="b354"/>
          <p:cNvSpPr txBox="1"/>
          <p:nvPr/>
        </p:nvSpPr>
        <p:spPr>
          <a:xfrm>
            <a:off x="11200000" y="7710000"/>
            <a:ext cx="700000" cy="6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80" b="0" i="1" u="none" strike="noStrike" kern="1200" cap="none" spc="0" normalizeH="0" baseline="0" noProof="0" dirty="0">
                <a:ln>
                  <a:noFill/>
                </a:ln>
                <a:solidFill>
                  <a:srgbClr val="1C4E8A"/>
                </a:solidFill>
                <a:effectLst/>
                <a:uLnTx/>
                <a:uFillTx/>
                <a:latin typeface="Calibri"/>
                <a:ea typeface="+mn-ea"/>
                <a:cs typeface="+mn-cs"/>
              </a:rPr>
              <a:t>A-002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54B551-D810-CBC7-1627-4D6124626D1A}"/>
              </a:ext>
            </a:extLst>
          </p:cNvPr>
          <p:cNvSpPr>
            <a:spLocks noGrp="1"/>
          </p:cNvSpPr>
          <p:nvPr>
            <p:ph type="title"/>
          </p:nvPr>
        </p:nvSpPr>
        <p:spPr>
          <a:xfrm>
            <a:off x="838200" y="758530"/>
            <a:ext cx="10515600" cy="1325563"/>
          </a:xfrm>
        </p:spPr>
        <p:txBody>
          <a:bodyPr/>
          <a:lstStyle/>
          <a:p>
            <a:r>
              <a:rPr lang="es-CO" dirty="0"/>
              <a:t>Figura 9 — Panel A: Aspectos funcionales</a:t>
            </a:r>
          </a:p>
        </p:txBody>
      </p:sp>
      <p:sp>
        <p:nvSpPr>
          <p:cNvPr id="3" name="Marcador de contenido 2">
            <a:extLst>
              <a:ext uri="{FF2B5EF4-FFF2-40B4-BE49-F238E27FC236}">
                <a16:creationId xmlns:a16="http://schemas.microsoft.com/office/drawing/2014/main" id="{7F1E8CEC-3C6C-CE50-3BD7-7A21997DF212}"/>
              </a:ext>
            </a:extLst>
          </p:cNvPr>
          <p:cNvSpPr>
            <a:spLocks noGrp="1"/>
          </p:cNvSpPr>
          <p:nvPr>
            <p:ph idx="1"/>
          </p:nvPr>
        </p:nvSpPr>
        <p:spPr>
          <a:xfrm>
            <a:off x="912628" y="2070170"/>
            <a:ext cx="10515600" cy="2831435"/>
          </a:xfrm>
        </p:spPr>
        <p:txBody>
          <a:bodyPr/>
          <a:lstStyle/>
          <a:p>
            <a:pPr marL="0" indent="0">
              <a:buNone/>
            </a:pPr>
            <a:r>
              <a:rPr lang="es-CO" dirty="0"/>
              <a:t>Ficha FC-002, Escenario E2. Encabezado completo con: escenario, responsable, actas de origen, técnica de agrupación y responsable de negociación. Seis características agrupadas en </a:t>
            </a:r>
            <a:r>
              <a:rPr lang="es-CO" b="1" dirty="0"/>
              <a:t>3 temas funcionales</a:t>
            </a:r>
            <a:r>
              <a:rPr lang="es-CO" dirty="0"/>
              <a:t> (Asignación docente / Seguimiento académico / Reportes), cada una con: código F2.x, necesidad del usuario, </a:t>
            </a:r>
            <a:r>
              <a:rPr lang="es-CO" b="1" dirty="0" err="1"/>
              <a:t>badge</a:t>
            </a:r>
            <a:r>
              <a:rPr lang="es-CO" b="1" dirty="0"/>
              <a:t> MoSCoW</a:t>
            </a:r>
            <a:r>
              <a:rPr lang="es-CO" dirty="0"/>
              <a:t> (Must Have rojo / </a:t>
            </a:r>
            <a:r>
              <a:rPr lang="es-CO" dirty="0" err="1"/>
              <a:t>Should</a:t>
            </a:r>
            <a:r>
              <a:rPr lang="es-CO" dirty="0"/>
              <a:t> Have naranja / </a:t>
            </a:r>
            <a:r>
              <a:rPr lang="es-CO" dirty="0" err="1"/>
              <a:t>Could</a:t>
            </a:r>
            <a:r>
              <a:rPr lang="es-CO" dirty="0"/>
              <a:t> Have verde) y observación técnica con referencia a las actas de origen</a:t>
            </a:r>
          </a:p>
        </p:txBody>
      </p:sp>
    </p:spTree>
    <p:extLst>
      <p:ext uri="{BB962C8B-B14F-4D97-AF65-F5344CB8AC3E}">
        <p14:creationId xmlns:p14="http://schemas.microsoft.com/office/powerpoint/2010/main" val="1620349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9 (cont.) — Satisfacción Estimada, Solapamientos y Vacíos | Escenario E2</a:t>
            </a:r>
          </a:p>
        </p:txBody>
      </p:sp>
      <p:sp>
        <p:nvSpPr>
          <p:cNvPr id="21" name="h21"/>
          <p:cNvSpPr/>
          <p:nvPr/>
        </p:nvSpPr>
        <p:spPr>
          <a:xfrm>
            <a:off x="300000" y="1450000"/>
            <a:ext cx="5550000" cy="40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GRADO DE SATISFACCIÓN MÍNIMAMENTE ACEPTABLE</a:t>
            </a:r>
          </a:p>
        </p:txBody>
      </p:sp>
      <p:sp>
        <p:nvSpPr>
          <p:cNvPr id="22" name="h22"/>
          <p:cNvSpPr/>
          <p:nvPr/>
        </p:nvSpPr>
        <p:spPr>
          <a:xfrm>
            <a:off x="5950000" y="1450000"/>
            <a:ext cx="5950000" cy="40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SOLAPAMIENTOS, VACÍOS Y NEGOCIACIONES DE ALCANCE</a:t>
            </a:r>
          </a:p>
        </p:txBody>
      </p:sp>
      <p:sp>
        <p:nvSpPr>
          <p:cNvPr id="90" name="divider"/>
          <p:cNvSpPr/>
          <p:nvPr/>
        </p:nvSpPr>
        <p:spPr>
          <a:xfrm>
            <a:off x="5850000" y="1450000"/>
            <a:ext cx="25400" cy="3600000"/>
          </a:xfrm>
          <a:prstGeom prst="rect">
            <a:avLst/>
          </a:prstGeom>
          <a:solidFill>
            <a:srgbClr val="0033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b100"/>
          <p:cNvSpPr txBox="1"/>
          <p:nvPr/>
        </p:nvSpPr>
        <p:spPr>
          <a:xfrm>
            <a:off x="350000" y="190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Asignación docente</a:t>
            </a:r>
          </a:p>
        </p:txBody>
      </p:sp>
      <p:sp>
        <p:nvSpPr>
          <p:cNvPr id="101" name="pbg100"/>
          <p:cNvSpPr/>
          <p:nvPr/>
        </p:nvSpPr>
        <p:spPr>
          <a:xfrm>
            <a:off x="2450000" y="196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pfill100"/>
          <p:cNvSpPr/>
          <p:nvPr/>
        </p:nvSpPr>
        <p:spPr>
          <a:xfrm>
            <a:off x="2450000" y="1960000"/>
            <a:ext cx="2970000" cy="260000"/>
          </a:xfrm>
          <a:prstGeom prst="rect">
            <a:avLst/>
          </a:prstGeom>
          <a:solidFill>
            <a:srgbClr val="1C7A2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b103"/>
          <p:cNvSpPr txBox="1"/>
          <p:nvPr/>
        </p:nvSpPr>
        <p:spPr>
          <a:xfrm>
            <a:off x="5500000" y="190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7A2E"/>
                </a:solidFill>
                <a:effectLst/>
                <a:uLnTx/>
                <a:uFillTx/>
                <a:latin typeface="Calibri"/>
                <a:ea typeface="+mn-ea"/>
                <a:cs typeface="+mn-cs"/>
              </a:rPr>
              <a:t>90%</a:t>
            </a:r>
          </a:p>
        </p:txBody>
      </p:sp>
      <p:sp>
        <p:nvSpPr>
          <p:cNvPr id="110" name="b110"/>
          <p:cNvSpPr txBox="1"/>
          <p:nvPr/>
        </p:nvSpPr>
        <p:spPr>
          <a:xfrm>
            <a:off x="350000" y="234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Detección de cruces</a:t>
            </a:r>
          </a:p>
        </p:txBody>
      </p:sp>
      <p:sp>
        <p:nvSpPr>
          <p:cNvPr id="111" name="pbg110"/>
          <p:cNvSpPr/>
          <p:nvPr/>
        </p:nvSpPr>
        <p:spPr>
          <a:xfrm>
            <a:off x="2450000" y="240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pfill110"/>
          <p:cNvSpPr/>
          <p:nvPr/>
        </p:nvSpPr>
        <p:spPr>
          <a:xfrm>
            <a:off x="2450000" y="2400000"/>
            <a:ext cx="3135000" cy="260000"/>
          </a:xfrm>
          <a:prstGeom prst="rect">
            <a:avLst/>
          </a:prstGeom>
          <a:solidFill>
            <a:srgbClr val="1C7A2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b113"/>
          <p:cNvSpPr txBox="1"/>
          <p:nvPr/>
        </p:nvSpPr>
        <p:spPr>
          <a:xfrm>
            <a:off x="5665000" y="234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7A2E"/>
                </a:solidFill>
                <a:effectLst/>
                <a:uLnTx/>
                <a:uFillTx/>
                <a:latin typeface="Calibri"/>
                <a:ea typeface="+mn-ea"/>
                <a:cs typeface="+mn-cs"/>
              </a:rPr>
              <a:t>95%</a:t>
            </a:r>
          </a:p>
        </p:txBody>
      </p:sp>
      <p:sp>
        <p:nvSpPr>
          <p:cNvPr id="120" name="b120"/>
          <p:cNvSpPr txBox="1"/>
          <p:nvPr/>
        </p:nvSpPr>
        <p:spPr>
          <a:xfrm>
            <a:off x="350000" y="278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Tablero cohorte</a:t>
            </a:r>
          </a:p>
        </p:txBody>
      </p:sp>
      <p:sp>
        <p:nvSpPr>
          <p:cNvPr id="121" name="pbg120"/>
          <p:cNvSpPr/>
          <p:nvPr/>
        </p:nvSpPr>
        <p:spPr>
          <a:xfrm>
            <a:off x="2450000" y="284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pfill120"/>
          <p:cNvSpPr/>
          <p:nvPr/>
        </p:nvSpPr>
        <p:spPr>
          <a:xfrm>
            <a:off x="2450000" y="2840000"/>
            <a:ext cx="2805000" cy="260000"/>
          </a:xfrm>
          <a:prstGeom prst="rect">
            <a:avLst/>
          </a:prstGeom>
          <a:solidFill>
            <a:srgbClr val="1C7A2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b123"/>
          <p:cNvSpPr txBox="1"/>
          <p:nvPr/>
        </p:nvSpPr>
        <p:spPr>
          <a:xfrm>
            <a:off x="5335000" y="278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7A2E"/>
                </a:solidFill>
                <a:effectLst/>
                <a:uLnTx/>
                <a:uFillTx/>
                <a:latin typeface="Calibri"/>
                <a:ea typeface="+mn-ea"/>
                <a:cs typeface="+mn-cs"/>
              </a:rPr>
              <a:t>85%</a:t>
            </a:r>
          </a:p>
        </p:txBody>
      </p:sp>
      <p:sp>
        <p:nvSpPr>
          <p:cNvPr id="130" name="b130"/>
          <p:cNvSpPr txBox="1"/>
          <p:nvPr/>
        </p:nvSpPr>
        <p:spPr>
          <a:xfrm>
            <a:off x="350000" y="322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Alertas riesgo acad.</a:t>
            </a:r>
          </a:p>
        </p:txBody>
      </p:sp>
      <p:sp>
        <p:nvSpPr>
          <p:cNvPr id="131" name="pbg130"/>
          <p:cNvSpPr/>
          <p:nvPr/>
        </p:nvSpPr>
        <p:spPr>
          <a:xfrm>
            <a:off x="2450000" y="328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pfill130"/>
          <p:cNvSpPr/>
          <p:nvPr/>
        </p:nvSpPr>
        <p:spPr>
          <a:xfrm>
            <a:off x="2450000" y="3280000"/>
            <a:ext cx="2640000" cy="260000"/>
          </a:xfrm>
          <a:prstGeom prst="rect">
            <a:avLst/>
          </a:prstGeom>
          <a:solidFill>
            <a:srgbClr val="27AE6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b133"/>
          <p:cNvSpPr txBox="1"/>
          <p:nvPr/>
        </p:nvSpPr>
        <p:spPr>
          <a:xfrm>
            <a:off x="5170000" y="322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27AE60"/>
                </a:solidFill>
                <a:effectLst/>
                <a:uLnTx/>
                <a:uFillTx/>
                <a:latin typeface="Calibri"/>
                <a:ea typeface="+mn-ea"/>
                <a:cs typeface="+mn-cs"/>
              </a:rPr>
              <a:t>80%</a:t>
            </a:r>
          </a:p>
        </p:txBody>
      </p:sp>
      <p:sp>
        <p:nvSpPr>
          <p:cNvPr id="140" name="b140"/>
          <p:cNvSpPr txBox="1"/>
          <p:nvPr/>
        </p:nvSpPr>
        <p:spPr>
          <a:xfrm>
            <a:off x="350000" y="366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Reportes por sede</a:t>
            </a:r>
          </a:p>
        </p:txBody>
      </p:sp>
      <p:sp>
        <p:nvSpPr>
          <p:cNvPr id="141" name="pbg140"/>
          <p:cNvSpPr/>
          <p:nvPr/>
        </p:nvSpPr>
        <p:spPr>
          <a:xfrm>
            <a:off x="2450000" y="372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pfill140"/>
          <p:cNvSpPr/>
          <p:nvPr/>
        </p:nvSpPr>
        <p:spPr>
          <a:xfrm>
            <a:off x="2450000" y="3720000"/>
            <a:ext cx="2640000" cy="260000"/>
          </a:xfrm>
          <a:prstGeom prst="rect">
            <a:avLst/>
          </a:prstGeom>
          <a:solidFill>
            <a:srgbClr val="27AE6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b143"/>
          <p:cNvSpPr txBox="1"/>
          <p:nvPr/>
        </p:nvSpPr>
        <p:spPr>
          <a:xfrm>
            <a:off x="5170000" y="366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27AE60"/>
                </a:solidFill>
                <a:effectLst/>
                <a:uLnTx/>
                <a:uFillTx/>
                <a:latin typeface="Calibri"/>
                <a:ea typeface="+mn-ea"/>
                <a:cs typeface="+mn-cs"/>
              </a:rPr>
              <a:t>80%</a:t>
            </a:r>
          </a:p>
        </p:txBody>
      </p:sp>
      <p:sp>
        <p:nvSpPr>
          <p:cNvPr id="150" name="b150"/>
          <p:cNvSpPr txBox="1"/>
          <p:nvPr/>
        </p:nvSpPr>
        <p:spPr>
          <a:xfrm>
            <a:off x="350000" y="4100000"/>
            <a:ext cx="2050000" cy="38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Histórico comparativo</a:t>
            </a:r>
          </a:p>
        </p:txBody>
      </p:sp>
      <p:sp>
        <p:nvSpPr>
          <p:cNvPr id="151" name="pbg150"/>
          <p:cNvSpPr/>
          <p:nvPr/>
        </p:nvSpPr>
        <p:spPr>
          <a:xfrm>
            <a:off x="2450000" y="4160000"/>
            <a:ext cx="3300000" cy="26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pfill150"/>
          <p:cNvSpPr/>
          <p:nvPr/>
        </p:nvSpPr>
        <p:spPr>
          <a:xfrm>
            <a:off x="2450000" y="4160000"/>
            <a:ext cx="1980000" cy="260000"/>
          </a:xfrm>
          <a:prstGeom prst="rect">
            <a:avLst/>
          </a:prstGeom>
          <a:solidFill>
            <a:srgbClr val="E67E22"/>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b153"/>
          <p:cNvSpPr txBox="1"/>
          <p:nvPr/>
        </p:nvSpPr>
        <p:spPr>
          <a:xfrm>
            <a:off x="4510000" y="4100000"/>
            <a:ext cx="600000" cy="38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E67E22"/>
                </a:solidFill>
                <a:effectLst/>
                <a:uLnTx/>
                <a:uFillTx/>
                <a:latin typeface="Calibri"/>
                <a:ea typeface="+mn-ea"/>
                <a:cs typeface="+mn-cs"/>
              </a:rPr>
              <a:t>60%</a:t>
            </a:r>
          </a:p>
        </p:txBody>
      </p:sp>
      <p:sp>
        <p:nvSpPr>
          <p:cNvPr id="200" name="h200"/>
          <p:cNvSpPr/>
          <p:nvPr/>
        </p:nvSpPr>
        <p:spPr>
          <a:xfrm>
            <a:off x="6150000" y="1900000"/>
            <a:ext cx="200000" cy="800000"/>
          </a:xfrm>
          <a:prstGeom prst="rect">
            <a:avLst/>
          </a:prstGeom>
          <a:solidFill>
            <a:srgbClr val="E877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800" b="1" i="0" u="none" strike="noStrike" kern="1200" cap="none" spc="0" normalizeH="0" baseline="0" noProof="0" dirty="0">
                <a:ln>
                  <a:noFill/>
                </a:ln>
                <a:solidFill>
                  <a:srgbClr val="E87722"/>
                </a:solidFill>
                <a:effectLst/>
                <a:uLnTx/>
                <a:uFillTx/>
                <a:latin typeface="Calibri"/>
                <a:ea typeface="+mn-ea"/>
                <a:cs typeface="+mn-cs"/>
              </a:rPr>
              <a:t> </a:t>
            </a:r>
          </a:p>
        </p:txBody>
      </p:sp>
      <p:sp>
        <p:nvSpPr>
          <p:cNvPr id="210" name="b210"/>
          <p:cNvSpPr txBox="1"/>
          <p:nvPr/>
        </p:nvSpPr>
        <p:spPr>
          <a:xfrm>
            <a:off x="6400000" y="1900000"/>
            <a:ext cx="5500000" cy="800000"/>
          </a:xfrm>
          <a:prstGeom prst="rect">
            <a:avLst/>
          </a:prstGeom>
          <a:solidFill>
            <a:srgbClr val="FFF3E0"/>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&amp;#x26A0; Solapamiento detectado
F2.3 (Tablero) y F4.5 (Historial académico E4) comparten la vista de progreso del estudiante. Se requiere unificar en un único módulo de seguimiento para evitar duplicidad de desarrollo.</a:t>
            </a:r>
          </a:p>
        </p:txBody>
      </p:sp>
      <p:sp>
        <p:nvSpPr>
          <p:cNvPr id="201" name="h201"/>
          <p:cNvSpPr/>
          <p:nvPr/>
        </p:nvSpPr>
        <p:spPr>
          <a:xfrm>
            <a:off x="6150000" y="2760000"/>
            <a:ext cx="200000" cy="800000"/>
          </a:xfrm>
          <a:prstGeom prst="rect">
            <a:avLst/>
          </a:prstGeom>
          <a:solidFill>
            <a:srgbClr val="E877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800" b="1" i="0" u="none" strike="noStrike" kern="1200" cap="none" spc="0" normalizeH="0" baseline="0" noProof="0" dirty="0">
                <a:ln>
                  <a:noFill/>
                </a:ln>
                <a:solidFill>
                  <a:srgbClr val="E87722"/>
                </a:solidFill>
                <a:effectLst/>
                <a:uLnTx/>
                <a:uFillTx/>
                <a:latin typeface="Calibri"/>
                <a:ea typeface="+mn-ea"/>
                <a:cs typeface="+mn-cs"/>
              </a:rPr>
              <a:t> </a:t>
            </a:r>
          </a:p>
        </p:txBody>
      </p:sp>
      <p:sp>
        <p:nvSpPr>
          <p:cNvPr id="212" name="b212"/>
          <p:cNvSpPr txBox="1"/>
          <p:nvPr/>
        </p:nvSpPr>
        <p:spPr>
          <a:xfrm>
            <a:off x="6400000" y="2760000"/>
            <a:ext cx="5500000" cy="600164"/>
          </a:xfrm>
          <a:prstGeom prst="rect">
            <a:avLst/>
          </a:prstGeom>
          <a:solidFill>
            <a:srgbClr val="FFF3E0"/>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&amp;#x26A0; Solapamiento detectado
F2.5 (Reportes por sede) y F5.2 (Tableros ejecutivos E5) tienen lógica de agregación similar. Se propone un único motor de reportes parametrizable por rol.|</a:t>
            </a:r>
          </a:p>
        </p:txBody>
      </p:sp>
      <p:sp>
        <p:nvSpPr>
          <p:cNvPr id="202" name="h202"/>
          <p:cNvSpPr/>
          <p:nvPr/>
        </p:nvSpPr>
        <p:spPr>
          <a:xfrm>
            <a:off x="6150000" y="3620000"/>
            <a:ext cx="200000" cy="800000"/>
          </a:xfrm>
          <a:prstGeom prst="rect">
            <a:avLst/>
          </a:prstGeom>
          <a:solidFill>
            <a:srgbClr val="C0392B"/>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800" b="1" i="0" u="none" strike="noStrike" kern="1200" cap="none" spc="0" normalizeH="0" baseline="0" noProof="0" dirty="0">
                <a:ln>
                  <a:noFill/>
                </a:ln>
                <a:solidFill>
                  <a:srgbClr val="C0392B"/>
                </a:solidFill>
                <a:effectLst/>
                <a:uLnTx/>
                <a:uFillTx/>
                <a:latin typeface="Calibri"/>
                <a:ea typeface="+mn-ea"/>
                <a:cs typeface="+mn-cs"/>
              </a:rPr>
              <a:t> </a:t>
            </a:r>
          </a:p>
        </p:txBody>
      </p:sp>
      <p:sp>
        <p:nvSpPr>
          <p:cNvPr id="214" name="b214"/>
          <p:cNvSpPr txBox="1"/>
          <p:nvPr/>
        </p:nvSpPr>
        <p:spPr>
          <a:xfrm>
            <a:off x="6400000" y="3620000"/>
            <a:ext cx="5500000" cy="800000"/>
          </a:xfrm>
          <a:prstGeom prst="rect">
            <a:avLst/>
          </a:prstGeom>
          <a:solidFill>
            <a:srgbClr val="FDECE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&amp;#x1F50D; Vacío identificado
Ninguna acta del escenario E2 documenta el proceso de aprobación de homologaciones de asignaturas. Se requiere nueva entrevista con U002 para cubrir este proceso antes del cierre de educción.</a:t>
            </a:r>
          </a:p>
        </p:txBody>
      </p:sp>
      <p:sp>
        <p:nvSpPr>
          <p:cNvPr id="203" name="h203"/>
          <p:cNvSpPr/>
          <p:nvPr/>
        </p:nvSpPr>
        <p:spPr>
          <a:xfrm>
            <a:off x="6150000" y="4480000"/>
            <a:ext cx="200000" cy="800000"/>
          </a:xfrm>
          <a:prstGeom prst="rect">
            <a:avLst/>
          </a:prstGeom>
          <a:solidFill>
            <a:srgbClr val="1C7A2E"/>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800" b="1" i="0" u="none" strike="noStrike" kern="1200" cap="none" spc="0" normalizeH="0" baseline="0" noProof="0" dirty="0">
                <a:ln>
                  <a:noFill/>
                </a:ln>
                <a:solidFill>
                  <a:srgbClr val="1C7A2E"/>
                </a:solidFill>
                <a:effectLst/>
                <a:uLnTx/>
                <a:uFillTx/>
                <a:latin typeface="Calibri"/>
                <a:ea typeface="+mn-ea"/>
                <a:cs typeface="+mn-cs"/>
              </a:rPr>
              <a:t> </a:t>
            </a:r>
          </a:p>
        </p:txBody>
      </p:sp>
      <p:sp>
        <p:nvSpPr>
          <p:cNvPr id="216" name="b216"/>
          <p:cNvSpPr txBox="1"/>
          <p:nvPr/>
        </p:nvSpPr>
        <p:spPr>
          <a:xfrm>
            <a:off x="6400000" y="4480000"/>
            <a:ext cx="5500000" cy="800000"/>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00" b="0" i="0" u="none" strike="noStrike" kern="1200" cap="none" spc="0" normalizeH="0" baseline="0" noProof="0" dirty="0">
                <a:ln>
                  <a:noFill/>
                </a:ln>
                <a:solidFill>
                  <a:srgbClr val="333333"/>
                </a:solidFill>
                <a:effectLst/>
                <a:uLnTx/>
                <a:uFillTx/>
                <a:latin typeface="Calibri"/>
                <a:ea typeface="+mn-ea"/>
                <a:cs typeface="+mn-cs"/>
              </a:rPr>
              <a:t>Negociación de alcance
La función F2.6 (Histórico comparativo) fue reclasificada de 'Should Have' a 'Could Have' tras negociación con la Ing. Ríos Salazar (responsable delegado) el 19/06/2025. No impacta el alcance mínimamente aceptable.</a:t>
            </a:r>
          </a:p>
        </p:txBody>
      </p:sp>
      <p:sp>
        <p:nvSpPr>
          <p:cNvPr id="300" name="overall"/>
          <p:cNvSpPr/>
          <p:nvPr/>
        </p:nvSpPr>
        <p:spPr>
          <a:xfrm>
            <a:off x="350000" y="4590000"/>
            <a:ext cx="5450000" cy="38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Satisfacción global del escenario E2:  </a:t>
            </a:r>
            <a:r>
              <a:rPr kumimoji="0" lang="es-CO" sz="1500" b="1" i="0" u="none" strike="noStrike" kern="1200" cap="none" spc="0" normalizeH="0" baseline="0" noProof="0" dirty="0">
                <a:ln>
                  <a:noFill/>
                </a:ln>
                <a:solidFill>
                  <a:srgbClr val="7BEEFD"/>
                </a:solidFill>
                <a:effectLst/>
                <a:uLnTx/>
                <a:uFillTx/>
                <a:latin typeface="Calibri"/>
                <a:ea typeface="+mn-ea"/>
                <a:cs typeface="+mn-cs"/>
              </a:rPr>
              <a:t>82% mínimamente aceptable</a:t>
            </a:r>
          </a:p>
        </p:txBody>
      </p:sp>
      <p:sp>
        <p:nvSpPr>
          <p:cNvPr id="400" name="h400"/>
          <p:cNvSpPr/>
          <p:nvPr/>
        </p:nvSpPr>
        <p:spPr>
          <a:xfrm>
            <a:off x="350000" y="5041275"/>
            <a:ext cx="11600000" cy="32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&amp;#x26A0; Solapamiento = funcionalidades duplicadas entre escenarios que deben unificarse   &amp;#x1F50D; Vacío = proceso no documentado que requiere nueva entrevista   Negociación = cambio acordado con responsable delegado</a:t>
            </a:r>
          </a:p>
        </p:txBody>
      </p:sp>
      <p:sp>
        <p:nvSpPr>
          <p:cNvPr id="500" name="b500"/>
          <p:cNvSpPr txBox="1"/>
          <p:nvPr/>
        </p:nvSpPr>
        <p:spPr>
          <a:xfrm>
            <a:off x="350000" y="5410000"/>
            <a:ext cx="55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003366"/>
                </a:solidFill>
                <a:effectLst/>
                <a:uLnTx/>
                <a:uFillTx/>
                <a:latin typeface="Calibri"/>
                <a:ea typeface="+mn-ea"/>
                <a:cs typeface="+mn-cs"/>
              </a:rPr>
              <a:t>Responsable de elaboración:  Ing. Paola Méndez  _______________</a:t>
            </a:r>
          </a:p>
        </p:txBody>
      </p:sp>
      <p:sp>
        <p:nvSpPr>
          <p:cNvPr id="501" name="b501"/>
          <p:cNvSpPr txBox="1"/>
          <p:nvPr/>
        </p:nvSpPr>
        <p:spPr>
          <a:xfrm>
            <a:off x="5950000" y="5410000"/>
            <a:ext cx="59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003366"/>
                </a:solidFill>
                <a:effectLst/>
                <a:uLnTx/>
                <a:uFillTx/>
                <a:latin typeface="Calibri"/>
                <a:ea typeface="+mn-ea"/>
                <a:cs typeface="+mn-cs"/>
              </a:rPr>
              <a:t>Jefe de Proyecto:  Ing. Sebastián Mora Castillo  _______________   Fecha: 20/06/2025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D5715-4D27-95D6-33E4-04499F2E0D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016412-3B33-582D-BEA3-AA6990A0A476}"/>
              </a:ext>
            </a:extLst>
          </p:cNvPr>
          <p:cNvSpPr>
            <a:spLocks noGrp="1"/>
          </p:cNvSpPr>
          <p:nvPr>
            <p:ph type="title"/>
          </p:nvPr>
        </p:nvSpPr>
        <p:spPr>
          <a:xfrm>
            <a:off x="838200" y="864860"/>
            <a:ext cx="10515600" cy="1325563"/>
          </a:xfrm>
        </p:spPr>
        <p:txBody>
          <a:bodyPr/>
          <a:lstStyle/>
          <a:p>
            <a:r>
              <a:rPr lang="es-CO" dirty="0"/>
              <a:t>Figura 9 — Panel B: Satisfacción + análisis de calidad</a:t>
            </a:r>
          </a:p>
        </p:txBody>
      </p:sp>
      <p:sp>
        <p:nvSpPr>
          <p:cNvPr id="3" name="Marcador de contenido 2">
            <a:extLst>
              <a:ext uri="{FF2B5EF4-FFF2-40B4-BE49-F238E27FC236}">
                <a16:creationId xmlns:a16="http://schemas.microsoft.com/office/drawing/2014/main" id="{5F3F64F2-4DCF-F4F2-F1AD-768BC76AB682}"/>
              </a:ext>
            </a:extLst>
          </p:cNvPr>
          <p:cNvSpPr>
            <a:spLocks noGrp="1"/>
          </p:cNvSpPr>
          <p:nvPr>
            <p:ph idx="1"/>
          </p:nvPr>
        </p:nvSpPr>
        <p:spPr>
          <a:xfrm>
            <a:off x="912628" y="2208395"/>
            <a:ext cx="10515600" cy="2831435"/>
          </a:xfrm>
        </p:spPr>
        <p:txBody>
          <a:bodyPr/>
          <a:lstStyle/>
          <a:p>
            <a:pPr marL="0" indent="0">
              <a:buNone/>
            </a:pPr>
            <a:r>
              <a:rPr lang="es-CO" dirty="0"/>
              <a:t>Panel izquierdo: </a:t>
            </a:r>
            <a:r>
              <a:rPr lang="es-CO" b="1" dirty="0"/>
              <a:t>barras de satisfacción mínimamente aceptable</a:t>
            </a:r>
            <a:r>
              <a:rPr lang="es-CO" dirty="0"/>
              <a:t> por característica (60%–95%) con indicador global del escenario (82%). Panel derecho: </a:t>
            </a:r>
            <a:r>
              <a:rPr lang="es-CO" b="1" dirty="0"/>
              <a:t>2 solapamientos detectados</a:t>
            </a:r>
            <a:r>
              <a:rPr lang="es-CO" dirty="0"/>
              <a:t> (naranja), </a:t>
            </a:r>
            <a:r>
              <a:rPr lang="es-CO" b="1" dirty="0"/>
              <a:t>1 vacío identificado</a:t>
            </a:r>
            <a:r>
              <a:rPr lang="es-CO" dirty="0"/>
              <a:t> (rojo) que requiere nueva entrevista, y </a:t>
            </a:r>
            <a:r>
              <a:rPr lang="es-CO" b="1" dirty="0"/>
              <a:t>1 negociación de alcance</a:t>
            </a:r>
            <a:r>
              <a:rPr lang="es-CO" dirty="0"/>
              <a:t> documentada (verde). Firmas del responsable de elaboración y jefe de proyecto</a:t>
            </a:r>
          </a:p>
        </p:txBody>
      </p:sp>
    </p:spTree>
    <p:extLst>
      <p:ext uri="{BB962C8B-B14F-4D97-AF65-F5344CB8AC3E}">
        <p14:creationId xmlns:p14="http://schemas.microsoft.com/office/powerpoint/2010/main" val="20359583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FA491F3-3FAB-2455-978D-A90E00FD91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D1373F-AAD3-EB25-0E0F-CA5AA118A8CB}"/>
              </a:ext>
            </a:extLst>
          </p:cNvPr>
          <p:cNvSpPr txBox="1"/>
          <p:nvPr/>
        </p:nvSpPr>
        <p:spPr>
          <a:xfrm>
            <a:off x="218734" y="3166762"/>
            <a:ext cx="10967131" cy="200054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7 — </a:t>
            </a:r>
            <a:r>
              <a:rPr lang="es-CO" sz="3200" dirty="0">
                <a:solidFill>
                  <a:prstClr val="white"/>
                </a:solidFill>
                <a:latin typeface="Century Gothic" panose="020B0502020202020204" pitchFamily="34" charset="0"/>
              </a:rPr>
              <a:t>Elaboración del Catálogo de Requisitos Funcionales (Especificación — Inventario)</a:t>
            </a:r>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38930599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7 — Elaboración del Catálogo de Requisitos Funcionales (Especificación — Inventario)</a:t>
            </a:r>
          </a:p>
        </p:txBody>
      </p:sp>
      <p:sp>
        <p:nvSpPr>
          <p:cNvPr id="7" name="Content"/>
          <p:cNvSpPr/>
          <p:nvPr/>
        </p:nvSpPr>
        <p:spPr>
          <a:xfrm>
            <a:off x="421004" y="1600000"/>
            <a:ext cx="11210866" cy="4100000"/>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A partir de la caracterización de escenarios, se identifican y nominan formalmente todos los requisitos funcionales del sistema, construyendo un catálogo que actúa como índice estructurado. Es un artefacto vivo sujeto a incremento de versionalidad, correspondiente a la estructura IEEE-STD-830 para la descripción general del sistema.</a:t>
            </a:r>
          </a:p>
          <a:p>
            <a:pPr marL="228600" lvl="0" indent="0">
              <a:lnSpc>
                <a:spcPct val="107000"/>
              </a:lnSpc>
              <a:spcAft>
                <a:spcPts val="400"/>
              </a:spcAft>
              <a:buNone/>
            </a:pPr>
            <a:endParaRPr lang="es-CO" sz="1400" dirty="0">
              <a:solidFill>
                <a:srgbClr val="333333"/>
              </a:solidFill>
              <a:latin typeface="Calibri"/>
            </a:endParaRP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Taxonomías funcionales basadas en casos de uso o historias de usuario.</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Técnicas de denominación normalizada de requisitos.</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Herramientas de gestión de requisitos (</a:t>
            </a:r>
            <a:r>
              <a:rPr lang="es-CO" sz="1400" i="1" dirty="0">
                <a:solidFill>
                  <a:srgbClr val="333333"/>
                </a:solidFill>
                <a:latin typeface="Calibri"/>
              </a:rPr>
              <a:t>DOORS</a:t>
            </a:r>
            <a:r>
              <a:rPr lang="es-CO" sz="1400" dirty="0">
                <a:solidFill>
                  <a:srgbClr val="333333"/>
                </a:solidFill>
                <a:latin typeface="Calibri"/>
              </a:rPr>
              <a:t>, </a:t>
            </a:r>
            <a:r>
              <a:rPr lang="es-CO" sz="1400" i="1" dirty="0">
                <a:solidFill>
                  <a:srgbClr val="333333"/>
                </a:solidFill>
                <a:latin typeface="Calibri"/>
              </a:rPr>
              <a:t>Jira</a:t>
            </a:r>
            <a:r>
              <a:rPr lang="es-CO" sz="1400" dirty="0">
                <a:solidFill>
                  <a:srgbClr val="333333"/>
                </a:solidFill>
                <a:latin typeface="Calibri"/>
              </a:rPr>
              <a:t>, </a:t>
            </a:r>
            <a:r>
              <a:rPr lang="es-CO" sz="1400" i="1" dirty="0" err="1">
                <a:solidFill>
                  <a:srgbClr val="333333"/>
                </a:solidFill>
                <a:latin typeface="Calibri"/>
              </a:rPr>
              <a:t>Notion</a:t>
            </a:r>
            <a:r>
              <a:rPr lang="es-CO" sz="1400" dirty="0">
                <a:solidFill>
                  <a:srgbClr val="333333"/>
                </a:solidFill>
                <a:latin typeface="Calibri"/>
              </a:rPr>
              <a:t>).</a:t>
            </a:r>
          </a:p>
          <a:p>
            <a:pPr marL="228600" lvl="0">
              <a:lnSpc>
                <a:spcPct val="107000"/>
              </a:lnSpc>
              <a:spcAft>
                <a:spcPts val="400"/>
              </a:spcAft>
            </a:pPr>
            <a:endParaRPr lang="es-CO" sz="1400" dirty="0">
              <a:solidFill>
                <a:srgbClr val="333333"/>
              </a:solidFill>
              <a:latin typeface="Calibri"/>
            </a:endParaRPr>
          </a:p>
          <a:p>
            <a:pPr marL="0" lvl="0" indent="0">
              <a:lnSpc>
                <a:spcPct val="107000"/>
              </a:lnSpc>
              <a:spcAft>
                <a:spcPts val="200"/>
              </a:spcAft>
              <a:buNone/>
            </a:pPr>
            <a:r>
              <a:rPr lang="es-CO" sz="1500" b="1" dirty="0">
                <a:solidFill>
                  <a:srgbClr val="003366"/>
                </a:solidFill>
                <a:latin typeface="Calibri"/>
              </a:rPr>
              <a:t>Artefacto/entregable:</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Catálogo de Requisitos Funcionales (con identificador único, nombre del requisito, versión, escenario asociado y trazabilidad al acta de entrevista de origen). (Figura 10)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10 — Catálogo de Requisitos Funcionales | Sistema de Gestión Académica</a:t>
            </a:r>
          </a:p>
        </p:txBody>
      </p:sp>
      <p:sp>
        <p:nvSpPr>
          <p:cNvPr id="30" name="b30"/>
          <p:cNvSpPr txBox="1"/>
          <p:nvPr/>
        </p:nvSpPr>
        <p:spPr>
          <a:xfrm>
            <a:off x="350000" y="1450000"/>
            <a:ext cx="5500000" cy="276999"/>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Denominación del Proyecto:  SGA — Universidad Regional del Conocimiento</a:t>
            </a:r>
          </a:p>
        </p:txBody>
      </p:sp>
      <p:sp>
        <p:nvSpPr>
          <p:cNvPr id="31" name="b31"/>
          <p:cNvSpPr txBox="1"/>
          <p:nvPr/>
        </p:nvSpPr>
        <p:spPr>
          <a:xfrm>
            <a:off x="5900000" y="1450000"/>
            <a:ext cx="2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Fecha:  25 / 06 / 2025</a:t>
            </a:r>
          </a:p>
        </p:txBody>
      </p:sp>
      <p:sp>
        <p:nvSpPr>
          <p:cNvPr id="32" name="b32"/>
          <p:cNvSpPr txBox="1"/>
          <p:nvPr/>
        </p:nvSpPr>
        <p:spPr>
          <a:xfrm>
            <a:off x="8450000" y="1450000"/>
            <a:ext cx="34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Versión del catálogo:  1.1  |  IEEE-STD-830</a:t>
            </a:r>
          </a:p>
        </p:txBody>
      </p:sp>
      <p:graphicFrame>
        <p:nvGraphicFramePr>
          <p:cNvPr id="10" name="CatalogoRF"/>
          <p:cNvGraphicFramePr>
            <a:graphicFrameLocks noGrp="1"/>
          </p:cNvGraphicFramePr>
          <p:nvPr>
            <p:extLst>
              <p:ext uri="{D42A27DB-BD31-4B8C-83A1-F6EECF244321}">
                <p14:modId xmlns:p14="http://schemas.microsoft.com/office/powerpoint/2010/main" val="1358616027"/>
              </p:ext>
            </p:extLst>
          </p:nvPr>
        </p:nvGraphicFramePr>
        <p:xfrm>
          <a:off x="300000" y="1820000"/>
          <a:ext cx="11600000" cy="10901480"/>
        </p:xfrm>
        <a:graphic>
          <a:graphicData uri="http://schemas.openxmlformats.org/drawingml/2006/table">
            <a:tbl>
              <a:tblPr firstRow="1">
                <a:tableStyleId>{5C22544A-7EE6-4342-B048-85BDC9FD1C3A}</a:tableStyleId>
              </a:tblPr>
              <a:tblGrid>
                <a:gridCol w="750000">
                  <a:extLst>
                    <a:ext uri="{9D8B030D-6E8A-4147-A177-3AD203B41FA5}">
                      <a16:colId xmlns:a16="http://schemas.microsoft.com/office/drawing/2014/main" val="20000"/>
                    </a:ext>
                  </a:extLst>
                </a:gridCol>
                <a:gridCol w="340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600000">
                  <a:extLst>
                    <a:ext uri="{9D8B030D-6E8A-4147-A177-3AD203B41FA5}">
                      <a16:colId xmlns:a16="http://schemas.microsoft.com/office/drawing/2014/main" val="20004"/>
                    </a:ext>
                  </a:extLst>
                </a:gridCol>
                <a:gridCol w="1500000">
                  <a:extLst>
                    <a:ext uri="{9D8B030D-6E8A-4147-A177-3AD203B41FA5}">
                      <a16:colId xmlns:a16="http://schemas.microsoft.com/office/drawing/2014/main" val="20005"/>
                    </a:ext>
                  </a:extLst>
                </a:gridCol>
                <a:gridCol w="3250000">
                  <a:extLst>
                    <a:ext uri="{9D8B030D-6E8A-4147-A177-3AD203B41FA5}">
                      <a16:colId xmlns:a16="http://schemas.microsoft.com/office/drawing/2014/main" val="20006"/>
                    </a:ext>
                  </a:extLst>
                </a:gridCol>
              </a:tblGrid>
              <a:tr h="490000">
                <a:tc>
                  <a:txBody>
                    <a:bodyPr/>
                    <a:lstStyle/>
                    <a:p>
                      <a:pPr algn="ctr"/>
                      <a:r>
                        <a:rPr lang="es-CO" sz="1200" b="1" dirty="0">
                          <a:solidFill>
                            <a:srgbClr val="FFFFFF"/>
                          </a:solidFill>
                          <a:latin typeface="Calibri"/>
                        </a:rPr>
                        <a:t>ID</a:t>
                      </a:r>
                    </a:p>
                  </a:txBody>
                  <a:tcPr>
                    <a:solidFill>
                      <a:srgbClr val="003366"/>
                    </a:solidFill>
                  </a:tcPr>
                </a:tc>
                <a:tc>
                  <a:txBody>
                    <a:bodyPr/>
                    <a:lstStyle/>
                    <a:p>
                      <a:pPr algn="ctr"/>
                      <a:r>
                        <a:rPr lang="es-CO" sz="1150" b="1" dirty="0">
                          <a:solidFill>
                            <a:srgbClr val="FFFFFF"/>
                          </a:solidFill>
                          <a:latin typeface="Calibri"/>
                        </a:rPr>
                        <a:t>Nombre del Requisito Funcional</a:t>
                      </a:r>
                    </a:p>
                  </a:txBody>
                  <a:tcPr>
                    <a:solidFill>
                      <a:srgbClr val="003366"/>
                    </a:solidFill>
                  </a:tcPr>
                </a:tc>
                <a:tc>
                  <a:txBody>
                    <a:bodyPr/>
                    <a:lstStyle/>
                    <a:p>
                      <a:pPr algn="ctr"/>
                      <a:r>
                        <a:rPr lang="es-CO" sz="1150" b="1" dirty="0">
                          <a:solidFill>
                            <a:srgbClr val="FFFFFF"/>
                          </a:solidFill>
                          <a:latin typeface="Calibri"/>
                        </a:rPr>
                        <a:t>Módulo</a:t>
                      </a:r>
                    </a:p>
                  </a:txBody>
                  <a:tcPr>
                    <a:solidFill>
                      <a:srgbClr val="003366"/>
                    </a:solidFill>
                  </a:tcPr>
                </a:tc>
                <a:tc>
                  <a:txBody>
                    <a:bodyPr/>
                    <a:lstStyle/>
                    <a:p>
                      <a:pPr algn="ctr"/>
                      <a:r>
                        <a:rPr lang="es-CO" sz="1150" b="1" dirty="0">
                          <a:solidFill>
                            <a:srgbClr val="FFFFFF"/>
                          </a:solidFill>
                          <a:latin typeface="Calibri"/>
                        </a:rPr>
                        <a:t>Escenario</a:t>
                      </a:r>
                    </a:p>
                  </a:txBody>
                  <a:tcPr>
                    <a:solidFill>
                      <a:srgbClr val="003366"/>
                    </a:solidFill>
                  </a:tcPr>
                </a:tc>
                <a:tc>
                  <a:txBody>
                    <a:bodyPr/>
                    <a:lstStyle/>
                    <a:p>
                      <a:pPr algn="ctr"/>
                      <a:r>
                        <a:rPr lang="es-CO" sz="1150" b="1" dirty="0">
                          <a:solidFill>
                            <a:srgbClr val="FFFFFF"/>
                          </a:solidFill>
                          <a:latin typeface="Calibri"/>
                        </a:rPr>
                        <a:t>Ver.</a:t>
                      </a:r>
                    </a:p>
                  </a:txBody>
                  <a:tcPr>
                    <a:solidFill>
                      <a:srgbClr val="003366"/>
                    </a:solidFill>
                  </a:tcPr>
                </a:tc>
                <a:tc>
                  <a:txBody>
                    <a:bodyPr/>
                    <a:lstStyle/>
                    <a:p>
                      <a:pPr algn="ctr"/>
                      <a:r>
                        <a:rPr lang="es-CO" sz="1150" b="1" dirty="0">
                          <a:solidFill>
                            <a:srgbClr val="FFFFFF"/>
                          </a:solidFill>
                          <a:latin typeface="Calibri"/>
                        </a:rPr>
                        <a:t>Estado</a:t>
                      </a:r>
                    </a:p>
                  </a:txBody>
                  <a:tcPr>
                    <a:solidFill>
                      <a:srgbClr val="003366"/>
                    </a:solidFill>
                  </a:tcPr>
                </a:tc>
                <a:tc>
                  <a:txBody>
                    <a:bodyPr/>
                    <a:lstStyle/>
                    <a:p>
                      <a:pPr algn="ctr"/>
                      <a:r>
                        <a:rPr lang="es-CO" sz="1150" b="1" dirty="0">
                          <a:solidFill>
                            <a:srgbClr val="FFFFFF"/>
                          </a:solidFill>
                          <a:latin typeface="Calibri"/>
                        </a:rPr>
                        <a:t>Trazabilidad (Ficha · Actas)</a:t>
                      </a:r>
                    </a:p>
                  </a:txBody>
                  <a:tcPr>
                    <a:solidFill>
                      <a:srgbClr val="003366"/>
                    </a:solidFill>
                  </a:tcPr>
                </a:tc>
                <a:extLst>
                  <a:ext uri="{0D108BD9-81ED-4DB2-BD59-A6C34878D82A}">
                    <a16:rowId xmlns:a16="http://schemas.microsoft.com/office/drawing/2014/main" val="10000"/>
                  </a:ext>
                </a:extLst>
              </a:tr>
              <a:tr h="380000">
                <a:tc gridSpan="2">
                  <a:txBody>
                    <a:bodyPr/>
                    <a:lstStyle/>
                    <a:p>
                      <a:r>
                        <a:rPr lang="es-CO" sz="1150" b="1" dirty="0">
                          <a:solidFill>
                            <a:srgbClr val="FFFFFF"/>
                          </a:solidFill>
                          <a:latin typeface="Calibri"/>
                        </a:rPr>
                        <a:t>  M1 — MATRÍCULA</a:t>
                      </a:r>
                    </a:p>
                  </a:txBody>
                  <a:tcPr>
                    <a:solidFill>
                      <a:srgbClr val="003366"/>
                    </a:solidFill>
                  </a:tcPr>
                </a:tc>
                <a:tc hMerge="1">
                  <a:txBody>
                    <a:bodyPr/>
                    <a:lstStyle/>
                    <a:p>
                      <a:endParaRPr lang="es-CO" dirty="0"/>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01"/>
                  </a:ext>
                </a:extLst>
              </a:tr>
              <a:tr h="450000">
                <a:tc>
                  <a:txBody>
                    <a:bodyPr/>
                    <a:lstStyle/>
                    <a:p>
                      <a:pPr algn="ctr"/>
                      <a:r>
                        <a:rPr lang="es-CO" sz="1200" b="1" dirty="0">
                          <a:solidFill>
                            <a:srgbClr val="003366"/>
                          </a:solidFill>
                          <a:latin typeface="Calibri"/>
                        </a:rPr>
                        <a:t>RF-01</a:t>
                      </a:r>
                    </a:p>
                  </a:txBody>
                  <a:tcPr>
                    <a:solidFill>
                      <a:srgbClr val="E8EEF7"/>
                    </a:solidFill>
                  </a:tcPr>
                </a:tc>
                <a:tc>
                  <a:txBody>
                    <a:bodyPr/>
                    <a:lstStyle/>
                    <a:p>
                      <a:r>
                        <a:rPr lang="es-CO" sz="1100" b="0" dirty="0">
                          <a:solidFill>
                            <a:srgbClr val="333333"/>
                          </a:solidFill>
                          <a:latin typeface="Calibri"/>
                        </a:rPr>
                        <a:t>Registro de matrícula por periodo</a:t>
                      </a:r>
                    </a:p>
                  </a:txBody>
                  <a:tcPr>
                    <a:solidFill>
                      <a:srgbClr val="E8EEF7"/>
                    </a:solidFill>
                  </a:tcPr>
                </a:tc>
                <a:tc>
                  <a:txBody>
                    <a:bodyPr/>
                    <a:lstStyle/>
                    <a:p>
                      <a:pPr algn="ctr"/>
                      <a:r>
                        <a:rPr lang="es-CO" sz="1100" b="1" dirty="0">
                          <a:solidFill>
                            <a:srgbClr val="003366"/>
                          </a:solidFill>
                          <a:latin typeface="Calibri"/>
                        </a:rPr>
                        <a:t>M1</a:t>
                      </a:r>
                    </a:p>
                  </a:txBody>
                  <a:tcPr>
                    <a:solidFill>
                      <a:srgbClr val="E8EEF7"/>
                    </a:solidFill>
                  </a:tcPr>
                </a:tc>
                <a:tc>
                  <a:txBody>
                    <a:bodyPr/>
                    <a:lstStyle/>
                    <a:p>
                      <a:pPr algn="ctr"/>
                      <a:r>
                        <a:rPr lang="es-CO" sz="1100" b="0" dirty="0">
                          <a:solidFill>
                            <a:srgbClr val="333333"/>
                          </a:solidFill>
                          <a:latin typeface="Calibri"/>
                        </a:rPr>
                        <a:t>E1, E2</a:t>
                      </a:r>
                    </a:p>
                  </a:txBody>
                  <a:tcPr>
                    <a:solidFill>
                      <a:srgbClr val="E8EEF7"/>
                    </a:solidFill>
                  </a:tcPr>
                </a:tc>
                <a:tc>
                  <a:txBody>
                    <a:bodyPr/>
                    <a:lstStyle/>
                    <a:p>
                      <a:pPr algn="ctr"/>
                      <a:r>
                        <a:rPr lang="es-CO" sz="1100" b="0" dirty="0">
                          <a:solidFill>
                            <a:srgbClr val="555555"/>
                          </a:solidFill>
                          <a:latin typeface="Calibri"/>
                        </a:rPr>
                        <a:t>1.1</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a:t>
                      </a:r>
                    </a:p>
                  </a:txBody>
                  <a:tcPr>
                    <a:solidFill>
                      <a:srgbClr val="E8EEF7"/>
                    </a:solidFill>
                  </a:tcPr>
                </a:tc>
                <a:extLst>
                  <a:ext uri="{0D108BD9-81ED-4DB2-BD59-A6C34878D82A}">
                    <a16:rowId xmlns:a16="http://schemas.microsoft.com/office/drawing/2014/main" val="10002"/>
                  </a:ext>
                </a:extLst>
              </a:tr>
              <a:tr h="450000">
                <a:tc>
                  <a:txBody>
                    <a:bodyPr/>
                    <a:lstStyle/>
                    <a:p>
                      <a:pPr algn="ctr"/>
                      <a:r>
                        <a:rPr lang="es-CO" sz="1200" b="1" dirty="0">
                          <a:solidFill>
                            <a:srgbClr val="003366"/>
                          </a:solidFill>
                          <a:latin typeface="Calibri"/>
                        </a:rPr>
                        <a:t>RF-02</a:t>
                      </a:r>
                    </a:p>
                  </a:txBody>
                  <a:tcPr>
                    <a:solidFill>
                      <a:srgbClr val="F5F8FC"/>
                    </a:solidFill>
                  </a:tcPr>
                </a:tc>
                <a:tc>
                  <a:txBody>
                    <a:bodyPr/>
                    <a:lstStyle/>
                    <a:p>
                      <a:r>
                        <a:rPr lang="es-CO" sz="1100" b="0" dirty="0">
                          <a:solidFill>
                            <a:srgbClr val="333333"/>
                          </a:solidFill>
                          <a:latin typeface="Calibri"/>
                        </a:rPr>
                        <a:t>Validación de prerrequisitos académicos</a:t>
                      </a:r>
                    </a:p>
                  </a:txBody>
                  <a:tcPr>
                    <a:solidFill>
                      <a:srgbClr val="F5F8FC"/>
                    </a:solidFill>
                  </a:tcPr>
                </a:tc>
                <a:tc>
                  <a:txBody>
                    <a:bodyPr/>
                    <a:lstStyle/>
                    <a:p>
                      <a:pPr algn="ctr"/>
                      <a:r>
                        <a:rPr lang="es-CO" sz="1100" b="1" dirty="0">
                          <a:solidFill>
                            <a:srgbClr val="003366"/>
                          </a:solidFill>
                          <a:latin typeface="Calibri"/>
                        </a:rPr>
                        <a:t>M1</a:t>
                      </a:r>
                    </a:p>
                  </a:txBody>
                  <a:tcPr>
                    <a:solidFill>
                      <a:srgbClr val="F5F8FC"/>
                    </a:solidFill>
                  </a:tcPr>
                </a:tc>
                <a:tc>
                  <a:txBody>
                    <a:bodyPr/>
                    <a:lstStyle/>
                    <a:p>
                      <a:pPr algn="ctr"/>
                      <a:r>
                        <a:rPr lang="es-CO" sz="1100" b="0" dirty="0">
                          <a:solidFill>
                            <a:srgbClr val="333333"/>
                          </a:solidFill>
                          <a:latin typeface="Calibri"/>
                        </a:rPr>
                        <a:t>E1, E2</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 A-002</a:t>
                      </a:r>
                    </a:p>
                  </a:txBody>
                  <a:tcPr>
                    <a:solidFill>
                      <a:srgbClr val="F5F8FC"/>
                    </a:solidFill>
                  </a:tcPr>
                </a:tc>
                <a:extLst>
                  <a:ext uri="{0D108BD9-81ED-4DB2-BD59-A6C34878D82A}">
                    <a16:rowId xmlns:a16="http://schemas.microsoft.com/office/drawing/2014/main" val="10003"/>
                  </a:ext>
                </a:extLst>
              </a:tr>
              <a:tr h="450000">
                <a:tc>
                  <a:txBody>
                    <a:bodyPr/>
                    <a:lstStyle/>
                    <a:p>
                      <a:pPr algn="ctr"/>
                      <a:r>
                        <a:rPr lang="es-CO" sz="1200" b="1" dirty="0">
                          <a:solidFill>
                            <a:srgbClr val="003366"/>
                          </a:solidFill>
                          <a:latin typeface="Calibri"/>
                        </a:rPr>
                        <a:t>RF-03</a:t>
                      </a:r>
                    </a:p>
                  </a:txBody>
                  <a:tcPr>
                    <a:solidFill>
                      <a:srgbClr val="E8EEF7"/>
                    </a:solidFill>
                  </a:tcPr>
                </a:tc>
                <a:tc>
                  <a:txBody>
                    <a:bodyPr/>
                    <a:lstStyle/>
                    <a:p>
                      <a:r>
                        <a:rPr lang="es-CO" sz="1100" b="0" dirty="0">
                          <a:solidFill>
                            <a:srgbClr val="333333"/>
                          </a:solidFill>
                          <a:latin typeface="Calibri"/>
                        </a:rPr>
                        <a:t>Validación de saldo financiero pendiente</a:t>
                      </a:r>
                    </a:p>
                  </a:txBody>
                  <a:tcPr>
                    <a:solidFill>
                      <a:srgbClr val="E8EEF7"/>
                    </a:solidFill>
                  </a:tcPr>
                </a:tc>
                <a:tc>
                  <a:txBody>
                    <a:bodyPr/>
                    <a:lstStyle/>
                    <a:p>
                      <a:pPr algn="ctr"/>
                      <a:r>
                        <a:rPr lang="es-CO" sz="1100" b="1" dirty="0">
                          <a:solidFill>
                            <a:srgbClr val="003366"/>
                          </a:solidFill>
                          <a:latin typeface="Calibri"/>
                        </a:rPr>
                        <a:t>M1</a:t>
                      </a:r>
                    </a:p>
                  </a:txBody>
                  <a:tcPr>
                    <a:solidFill>
                      <a:srgbClr val="E8EEF7"/>
                    </a:solidFill>
                  </a:tcPr>
                </a:tc>
                <a:tc>
                  <a:txBody>
                    <a:bodyPr/>
                    <a:lstStyle/>
                    <a:p>
                      <a:pPr algn="ctr"/>
                      <a:r>
                        <a:rPr lang="es-CO" sz="1100" b="0" dirty="0">
                          <a:solidFill>
                            <a:srgbClr val="333333"/>
                          </a:solidFill>
                          <a:latin typeface="Calibri"/>
                        </a:rPr>
                        <a:t>E1, E4</a:t>
                      </a:r>
                    </a:p>
                  </a:txBody>
                  <a:tcPr>
                    <a:solidFill>
                      <a:srgbClr val="E8EEF7"/>
                    </a:solidFill>
                  </a:tcPr>
                </a:tc>
                <a:tc>
                  <a:txBody>
                    <a:bodyPr/>
                    <a:lstStyle/>
                    <a:p>
                      <a:pPr algn="ctr"/>
                      <a:r>
                        <a:rPr lang="es-CO" sz="1100" b="0" dirty="0">
                          <a:solidFill>
                            <a:srgbClr val="555555"/>
                          </a:solidFill>
                          <a:latin typeface="Calibri"/>
                        </a:rPr>
                        <a:t>1.0</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a:t>
                      </a:r>
                    </a:p>
                  </a:txBody>
                  <a:tcPr>
                    <a:solidFill>
                      <a:srgbClr val="E8EEF7"/>
                    </a:solidFill>
                  </a:tcPr>
                </a:tc>
                <a:extLst>
                  <a:ext uri="{0D108BD9-81ED-4DB2-BD59-A6C34878D82A}">
                    <a16:rowId xmlns:a16="http://schemas.microsoft.com/office/drawing/2014/main" val="10004"/>
                  </a:ext>
                </a:extLst>
              </a:tr>
              <a:tr h="450000">
                <a:tc>
                  <a:txBody>
                    <a:bodyPr/>
                    <a:lstStyle/>
                    <a:p>
                      <a:pPr algn="ctr"/>
                      <a:r>
                        <a:rPr lang="es-CO" sz="1200" b="1" dirty="0">
                          <a:solidFill>
                            <a:srgbClr val="003366"/>
                          </a:solidFill>
                          <a:latin typeface="Calibri"/>
                        </a:rPr>
                        <a:t>RF-04</a:t>
                      </a:r>
                    </a:p>
                  </a:txBody>
                  <a:tcPr>
                    <a:solidFill>
                      <a:srgbClr val="F5F8FC"/>
                    </a:solidFill>
                  </a:tcPr>
                </a:tc>
                <a:tc>
                  <a:txBody>
                    <a:bodyPr/>
                    <a:lstStyle/>
                    <a:p>
                      <a:r>
                        <a:rPr lang="es-CO" sz="1100" b="0" dirty="0">
                          <a:solidFill>
                            <a:srgbClr val="333333"/>
                          </a:solidFill>
                          <a:latin typeface="Calibri"/>
                        </a:rPr>
                        <a:t>Modificación y ajuste de matrícula</a:t>
                      </a:r>
                    </a:p>
                  </a:txBody>
                  <a:tcPr>
                    <a:solidFill>
                      <a:srgbClr val="F5F8FC"/>
                    </a:solidFill>
                  </a:tcPr>
                </a:tc>
                <a:tc>
                  <a:txBody>
                    <a:bodyPr/>
                    <a:lstStyle/>
                    <a:p>
                      <a:pPr algn="ctr"/>
                      <a:r>
                        <a:rPr lang="es-CO" sz="1100" b="1" dirty="0">
                          <a:solidFill>
                            <a:srgbClr val="003366"/>
                          </a:solidFill>
                          <a:latin typeface="Calibri"/>
                        </a:rPr>
                        <a:t>M1</a:t>
                      </a:r>
                    </a:p>
                  </a:txBody>
                  <a:tcPr>
                    <a:solidFill>
                      <a:srgbClr val="F5F8FC"/>
                    </a:solidFill>
                  </a:tcPr>
                </a:tc>
                <a:tc>
                  <a:txBody>
                    <a:bodyPr/>
                    <a:lstStyle/>
                    <a:p>
                      <a:pPr algn="ctr"/>
                      <a:r>
                        <a:rPr lang="es-CO" sz="1100" b="0" dirty="0">
                          <a:solidFill>
                            <a:srgbClr val="333333"/>
                          </a:solidFill>
                          <a:latin typeface="Calibri"/>
                        </a:rPr>
                        <a:t>E1, E2</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E67E22"/>
                          </a:solidFill>
                          <a:latin typeface="Calibri"/>
                        </a:rPr>
                        <a:t>En revisión</a:t>
                      </a:r>
                    </a:p>
                  </a:txBody>
                  <a:tcPr>
                    <a:solidFill>
                      <a:srgbClr val="FFF3E0"/>
                    </a:solidFill>
                  </a:tcPr>
                </a:tc>
                <a:tc>
                  <a:txBody>
                    <a:bodyPr/>
                    <a:lstStyle/>
                    <a:p>
                      <a:r>
                        <a:rPr lang="es-CO" sz="1050" b="0" dirty="0">
                          <a:solidFill>
                            <a:srgbClr val="1C4E8A"/>
                          </a:solidFill>
                          <a:latin typeface="Calibri"/>
                        </a:rPr>
                        <a:t>FC-001 · A-002</a:t>
                      </a:r>
                    </a:p>
                  </a:txBody>
                  <a:tcPr>
                    <a:solidFill>
                      <a:srgbClr val="F5F8FC"/>
                    </a:solidFill>
                  </a:tcPr>
                </a:tc>
                <a:extLst>
                  <a:ext uri="{0D108BD9-81ED-4DB2-BD59-A6C34878D82A}">
                    <a16:rowId xmlns:a16="http://schemas.microsoft.com/office/drawing/2014/main" val="10005"/>
                  </a:ext>
                </a:extLst>
              </a:tr>
              <a:tr h="380000">
                <a:tc gridSpan="2">
                  <a:txBody>
                    <a:bodyPr/>
                    <a:lstStyle/>
                    <a:p>
                      <a:r>
                        <a:rPr lang="es-CO" sz="1150" b="1" dirty="0">
                          <a:solidFill>
                            <a:srgbClr val="FFFFFF"/>
                          </a:solidFill>
                          <a:latin typeface="Calibri"/>
                        </a:rPr>
                        <a:t>  M2 — PLAN DE ESTUDIOS</a:t>
                      </a:r>
                    </a:p>
                  </a:txBody>
                  <a:tcPr>
                    <a:solidFill>
                      <a:srgbClr val="1C4E8A"/>
                    </a:solidFill>
                  </a:tcPr>
                </a:tc>
                <a:tc hMerge="1">
                  <a:txBody>
                    <a:bodyPr/>
                    <a:lstStyle/>
                    <a:p>
                      <a:endParaRPr lang="es-CO" dirty="0"/>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06"/>
                  </a:ext>
                </a:extLst>
              </a:tr>
              <a:tr h="450000">
                <a:tc>
                  <a:txBody>
                    <a:bodyPr/>
                    <a:lstStyle/>
                    <a:p>
                      <a:pPr algn="ctr"/>
                      <a:r>
                        <a:rPr lang="es-CO" sz="1200" b="1" dirty="0">
                          <a:solidFill>
                            <a:srgbClr val="003366"/>
                          </a:solidFill>
                          <a:latin typeface="Calibri"/>
                        </a:rPr>
                        <a:t>RF-05</a:t>
                      </a:r>
                    </a:p>
                  </a:txBody>
                  <a:tcPr>
                    <a:solidFill>
                      <a:srgbClr val="E8EEF7"/>
                    </a:solidFill>
                  </a:tcPr>
                </a:tc>
                <a:tc>
                  <a:txBody>
                    <a:bodyPr/>
                    <a:lstStyle/>
                    <a:p>
                      <a:r>
                        <a:rPr lang="es-CO" sz="1100" b="0" dirty="0">
                          <a:solidFill>
                            <a:srgbClr val="333333"/>
                          </a:solidFill>
                          <a:latin typeface="Calibri"/>
                        </a:rPr>
                        <a:t>Parametrización de asignaturas y créditos</a:t>
                      </a:r>
                    </a:p>
                  </a:txBody>
                  <a:tcPr>
                    <a:solidFill>
                      <a:srgbClr val="E8EEF7"/>
                    </a:solidFill>
                  </a:tcPr>
                </a:tc>
                <a:tc>
                  <a:txBody>
                    <a:bodyPr/>
                    <a:lstStyle/>
                    <a:p>
                      <a:pPr algn="ctr"/>
                      <a:r>
                        <a:rPr lang="es-CO" sz="1100" b="1" dirty="0">
                          <a:solidFill>
                            <a:srgbClr val="1C4E8A"/>
                          </a:solidFill>
                          <a:latin typeface="Calibri"/>
                        </a:rPr>
                        <a:t>M2</a:t>
                      </a:r>
                    </a:p>
                  </a:txBody>
                  <a:tcPr>
                    <a:solidFill>
                      <a:srgbClr val="E8EEF7"/>
                    </a:solidFill>
                  </a:tcPr>
                </a:tc>
                <a:tc>
                  <a:txBody>
                    <a:bodyPr/>
                    <a:lstStyle/>
                    <a:p>
                      <a:pPr algn="ctr"/>
                      <a:r>
                        <a:rPr lang="es-CO" sz="1100" b="0" dirty="0">
                          <a:solidFill>
                            <a:srgbClr val="333333"/>
                          </a:solidFill>
                          <a:latin typeface="Calibri"/>
                        </a:rPr>
                        <a:t>E1, E2</a:t>
                      </a:r>
                    </a:p>
                  </a:txBody>
                  <a:tcPr>
                    <a:solidFill>
                      <a:srgbClr val="E8EEF7"/>
                    </a:solidFill>
                  </a:tcPr>
                </a:tc>
                <a:tc>
                  <a:txBody>
                    <a:bodyPr/>
                    <a:lstStyle/>
                    <a:p>
                      <a:pPr algn="ctr"/>
                      <a:r>
                        <a:rPr lang="es-CO" sz="1100" b="0" dirty="0">
                          <a:solidFill>
                            <a:srgbClr val="555555"/>
                          </a:solidFill>
                          <a:latin typeface="Calibri"/>
                        </a:rPr>
                        <a:t>1.0</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 A-002</a:t>
                      </a:r>
                    </a:p>
                  </a:txBody>
                  <a:tcPr>
                    <a:solidFill>
                      <a:srgbClr val="E8EEF7"/>
                    </a:solidFill>
                  </a:tcPr>
                </a:tc>
                <a:extLst>
                  <a:ext uri="{0D108BD9-81ED-4DB2-BD59-A6C34878D82A}">
                    <a16:rowId xmlns:a16="http://schemas.microsoft.com/office/drawing/2014/main" val="10007"/>
                  </a:ext>
                </a:extLst>
              </a:tr>
              <a:tr h="450000">
                <a:tc>
                  <a:txBody>
                    <a:bodyPr/>
                    <a:lstStyle/>
                    <a:p>
                      <a:pPr algn="ctr"/>
                      <a:r>
                        <a:rPr lang="es-CO" sz="1200" b="1" dirty="0">
                          <a:solidFill>
                            <a:srgbClr val="003366"/>
                          </a:solidFill>
                          <a:latin typeface="Calibri"/>
                        </a:rPr>
                        <a:t>RF-06</a:t>
                      </a:r>
                    </a:p>
                  </a:txBody>
                  <a:tcPr>
                    <a:solidFill>
                      <a:srgbClr val="F5F8FC"/>
                    </a:solidFill>
                  </a:tcPr>
                </a:tc>
                <a:tc>
                  <a:txBody>
                    <a:bodyPr/>
                    <a:lstStyle/>
                    <a:p>
                      <a:r>
                        <a:rPr lang="es-CO" sz="1100" b="0" dirty="0">
                          <a:solidFill>
                            <a:srgbClr val="333333"/>
                          </a:solidFill>
                          <a:latin typeface="Calibri"/>
                        </a:rPr>
                        <a:t>Gestión de prerrequisitos y correquisitos</a:t>
                      </a:r>
                    </a:p>
                  </a:txBody>
                  <a:tcPr>
                    <a:solidFill>
                      <a:srgbClr val="F5F8FC"/>
                    </a:solidFill>
                  </a:tcPr>
                </a:tc>
                <a:tc>
                  <a:txBody>
                    <a:bodyPr/>
                    <a:lstStyle/>
                    <a:p>
                      <a:pPr algn="ctr"/>
                      <a:r>
                        <a:rPr lang="es-CO" sz="1100" b="1" dirty="0">
                          <a:solidFill>
                            <a:srgbClr val="1C4E8A"/>
                          </a:solidFill>
                          <a:latin typeface="Calibri"/>
                        </a:rPr>
                        <a:t>M2</a:t>
                      </a:r>
                    </a:p>
                  </a:txBody>
                  <a:tcPr>
                    <a:solidFill>
                      <a:srgbClr val="F5F8FC"/>
                    </a:solidFill>
                  </a:tcPr>
                </a:tc>
                <a:tc>
                  <a:txBody>
                    <a:bodyPr/>
                    <a:lstStyle/>
                    <a:p>
                      <a:pPr algn="ctr"/>
                      <a:r>
                        <a:rPr lang="es-CO" sz="1100" b="0" dirty="0">
                          <a:solidFill>
                            <a:srgbClr val="333333"/>
                          </a:solidFill>
                          <a:latin typeface="Calibri"/>
                        </a:rPr>
                        <a:t>E2</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A-002</a:t>
                      </a:r>
                    </a:p>
                  </a:txBody>
                  <a:tcPr>
                    <a:solidFill>
                      <a:srgbClr val="F5F8FC"/>
                    </a:solidFill>
                  </a:tcPr>
                </a:tc>
                <a:extLst>
                  <a:ext uri="{0D108BD9-81ED-4DB2-BD59-A6C34878D82A}">
                    <a16:rowId xmlns:a16="http://schemas.microsoft.com/office/drawing/2014/main" val="10008"/>
                  </a:ext>
                </a:extLst>
              </a:tr>
              <a:tr h="450000">
                <a:tc>
                  <a:txBody>
                    <a:bodyPr/>
                    <a:lstStyle/>
                    <a:p>
                      <a:pPr algn="ctr"/>
                      <a:r>
                        <a:rPr lang="es-CO" sz="1200" b="1" dirty="0">
                          <a:solidFill>
                            <a:srgbClr val="003366"/>
                          </a:solidFill>
                          <a:latin typeface="Calibri"/>
                        </a:rPr>
                        <a:t>RF-07</a:t>
                      </a:r>
                    </a:p>
                  </a:txBody>
                  <a:tcPr>
                    <a:solidFill>
                      <a:srgbClr val="E8EEF7"/>
                    </a:solidFill>
                  </a:tcPr>
                </a:tc>
                <a:tc>
                  <a:txBody>
                    <a:bodyPr/>
                    <a:lstStyle/>
                    <a:p>
                      <a:r>
                        <a:rPr lang="es-CO" sz="1100" b="0" dirty="0">
                          <a:solidFill>
                            <a:srgbClr val="333333"/>
                          </a:solidFill>
                          <a:latin typeface="Calibri"/>
                        </a:rPr>
                        <a:t>Configuración de cohortes de ingreso</a:t>
                      </a:r>
                    </a:p>
                  </a:txBody>
                  <a:tcPr>
                    <a:solidFill>
                      <a:srgbClr val="E8EEF7"/>
                    </a:solidFill>
                  </a:tcPr>
                </a:tc>
                <a:tc>
                  <a:txBody>
                    <a:bodyPr/>
                    <a:lstStyle/>
                    <a:p>
                      <a:pPr algn="ctr"/>
                      <a:r>
                        <a:rPr lang="es-CO" sz="1100" b="1" dirty="0">
                          <a:solidFill>
                            <a:srgbClr val="1C4E8A"/>
                          </a:solidFill>
                          <a:latin typeface="Calibri"/>
                        </a:rPr>
                        <a:t>M2</a:t>
                      </a:r>
                    </a:p>
                  </a:txBody>
                  <a:tcPr>
                    <a:solidFill>
                      <a:srgbClr val="E8EEF7"/>
                    </a:solidFill>
                  </a:tcPr>
                </a:tc>
                <a:tc>
                  <a:txBody>
                    <a:bodyPr/>
                    <a:lstStyle/>
                    <a:p>
                      <a:pPr algn="ctr"/>
                      <a:r>
                        <a:rPr lang="es-CO" sz="1100" b="0" dirty="0">
                          <a:solidFill>
                            <a:srgbClr val="333333"/>
                          </a:solidFill>
                          <a:latin typeface="Calibri"/>
                        </a:rPr>
                        <a:t>E2</a:t>
                      </a:r>
                    </a:p>
                  </a:txBody>
                  <a:tcPr>
                    <a:solidFill>
                      <a:srgbClr val="E8EEF7"/>
                    </a:solidFill>
                  </a:tcPr>
                </a:tc>
                <a:tc>
                  <a:txBody>
                    <a:bodyPr/>
                    <a:lstStyle/>
                    <a:p>
                      <a:pPr algn="ctr"/>
                      <a:r>
                        <a:rPr lang="es-CO" sz="1100" b="0" dirty="0">
                          <a:solidFill>
                            <a:srgbClr val="555555"/>
                          </a:solidFill>
                          <a:latin typeface="Calibri"/>
                        </a:rPr>
                        <a:t>1.1</a:t>
                      </a:r>
                    </a:p>
                  </a:txBody>
                  <a:tcPr>
                    <a:solidFill>
                      <a:srgbClr val="E8EEF7"/>
                    </a:solidFill>
                  </a:tcPr>
                </a:tc>
                <a:tc>
                  <a:txBody>
                    <a:bodyPr/>
                    <a:lstStyle/>
                    <a:p>
                      <a:pPr algn="ctr"/>
                      <a:r>
                        <a:rPr lang="es-CO" sz="1100" b="1" dirty="0">
                          <a:solidFill>
                            <a:srgbClr val="E67E22"/>
                          </a:solidFill>
                          <a:latin typeface="Calibri"/>
                        </a:rPr>
                        <a:t>En revisión</a:t>
                      </a:r>
                    </a:p>
                  </a:txBody>
                  <a:tcPr>
                    <a:solidFill>
                      <a:srgbClr val="FFF3E0"/>
                    </a:solidFill>
                  </a:tcPr>
                </a:tc>
                <a:tc>
                  <a:txBody>
                    <a:bodyPr/>
                    <a:lstStyle/>
                    <a:p>
                      <a:r>
                        <a:rPr lang="es-CO" sz="1050" b="0" dirty="0">
                          <a:solidFill>
                            <a:srgbClr val="1C4E8A"/>
                          </a:solidFill>
                          <a:latin typeface="Calibri"/>
                        </a:rPr>
                        <a:t>FC-002 · A-002, A-003</a:t>
                      </a:r>
                    </a:p>
                  </a:txBody>
                  <a:tcPr>
                    <a:solidFill>
                      <a:srgbClr val="E8EEF7"/>
                    </a:solidFill>
                  </a:tcPr>
                </a:tc>
                <a:extLst>
                  <a:ext uri="{0D108BD9-81ED-4DB2-BD59-A6C34878D82A}">
                    <a16:rowId xmlns:a16="http://schemas.microsoft.com/office/drawing/2014/main" val="10009"/>
                  </a:ext>
                </a:extLst>
              </a:tr>
              <a:tr h="380000">
                <a:tc gridSpan="2">
                  <a:txBody>
                    <a:bodyPr/>
                    <a:lstStyle/>
                    <a:p>
                      <a:r>
                        <a:rPr lang="es-CO" sz="1150" b="1" dirty="0">
                          <a:solidFill>
                            <a:srgbClr val="FFFFFF"/>
                          </a:solidFill>
                          <a:latin typeface="Calibri"/>
                        </a:rPr>
                        <a:t>  M3 — CALIFICACIONES</a:t>
                      </a:r>
                    </a:p>
                  </a:txBody>
                  <a:tcPr>
                    <a:solidFill>
                      <a:srgbClr val="2E6DA4"/>
                    </a:solidFill>
                  </a:tcPr>
                </a:tc>
                <a:tc hMerge="1">
                  <a:txBody>
                    <a:bodyPr/>
                    <a:lstStyle/>
                    <a:p>
                      <a:endParaRPr lang="es-CO" dirty="0"/>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10"/>
                  </a:ext>
                </a:extLst>
              </a:tr>
              <a:tr h="450000">
                <a:tc>
                  <a:txBody>
                    <a:bodyPr/>
                    <a:lstStyle/>
                    <a:p>
                      <a:pPr algn="ctr"/>
                      <a:r>
                        <a:rPr lang="es-CO" sz="1200" b="1" dirty="0">
                          <a:solidFill>
                            <a:srgbClr val="003366"/>
                          </a:solidFill>
                          <a:latin typeface="Calibri"/>
                        </a:rPr>
                        <a:t>RF-08</a:t>
                      </a:r>
                    </a:p>
                  </a:txBody>
                  <a:tcPr>
                    <a:solidFill>
                      <a:srgbClr val="F5F8FC"/>
                    </a:solidFill>
                  </a:tcPr>
                </a:tc>
                <a:tc>
                  <a:txBody>
                    <a:bodyPr/>
                    <a:lstStyle/>
                    <a:p>
                      <a:r>
                        <a:rPr lang="es-CO" sz="1100" b="0" dirty="0">
                          <a:solidFill>
                            <a:srgbClr val="333333"/>
                          </a:solidFill>
                          <a:latin typeface="Calibri"/>
                        </a:rPr>
                        <a:t>Registro de calificaciones parciales</a:t>
                      </a:r>
                    </a:p>
                  </a:txBody>
                  <a:tcPr>
                    <a:solidFill>
                      <a:srgbClr val="F5F8FC"/>
                    </a:solidFill>
                  </a:tcPr>
                </a:tc>
                <a:tc>
                  <a:txBody>
                    <a:bodyPr/>
                    <a:lstStyle/>
                    <a:p>
                      <a:pPr algn="ctr"/>
                      <a:r>
                        <a:rPr lang="es-CO" sz="1100" b="1" dirty="0">
                          <a:solidFill>
                            <a:srgbClr val="2E6DA4"/>
                          </a:solidFill>
                          <a:latin typeface="Calibri"/>
                        </a:rPr>
                        <a:t>M3</a:t>
                      </a:r>
                    </a:p>
                  </a:txBody>
                  <a:tcPr>
                    <a:solidFill>
                      <a:srgbClr val="F5F8FC"/>
                    </a:solidFill>
                  </a:tcPr>
                </a:tc>
                <a:tc>
                  <a:txBody>
                    <a:bodyPr/>
                    <a:lstStyle/>
                    <a:p>
                      <a:pPr algn="ctr"/>
                      <a:r>
                        <a:rPr lang="es-CO" sz="1100" b="0" dirty="0">
                          <a:solidFill>
                            <a:srgbClr val="333333"/>
                          </a:solidFill>
                          <a:latin typeface="Calibri"/>
                        </a:rPr>
                        <a:t>E2, E3</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A-003, A-004</a:t>
                      </a:r>
                    </a:p>
                  </a:txBody>
                  <a:tcPr>
                    <a:solidFill>
                      <a:srgbClr val="F5F8FC"/>
                    </a:solidFill>
                  </a:tcPr>
                </a:tc>
                <a:extLst>
                  <a:ext uri="{0D108BD9-81ED-4DB2-BD59-A6C34878D82A}">
                    <a16:rowId xmlns:a16="http://schemas.microsoft.com/office/drawing/2014/main" val="10011"/>
                  </a:ext>
                </a:extLst>
              </a:tr>
              <a:tr h="450000">
                <a:tc>
                  <a:txBody>
                    <a:bodyPr/>
                    <a:lstStyle/>
                    <a:p>
                      <a:pPr algn="ctr"/>
                      <a:r>
                        <a:rPr lang="es-CO" sz="1200" b="1" dirty="0">
                          <a:solidFill>
                            <a:srgbClr val="003366"/>
                          </a:solidFill>
                          <a:latin typeface="Calibri"/>
                        </a:rPr>
                        <a:t>RF-09</a:t>
                      </a:r>
                    </a:p>
                  </a:txBody>
                  <a:tcPr>
                    <a:solidFill>
                      <a:srgbClr val="E8EEF7"/>
                    </a:solidFill>
                  </a:tcPr>
                </a:tc>
                <a:tc>
                  <a:txBody>
                    <a:bodyPr/>
                    <a:lstStyle/>
                    <a:p>
                      <a:r>
                        <a:rPr lang="es-CO" sz="1100" b="0" dirty="0">
                          <a:solidFill>
                            <a:srgbClr val="333333"/>
                          </a:solidFill>
                          <a:latin typeface="Calibri"/>
                        </a:rPr>
                        <a:t>Registro de calificaciones finales</a:t>
                      </a:r>
                    </a:p>
                  </a:txBody>
                  <a:tcPr>
                    <a:solidFill>
                      <a:srgbClr val="E8EEF7"/>
                    </a:solidFill>
                  </a:tcPr>
                </a:tc>
                <a:tc>
                  <a:txBody>
                    <a:bodyPr/>
                    <a:lstStyle/>
                    <a:p>
                      <a:pPr algn="ctr"/>
                      <a:r>
                        <a:rPr lang="es-CO" sz="1100" b="1" dirty="0">
                          <a:solidFill>
                            <a:srgbClr val="2E6DA4"/>
                          </a:solidFill>
                          <a:latin typeface="Calibri"/>
                        </a:rPr>
                        <a:t>M3</a:t>
                      </a:r>
                    </a:p>
                  </a:txBody>
                  <a:tcPr>
                    <a:solidFill>
                      <a:srgbClr val="E8EEF7"/>
                    </a:solidFill>
                  </a:tcPr>
                </a:tc>
                <a:tc>
                  <a:txBody>
                    <a:bodyPr/>
                    <a:lstStyle/>
                    <a:p>
                      <a:pPr algn="ctr"/>
                      <a:r>
                        <a:rPr lang="es-CO" sz="1100" b="0" dirty="0">
                          <a:solidFill>
                            <a:srgbClr val="333333"/>
                          </a:solidFill>
                          <a:latin typeface="Calibri"/>
                        </a:rPr>
                        <a:t>E2, E3</a:t>
                      </a:r>
                    </a:p>
                  </a:txBody>
                  <a:tcPr>
                    <a:solidFill>
                      <a:srgbClr val="E8EEF7"/>
                    </a:solidFill>
                  </a:tcPr>
                </a:tc>
                <a:tc>
                  <a:txBody>
                    <a:bodyPr/>
                    <a:lstStyle/>
                    <a:p>
                      <a:pPr algn="ctr"/>
                      <a:r>
                        <a:rPr lang="es-CO" sz="1100" b="0" dirty="0">
                          <a:solidFill>
                            <a:srgbClr val="555555"/>
                          </a:solidFill>
                          <a:latin typeface="Calibri"/>
                        </a:rPr>
                        <a:t>1.0</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A-003, A-004, A-005</a:t>
                      </a:r>
                    </a:p>
                  </a:txBody>
                  <a:tcPr>
                    <a:solidFill>
                      <a:srgbClr val="E8EEF7"/>
                    </a:solidFill>
                  </a:tcPr>
                </a:tc>
                <a:extLst>
                  <a:ext uri="{0D108BD9-81ED-4DB2-BD59-A6C34878D82A}">
                    <a16:rowId xmlns:a16="http://schemas.microsoft.com/office/drawing/2014/main" val="10012"/>
                  </a:ext>
                </a:extLst>
              </a:tr>
              <a:tr h="450000">
                <a:tc>
                  <a:txBody>
                    <a:bodyPr/>
                    <a:lstStyle/>
                    <a:p>
                      <a:pPr algn="ctr"/>
                      <a:r>
                        <a:rPr lang="es-CO" sz="1200" b="1" dirty="0">
                          <a:solidFill>
                            <a:srgbClr val="003366"/>
                          </a:solidFill>
                          <a:latin typeface="Calibri"/>
                        </a:rPr>
                        <a:t>RF-10</a:t>
                      </a:r>
                    </a:p>
                  </a:txBody>
                  <a:tcPr>
                    <a:solidFill>
                      <a:srgbClr val="F5F8FC"/>
                    </a:solidFill>
                  </a:tcPr>
                </a:tc>
                <a:tc>
                  <a:txBody>
                    <a:bodyPr/>
                    <a:lstStyle/>
                    <a:p>
                      <a:r>
                        <a:rPr lang="es-CO" sz="1100" b="0" dirty="0">
                          <a:solidFill>
                            <a:srgbClr val="333333"/>
                          </a:solidFill>
                          <a:latin typeface="Calibri"/>
                        </a:rPr>
                        <a:t>Cierre controlado de actas académicas</a:t>
                      </a:r>
                    </a:p>
                  </a:txBody>
                  <a:tcPr>
                    <a:solidFill>
                      <a:srgbClr val="F5F8FC"/>
                    </a:solidFill>
                  </a:tcPr>
                </a:tc>
                <a:tc>
                  <a:txBody>
                    <a:bodyPr/>
                    <a:lstStyle/>
                    <a:p>
                      <a:pPr algn="ctr"/>
                      <a:r>
                        <a:rPr lang="es-CO" sz="1100" b="1" dirty="0">
                          <a:solidFill>
                            <a:srgbClr val="2E6DA4"/>
                          </a:solidFill>
                          <a:latin typeface="Calibri"/>
                        </a:rPr>
                        <a:t>M3</a:t>
                      </a:r>
                    </a:p>
                  </a:txBody>
                  <a:tcPr>
                    <a:solidFill>
                      <a:srgbClr val="F5F8FC"/>
                    </a:solidFill>
                  </a:tcPr>
                </a:tc>
                <a:tc>
                  <a:txBody>
                    <a:bodyPr/>
                    <a:lstStyle/>
                    <a:p>
                      <a:pPr algn="ctr"/>
                      <a:r>
                        <a:rPr lang="es-CO" sz="1100" b="0" dirty="0">
                          <a:solidFill>
                            <a:srgbClr val="333333"/>
                          </a:solidFill>
                          <a:latin typeface="Calibri"/>
                        </a:rPr>
                        <a:t>E2, E3</a:t>
                      </a:r>
                    </a:p>
                  </a:txBody>
                  <a:tcPr>
                    <a:solidFill>
                      <a:srgbClr val="F5F8FC"/>
                    </a:solidFill>
                  </a:tcPr>
                </a:tc>
                <a:tc>
                  <a:txBody>
                    <a:bodyPr/>
                    <a:lstStyle/>
                    <a:p>
                      <a:pPr algn="ctr"/>
                      <a:r>
                        <a:rPr lang="es-CO" sz="1100" b="0" dirty="0">
                          <a:solidFill>
                            <a:srgbClr val="555555"/>
                          </a:solidFill>
                          <a:latin typeface="Calibri"/>
                        </a:rPr>
                        <a:t>1.1</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A-003, A-004</a:t>
                      </a:r>
                    </a:p>
                  </a:txBody>
                  <a:tcPr>
                    <a:solidFill>
                      <a:srgbClr val="F5F8FC"/>
                    </a:solidFill>
                  </a:tcPr>
                </a:tc>
                <a:extLst>
                  <a:ext uri="{0D108BD9-81ED-4DB2-BD59-A6C34878D82A}">
                    <a16:rowId xmlns:a16="http://schemas.microsoft.com/office/drawing/2014/main" val="10013"/>
                  </a:ext>
                </a:extLst>
              </a:tr>
              <a:tr h="450000">
                <a:tc>
                  <a:txBody>
                    <a:bodyPr/>
                    <a:lstStyle/>
                    <a:p>
                      <a:pPr algn="ctr"/>
                      <a:r>
                        <a:rPr lang="es-CO" sz="1200" b="1" dirty="0">
                          <a:solidFill>
                            <a:srgbClr val="003366"/>
                          </a:solidFill>
                          <a:latin typeface="Calibri"/>
                        </a:rPr>
                        <a:t>RF-11</a:t>
                      </a:r>
                    </a:p>
                  </a:txBody>
                  <a:tcPr>
                    <a:solidFill>
                      <a:srgbClr val="E8EEF7"/>
                    </a:solidFill>
                  </a:tcPr>
                </a:tc>
                <a:tc>
                  <a:txBody>
                    <a:bodyPr/>
                    <a:lstStyle/>
                    <a:p>
                      <a:r>
                        <a:rPr lang="es-CO" sz="1100" b="0" dirty="0">
                          <a:solidFill>
                            <a:srgbClr val="333333"/>
                          </a:solidFill>
                          <a:latin typeface="Calibri"/>
                        </a:rPr>
                        <a:t>Asignación docente a grupos y horarios</a:t>
                      </a:r>
                    </a:p>
                  </a:txBody>
                  <a:tcPr>
                    <a:solidFill>
                      <a:srgbClr val="E8EEF7"/>
                    </a:solidFill>
                  </a:tcPr>
                </a:tc>
                <a:tc>
                  <a:txBody>
                    <a:bodyPr/>
                    <a:lstStyle/>
                    <a:p>
                      <a:pPr algn="ctr"/>
                      <a:r>
                        <a:rPr lang="es-CO" sz="1100" b="1" dirty="0">
                          <a:solidFill>
                            <a:srgbClr val="2E6DA4"/>
                          </a:solidFill>
                          <a:latin typeface="Calibri"/>
                        </a:rPr>
                        <a:t>M3</a:t>
                      </a:r>
                    </a:p>
                  </a:txBody>
                  <a:tcPr>
                    <a:solidFill>
                      <a:srgbClr val="E8EEF7"/>
                    </a:solidFill>
                  </a:tcPr>
                </a:tc>
                <a:tc>
                  <a:txBody>
                    <a:bodyPr/>
                    <a:lstStyle/>
                    <a:p>
                      <a:pPr algn="ctr"/>
                      <a:r>
                        <a:rPr lang="es-CO" sz="1100" b="0" dirty="0">
                          <a:solidFill>
                            <a:srgbClr val="333333"/>
                          </a:solidFill>
                          <a:latin typeface="Calibri"/>
                        </a:rPr>
                        <a:t>E2, E3</a:t>
                      </a:r>
                    </a:p>
                  </a:txBody>
                  <a:tcPr>
                    <a:solidFill>
                      <a:srgbClr val="E8EEF7"/>
                    </a:solidFill>
                  </a:tcPr>
                </a:tc>
                <a:tc>
                  <a:txBody>
                    <a:bodyPr/>
                    <a:lstStyle/>
                    <a:p>
                      <a:pPr algn="ctr"/>
                      <a:r>
                        <a:rPr lang="es-CO" sz="1100" b="0" dirty="0">
                          <a:solidFill>
                            <a:srgbClr val="555555"/>
                          </a:solidFill>
                          <a:latin typeface="Calibri"/>
                        </a:rPr>
                        <a:t>1.1</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A-002, A-003</a:t>
                      </a:r>
                    </a:p>
                  </a:txBody>
                  <a:tcPr>
                    <a:solidFill>
                      <a:srgbClr val="E8EEF7"/>
                    </a:solidFill>
                  </a:tcPr>
                </a:tc>
                <a:extLst>
                  <a:ext uri="{0D108BD9-81ED-4DB2-BD59-A6C34878D82A}">
                    <a16:rowId xmlns:a16="http://schemas.microsoft.com/office/drawing/2014/main" val="10014"/>
                  </a:ext>
                </a:extLst>
              </a:tr>
              <a:tr h="450000">
                <a:tc>
                  <a:txBody>
                    <a:bodyPr/>
                    <a:lstStyle/>
                    <a:p>
                      <a:pPr algn="ctr"/>
                      <a:r>
                        <a:rPr lang="es-CO" sz="1200" b="1" dirty="0">
                          <a:solidFill>
                            <a:srgbClr val="003366"/>
                          </a:solidFill>
                          <a:latin typeface="Calibri"/>
                        </a:rPr>
                        <a:t>RF-12</a:t>
                      </a:r>
                    </a:p>
                  </a:txBody>
                  <a:tcPr>
                    <a:solidFill>
                      <a:srgbClr val="F5F8FC"/>
                    </a:solidFill>
                  </a:tcPr>
                </a:tc>
                <a:tc>
                  <a:txBody>
                    <a:bodyPr/>
                    <a:lstStyle/>
                    <a:p>
                      <a:r>
                        <a:rPr lang="es-CO" sz="1100" b="0" dirty="0">
                          <a:solidFill>
                            <a:srgbClr val="333333"/>
                          </a:solidFill>
                          <a:latin typeface="Calibri"/>
                        </a:rPr>
                        <a:t>Detección de conflictos horarios</a:t>
                      </a:r>
                    </a:p>
                  </a:txBody>
                  <a:tcPr>
                    <a:solidFill>
                      <a:srgbClr val="F5F8FC"/>
                    </a:solidFill>
                  </a:tcPr>
                </a:tc>
                <a:tc>
                  <a:txBody>
                    <a:bodyPr/>
                    <a:lstStyle/>
                    <a:p>
                      <a:pPr algn="ctr"/>
                      <a:r>
                        <a:rPr lang="es-CO" sz="1100" b="1" dirty="0">
                          <a:solidFill>
                            <a:srgbClr val="2E6DA4"/>
                          </a:solidFill>
                          <a:latin typeface="Calibri"/>
                        </a:rPr>
                        <a:t>M3</a:t>
                      </a:r>
                    </a:p>
                  </a:txBody>
                  <a:tcPr>
                    <a:solidFill>
                      <a:srgbClr val="F5F8FC"/>
                    </a:solidFill>
                  </a:tcPr>
                </a:tc>
                <a:tc>
                  <a:txBody>
                    <a:bodyPr/>
                    <a:lstStyle/>
                    <a:p>
                      <a:pPr algn="ctr"/>
                      <a:r>
                        <a:rPr lang="es-CO" sz="1100" b="0" dirty="0">
                          <a:solidFill>
                            <a:srgbClr val="333333"/>
                          </a:solidFill>
                          <a:latin typeface="Calibri"/>
                        </a:rPr>
                        <a:t>E2, E3</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A-003</a:t>
                      </a:r>
                    </a:p>
                  </a:txBody>
                  <a:tcPr>
                    <a:solidFill>
                      <a:srgbClr val="F5F8FC"/>
                    </a:solidFill>
                  </a:tcPr>
                </a:tc>
                <a:extLst>
                  <a:ext uri="{0D108BD9-81ED-4DB2-BD59-A6C34878D82A}">
                    <a16:rowId xmlns:a16="http://schemas.microsoft.com/office/drawing/2014/main" val="10015"/>
                  </a:ext>
                </a:extLst>
              </a:tr>
              <a:tr h="380000">
                <a:tc gridSpan="2">
                  <a:txBody>
                    <a:bodyPr/>
                    <a:lstStyle/>
                    <a:p>
                      <a:r>
                        <a:rPr lang="es-CO" sz="1150" b="1" dirty="0">
                          <a:solidFill>
                            <a:srgbClr val="FFFFFF"/>
                          </a:solidFill>
                          <a:latin typeface="Calibri"/>
                        </a:rPr>
                        <a:t>  M4 — SEGUIMIENTO</a:t>
                      </a:r>
                    </a:p>
                  </a:txBody>
                  <a:tcPr>
                    <a:solidFill>
                      <a:srgbClr val="1C7A2E"/>
                    </a:solidFill>
                  </a:tcPr>
                </a:tc>
                <a:tc hMerge="1">
                  <a:txBody>
                    <a:bodyPr/>
                    <a:lstStyle/>
                    <a:p>
                      <a:endParaRPr lang="es-CO" dirty="0"/>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a:p>
                  </a:txBody>
                  <a:tcPr/>
                </a:tc>
                <a:extLst>
                  <a:ext uri="{0D108BD9-81ED-4DB2-BD59-A6C34878D82A}">
                    <a16:rowId xmlns:a16="http://schemas.microsoft.com/office/drawing/2014/main" val="10016"/>
                  </a:ext>
                </a:extLst>
              </a:tr>
              <a:tr h="450000">
                <a:tc>
                  <a:txBody>
                    <a:bodyPr/>
                    <a:lstStyle/>
                    <a:p>
                      <a:pPr algn="ctr"/>
                      <a:r>
                        <a:rPr lang="es-CO" sz="1200" b="1" dirty="0">
                          <a:solidFill>
                            <a:srgbClr val="003366"/>
                          </a:solidFill>
                          <a:latin typeface="Calibri"/>
                        </a:rPr>
                        <a:t>RF-13</a:t>
                      </a:r>
                    </a:p>
                  </a:txBody>
                  <a:tcPr>
                    <a:solidFill>
                      <a:srgbClr val="E8EEF7"/>
                    </a:solidFill>
                  </a:tcPr>
                </a:tc>
                <a:tc>
                  <a:txBody>
                    <a:bodyPr/>
                    <a:lstStyle/>
                    <a:p>
                      <a:r>
                        <a:rPr lang="es-CO" sz="1100" b="0" dirty="0">
                          <a:solidFill>
                            <a:srgbClr val="333333"/>
                          </a:solidFill>
                          <a:latin typeface="Calibri"/>
                        </a:rPr>
                        <a:t>Cálculo de promedio ponderado acumulado</a:t>
                      </a:r>
                    </a:p>
                  </a:txBody>
                  <a:tcPr>
                    <a:solidFill>
                      <a:srgbClr val="E8EEF7"/>
                    </a:solidFill>
                  </a:tcPr>
                </a:tc>
                <a:tc>
                  <a:txBody>
                    <a:bodyPr/>
                    <a:lstStyle/>
                    <a:p>
                      <a:pPr algn="ctr"/>
                      <a:r>
                        <a:rPr lang="es-CO" sz="1100" b="1" dirty="0">
                          <a:solidFill>
                            <a:srgbClr val="1C7A2E"/>
                          </a:solidFill>
                          <a:latin typeface="Calibri"/>
                        </a:rPr>
                        <a:t>M4</a:t>
                      </a:r>
                    </a:p>
                  </a:txBody>
                  <a:tcPr>
                    <a:solidFill>
                      <a:srgbClr val="E8EEF7"/>
                    </a:solidFill>
                  </a:tcPr>
                </a:tc>
                <a:tc>
                  <a:txBody>
                    <a:bodyPr/>
                    <a:lstStyle/>
                    <a:p>
                      <a:pPr algn="ctr"/>
                      <a:r>
                        <a:rPr lang="es-CO" sz="1100" b="0" dirty="0">
                          <a:solidFill>
                            <a:srgbClr val="333333"/>
                          </a:solidFill>
                          <a:latin typeface="Calibri"/>
                        </a:rPr>
                        <a:t>E2, E4</a:t>
                      </a:r>
                    </a:p>
                  </a:txBody>
                  <a:tcPr>
                    <a:solidFill>
                      <a:srgbClr val="E8EEF7"/>
                    </a:solidFill>
                  </a:tcPr>
                </a:tc>
                <a:tc>
                  <a:txBody>
                    <a:bodyPr/>
                    <a:lstStyle/>
                    <a:p>
                      <a:pPr algn="ctr"/>
                      <a:r>
                        <a:rPr lang="es-CO" sz="1100" b="0" dirty="0">
                          <a:solidFill>
                            <a:srgbClr val="555555"/>
                          </a:solidFill>
                          <a:latin typeface="Calibri"/>
                        </a:rPr>
                        <a:t>1.0</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FC-002 · A-002, A-003</a:t>
                      </a:r>
                    </a:p>
                  </a:txBody>
                  <a:tcPr>
                    <a:solidFill>
                      <a:srgbClr val="E8EEF7"/>
                    </a:solidFill>
                  </a:tcPr>
                </a:tc>
                <a:extLst>
                  <a:ext uri="{0D108BD9-81ED-4DB2-BD59-A6C34878D82A}">
                    <a16:rowId xmlns:a16="http://schemas.microsoft.com/office/drawing/2014/main" val="10017"/>
                  </a:ext>
                </a:extLst>
              </a:tr>
              <a:tr h="450000">
                <a:tc>
                  <a:txBody>
                    <a:bodyPr/>
                    <a:lstStyle/>
                    <a:p>
                      <a:pPr algn="ctr"/>
                      <a:r>
                        <a:rPr lang="es-CO" sz="1200" b="1" dirty="0">
                          <a:solidFill>
                            <a:srgbClr val="003366"/>
                          </a:solidFill>
                          <a:latin typeface="Calibri"/>
                        </a:rPr>
                        <a:t>RF-14</a:t>
                      </a:r>
                    </a:p>
                  </a:txBody>
                  <a:tcPr>
                    <a:solidFill>
                      <a:srgbClr val="F5F8FC"/>
                    </a:solidFill>
                  </a:tcPr>
                </a:tc>
                <a:tc>
                  <a:txBody>
                    <a:bodyPr/>
                    <a:lstStyle/>
                    <a:p>
                      <a:r>
                        <a:rPr lang="es-CO" sz="1100" b="0" dirty="0">
                          <a:solidFill>
                            <a:srgbClr val="333333"/>
                          </a:solidFill>
                          <a:latin typeface="Calibri"/>
                        </a:rPr>
                        <a:t>Tablero de seguimiento de cohorte</a:t>
                      </a:r>
                    </a:p>
                  </a:txBody>
                  <a:tcPr>
                    <a:solidFill>
                      <a:srgbClr val="F5F8FC"/>
                    </a:solidFill>
                  </a:tcPr>
                </a:tc>
                <a:tc>
                  <a:txBody>
                    <a:bodyPr/>
                    <a:lstStyle/>
                    <a:p>
                      <a:pPr algn="ctr"/>
                      <a:r>
                        <a:rPr lang="es-CO" sz="1100" b="1" dirty="0">
                          <a:solidFill>
                            <a:srgbClr val="1C7A2E"/>
                          </a:solidFill>
                          <a:latin typeface="Calibri"/>
                        </a:rPr>
                        <a:t>M4</a:t>
                      </a:r>
                    </a:p>
                  </a:txBody>
                  <a:tcPr>
                    <a:solidFill>
                      <a:srgbClr val="F5F8FC"/>
                    </a:solidFill>
                  </a:tcPr>
                </a:tc>
                <a:tc>
                  <a:txBody>
                    <a:bodyPr/>
                    <a:lstStyle/>
                    <a:p>
                      <a:pPr algn="ctr"/>
                      <a:r>
                        <a:rPr lang="es-CO" sz="1100" b="0" dirty="0">
                          <a:solidFill>
                            <a:srgbClr val="333333"/>
                          </a:solidFill>
                          <a:latin typeface="Calibri"/>
                        </a:rPr>
                        <a:t>E2, E5</a:t>
                      </a:r>
                    </a:p>
                  </a:txBody>
                  <a:tcPr>
                    <a:solidFill>
                      <a:srgbClr val="F5F8FC"/>
                    </a:solidFill>
                  </a:tcPr>
                </a:tc>
                <a:tc>
                  <a:txBody>
                    <a:bodyPr/>
                    <a:lstStyle/>
                    <a:p>
                      <a:pPr algn="ctr"/>
                      <a:r>
                        <a:rPr lang="es-CO" sz="1100" b="0" dirty="0">
                          <a:solidFill>
                            <a:srgbClr val="555555"/>
                          </a:solidFill>
                          <a:latin typeface="Calibri"/>
                        </a:rPr>
                        <a:t>1.1</a:t>
                      </a:r>
                    </a:p>
                  </a:txBody>
                  <a:tcPr>
                    <a:solidFill>
                      <a:srgbClr val="F5F8FC"/>
                    </a:solidFill>
                  </a:tcPr>
                </a:tc>
                <a:tc>
                  <a:txBody>
                    <a:bodyPr/>
                    <a:lstStyle/>
                    <a:p>
                      <a:pPr algn="ctr"/>
                      <a:r>
                        <a:rPr lang="es-CO" sz="1100" b="1" dirty="0">
                          <a:solidFill>
                            <a:srgbClr val="E67E22"/>
                          </a:solidFill>
                          <a:latin typeface="Calibri"/>
                        </a:rPr>
                        <a:t>En revisión</a:t>
                      </a:r>
                    </a:p>
                  </a:txBody>
                  <a:tcPr>
                    <a:solidFill>
                      <a:srgbClr val="FFF3E0"/>
                    </a:solidFill>
                  </a:tcPr>
                </a:tc>
                <a:tc>
                  <a:txBody>
                    <a:bodyPr/>
                    <a:lstStyle/>
                    <a:p>
                      <a:r>
                        <a:rPr lang="es-CO" sz="1050" b="0" dirty="0">
                          <a:solidFill>
                            <a:srgbClr val="1C4E8A"/>
                          </a:solidFill>
                          <a:latin typeface="Calibri"/>
                        </a:rPr>
                        <a:t>FC-002 · A-002, A-003</a:t>
                      </a:r>
                    </a:p>
                  </a:txBody>
                  <a:tcPr>
                    <a:solidFill>
                      <a:srgbClr val="F5F8FC"/>
                    </a:solidFill>
                  </a:tcPr>
                </a:tc>
                <a:extLst>
                  <a:ext uri="{0D108BD9-81ED-4DB2-BD59-A6C34878D82A}">
                    <a16:rowId xmlns:a16="http://schemas.microsoft.com/office/drawing/2014/main" val="10018"/>
                  </a:ext>
                </a:extLst>
              </a:tr>
              <a:tr h="450000">
                <a:tc>
                  <a:txBody>
                    <a:bodyPr/>
                    <a:lstStyle/>
                    <a:p>
                      <a:pPr algn="ctr"/>
                      <a:r>
                        <a:rPr lang="es-CO" sz="1200" b="1" dirty="0">
                          <a:solidFill>
                            <a:srgbClr val="003366"/>
                          </a:solidFill>
                          <a:latin typeface="Calibri"/>
                        </a:rPr>
                        <a:t>RF-15</a:t>
                      </a:r>
                    </a:p>
                  </a:txBody>
                  <a:tcPr>
                    <a:solidFill>
                      <a:srgbClr val="E8EEF7"/>
                    </a:solidFill>
                  </a:tcPr>
                </a:tc>
                <a:tc>
                  <a:txBody>
                    <a:bodyPr/>
                    <a:lstStyle/>
                    <a:p>
                      <a:r>
                        <a:rPr lang="es-CO" sz="1100" b="0" dirty="0">
                          <a:solidFill>
                            <a:srgbClr val="333333"/>
                          </a:solidFill>
                          <a:latin typeface="Calibri"/>
                        </a:rPr>
                        <a:t>Alerta temprana de riesgo académico</a:t>
                      </a:r>
                    </a:p>
                  </a:txBody>
                  <a:tcPr>
                    <a:solidFill>
                      <a:srgbClr val="E8EEF7"/>
                    </a:solidFill>
                  </a:tcPr>
                </a:tc>
                <a:tc>
                  <a:txBody>
                    <a:bodyPr/>
                    <a:lstStyle/>
                    <a:p>
                      <a:pPr algn="ctr"/>
                      <a:r>
                        <a:rPr lang="es-CO" sz="1100" b="1" dirty="0">
                          <a:solidFill>
                            <a:srgbClr val="1C7A2E"/>
                          </a:solidFill>
                          <a:latin typeface="Calibri"/>
                        </a:rPr>
                        <a:t>M4</a:t>
                      </a:r>
                    </a:p>
                  </a:txBody>
                  <a:tcPr>
                    <a:solidFill>
                      <a:srgbClr val="E8EEF7"/>
                    </a:solidFill>
                  </a:tcPr>
                </a:tc>
                <a:tc>
                  <a:txBody>
                    <a:bodyPr/>
                    <a:lstStyle/>
                    <a:p>
                      <a:pPr algn="ctr"/>
                      <a:r>
                        <a:rPr lang="es-CO" sz="1100" b="0" dirty="0">
                          <a:solidFill>
                            <a:srgbClr val="333333"/>
                          </a:solidFill>
                          <a:latin typeface="Calibri"/>
                        </a:rPr>
                        <a:t>E2, E4</a:t>
                      </a:r>
                    </a:p>
                  </a:txBody>
                  <a:tcPr>
                    <a:solidFill>
                      <a:srgbClr val="E8EEF7"/>
                    </a:solidFill>
                  </a:tcPr>
                </a:tc>
                <a:tc>
                  <a:txBody>
                    <a:bodyPr/>
                    <a:lstStyle/>
                    <a:p>
                      <a:pPr algn="ctr"/>
                      <a:r>
                        <a:rPr lang="es-CO" sz="1100" b="0" dirty="0">
                          <a:solidFill>
                            <a:srgbClr val="555555"/>
                          </a:solidFill>
                          <a:latin typeface="Calibri"/>
                        </a:rPr>
                        <a:t>1.0</a:t>
                      </a:r>
                    </a:p>
                  </a:txBody>
                  <a:tcPr>
                    <a:solidFill>
                      <a:srgbClr val="E8EEF7"/>
                    </a:solidFill>
                  </a:tcPr>
                </a:tc>
                <a:tc>
                  <a:txBody>
                    <a:bodyPr/>
                    <a:lstStyle/>
                    <a:p>
                      <a:pPr algn="ctr"/>
                      <a:r>
                        <a:rPr lang="es-CO" sz="1100" b="1" dirty="0">
                          <a:solidFill>
                            <a:srgbClr val="1C4E8A"/>
                          </a:solidFill>
                          <a:latin typeface="Calibri"/>
                        </a:rPr>
                        <a:t>Propuesto</a:t>
                      </a:r>
                    </a:p>
                  </a:txBody>
                  <a:tcPr>
                    <a:solidFill>
                      <a:srgbClr val="EDF2FA"/>
                    </a:solidFill>
                  </a:tcPr>
                </a:tc>
                <a:tc>
                  <a:txBody>
                    <a:bodyPr/>
                    <a:lstStyle/>
                    <a:p>
                      <a:r>
                        <a:rPr lang="es-CO" sz="1050" b="0" dirty="0">
                          <a:solidFill>
                            <a:srgbClr val="1C4E8A"/>
                          </a:solidFill>
                          <a:latin typeface="Calibri"/>
                        </a:rPr>
                        <a:t>FC-002 · A-003</a:t>
                      </a:r>
                    </a:p>
                  </a:txBody>
                  <a:tcPr>
                    <a:solidFill>
                      <a:srgbClr val="E8EEF7"/>
                    </a:solidFill>
                  </a:tcPr>
                </a:tc>
                <a:extLst>
                  <a:ext uri="{0D108BD9-81ED-4DB2-BD59-A6C34878D82A}">
                    <a16:rowId xmlns:a16="http://schemas.microsoft.com/office/drawing/2014/main" val="10019"/>
                  </a:ext>
                </a:extLst>
              </a:tr>
              <a:tr h="380000">
                <a:tc gridSpan="2">
                  <a:txBody>
                    <a:bodyPr/>
                    <a:lstStyle/>
                    <a:p>
                      <a:r>
                        <a:rPr lang="es-CO" sz="1150" b="1" dirty="0">
                          <a:solidFill>
                            <a:srgbClr val="FFFFFF"/>
                          </a:solidFill>
                          <a:latin typeface="Calibri"/>
                        </a:rPr>
                        <a:t>  M5 — DOCUMENTOS</a:t>
                      </a:r>
                    </a:p>
                  </a:txBody>
                  <a:tcPr>
                    <a:solidFill>
                      <a:srgbClr val="7D3C98"/>
                    </a:solidFill>
                  </a:tcPr>
                </a:tc>
                <a:tc hMerge="1">
                  <a:txBody>
                    <a:bodyPr/>
                    <a:lstStyle/>
                    <a:p>
                      <a:endParaRPr lang="es-CO" dirty="0"/>
                    </a:p>
                  </a:txBody>
                  <a:tcPr/>
                </a:tc>
                <a:tc>
                  <a:txBody>
                    <a:bodyPr/>
                    <a:lstStyle/>
                    <a:p>
                      <a:endParaRPr lang="es-CO"/>
                    </a:p>
                  </a:txBody>
                  <a:tcPr/>
                </a:tc>
                <a:tc>
                  <a:txBody>
                    <a:bodyPr/>
                    <a:lstStyle/>
                    <a:p>
                      <a:endParaRPr lang="es-CO"/>
                    </a:p>
                  </a:txBody>
                  <a:tcPr/>
                </a:tc>
                <a:tc>
                  <a:txBody>
                    <a:bodyPr/>
                    <a:lstStyle/>
                    <a:p>
                      <a:endParaRPr lang="es-CO"/>
                    </a:p>
                  </a:txBody>
                  <a:tcPr/>
                </a:tc>
                <a:tc>
                  <a:txBody>
                    <a:bodyPr/>
                    <a:lstStyle/>
                    <a:p>
                      <a:endParaRPr lang="es-CO" dirty="0"/>
                    </a:p>
                  </a:txBody>
                  <a:tcPr/>
                </a:tc>
                <a:tc>
                  <a:txBody>
                    <a:bodyPr/>
                    <a:lstStyle/>
                    <a:p>
                      <a:endParaRPr lang="es-CO"/>
                    </a:p>
                  </a:txBody>
                  <a:tcPr/>
                </a:tc>
                <a:extLst>
                  <a:ext uri="{0D108BD9-81ED-4DB2-BD59-A6C34878D82A}">
                    <a16:rowId xmlns:a16="http://schemas.microsoft.com/office/drawing/2014/main" val="10020"/>
                  </a:ext>
                </a:extLst>
              </a:tr>
              <a:tr h="450000">
                <a:tc>
                  <a:txBody>
                    <a:bodyPr/>
                    <a:lstStyle/>
                    <a:p>
                      <a:pPr algn="ctr"/>
                      <a:r>
                        <a:rPr lang="es-CO" sz="1200" b="1" dirty="0">
                          <a:solidFill>
                            <a:srgbClr val="003366"/>
                          </a:solidFill>
                          <a:latin typeface="Calibri"/>
                        </a:rPr>
                        <a:t>RF-16</a:t>
                      </a:r>
                    </a:p>
                  </a:txBody>
                  <a:tcPr>
                    <a:solidFill>
                      <a:srgbClr val="F5F8FC"/>
                    </a:solidFill>
                  </a:tcPr>
                </a:tc>
                <a:tc>
                  <a:txBody>
                    <a:bodyPr/>
                    <a:lstStyle/>
                    <a:p>
                      <a:r>
                        <a:rPr lang="es-CO" sz="1100" b="0" dirty="0">
                          <a:solidFill>
                            <a:srgbClr val="333333"/>
                          </a:solidFill>
                          <a:latin typeface="Calibri"/>
                        </a:rPr>
                        <a:t>Generación de certificados de estudio</a:t>
                      </a:r>
                    </a:p>
                  </a:txBody>
                  <a:tcPr>
                    <a:solidFill>
                      <a:srgbClr val="F5F8FC"/>
                    </a:solidFill>
                  </a:tcPr>
                </a:tc>
                <a:tc>
                  <a:txBody>
                    <a:bodyPr/>
                    <a:lstStyle/>
                    <a:p>
                      <a:pPr algn="ctr"/>
                      <a:r>
                        <a:rPr lang="es-CO" sz="1100" b="1" dirty="0">
                          <a:solidFill>
                            <a:srgbClr val="7D3C98"/>
                          </a:solidFill>
                          <a:latin typeface="Calibri"/>
                        </a:rPr>
                        <a:t>M5</a:t>
                      </a:r>
                    </a:p>
                  </a:txBody>
                  <a:tcPr>
                    <a:solidFill>
                      <a:srgbClr val="F5F8FC"/>
                    </a:solidFill>
                  </a:tcPr>
                </a:tc>
                <a:tc>
                  <a:txBody>
                    <a:bodyPr/>
                    <a:lstStyle/>
                    <a:p>
                      <a:pPr algn="ctr"/>
                      <a:r>
                        <a:rPr lang="es-CO" sz="1100" b="0" dirty="0">
                          <a:solidFill>
                            <a:srgbClr val="333333"/>
                          </a:solidFill>
                          <a:latin typeface="Calibri"/>
                        </a:rPr>
                        <a:t>E1, E4</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a:t>
                      </a:r>
                    </a:p>
                  </a:txBody>
                  <a:tcPr>
                    <a:solidFill>
                      <a:srgbClr val="F5F8FC"/>
                    </a:solidFill>
                  </a:tcPr>
                </a:tc>
                <a:extLst>
                  <a:ext uri="{0D108BD9-81ED-4DB2-BD59-A6C34878D82A}">
                    <a16:rowId xmlns:a16="http://schemas.microsoft.com/office/drawing/2014/main" val="10021"/>
                  </a:ext>
                </a:extLst>
              </a:tr>
              <a:tr h="450000">
                <a:tc>
                  <a:txBody>
                    <a:bodyPr/>
                    <a:lstStyle/>
                    <a:p>
                      <a:pPr algn="ctr"/>
                      <a:r>
                        <a:rPr lang="es-CO" sz="1200" b="1" dirty="0">
                          <a:solidFill>
                            <a:srgbClr val="003366"/>
                          </a:solidFill>
                          <a:latin typeface="Calibri"/>
                        </a:rPr>
                        <a:t>RF-17</a:t>
                      </a:r>
                    </a:p>
                  </a:txBody>
                  <a:tcPr>
                    <a:solidFill>
                      <a:srgbClr val="E8EEF7"/>
                    </a:solidFill>
                  </a:tcPr>
                </a:tc>
                <a:tc>
                  <a:txBody>
                    <a:bodyPr/>
                    <a:lstStyle/>
                    <a:p>
                      <a:r>
                        <a:rPr lang="es-CO" sz="1100" b="0" dirty="0">
                          <a:solidFill>
                            <a:srgbClr val="333333"/>
                          </a:solidFill>
                          <a:latin typeface="Calibri"/>
                        </a:rPr>
                        <a:t>Generación de paz y salvo académico</a:t>
                      </a:r>
                    </a:p>
                  </a:txBody>
                  <a:tcPr>
                    <a:solidFill>
                      <a:srgbClr val="E8EEF7"/>
                    </a:solidFill>
                  </a:tcPr>
                </a:tc>
                <a:tc>
                  <a:txBody>
                    <a:bodyPr/>
                    <a:lstStyle/>
                    <a:p>
                      <a:pPr algn="ctr"/>
                      <a:r>
                        <a:rPr lang="es-CO" sz="1100" b="1" dirty="0">
                          <a:solidFill>
                            <a:srgbClr val="7D3C98"/>
                          </a:solidFill>
                          <a:latin typeface="Calibri"/>
                        </a:rPr>
                        <a:t>M5</a:t>
                      </a:r>
                    </a:p>
                  </a:txBody>
                  <a:tcPr>
                    <a:solidFill>
                      <a:srgbClr val="E8EEF7"/>
                    </a:solidFill>
                  </a:tcPr>
                </a:tc>
                <a:tc>
                  <a:txBody>
                    <a:bodyPr/>
                    <a:lstStyle/>
                    <a:p>
                      <a:pPr algn="ctr"/>
                      <a:r>
                        <a:rPr lang="es-CO" sz="1100" b="0" dirty="0">
                          <a:solidFill>
                            <a:srgbClr val="333333"/>
                          </a:solidFill>
                          <a:latin typeface="Calibri"/>
                        </a:rPr>
                        <a:t>E1, E4</a:t>
                      </a:r>
                    </a:p>
                  </a:txBody>
                  <a:tcPr>
                    <a:solidFill>
                      <a:srgbClr val="E8EEF7"/>
                    </a:solidFill>
                  </a:tcPr>
                </a:tc>
                <a:tc>
                  <a:txBody>
                    <a:bodyPr/>
                    <a:lstStyle/>
                    <a:p>
                      <a:pPr algn="ctr"/>
                      <a:r>
                        <a:rPr lang="es-CO" sz="1100" b="0" dirty="0">
                          <a:solidFill>
                            <a:srgbClr val="555555"/>
                          </a:solidFill>
                          <a:latin typeface="Calibri"/>
                        </a:rPr>
                        <a:t>1.1</a:t>
                      </a:r>
                    </a:p>
                  </a:txBody>
                  <a:tcPr>
                    <a:solidFill>
                      <a:srgbClr val="E8EEF7"/>
                    </a:solidFill>
                  </a:tcPr>
                </a:tc>
                <a:tc>
                  <a:txBody>
                    <a:bodyPr/>
                    <a:lstStyle/>
                    <a:p>
                      <a:pPr algn="ctr"/>
                      <a:r>
                        <a:rPr lang="es-CO" sz="1100" b="1" dirty="0">
                          <a:solidFill>
                            <a:srgbClr val="1C7A2E"/>
                          </a:solidFill>
                          <a:latin typeface="Calibri"/>
                        </a:rPr>
                        <a:t>Aprobado</a:t>
                      </a:r>
                    </a:p>
                  </a:txBody>
                  <a:tcPr>
                    <a:solidFill>
                      <a:srgbClr val="D4FFDD"/>
                    </a:solidFill>
                  </a:tcPr>
                </a:tc>
                <a:tc>
                  <a:txBody>
                    <a:bodyPr/>
                    <a:lstStyle/>
                    <a:p>
                      <a:r>
                        <a:rPr lang="es-CO" sz="1050" b="0" dirty="0">
                          <a:solidFill>
                            <a:srgbClr val="1C4E8A"/>
                          </a:solidFill>
                          <a:latin typeface="Calibri"/>
                        </a:rPr>
                        <a:t>FC-001 · A-001</a:t>
                      </a:r>
                    </a:p>
                  </a:txBody>
                  <a:tcPr>
                    <a:solidFill>
                      <a:srgbClr val="E8EEF7"/>
                    </a:solidFill>
                  </a:tcPr>
                </a:tc>
                <a:extLst>
                  <a:ext uri="{0D108BD9-81ED-4DB2-BD59-A6C34878D82A}">
                    <a16:rowId xmlns:a16="http://schemas.microsoft.com/office/drawing/2014/main" val="10022"/>
                  </a:ext>
                </a:extLst>
              </a:tr>
              <a:tr h="450000">
                <a:tc>
                  <a:txBody>
                    <a:bodyPr/>
                    <a:lstStyle/>
                    <a:p>
                      <a:pPr algn="ctr"/>
                      <a:r>
                        <a:rPr lang="es-CO" sz="1200" b="1" dirty="0">
                          <a:solidFill>
                            <a:srgbClr val="003366"/>
                          </a:solidFill>
                          <a:latin typeface="Calibri"/>
                        </a:rPr>
                        <a:t>RF-18</a:t>
                      </a:r>
                    </a:p>
                  </a:txBody>
                  <a:tcPr>
                    <a:solidFill>
                      <a:srgbClr val="F5F8FC"/>
                    </a:solidFill>
                  </a:tcPr>
                </a:tc>
                <a:tc>
                  <a:txBody>
                    <a:bodyPr/>
                    <a:lstStyle/>
                    <a:p>
                      <a:r>
                        <a:rPr lang="es-CO" sz="1100" b="0" dirty="0">
                          <a:solidFill>
                            <a:srgbClr val="333333"/>
                          </a:solidFill>
                          <a:latin typeface="Calibri"/>
                        </a:rPr>
                        <a:t>Reportes ejecutivos por programa y sede</a:t>
                      </a:r>
                    </a:p>
                  </a:txBody>
                  <a:tcPr>
                    <a:solidFill>
                      <a:srgbClr val="F5F8FC"/>
                    </a:solidFill>
                  </a:tcPr>
                </a:tc>
                <a:tc>
                  <a:txBody>
                    <a:bodyPr/>
                    <a:lstStyle/>
                    <a:p>
                      <a:pPr algn="ctr"/>
                      <a:r>
                        <a:rPr lang="es-CO" sz="1100" b="1" dirty="0">
                          <a:solidFill>
                            <a:srgbClr val="7D3C98"/>
                          </a:solidFill>
                          <a:latin typeface="Calibri"/>
                        </a:rPr>
                        <a:t>M5</a:t>
                      </a:r>
                    </a:p>
                  </a:txBody>
                  <a:tcPr>
                    <a:solidFill>
                      <a:srgbClr val="F5F8FC"/>
                    </a:solidFill>
                  </a:tcPr>
                </a:tc>
                <a:tc>
                  <a:txBody>
                    <a:bodyPr/>
                    <a:lstStyle/>
                    <a:p>
                      <a:pPr algn="ctr"/>
                      <a:r>
                        <a:rPr lang="es-CO" sz="1100" b="0" dirty="0">
                          <a:solidFill>
                            <a:srgbClr val="333333"/>
                          </a:solidFill>
                          <a:latin typeface="Calibri"/>
                        </a:rPr>
                        <a:t>E2, E5</a:t>
                      </a:r>
                    </a:p>
                  </a:txBody>
                  <a:tcPr>
                    <a:solidFill>
                      <a:srgbClr val="F5F8FC"/>
                    </a:solidFill>
                  </a:tcPr>
                </a:tc>
                <a:tc>
                  <a:txBody>
                    <a:bodyPr/>
                    <a:lstStyle/>
                    <a:p>
                      <a:pPr algn="ctr"/>
                      <a:r>
                        <a:rPr lang="es-CO" sz="1100" b="0" dirty="0">
                          <a:solidFill>
                            <a:srgbClr val="555555"/>
                          </a:solidFill>
                          <a:latin typeface="Calibri"/>
                        </a:rPr>
                        <a:t>1.0</a:t>
                      </a:r>
                    </a:p>
                  </a:txBody>
                  <a:tcPr>
                    <a:solidFill>
                      <a:srgbClr val="F5F8FC"/>
                    </a:solidFill>
                  </a:tcPr>
                </a:tc>
                <a:tc>
                  <a:txBody>
                    <a:bodyPr/>
                    <a:lstStyle/>
                    <a:p>
                      <a:pPr algn="ctr"/>
                      <a:r>
                        <a:rPr lang="es-CO" sz="1100" b="1" dirty="0">
                          <a:solidFill>
                            <a:srgbClr val="1C4E8A"/>
                          </a:solidFill>
                          <a:latin typeface="Calibri"/>
                        </a:rPr>
                        <a:t>Propuesto</a:t>
                      </a:r>
                    </a:p>
                  </a:txBody>
                  <a:tcPr>
                    <a:solidFill>
                      <a:srgbClr val="EDF2FA"/>
                    </a:solidFill>
                  </a:tcPr>
                </a:tc>
                <a:tc>
                  <a:txBody>
                    <a:bodyPr/>
                    <a:lstStyle/>
                    <a:p>
                      <a:r>
                        <a:rPr lang="es-CO" sz="1050" b="0" dirty="0">
                          <a:solidFill>
                            <a:srgbClr val="1C4E8A"/>
                          </a:solidFill>
                          <a:latin typeface="Calibri"/>
                        </a:rPr>
                        <a:t>FC-002 · A-002, A-003</a:t>
                      </a:r>
                    </a:p>
                  </a:txBody>
                  <a:tcPr>
                    <a:solidFill>
                      <a:srgbClr val="F5F8FC"/>
                    </a:solidFill>
                  </a:tcPr>
                </a:tc>
                <a:extLst>
                  <a:ext uri="{0D108BD9-81ED-4DB2-BD59-A6C34878D82A}">
                    <a16:rowId xmlns:a16="http://schemas.microsoft.com/office/drawing/2014/main" val="10023"/>
                  </a:ext>
                </a:extLst>
              </a:tr>
              <a:tr h="370000">
                <a:tc gridSpan="7">
                  <a:txBody>
                    <a:bodyPr/>
                    <a:lstStyle/>
                    <a:p>
                      <a:r>
                        <a:rPr lang="es-CO" sz="1050" b="1" dirty="0">
                          <a:solidFill>
                            <a:srgbClr val="FFFFFF"/>
                          </a:solidFill>
                          <a:latin typeface="Calibri"/>
                        </a:rPr>
                        <a:t>  ✔ Aprobado = revisado y aceptado por el equipo técnico y el responsable delegado    ⌛ En revisión = cambio de versión pendiente de aprobación    📋 Propuesto = identificado; aún sin validación técnica completa</a:t>
                      </a:r>
                    </a:p>
                  </a:txBody>
                  <a:tcPr>
                    <a:solidFill>
                      <a:srgbClr val="1C4E8A"/>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dirty="0"/>
                    </a:p>
                  </a:txBody>
                  <a:tcPr/>
                </a:tc>
                <a:extLst>
                  <a:ext uri="{0D108BD9-81ED-4DB2-BD59-A6C34878D82A}">
                    <a16:rowId xmlns:a16="http://schemas.microsoft.com/office/drawing/2014/main" val="1002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99937C-AF2A-1429-A93D-27CD20EF50EE}"/>
              </a:ext>
            </a:extLst>
          </p:cNvPr>
          <p:cNvSpPr>
            <a:spLocks noGrp="1"/>
          </p:cNvSpPr>
          <p:nvPr>
            <p:ph type="title"/>
          </p:nvPr>
        </p:nvSpPr>
        <p:spPr>
          <a:xfrm>
            <a:off x="838200" y="850605"/>
            <a:ext cx="10515600" cy="840083"/>
          </a:xfrm>
        </p:spPr>
        <p:txBody>
          <a:bodyPr/>
          <a:lstStyle/>
          <a:p>
            <a:r>
              <a:rPr lang="es-CO" dirty="0"/>
              <a:t>Figura 10 — Catálogo completo</a:t>
            </a:r>
          </a:p>
        </p:txBody>
      </p:sp>
      <p:sp>
        <p:nvSpPr>
          <p:cNvPr id="3" name="Marcador de contenido 2">
            <a:extLst>
              <a:ext uri="{FF2B5EF4-FFF2-40B4-BE49-F238E27FC236}">
                <a16:creationId xmlns:a16="http://schemas.microsoft.com/office/drawing/2014/main" id="{DE859941-3001-89B6-DD5F-B02FCDD34724}"/>
              </a:ext>
            </a:extLst>
          </p:cNvPr>
          <p:cNvSpPr>
            <a:spLocks noGrp="1"/>
          </p:cNvSpPr>
          <p:nvPr>
            <p:ph idx="1"/>
          </p:nvPr>
        </p:nvSpPr>
        <p:spPr>
          <a:xfrm>
            <a:off x="838200" y="1825625"/>
            <a:ext cx="10515600" cy="2129687"/>
          </a:xfrm>
        </p:spPr>
        <p:txBody>
          <a:bodyPr/>
          <a:lstStyle/>
          <a:p>
            <a:pPr marL="0" indent="0">
              <a:buNone/>
            </a:pPr>
            <a:r>
              <a:rPr lang="es-CO" b="1" dirty="0"/>
              <a:t>18 RF</a:t>
            </a:r>
            <a:r>
              <a:rPr lang="es-CO" dirty="0"/>
              <a:t> organizados en </a:t>
            </a:r>
            <a:r>
              <a:rPr lang="es-CO" b="1" dirty="0"/>
              <a:t>5 módulos funcionales</a:t>
            </a:r>
            <a:r>
              <a:rPr lang="es-CO" dirty="0"/>
              <a:t> con separadores de color por módulo. Columnas: ID (RF-01 a RF-18), Nombre del RF, Módulo, Escenario(s), Versión, </a:t>
            </a:r>
            <a:r>
              <a:rPr lang="es-CO" b="1" dirty="0"/>
              <a:t>Estado</a:t>
            </a:r>
            <a:r>
              <a:rPr lang="es-CO" dirty="0"/>
              <a:t> (✔ Aprobado verde / ⌛ En revisión naranja / 📋 Propuesto azul) y Trazabilidad (Ficha de caracterización · Actas de origen). Fila de leyenda al final</a:t>
            </a:r>
          </a:p>
        </p:txBody>
      </p:sp>
    </p:spTree>
    <p:extLst>
      <p:ext uri="{BB962C8B-B14F-4D97-AF65-F5344CB8AC3E}">
        <p14:creationId xmlns:p14="http://schemas.microsoft.com/office/powerpoint/2010/main" val="75177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45723"/>
            <a:ext cx="11500000" cy="338554"/>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10 (cont.) — Panel de Métricas y Versionalidad del Catálogo RF | CONOCIMIENTO</a:t>
            </a:r>
          </a:p>
        </p:txBody>
      </p:sp>
      <p:sp>
        <p:nvSpPr>
          <p:cNvPr id="21" name="h21"/>
          <p:cNvSpPr/>
          <p:nvPr/>
        </p:nvSpPr>
        <p:spPr>
          <a:xfrm>
            <a:off x="300000" y="1450000"/>
            <a:ext cx="11600000" cy="38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INDICADORES DEL CATÁLOGO  —  Versión 1.1  |  25/06/2025  |  IEEE-STD-830</a:t>
            </a:r>
          </a:p>
        </p:txBody>
      </p:sp>
      <p:sp>
        <p:nvSpPr>
          <p:cNvPr id="30" name="kpi30"/>
          <p:cNvSpPr/>
          <p:nvPr/>
        </p:nvSpPr>
        <p:spPr>
          <a:xfrm>
            <a:off x="350000" y="1900000"/>
            <a:ext cx="2100000" cy="900000"/>
          </a:xfrm>
          <a:prstGeom prst="rect">
            <a:avLst/>
          </a:prstGeom>
          <a:solidFill>
            <a:srgbClr val="EDF2FA"/>
          </a:solidFill>
          <a:ln w="28575">
            <a:solidFill>
              <a:srgbClr val="003366"/>
            </a:solidFill>
          </a:ln>
        </p:spPr>
        <p:txBody>
          <a:bodyPr wrap="square" lIns="91440" tIns="91440" rIns="91440" bIns="9144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003366"/>
                </a:solidFill>
                <a:effectLst/>
                <a:uLnTx/>
                <a:uFillTx/>
                <a:latin typeface="Calibri"/>
                <a:ea typeface="+mn-ea"/>
                <a:cs typeface="+mn-cs"/>
              </a:rPr>
              <a:t>18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555555"/>
                </a:solidFill>
                <a:effectLst/>
                <a:uLnTx/>
                <a:uFillTx/>
                <a:latin typeface="Calibri"/>
                <a:ea typeface="+mn-ea"/>
                <a:cs typeface="+mn-cs"/>
              </a:rPr>
              <a:t>RF identificados</a:t>
            </a:r>
          </a:p>
        </p:txBody>
      </p:sp>
      <p:sp>
        <p:nvSpPr>
          <p:cNvPr id="31" name="kpi31"/>
          <p:cNvSpPr/>
          <p:nvPr/>
        </p:nvSpPr>
        <p:spPr>
          <a:xfrm>
            <a:off x="2600000" y="1900000"/>
            <a:ext cx="2100000" cy="900000"/>
          </a:xfrm>
          <a:prstGeom prst="rect">
            <a:avLst/>
          </a:prstGeom>
          <a:solidFill>
            <a:srgbClr val="D4FFDD"/>
          </a:solidFill>
          <a:ln w="28575">
            <a:solidFill>
              <a:srgbClr val="1C7A2E"/>
            </a:solidFill>
          </a:ln>
        </p:spPr>
        <p:txBody>
          <a:bodyPr wrap="square" lIns="91440" tIns="91440" rIns="91440" bIns="9144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1C7A2E"/>
                </a:solidFill>
                <a:effectLst/>
                <a:uLnTx/>
                <a:uFillTx/>
                <a:latin typeface="Calibri"/>
                <a:ea typeface="+mn-ea"/>
                <a:cs typeface="+mn-cs"/>
              </a:rPr>
              <a:t>13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555555"/>
                </a:solidFill>
                <a:effectLst/>
                <a:uLnTx/>
                <a:uFillTx/>
                <a:latin typeface="Calibri"/>
                <a:ea typeface="+mn-ea"/>
                <a:cs typeface="+mn-cs"/>
              </a:rPr>
              <a:t>RF Aprobados</a:t>
            </a:r>
          </a:p>
        </p:txBody>
      </p:sp>
      <p:sp>
        <p:nvSpPr>
          <p:cNvPr id="32" name="kpi32"/>
          <p:cNvSpPr/>
          <p:nvPr/>
        </p:nvSpPr>
        <p:spPr>
          <a:xfrm>
            <a:off x="4850000" y="1900000"/>
            <a:ext cx="2100000" cy="900000"/>
          </a:xfrm>
          <a:prstGeom prst="rect">
            <a:avLst/>
          </a:prstGeom>
          <a:solidFill>
            <a:srgbClr val="FFF3E0"/>
          </a:solidFill>
          <a:ln w="28575">
            <a:solidFill>
              <a:srgbClr val="E67E22"/>
            </a:solidFill>
          </a:ln>
        </p:spPr>
        <p:txBody>
          <a:bodyPr wrap="square" lIns="91440" tIns="91440" rIns="91440" bIns="9144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E67E22"/>
                </a:solidFill>
                <a:effectLst/>
                <a:uLnTx/>
                <a:uFillTx/>
                <a:latin typeface="Calibri"/>
                <a:ea typeface="+mn-ea"/>
                <a:cs typeface="+mn-cs"/>
              </a:rPr>
              <a: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555555"/>
                </a:solidFill>
                <a:effectLst/>
                <a:uLnTx/>
                <a:uFillTx/>
                <a:latin typeface="Calibri"/>
                <a:ea typeface="+mn-ea"/>
                <a:cs typeface="+mn-cs"/>
              </a:rPr>
              <a:t>RF En revisión</a:t>
            </a:r>
          </a:p>
        </p:txBody>
      </p:sp>
      <p:sp>
        <p:nvSpPr>
          <p:cNvPr id="33" name="kpi33"/>
          <p:cNvSpPr/>
          <p:nvPr/>
        </p:nvSpPr>
        <p:spPr>
          <a:xfrm>
            <a:off x="7100000" y="1900000"/>
            <a:ext cx="2100000" cy="900000"/>
          </a:xfrm>
          <a:prstGeom prst="rect">
            <a:avLst/>
          </a:prstGeom>
          <a:solidFill>
            <a:srgbClr val="EDF2FA"/>
          </a:solidFill>
          <a:ln w="28575">
            <a:solidFill>
              <a:srgbClr val="1C4E8A"/>
            </a:solidFill>
          </a:ln>
        </p:spPr>
        <p:txBody>
          <a:bodyPr wrap="square" lIns="91440" tIns="91440" rIns="91440" bIns="9144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1C4E8A"/>
                </a:solidFill>
                <a:effectLst/>
                <a:uLnTx/>
                <a:uFillTx/>
                <a:latin typeface="Calibri"/>
                <a:ea typeface="+mn-ea"/>
                <a:cs typeface="+mn-cs"/>
              </a:rPr>
              <a:t>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555555"/>
                </a:solidFill>
                <a:effectLst/>
                <a:uLnTx/>
                <a:uFillTx/>
                <a:latin typeface="Calibri"/>
                <a:ea typeface="+mn-ea"/>
                <a:cs typeface="+mn-cs"/>
              </a:rPr>
              <a:t>RF Propuestos</a:t>
            </a:r>
          </a:p>
        </p:txBody>
      </p:sp>
      <p:sp>
        <p:nvSpPr>
          <p:cNvPr id="34" name="kpi34"/>
          <p:cNvSpPr/>
          <p:nvPr/>
        </p:nvSpPr>
        <p:spPr>
          <a:xfrm>
            <a:off x="9350000" y="1900000"/>
            <a:ext cx="2100000" cy="900000"/>
          </a:xfrm>
          <a:prstGeom prst="rect">
            <a:avLst/>
          </a:prstGeom>
          <a:solidFill>
            <a:srgbClr val="F3E8FF"/>
          </a:solidFill>
          <a:ln w="28575">
            <a:solidFill>
              <a:srgbClr val="7D3C98"/>
            </a:solidFill>
          </a:ln>
        </p:spPr>
        <p:txBody>
          <a:bodyPr wrap="square" lIns="91440" tIns="91440" rIns="91440" bIns="9144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200" b="1" i="0" u="none" strike="noStrike" kern="1200" cap="none" spc="0" normalizeH="0" baseline="0" noProof="0" dirty="0">
                <a:ln>
                  <a:noFill/>
                </a:ln>
                <a:solidFill>
                  <a:srgbClr val="7D3C98"/>
                </a:solidFill>
                <a:effectLst/>
                <a:uLnTx/>
                <a:uFillTx/>
                <a:latin typeface="Calibri"/>
                <a:ea typeface="+mn-ea"/>
                <a:cs typeface="+mn-cs"/>
              </a:rPr>
              <a:t> 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555555"/>
                </a:solidFill>
                <a:effectLst/>
                <a:uLnTx/>
                <a:uFillTx/>
                <a:latin typeface="Calibri"/>
                <a:ea typeface="+mn-ea"/>
                <a:cs typeface="+mn-cs"/>
              </a:rPr>
              <a:t>Módulos funcionales</a:t>
            </a:r>
          </a:p>
        </p:txBody>
      </p:sp>
      <p:sp>
        <p:nvSpPr>
          <p:cNvPr id="40" name="h40"/>
          <p:cNvSpPr/>
          <p:nvPr/>
        </p:nvSpPr>
        <p:spPr>
          <a:xfrm>
            <a:off x="300000" y="2910000"/>
            <a:ext cx="5650000" cy="37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RF POR MÓDULO FUNCIONAL</a:t>
            </a:r>
          </a:p>
        </p:txBody>
      </p:sp>
      <p:sp>
        <p:nvSpPr>
          <p:cNvPr id="100" name="b100"/>
          <p:cNvSpPr txBox="1"/>
          <p:nvPr/>
        </p:nvSpPr>
        <p:spPr>
          <a:xfrm>
            <a:off x="350000" y="3360000"/>
            <a:ext cx="22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M1 — Matrícula</a:t>
            </a:r>
          </a:p>
        </p:txBody>
      </p:sp>
      <p:sp>
        <p:nvSpPr>
          <p:cNvPr id="101" name="mbg100"/>
          <p:cNvSpPr/>
          <p:nvPr/>
        </p:nvSpPr>
        <p:spPr>
          <a:xfrm>
            <a:off x="2600000" y="3410000"/>
            <a:ext cx="3100000" cy="25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mbar100"/>
          <p:cNvSpPr/>
          <p:nvPr/>
        </p:nvSpPr>
        <p:spPr>
          <a:xfrm>
            <a:off x="2600000" y="3410000"/>
            <a:ext cx="688888" cy="250000"/>
          </a:xfrm>
          <a:prstGeom prst="rect">
            <a:avLst/>
          </a:prstGeom>
          <a:solidFill>
            <a:srgbClr val="00336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b103"/>
          <p:cNvSpPr txBox="1"/>
          <p:nvPr/>
        </p:nvSpPr>
        <p:spPr>
          <a:xfrm>
            <a:off x="3408888" y="3360000"/>
            <a:ext cx="500000" cy="35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4 RF</a:t>
            </a:r>
          </a:p>
        </p:txBody>
      </p:sp>
      <p:sp>
        <p:nvSpPr>
          <p:cNvPr id="110" name="b110"/>
          <p:cNvSpPr txBox="1"/>
          <p:nvPr/>
        </p:nvSpPr>
        <p:spPr>
          <a:xfrm>
            <a:off x="350000" y="3780000"/>
            <a:ext cx="22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M2 — Plan de estudios</a:t>
            </a:r>
          </a:p>
        </p:txBody>
      </p:sp>
      <p:sp>
        <p:nvSpPr>
          <p:cNvPr id="111" name="mbg110"/>
          <p:cNvSpPr/>
          <p:nvPr/>
        </p:nvSpPr>
        <p:spPr>
          <a:xfrm>
            <a:off x="2600000" y="3830000"/>
            <a:ext cx="3100000" cy="25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mbar110"/>
          <p:cNvSpPr/>
          <p:nvPr/>
        </p:nvSpPr>
        <p:spPr>
          <a:xfrm>
            <a:off x="2600000" y="3830000"/>
            <a:ext cx="516666" cy="250000"/>
          </a:xfrm>
          <a:prstGeom prst="rect">
            <a:avLst/>
          </a:prstGeom>
          <a:solidFill>
            <a:srgbClr val="1C4E8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b113"/>
          <p:cNvSpPr txBox="1"/>
          <p:nvPr/>
        </p:nvSpPr>
        <p:spPr>
          <a:xfrm>
            <a:off x="3236666" y="3780000"/>
            <a:ext cx="500000" cy="35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3 RF</a:t>
            </a:r>
          </a:p>
        </p:txBody>
      </p:sp>
      <p:sp>
        <p:nvSpPr>
          <p:cNvPr id="120" name="b120"/>
          <p:cNvSpPr txBox="1"/>
          <p:nvPr/>
        </p:nvSpPr>
        <p:spPr>
          <a:xfrm>
            <a:off x="350000" y="4200000"/>
            <a:ext cx="22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M3 — Calificaciones</a:t>
            </a:r>
          </a:p>
        </p:txBody>
      </p:sp>
      <p:sp>
        <p:nvSpPr>
          <p:cNvPr id="121" name="mbg120"/>
          <p:cNvSpPr/>
          <p:nvPr/>
        </p:nvSpPr>
        <p:spPr>
          <a:xfrm>
            <a:off x="2600000" y="4250000"/>
            <a:ext cx="3100000" cy="25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mbar120"/>
          <p:cNvSpPr/>
          <p:nvPr/>
        </p:nvSpPr>
        <p:spPr>
          <a:xfrm>
            <a:off x="2600000" y="4250000"/>
            <a:ext cx="861111" cy="250000"/>
          </a:xfrm>
          <a:prstGeom prst="rect">
            <a:avLst/>
          </a:prstGeom>
          <a:solidFill>
            <a:srgbClr val="2E6DA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b123"/>
          <p:cNvSpPr txBox="1"/>
          <p:nvPr/>
        </p:nvSpPr>
        <p:spPr>
          <a:xfrm>
            <a:off x="3581111" y="4200000"/>
            <a:ext cx="500000" cy="35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2E6DA4"/>
                </a:solidFill>
                <a:effectLst/>
                <a:uLnTx/>
                <a:uFillTx/>
                <a:latin typeface="Calibri"/>
                <a:ea typeface="+mn-ea"/>
                <a:cs typeface="+mn-cs"/>
              </a:rPr>
              <a:t>5 RF</a:t>
            </a:r>
          </a:p>
        </p:txBody>
      </p:sp>
      <p:sp>
        <p:nvSpPr>
          <p:cNvPr id="130" name="b130"/>
          <p:cNvSpPr txBox="1"/>
          <p:nvPr/>
        </p:nvSpPr>
        <p:spPr>
          <a:xfrm>
            <a:off x="350000" y="4620000"/>
            <a:ext cx="22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M4 — Seguimiento</a:t>
            </a:r>
          </a:p>
        </p:txBody>
      </p:sp>
      <p:sp>
        <p:nvSpPr>
          <p:cNvPr id="131" name="mbg130"/>
          <p:cNvSpPr/>
          <p:nvPr/>
        </p:nvSpPr>
        <p:spPr>
          <a:xfrm>
            <a:off x="2600000" y="4670000"/>
            <a:ext cx="3100000" cy="25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mbar130"/>
          <p:cNvSpPr/>
          <p:nvPr/>
        </p:nvSpPr>
        <p:spPr>
          <a:xfrm>
            <a:off x="2600000" y="4670000"/>
            <a:ext cx="516666" cy="250000"/>
          </a:xfrm>
          <a:prstGeom prst="rect">
            <a:avLst/>
          </a:prstGeom>
          <a:solidFill>
            <a:srgbClr val="1C7A2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b133"/>
          <p:cNvSpPr txBox="1"/>
          <p:nvPr/>
        </p:nvSpPr>
        <p:spPr>
          <a:xfrm>
            <a:off x="3236666" y="4620000"/>
            <a:ext cx="500000" cy="35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7A2E"/>
                </a:solidFill>
                <a:effectLst/>
                <a:uLnTx/>
                <a:uFillTx/>
                <a:latin typeface="Calibri"/>
                <a:ea typeface="+mn-ea"/>
                <a:cs typeface="+mn-cs"/>
              </a:rPr>
              <a:t>3 RF</a:t>
            </a:r>
          </a:p>
        </p:txBody>
      </p:sp>
      <p:sp>
        <p:nvSpPr>
          <p:cNvPr id="140" name="b140"/>
          <p:cNvSpPr txBox="1"/>
          <p:nvPr/>
        </p:nvSpPr>
        <p:spPr>
          <a:xfrm>
            <a:off x="350000" y="5040000"/>
            <a:ext cx="220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M5 — Documentos</a:t>
            </a:r>
          </a:p>
        </p:txBody>
      </p:sp>
      <p:sp>
        <p:nvSpPr>
          <p:cNvPr id="141" name="mbg140"/>
          <p:cNvSpPr/>
          <p:nvPr/>
        </p:nvSpPr>
        <p:spPr>
          <a:xfrm>
            <a:off x="2600000" y="5090000"/>
            <a:ext cx="3100000" cy="250000"/>
          </a:xfrm>
          <a:prstGeom prst="rect">
            <a:avLst/>
          </a:prstGeom>
          <a:solidFill>
            <a:srgbClr val="D9D9D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mbar140"/>
          <p:cNvSpPr/>
          <p:nvPr/>
        </p:nvSpPr>
        <p:spPr>
          <a:xfrm>
            <a:off x="2600000" y="5090000"/>
            <a:ext cx="516666" cy="250000"/>
          </a:xfrm>
          <a:prstGeom prst="rect">
            <a:avLst/>
          </a:prstGeom>
          <a:solidFill>
            <a:srgbClr val="7D3C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b143"/>
          <p:cNvSpPr txBox="1"/>
          <p:nvPr/>
        </p:nvSpPr>
        <p:spPr>
          <a:xfrm>
            <a:off x="3236666" y="5040000"/>
            <a:ext cx="500000" cy="350000"/>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7D3C98"/>
                </a:solidFill>
                <a:effectLst/>
                <a:uLnTx/>
                <a:uFillTx/>
                <a:latin typeface="Calibri"/>
                <a:ea typeface="+mn-ea"/>
                <a:cs typeface="+mn-cs"/>
              </a:rPr>
              <a:t>3 RF</a:t>
            </a:r>
          </a:p>
        </p:txBody>
      </p:sp>
      <p:sp>
        <p:nvSpPr>
          <p:cNvPr id="50" name="h50"/>
          <p:cNvSpPr/>
          <p:nvPr/>
        </p:nvSpPr>
        <p:spPr>
          <a:xfrm>
            <a:off x="6150000" y="2910000"/>
            <a:ext cx="5700000" cy="37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COBERTURA DE ESCENARIOS POR MÓDULO</a:t>
            </a:r>
          </a:p>
        </p:txBody>
      </p:sp>
      <p:sp>
        <p:nvSpPr>
          <p:cNvPr id="51" name="h51"/>
          <p:cNvSpPr/>
          <p:nvPr/>
        </p:nvSpPr>
        <p:spPr>
          <a:xfrm>
            <a:off x="6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Módulo</a:t>
            </a:r>
          </a:p>
        </p:txBody>
      </p:sp>
      <p:sp>
        <p:nvSpPr>
          <p:cNvPr id="52" name="h52"/>
          <p:cNvSpPr/>
          <p:nvPr/>
        </p:nvSpPr>
        <p:spPr>
          <a:xfrm>
            <a:off x="7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E1</a:t>
            </a:r>
          </a:p>
        </p:txBody>
      </p:sp>
      <p:sp>
        <p:nvSpPr>
          <p:cNvPr id="53" name="h53"/>
          <p:cNvSpPr/>
          <p:nvPr/>
        </p:nvSpPr>
        <p:spPr>
          <a:xfrm>
            <a:off x="8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E2</a:t>
            </a:r>
          </a:p>
        </p:txBody>
      </p:sp>
      <p:sp>
        <p:nvSpPr>
          <p:cNvPr id="54" name="h54"/>
          <p:cNvSpPr/>
          <p:nvPr/>
        </p:nvSpPr>
        <p:spPr>
          <a:xfrm>
            <a:off x="9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E3</a:t>
            </a:r>
          </a:p>
        </p:txBody>
      </p:sp>
      <p:sp>
        <p:nvSpPr>
          <p:cNvPr id="55" name="h55"/>
          <p:cNvSpPr/>
          <p:nvPr/>
        </p:nvSpPr>
        <p:spPr>
          <a:xfrm>
            <a:off x="10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E4</a:t>
            </a:r>
          </a:p>
        </p:txBody>
      </p:sp>
      <p:sp>
        <p:nvSpPr>
          <p:cNvPr id="56" name="h56"/>
          <p:cNvSpPr/>
          <p:nvPr/>
        </p:nvSpPr>
        <p:spPr>
          <a:xfrm>
            <a:off x="11200000" y="3350000"/>
            <a:ext cx="950000" cy="35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E5</a:t>
            </a:r>
          </a:p>
        </p:txBody>
      </p:sp>
      <p:sp>
        <p:nvSpPr>
          <p:cNvPr id="60" name="b60"/>
          <p:cNvSpPr txBox="1"/>
          <p:nvPr/>
        </p:nvSpPr>
        <p:spPr>
          <a:xfrm>
            <a:off x="6200000" y="3760000"/>
            <a:ext cx="950000" cy="37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M1</a:t>
            </a:r>
          </a:p>
        </p:txBody>
      </p:sp>
      <p:sp>
        <p:nvSpPr>
          <p:cNvPr id="61" name="b61"/>
          <p:cNvSpPr txBox="1"/>
          <p:nvPr/>
        </p:nvSpPr>
        <p:spPr>
          <a:xfrm>
            <a:off x="7200000" y="376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62" name="b62"/>
          <p:cNvSpPr txBox="1"/>
          <p:nvPr/>
        </p:nvSpPr>
        <p:spPr>
          <a:xfrm>
            <a:off x="8200000" y="376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63" name="b63"/>
          <p:cNvSpPr txBox="1"/>
          <p:nvPr/>
        </p:nvSpPr>
        <p:spPr>
          <a:xfrm>
            <a:off x="9200000" y="376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64" name="b64"/>
          <p:cNvSpPr txBox="1"/>
          <p:nvPr/>
        </p:nvSpPr>
        <p:spPr>
          <a:xfrm>
            <a:off x="10200000" y="376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65" name="b65"/>
          <p:cNvSpPr txBox="1"/>
          <p:nvPr/>
        </p:nvSpPr>
        <p:spPr>
          <a:xfrm>
            <a:off x="11200000" y="376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66" name="b66"/>
          <p:cNvSpPr txBox="1"/>
          <p:nvPr/>
        </p:nvSpPr>
        <p:spPr>
          <a:xfrm>
            <a:off x="6200000" y="4190000"/>
            <a:ext cx="950000" cy="37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M2</a:t>
            </a:r>
          </a:p>
        </p:txBody>
      </p:sp>
      <p:sp>
        <p:nvSpPr>
          <p:cNvPr id="67" name="b67"/>
          <p:cNvSpPr txBox="1"/>
          <p:nvPr/>
        </p:nvSpPr>
        <p:spPr>
          <a:xfrm>
            <a:off x="7200000" y="419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68" name="b68"/>
          <p:cNvSpPr txBox="1"/>
          <p:nvPr/>
        </p:nvSpPr>
        <p:spPr>
          <a:xfrm>
            <a:off x="8200000" y="419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69" name="b69"/>
          <p:cNvSpPr txBox="1"/>
          <p:nvPr/>
        </p:nvSpPr>
        <p:spPr>
          <a:xfrm>
            <a:off x="9200000" y="419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0" name="b70"/>
          <p:cNvSpPr txBox="1"/>
          <p:nvPr/>
        </p:nvSpPr>
        <p:spPr>
          <a:xfrm>
            <a:off x="10200000" y="419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1" name="b71"/>
          <p:cNvSpPr txBox="1"/>
          <p:nvPr/>
        </p:nvSpPr>
        <p:spPr>
          <a:xfrm>
            <a:off x="11200000" y="419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2" name="b72"/>
          <p:cNvSpPr txBox="1"/>
          <p:nvPr/>
        </p:nvSpPr>
        <p:spPr>
          <a:xfrm>
            <a:off x="6200000" y="4620000"/>
            <a:ext cx="950000" cy="37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2E6DA4"/>
                </a:solidFill>
                <a:effectLst/>
                <a:uLnTx/>
                <a:uFillTx/>
                <a:latin typeface="Calibri"/>
                <a:ea typeface="+mn-ea"/>
                <a:cs typeface="+mn-cs"/>
              </a:rPr>
              <a:t>M3</a:t>
            </a:r>
          </a:p>
        </p:txBody>
      </p:sp>
      <p:sp>
        <p:nvSpPr>
          <p:cNvPr id="73" name="b73"/>
          <p:cNvSpPr txBox="1"/>
          <p:nvPr/>
        </p:nvSpPr>
        <p:spPr>
          <a:xfrm>
            <a:off x="7200000" y="462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4" name="b74"/>
          <p:cNvSpPr txBox="1"/>
          <p:nvPr/>
        </p:nvSpPr>
        <p:spPr>
          <a:xfrm>
            <a:off x="8200000" y="462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75" name="b75"/>
          <p:cNvSpPr txBox="1"/>
          <p:nvPr/>
        </p:nvSpPr>
        <p:spPr>
          <a:xfrm>
            <a:off x="9200000" y="462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76" name="b76"/>
          <p:cNvSpPr txBox="1"/>
          <p:nvPr/>
        </p:nvSpPr>
        <p:spPr>
          <a:xfrm>
            <a:off x="10200000" y="462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7" name="b77"/>
          <p:cNvSpPr txBox="1"/>
          <p:nvPr/>
        </p:nvSpPr>
        <p:spPr>
          <a:xfrm>
            <a:off x="11200000" y="462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78" name="b78"/>
          <p:cNvSpPr txBox="1"/>
          <p:nvPr/>
        </p:nvSpPr>
        <p:spPr>
          <a:xfrm>
            <a:off x="6200000" y="5050000"/>
            <a:ext cx="950000" cy="370000"/>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7A2E"/>
                </a:solidFill>
                <a:effectLst/>
                <a:uLnTx/>
                <a:uFillTx/>
                <a:latin typeface="Calibri"/>
                <a:ea typeface="+mn-ea"/>
                <a:cs typeface="+mn-cs"/>
              </a:rPr>
              <a:t>M4</a:t>
            </a:r>
          </a:p>
        </p:txBody>
      </p:sp>
      <p:sp>
        <p:nvSpPr>
          <p:cNvPr id="79" name="b79"/>
          <p:cNvSpPr txBox="1"/>
          <p:nvPr/>
        </p:nvSpPr>
        <p:spPr>
          <a:xfrm>
            <a:off x="7200000" y="505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80" name="b80"/>
          <p:cNvSpPr txBox="1"/>
          <p:nvPr/>
        </p:nvSpPr>
        <p:spPr>
          <a:xfrm>
            <a:off x="8200000" y="505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81" name="b81"/>
          <p:cNvSpPr txBox="1"/>
          <p:nvPr/>
        </p:nvSpPr>
        <p:spPr>
          <a:xfrm>
            <a:off x="9200000" y="505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82" name="b82"/>
          <p:cNvSpPr txBox="1"/>
          <p:nvPr/>
        </p:nvSpPr>
        <p:spPr>
          <a:xfrm>
            <a:off x="10200000" y="505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83" name="b83"/>
          <p:cNvSpPr txBox="1"/>
          <p:nvPr/>
        </p:nvSpPr>
        <p:spPr>
          <a:xfrm>
            <a:off x="11200000" y="505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84" name="b84"/>
          <p:cNvSpPr txBox="1"/>
          <p:nvPr/>
        </p:nvSpPr>
        <p:spPr>
          <a:xfrm>
            <a:off x="6200000" y="5480000"/>
            <a:ext cx="950000" cy="370000"/>
          </a:xfrm>
          <a:prstGeom prst="rect">
            <a:avLst/>
          </a:prstGeom>
          <a:solidFill>
            <a:srgbClr val="F3E8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7D3C98"/>
                </a:solidFill>
                <a:effectLst/>
                <a:uLnTx/>
                <a:uFillTx/>
                <a:latin typeface="Calibri"/>
                <a:ea typeface="+mn-ea"/>
                <a:cs typeface="+mn-cs"/>
              </a:rPr>
              <a:t>M5</a:t>
            </a:r>
          </a:p>
        </p:txBody>
      </p:sp>
      <p:sp>
        <p:nvSpPr>
          <p:cNvPr id="85" name="b85"/>
          <p:cNvSpPr txBox="1"/>
          <p:nvPr/>
        </p:nvSpPr>
        <p:spPr>
          <a:xfrm>
            <a:off x="7200000" y="548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86" name="b86"/>
          <p:cNvSpPr txBox="1"/>
          <p:nvPr/>
        </p:nvSpPr>
        <p:spPr>
          <a:xfrm>
            <a:off x="8200000" y="548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87" name="b87"/>
          <p:cNvSpPr txBox="1"/>
          <p:nvPr/>
        </p:nvSpPr>
        <p:spPr>
          <a:xfrm>
            <a:off x="9200000" y="5480000"/>
            <a:ext cx="950000" cy="370000"/>
          </a:xfrm>
          <a:prstGeom prst="rect">
            <a:avLst/>
          </a:prstGeom>
          <a:solidFill>
            <a:srgbClr val="F5F5F5"/>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AAAAAA"/>
                </a:solidFill>
                <a:effectLst/>
                <a:uLnTx/>
                <a:uFillTx/>
                <a:latin typeface="Calibri"/>
                <a:ea typeface="+mn-ea"/>
                <a:cs typeface="+mn-cs"/>
              </a:rPr>
              <a:t>—</a:t>
            </a:r>
          </a:p>
        </p:txBody>
      </p:sp>
      <p:sp>
        <p:nvSpPr>
          <p:cNvPr id="88" name="b88"/>
          <p:cNvSpPr txBox="1"/>
          <p:nvPr/>
        </p:nvSpPr>
        <p:spPr>
          <a:xfrm>
            <a:off x="10200000" y="548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89" name="b89"/>
          <p:cNvSpPr txBox="1"/>
          <p:nvPr/>
        </p:nvSpPr>
        <p:spPr>
          <a:xfrm>
            <a:off x="11200000" y="5480000"/>
            <a:ext cx="950000" cy="292388"/>
          </a:xfrm>
          <a:prstGeom prst="rect">
            <a:avLst/>
          </a:prstGeom>
          <a:solidFill>
            <a:srgbClr val="E8F5E9"/>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7A2E"/>
                </a:solidFill>
                <a:effectLst/>
                <a:uLnTx/>
                <a:uFillTx/>
                <a:latin typeface="Calibri"/>
                <a:ea typeface="+mn-ea"/>
                <a:cs typeface="+mn-cs"/>
              </a:rPr>
              <a:t>Aprobado</a:t>
            </a:r>
          </a:p>
        </p:txBody>
      </p:sp>
      <p:sp>
        <p:nvSpPr>
          <p:cNvPr id="90" name="h90"/>
          <p:cNvSpPr/>
          <p:nvPr/>
        </p:nvSpPr>
        <p:spPr>
          <a:xfrm>
            <a:off x="300000" y="5900000"/>
            <a:ext cx="11600000" cy="360000"/>
          </a:xfrm>
          <a:prstGeom prst="rect">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FFFFFF"/>
                </a:solidFill>
                <a:effectLst/>
                <a:uLnTx/>
                <a:uFillTx/>
                <a:latin typeface="Calibri"/>
                <a:ea typeface="+mn-ea"/>
                <a:cs typeface="+mn-cs"/>
              </a:rPr>
              <a:t>HISTORIAL DE VERSIONES DEL CATÁLOGO  —  Control de versionalidad (artefacto vivo)</a:t>
            </a:r>
          </a:p>
        </p:txBody>
      </p:sp>
      <p:graphicFrame>
        <p:nvGraphicFramePr>
          <p:cNvPr id="91" name="VerHist"/>
          <p:cNvGraphicFramePr>
            <a:graphicFrameLocks noGrp="1"/>
          </p:cNvGraphicFramePr>
          <p:nvPr/>
        </p:nvGraphicFramePr>
        <p:xfrm>
          <a:off x="300000" y="6320000"/>
          <a:ext cx="11400000" cy="1703920"/>
        </p:xfrm>
        <a:graphic>
          <a:graphicData uri="http://schemas.openxmlformats.org/drawingml/2006/table">
            <a:tbl>
              <a:tblPr firstRow="1">
                <a:tableStyleId>{5C22544A-7EE6-4342-B048-85BDC9FD1C3A}</a:tableStyleId>
              </a:tblPr>
              <a:tblGrid>
                <a:gridCol w="800000">
                  <a:extLst>
                    <a:ext uri="{9D8B030D-6E8A-4147-A177-3AD203B41FA5}">
                      <a16:colId xmlns:a16="http://schemas.microsoft.com/office/drawing/2014/main" val="20000"/>
                    </a:ext>
                  </a:extLst>
                </a:gridCol>
                <a:gridCol w="120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8200000">
                  <a:extLst>
                    <a:ext uri="{9D8B030D-6E8A-4147-A177-3AD203B41FA5}">
                      <a16:colId xmlns:a16="http://schemas.microsoft.com/office/drawing/2014/main" val="20003"/>
                    </a:ext>
                  </a:extLst>
                </a:gridCol>
              </a:tblGrid>
              <a:tr h="420000">
                <a:tc>
                  <a:txBody>
                    <a:bodyPr/>
                    <a:lstStyle/>
                    <a:p>
                      <a:pPr algn="ctr"/>
                      <a:r>
                        <a:rPr lang="es-CO" sz="1150" b="1" dirty="0">
                          <a:solidFill>
                            <a:srgbClr val="FFFFFF"/>
                          </a:solidFill>
                          <a:latin typeface="Calibri"/>
                        </a:rPr>
                        <a:t>Versión</a:t>
                      </a:r>
                    </a:p>
                  </a:txBody>
                  <a:tcPr>
                    <a:solidFill>
                      <a:srgbClr val="003366"/>
                    </a:solidFill>
                  </a:tcPr>
                </a:tc>
                <a:tc>
                  <a:txBody>
                    <a:bodyPr/>
                    <a:lstStyle/>
                    <a:p>
                      <a:pPr algn="ctr"/>
                      <a:r>
                        <a:rPr lang="es-CO" sz="1150" b="1" dirty="0">
                          <a:solidFill>
                            <a:srgbClr val="FFFFFF"/>
                          </a:solidFill>
                          <a:latin typeface="Calibri"/>
                        </a:rPr>
                        <a:t>Fecha</a:t>
                      </a:r>
                    </a:p>
                  </a:txBody>
                  <a:tcPr>
                    <a:solidFill>
                      <a:srgbClr val="003366"/>
                    </a:solidFill>
                  </a:tcPr>
                </a:tc>
                <a:tc>
                  <a:txBody>
                    <a:bodyPr/>
                    <a:lstStyle/>
                    <a:p>
                      <a:pPr algn="ctr"/>
                      <a:r>
                        <a:rPr lang="es-CO" sz="1150" b="1" dirty="0">
                          <a:solidFill>
                            <a:srgbClr val="FFFFFF"/>
                          </a:solidFill>
                          <a:latin typeface="Calibri"/>
                        </a:rPr>
                        <a:t>RF totales</a:t>
                      </a:r>
                    </a:p>
                  </a:txBody>
                  <a:tcPr>
                    <a:solidFill>
                      <a:srgbClr val="003366"/>
                    </a:solidFill>
                  </a:tcPr>
                </a:tc>
                <a:tc>
                  <a:txBody>
                    <a:bodyPr/>
                    <a:lstStyle/>
                    <a:p>
                      <a:r>
                        <a:rPr lang="es-CO" sz="1150" b="1" dirty="0">
                          <a:solidFill>
                            <a:srgbClr val="FFFFFF"/>
                          </a:solidFill>
                          <a:latin typeface="Calibri"/>
                        </a:rPr>
                        <a:t>Cambio incorporado</a:t>
                      </a:r>
                    </a:p>
                  </a:txBody>
                  <a:tcPr>
                    <a:solidFill>
                      <a:srgbClr val="003366"/>
                    </a:solidFill>
                  </a:tcPr>
                </a:tc>
                <a:extLst>
                  <a:ext uri="{0D108BD9-81ED-4DB2-BD59-A6C34878D82A}">
                    <a16:rowId xmlns:a16="http://schemas.microsoft.com/office/drawing/2014/main" val="10000"/>
                  </a:ext>
                </a:extLst>
              </a:tr>
              <a:tr h="400000">
                <a:tc>
                  <a:txBody>
                    <a:bodyPr/>
                    <a:lstStyle/>
                    <a:p>
                      <a:pPr algn="ctr"/>
                      <a:r>
                        <a:rPr lang="es-CO" sz="1150" b="1" dirty="0">
                          <a:solidFill>
                            <a:srgbClr val="1C4E8A"/>
                          </a:solidFill>
                          <a:latin typeface="Calibri"/>
                        </a:rPr>
                        <a:t>v1.0</a:t>
                      </a:r>
                    </a:p>
                  </a:txBody>
                  <a:tcPr>
                    <a:solidFill>
                      <a:srgbClr val="EDF2FA"/>
                    </a:solidFill>
                  </a:tcPr>
                </a:tc>
                <a:tc>
                  <a:txBody>
                    <a:bodyPr/>
                    <a:lstStyle/>
                    <a:p>
                      <a:pPr algn="ctr"/>
                      <a:r>
                        <a:rPr lang="es-CO" sz="1100" b="0" dirty="0">
                          <a:solidFill>
                            <a:srgbClr val="333333"/>
                          </a:solidFill>
                          <a:latin typeface="Calibri"/>
                        </a:rPr>
                        <a:t>10/06/2025</a:t>
                      </a:r>
                    </a:p>
                  </a:txBody>
                  <a:tcPr>
                    <a:solidFill>
                      <a:srgbClr val="EDF2FA"/>
                    </a:solidFill>
                  </a:tcPr>
                </a:tc>
                <a:tc>
                  <a:txBody>
                    <a:bodyPr/>
                    <a:lstStyle/>
                    <a:p>
                      <a:pPr algn="ctr"/>
                      <a:r>
                        <a:rPr lang="es-CO" sz="1150" b="1" dirty="0">
                          <a:solidFill>
                            <a:srgbClr val="003366"/>
                          </a:solidFill>
                          <a:latin typeface="Calibri"/>
                        </a:rPr>
                        <a:t>14 RF registrados</a:t>
                      </a:r>
                    </a:p>
                  </a:txBody>
                  <a:tcPr>
                    <a:solidFill>
                      <a:srgbClr val="EDF2FA"/>
                    </a:solidFill>
                  </a:tcPr>
                </a:tc>
                <a:tc>
                  <a:txBody>
                    <a:bodyPr/>
                    <a:lstStyle/>
                    <a:p>
                      <a:r>
                        <a:rPr lang="es-CO" sz="1100" b="0" dirty="0">
                          <a:solidFill>
                            <a:srgbClr val="444444"/>
                          </a:solidFill>
                          <a:latin typeface="Calibri"/>
                        </a:rPr>
                        <a:t>Catálogo inicial post-educción E1, E2, E3</a:t>
                      </a:r>
                    </a:p>
                  </a:txBody>
                  <a:tcPr>
                    <a:solidFill>
                      <a:srgbClr val="EDF2FA"/>
                    </a:solidFill>
                  </a:tcPr>
                </a:tc>
                <a:extLst>
                  <a:ext uri="{0D108BD9-81ED-4DB2-BD59-A6C34878D82A}">
                    <a16:rowId xmlns:a16="http://schemas.microsoft.com/office/drawing/2014/main" val="10001"/>
                  </a:ext>
                </a:extLst>
              </a:tr>
              <a:tr h="400000">
                <a:tc>
                  <a:txBody>
                    <a:bodyPr/>
                    <a:lstStyle/>
                    <a:p>
                      <a:pPr algn="ctr"/>
                      <a:r>
                        <a:rPr lang="es-CO" sz="1150" b="1" dirty="0">
                          <a:solidFill>
                            <a:srgbClr val="1C4E8A"/>
                          </a:solidFill>
                          <a:latin typeface="Calibri"/>
                        </a:rPr>
                        <a:t>v1.1</a:t>
                      </a:r>
                    </a:p>
                  </a:txBody>
                  <a:tcPr>
                    <a:solidFill>
                      <a:srgbClr val="FFFFFF"/>
                    </a:solidFill>
                  </a:tcPr>
                </a:tc>
                <a:tc>
                  <a:txBody>
                    <a:bodyPr/>
                    <a:lstStyle/>
                    <a:p>
                      <a:pPr algn="ctr"/>
                      <a:r>
                        <a:rPr lang="es-CO" sz="1100" b="0" dirty="0">
                          <a:solidFill>
                            <a:srgbClr val="333333"/>
                          </a:solidFill>
                          <a:latin typeface="Calibri"/>
                        </a:rPr>
                        <a:t>20/06/2025</a:t>
                      </a:r>
                    </a:p>
                  </a:txBody>
                  <a:tcPr>
                    <a:solidFill>
                      <a:srgbClr val="FFFFFF"/>
                    </a:solidFill>
                  </a:tcPr>
                </a:tc>
                <a:tc>
                  <a:txBody>
                    <a:bodyPr/>
                    <a:lstStyle/>
                    <a:p>
                      <a:pPr algn="ctr"/>
                      <a:r>
                        <a:rPr lang="es-CO" sz="1150" b="1" dirty="0">
                          <a:solidFill>
                            <a:srgbClr val="003366"/>
                          </a:solidFill>
                          <a:latin typeface="Calibri"/>
                        </a:rPr>
                        <a:t>18 RF registrados</a:t>
                      </a:r>
                    </a:p>
                  </a:txBody>
                  <a:tcPr>
                    <a:solidFill>
                      <a:srgbClr val="FFFFFF"/>
                    </a:solidFill>
                  </a:tcPr>
                </a:tc>
                <a:tc>
                  <a:txBody>
                    <a:bodyPr/>
                    <a:lstStyle/>
                    <a:p>
                      <a:r>
                        <a:rPr lang="es-CO" sz="1100" b="0" dirty="0">
                          <a:solidFill>
                            <a:srgbClr val="444444"/>
                          </a:solidFill>
                          <a:latin typeface="Calibri"/>
                        </a:rPr>
                        <a:t>+ 4 RF incorporados tras elicitación E4, E5 y correcciones A-003 v1.1</a:t>
                      </a:r>
                    </a:p>
                  </a:txBody>
                  <a:tcPr>
                    <a:solidFill>
                      <a:srgbClr val="FFFFFF"/>
                    </a:solidFill>
                  </a:tcPr>
                </a:tc>
                <a:extLst>
                  <a:ext uri="{0D108BD9-81ED-4DB2-BD59-A6C34878D82A}">
                    <a16:rowId xmlns:a16="http://schemas.microsoft.com/office/drawing/2014/main" val="10002"/>
                  </a:ext>
                </a:extLst>
              </a:tr>
              <a:tr h="400000">
                <a:tc>
                  <a:txBody>
                    <a:bodyPr/>
                    <a:lstStyle/>
                    <a:p>
                      <a:pPr algn="ctr"/>
                      <a:r>
                        <a:rPr lang="es-CO" sz="1150" b="1" dirty="0">
                          <a:solidFill>
                            <a:srgbClr val="1C4E8A"/>
                          </a:solidFill>
                          <a:latin typeface="Calibri"/>
                        </a:rPr>
                        <a:t>v1.1</a:t>
                      </a:r>
                    </a:p>
                  </a:txBody>
                  <a:tcPr>
                    <a:solidFill>
                      <a:srgbClr val="EDF2FA"/>
                    </a:solidFill>
                  </a:tcPr>
                </a:tc>
                <a:tc>
                  <a:txBody>
                    <a:bodyPr/>
                    <a:lstStyle/>
                    <a:p>
                      <a:pPr algn="ctr"/>
                      <a:r>
                        <a:rPr lang="es-CO" sz="1100" b="0" dirty="0">
                          <a:solidFill>
                            <a:srgbClr val="333333"/>
                          </a:solidFill>
                          <a:latin typeface="Calibri"/>
                        </a:rPr>
                        <a:t>25/06/2025</a:t>
                      </a:r>
                    </a:p>
                  </a:txBody>
                  <a:tcPr>
                    <a:solidFill>
                      <a:srgbClr val="EDF2FA"/>
                    </a:solidFill>
                  </a:tcPr>
                </a:tc>
                <a:tc>
                  <a:txBody>
                    <a:bodyPr/>
                    <a:lstStyle/>
                    <a:p>
                      <a:pPr algn="ctr"/>
                      <a:r>
                        <a:rPr lang="es-CO" sz="1150" b="1" dirty="0">
                          <a:solidFill>
                            <a:srgbClr val="003366"/>
                          </a:solidFill>
                          <a:latin typeface="Calibri"/>
                        </a:rPr>
                        <a:t>18 RF</a:t>
                      </a:r>
                    </a:p>
                  </a:txBody>
                  <a:tcPr>
                    <a:solidFill>
                      <a:srgbClr val="EDF2FA"/>
                    </a:solidFill>
                  </a:tcPr>
                </a:tc>
                <a:tc>
                  <a:txBody>
                    <a:bodyPr/>
                    <a:lstStyle/>
                    <a:p>
                      <a:r>
                        <a:rPr lang="es-CO" sz="1100" b="0" dirty="0">
                          <a:solidFill>
                            <a:srgbClr val="444444"/>
                          </a:solidFill>
                          <a:latin typeface="Calibri"/>
                        </a:rPr>
                        <a:t>Revisión técnica equipo completo; 3 RF pasan a 'En revisión' por ampliación de alcance</a:t>
                      </a:r>
                    </a:p>
                  </a:txBody>
                  <a:tcPr>
                    <a:solidFill>
                      <a:srgbClr val="EDF2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FCF44D-B6CA-21E4-799E-3A117C3C7092}"/>
              </a:ext>
            </a:extLst>
          </p:cNvPr>
          <p:cNvSpPr>
            <a:spLocks noGrp="1"/>
          </p:cNvSpPr>
          <p:nvPr>
            <p:ph type="title"/>
          </p:nvPr>
        </p:nvSpPr>
        <p:spPr>
          <a:xfrm>
            <a:off x="838200" y="1020726"/>
            <a:ext cx="10515600" cy="669962"/>
          </a:xfrm>
        </p:spPr>
        <p:txBody>
          <a:bodyPr>
            <a:normAutofit fontScale="90000"/>
          </a:bodyPr>
          <a:lstStyle/>
          <a:p>
            <a:r>
              <a:rPr lang="es-CO" b="1" dirty="0"/>
              <a:t>Figura 10 (cont.) — Panel de Métricas</a:t>
            </a:r>
            <a:endParaRPr lang="es-CO" dirty="0"/>
          </a:p>
        </p:txBody>
      </p:sp>
      <p:sp>
        <p:nvSpPr>
          <p:cNvPr id="3" name="Marcador de contenido 2">
            <a:extLst>
              <a:ext uri="{FF2B5EF4-FFF2-40B4-BE49-F238E27FC236}">
                <a16:creationId xmlns:a16="http://schemas.microsoft.com/office/drawing/2014/main" id="{8EA52E68-F3BC-43E8-E819-20DE34ACCD3C}"/>
              </a:ext>
            </a:extLst>
          </p:cNvPr>
          <p:cNvSpPr>
            <a:spLocks noGrp="1"/>
          </p:cNvSpPr>
          <p:nvPr>
            <p:ph idx="1"/>
          </p:nvPr>
        </p:nvSpPr>
        <p:spPr>
          <a:xfrm>
            <a:off x="838200" y="1825625"/>
            <a:ext cx="10515600" cy="2576254"/>
          </a:xfrm>
        </p:spPr>
        <p:txBody>
          <a:bodyPr/>
          <a:lstStyle/>
          <a:p>
            <a:pPr marL="0" indent="0">
              <a:buNone/>
            </a:pPr>
            <a:r>
              <a:rPr lang="es-CO" b="1" dirty="0"/>
              <a:t>5 KPI </a:t>
            </a:r>
            <a:r>
              <a:rPr lang="es-CO" b="1" dirty="0" err="1"/>
              <a:t>cards</a:t>
            </a:r>
            <a:r>
              <a:rPr lang="es-CO" dirty="0"/>
              <a:t>: 18 RF identificados, 13 aprobados, 3 en revisión, 2 propuestos, 5 módulos. </a:t>
            </a:r>
            <a:r>
              <a:rPr lang="es-CO" b="1" dirty="0"/>
              <a:t>Gráfico de barras horizontales</a:t>
            </a:r>
            <a:r>
              <a:rPr lang="es-CO" dirty="0"/>
              <a:t> con distribución de RF por módulo (M1–M5) en colores distintos. </a:t>
            </a:r>
            <a:r>
              <a:rPr lang="es-CO" b="1" dirty="0"/>
              <a:t>Matriz de cobertura</a:t>
            </a:r>
            <a:r>
              <a:rPr lang="es-CO" dirty="0"/>
              <a:t> módulo × escenario (✔ / —). </a:t>
            </a:r>
            <a:r>
              <a:rPr lang="es-CO" b="1" dirty="0"/>
              <a:t>Historial de versiones</a:t>
            </a:r>
            <a:r>
              <a:rPr lang="es-CO" dirty="0"/>
              <a:t> del catálogo (v1.0 → v1.1) con fecha y descripción del cambio incorporado, evidenciando el carácter de artefacto vivo exigido por la IEEE-STD-830</a:t>
            </a:r>
          </a:p>
        </p:txBody>
      </p:sp>
    </p:spTree>
    <p:extLst>
      <p:ext uri="{BB962C8B-B14F-4D97-AF65-F5344CB8AC3E}">
        <p14:creationId xmlns:p14="http://schemas.microsoft.com/office/powerpoint/2010/main" val="2354405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0DC7B7F-8EFF-6FB0-E68D-13EB0F7DAE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9F2858-FB4E-7878-023F-ED815B989BCD}"/>
              </a:ext>
            </a:extLst>
          </p:cNvPr>
          <p:cNvSpPr txBox="1"/>
          <p:nvPr/>
        </p:nvSpPr>
        <p:spPr>
          <a:xfrm>
            <a:off x="218734" y="3166762"/>
            <a:ext cx="10967131" cy="2000548"/>
          </a:xfrm>
          <a:prstGeom prst="rect">
            <a:avLst/>
          </a:prstGeom>
          <a:noFill/>
        </p:spPr>
        <p:txBody>
          <a:bodyPr wrap="square">
            <a:spAutoFit/>
          </a:bodyPr>
          <a:lstStyle/>
          <a:p>
            <a:pPr lvl="0"/>
            <a:r>
              <a:rPr kumimoji="0" lang="es-CO"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rPr>
              <a:t>Paso 8 — </a:t>
            </a:r>
            <a:r>
              <a:rPr lang="es-CO" sz="3200" dirty="0">
                <a:solidFill>
                  <a:prstClr val="white"/>
                </a:solidFill>
                <a:latin typeface="Century Gothic" panose="020B0502020202020204" pitchFamily="34" charset="0"/>
              </a:rPr>
              <a:t>Especificación Detallada de Requisitos Funcionales (Especificación — Formalización)</a:t>
            </a:r>
            <a:endParaRPr lang="es-MX" sz="3200" dirty="0">
              <a:solidFill>
                <a:prstClr val="white"/>
              </a:solidFill>
              <a:latin typeface="Century Gothic" panose="020B0502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2800" b="1" i="0" u="none" strike="noStrike" kern="1200" cap="none" spc="0" normalizeH="0" baseline="0" noProof="0" dirty="0">
                <a:ln>
                  <a:noFill/>
                </a:ln>
                <a:solidFill>
                  <a:srgbClr val="7BEEFD"/>
                </a:solidFill>
                <a:effectLst/>
                <a:uLnTx/>
                <a:uFillTx/>
                <a:latin typeface="Century Gothic" panose="020B0502020202020204" pitchFamily="34" charset="0"/>
                <a:ea typeface="+mn-ea"/>
                <a:cs typeface="+mn-cs"/>
              </a:rPr>
              <a:t>Sistema de Gestión Académica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3200" b="0" i="0" u="none" strike="noStrike" kern="1200" cap="none" spc="0" normalizeH="0" baseline="0" noProof="0" dirty="0">
              <a:ln>
                <a:noFill/>
              </a:ln>
              <a:solidFill>
                <a:prstClr val="white"/>
              </a:solidFill>
              <a:effectLst/>
              <a:uLnTx/>
              <a:uFillTx/>
              <a:latin typeface="Century Gothic" panose="020B0502020202020204" pitchFamily="34" charset="0"/>
              <a:ea typeface="+mn-ea"/>
              <a:cs typeface="+mn-cs"/>
            </a:endParaRPr>
          </a:p>
        </p:txBody>
      </p:sp>
    </p:spTree>
    <p:extLst>
      <p:ext uri="{BB962C8B-B14F-4D97-AF65-F5344CB8AC3E}">
        <p14:creationId xmlns:p14="http://schemas.microsoft.com/office/powerpoint/2010/main" val="2184609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220894"/>
            <a:ext cx="11500000" cy="382156"/>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Paso 8 — Especificación Detallada de Requisitos Funcionales (Especificación — Formalización)</a:t>
            </a:r>
          </a:p>
        </p:txBody>
      </p:sp>
      <p:sp>
        <p:nvSpPr>
          <p:cNvPr id="7" name="Content"/>
          <p:cNvSpPr/>
          <p:nvPr/>
        </p:nvSpPr>
        <p:spPr>
          <a:xfrm>
            <a:off x="421004" y="2029208"/>
            <a:ext cx="11210866" cy="3438142"/>
          </a:xfrm>
          <a:prstGeom prst="rect">
            <a:avLst/>
          </a:prstGeom>
        </p:spPr>
        <p:txBody>
          <a:bodyPr wrap="square" anchor="t"/>
          <a:lstStyle/>
          <a:p>
            <a:pPr marL="0" lvl="0" indent="0">
              <a:lnSpc>
                <a:spcPct val="107000"/>
              </a:lnSpc>
              <a:spcAft>
                <a:spcPts val="200"/>
              </a:spcAft>
              <a:buNone/>
            </a:pPr>
            <a:r>
              <a:rPr lang="es-CO" sz="1500" b="1" dirty="0">
                <a:solidFill>
                  <a:srgbClr val="003366"/>
                </a:solidFill>
                <a:latin typeface="Calibri"/>
              </a:rPr>
              <a:t>Descripción técnica:</a:t>
            </a:r>
          </a:p>
          <a:p>
            <a:pPr marL="228600" lvl="0" indent="0">
              <a:lnSpc>
                <a:spcPct val="107000"/>
              </a:lnSpc>
              <a:spcAft>
                <a:spcPts val="400"/>
              </a:spcAft>
              <a:buNone/>
            </a:pPr>
            <a:r>
              <a:rPr lang="es-CO" sz="1400" dirty="0">
                <a:solidFill>
                  <a:srgbClr val="333333"/>
                </a:solidFill>
                <a:latin typeface="Calibri"/>
              </a:rPr>
              <a:t>Cada requisito es objeto de una especificación detallada e individualizada mediante una ficha estandarizada, describiendo con precisión el comportamiento funcional esperado. Produce el insumo directo para diseño, construcción y pruebas, satisfaciendo los atributos IEEE-STD-830: corrección, completitud, no ambigüedad, verificabilidad, consistencia y trazabilidad.</a:t>
            </a:r>
          </a:p>
          <a:p>
            <a:pPr marL="0" lvl="0" indent="0">
              <a:lnSpc>
                <a:spcPct val="107000"/>
              </a:lnSpc>
              <a:spcAft>
                <a:spcPts val="200"/>
              </a:spcAft>
              <a:buNone/>
            </a:pPr>
            <a:r>
              <a:rPr lang="es-CO" sz="1500" b="1" dirty="0">
                <a:solidFill>
                  <a:srgbClr val="003366"/>
                </a:solidFill>
                <a:latin typeface="Calibri"/>
              </a:rPr>
              <a:t>Técnicas y herramientas:</a:t>
            </a:r>
          </a:p>
          <a:p>
            <a:pPr marL="514350" lvl="0" indent="-285750">
              <a:lnSpc>
                <a:spcPct val="107000"/>
              </a:lnSpc>
              <a:spcAft>
                <a:spcPts val="400"/>
              </a:spcAft>
              <a:buFont typeface="Wingdings" panose="05000000000000000000" pitchFamily="2" charset="2"/>
              <a:buChar char="ü"/>
            </a:pPr>
            <a:r>
              <a:rPr lang="es-CO" sz="1400" dirty="0"/>
              <a:t>Lenguaje natural estructurado (</a:t>
            </a:r>
            <a:r>
              <a:rPr lang="es-CO" sz="1400" i="1" dirty="0" err="1"/>
              <a:t>structured</a:t>
            </a:r>
            <a:r>
              <a:rPr lang="es-CO" sz="1400" i="1" dirty="0"/>
              <a:t> natural </a:t>
            </a:r>
            <a:r>
              <a:rPr lang="es-CO" sz="1400" i="1" dirty="0" err="1"/>
              <a:t>language</a:t>
            </a:r>
            <a:r>
              <a:rPr lang="es-CO" sz="1400" dirty="0"/>
              <a:t>).</a:t>
            </a:r>
          </a:p>
          <a:p>
            <a:pPr marL="514350" lvl="0" indent="-285750">
              <a:lnSpc>
                <a:spcPct val="107000"/>
              </a:lnSpc>
              <a:spcAft>
                <a:spcPts val="400"/>
              </a:spcAft>
              <a:buFont typeface="Wingdings" panose="05000000000000000000" pitchFamily="2" charset="2"/>
              <a:buChar char="ü"/>
            </a:pPr>
            <a:r>
              <a:rPr lang="es-CO" sz="1400" dirty="0"/>
              <a:t>Plantillas IEEE-830 de especificación de requisitos de software (SRS).</a:t>
            </a:r>
          </a:p>
          <a:p>
            <a:pPr marL="514350" lvl="0" indent="-285750">
              <a:lnSpc>
                <a:spcPct val="107000"/>
              </a:lnSpc>
              <a:spcAft>
                <a:spcPts val="400"/>
              </a:spcAft>
              <a:buFont typeface="Wingdings" panose="05000000000000000000" pitchFamily="2" charset="2"/>
              <a:buChar char="ü"/>
            </a:pPr>
            <a:r>
              <a:rPr lang="es-CO" sz="1400" dirty="0"/>
              <a:t>Casos de uso UML con precondiciones, postcondiciones y flujos alternativos.</a:t>
            </a:r>
          </a:p>
          <a:p>
            <a:pPr marL="514350" lvl="0" indent="-285750">
              <a:lnSpc>
                <a:spcPct val="107000"/>
              </a:lnSpc>
              <a:spcAft>
                <a:spcPts val="400"/>
              </a:spcAft>
              <a:buFont typeface="Wingdings" panose="05000000000000000000" pitchFamily="2" charset="2"/>
              <a:buChar char="ü"/>
            </a:pPr>
            <a:r>
              <a:rPr lang="es-CO" sz="1400" dirty="0"/>
              <a:t>Prototipos de baja o alta fidelidad para validación visual</a:t>
            </a:r>
            <a:endParaRPr lang="es-CO" sz="1400" dirty="0">
              <a:solidFill>
                <a:srgbClr val="333333"/>
              </a:solidFill>
              <a:latin typeface="Calibri"/>
            </a:endParaRPr>
          </a:p>
          <a:p>
            <a:pPr marL="0" lvl="0" indent="0">
              <a:lnSpc>
                <a:spcPct val="107000"/>
              </a:lnSpc>
              <a:spcAft>
                <a:spcPts val="200"/>
              </a:spcAft>
              <a:buNone/>
            </a:pPr>
            <a:r>
              <a:rPr lang="es-CO" sz="1500" b="1" dirty="0">
                <a:solidFill>
                  <a:srgbClr val="003366"/>
                </a:solidFill>
                <a:latin typeface="Calibri"/>
              </a:rPr>
              <a:t>Artefacto/entregable:</a:t>
            </a:r>
          </a:p>
          <a:p>
            <a:pPr marL="514350" lvl="0" indent="-285750">
              <a:lnSpc>
                <a:spcPct val="107000"/>
              </a:lnSpc>
              <a:spcAft>
                <a:spcPts val="400"/>
              </a:spcAft>
              <a:buFont typeface="Wingdings" panose="05000000000000000000" pitchFamily="2" charset="2"/>
              <a:buChar char="ü"/>
            </a:pPr>
            <a:r>
              <a:rPr lang="es-CO" sz="1400" dirty="0">
                <a:solidFill>
                  <a:srgbClr val="333333"/>
                </a:solidFill>
                <a:latin typeface="Calibri"/>
              </a:rPr>
              <a:t>Fichas de Especificación de Requisitos Funcionales (una por requisito, con nombre, descripción, criterios de aceptación, restricciones, trazabilidad y versión) conformando colectivamente el Documento SRS del proyecto. (Figura 11)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11 — Ficha SRS: RF-08 | Registro de Calificaciones Parciales</a:t>
            </a:r>
          </a:p>
        </p:txBody>
      </p:sp>
      <p:sp>
        <p:nvSpPr>
          <p:cNvPr id="20" name="FormBG"/>
          <p:cNvSpPr/>
          <p:nvPr/>
        </p:nvSpPr>
        <p:spPr>
          <a:xfrm>
            <a:off x="300000" y="1440000"/>
            <a:ext cx="11600000" cy="5010000"/>
          </a:xfrm>
          <a:prstGeom prst="rect">
            <a:avLst/>
          </a:prstGeom>
          <a:solidFill>
            <a:srgbClr val="F5F8FC"/>
          </a:solidFill>
          <a:ln w="28575">
            <a:solidFill>
              <a:srgbClr val="2E6DA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ccent"/>
          <p:cNvSpPr/>
          <p:nvPr/>
        </p:nvSpPr>
        <p:spPr>
          <a:xfrm>
            <a:off x="300000" y="1440000"/>
            <a:ext cx="120000" cy="5010000"/>
          </a:xfrm>
          <a:prstGeom prst="rect">
            <a:avLst/>
          </a:prstGeom>
          <a:solidFill>
            <a:srgbClr val="2E6DA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21"/>
          <p:cNvSpPr/>
          <p:nvPr/>
        </p:nvSpPr>
        <p:spPr>
          <a:xfrm>
            <a:off x="300000" y="1440000"/>
            <a:ext cx="11600000" cy="400000"/>
          </a:xfrm>
          <a:prstGeom prst="rect">
            <a:avLst/>
          </a:prstGeom>
          <a:solidFill>
            <a:srgbClr val="2E6DA4"/>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50" b="1" i="0" u="none" strike="noStrike" kern="1200" cap="none" spc="0" normalizeH="0" baseline="0" noProof="0" dirty="0">
                <a:ln>
                  <a:noFill/>
                </a:ln>
                <a:solidFill>
                  <a:srgbClr val="FFFFFF"/>
                </a:solidFill>
                <a:effectLst/>
                <a:uLnTx/>
                <a:uFillTx/>
                <a:latin typeface="Calibri"/>
                <a:ea typeface="+mn-ea"/>
                <a:cs typeface="+mn-cs"/>
              </a:rPr>
              <a:t>FICHA DE ESPECIFICACIÓN DE REQUISITOS FUNCIONALES  |  IEEE-STD-830</a:t>
            </a:r>
          </a:p>
        </p:txBody>
      </p:sp>
      <p:sp>
        <p:nvSpPr>
          <p:cNvPr id="90" name="bdg90"/>
          <p:cNvSpPr/>
          <p:nvPr/>
        </p:nvSpPr>
        <p:spPr>
          <a:xfrm>
            <a:off x="9900000" y="1490000"/>
            <a:ext cx="1800000" cy="310000"/>
          </a:xfrm>
          <a:prstGeom prst="roundRect">
            <a:avLst>
              <a:gd name="adj" fmla="val 25000"/>
            </a:avLst>
          </a:prstGeom>
          <a:solidFill>
            <a:srgbClr val="1C7A2E"/>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Aprobado</a:t>
            </a:r>
          </a:p>
        </p:txBody>
      </p:sp>
      <p:sp>
        <p:nvSpPr>
          <p:cNvPr id="30" name="bx30"/>
          <p:cNvSpPr txBox="1"/>
          <p:nvPr/>
        </p:nvSpPr>
        <p:spPr>
          <a:xfrm>
            <a:off x="430000" y="190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Código RF:</a:t>
            </a:r>
          </a:p>
        </p:txBody>
      </p:sp>
      <p:sp>
        <p:nvSpPr>
          <p:cNvPr id="31" name="bx31"/>
          <p:cNvSpPr txBox="1"/>
          <p:nvPr/>
        </p:nvSpPr>
        <p:spPr>
          <a:xfrm>
            <a:off x="1650000" y="1900000"/>
            <a:ext cx="14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2E6DA4"/>
                </a:solidFill>
                <a:effectLst/>
                <a:uLnTx/>
                <a:uFillTx/>
                <a:latin typeface="Calibri"/>
                <a:ea typeface="+mn-ea"/>
                <a:cs typeface="+mn-cs"/>
              </a:rPr>
              <a:t>RF-08</a:t>
            </a:r>
          </a:p>
        </p:txBody>
      </p:sp>
      <p:sp>
        <p:nvSpPr>
          <p:cNvPr id="32" name="bx32"/>
          <p:cNvSpPr txBox="1"/>
          <p:nvPr/>
        </p:nvSpPr>
        <p:spPr>
          <a:xfrm>
            <a:off x="3100000" y="1900000"/>
            <a:ext cx="57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50" b="1" i="0" u="none" strike="noStrike" kern="1200" cap="none" spc="0" normalizeH="0" baseline="0" noProof="0" dirty="0">
                <a:ln>
                  <a:noFill/>
                </a:ln>
                <a:solidFill>
                  <a:srgbClr val="003366"/>
                </a:solidFill>
                <a:effectLst/>
                <a:uLnTx/>
                <a:uFillTx/>
                <a:latin typeface="Calibri"/>
                <a:ea typeface="+mn-ea"/>
                <a:cs typeface="+mn-cs"/>
              </a:rPr>
              <a:t>Registro de Calificaciones Parciales</a:t>
            </a:r>
          </a:p>
        </p:txBody>
      </p:sp>
      <p:sp>
        <p:nvSpPr>
          <p:cNvPr id="33" name="bx33"/>
          <p:cNvSpPr txBox="1"/>
          <p:nvPr/>
        </p:nvSpPr>
        <p:spPr>
          <a:xfrm>
            <a:off x="8850000" y="1900000"/>
            <a:ext cx="1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Versión:</a:t>
            </a:r>
          </a:p>
        </p:txBody>
      </p:sp>
      <p:sp>
        <p:nvSpPr>
          <p:cNvPr id="34" name="bx34"/>
          <p:cNvSpPr txBox="1"/>
          <p:nvPr/>
        </p:nvSpPr>
        <p:spPr>
          <a:xfrm>
            <a:off x="10400000" y="1900000"/>
            <a:ext cx="14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50" b="1" i="0" u="none" strike="noStrike" kern="1200" cap="none" spc="0" normalizeH="0" baseline="0" noProof="0" dirty="0">
                <a:ln>
                  <a:noFill/>
                </a:ln>
                <a:solidFill>
                  <a:srgbClr val="555555"/>
                </a:solidFill>
                <a:effectLst/>
                <a:uLnTx/>
                <a:uFillTx/>
                <a:latin typeface="Calibri"/>
                <a:ea typeface="+mn-ea"/>
                <a:cs typeface="+mn-cs"/>
              </a:rPr>
              <a:t>1.0</a:t>
            </a:r>
          </a:p>
        </p:txBody>
      </p:sp>
      <p:sp>
        <p:nvSpPr>
          <p:cNvPr id="35" name="bx35"/>
          <p:cNvSpPr txBox="1"/>
          <p:nvPr/>
        </p:nvSpPr>
        <p:spPr>
          <a:xfrm>
            <a:off x="430000" y="226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Módulo:</a:t>
            </a:r>
          </a:p>
        </p:txBody>
      </p:sp>
      <p:sp>
        <p:nvSpPr>
          <p:cNvPr id="36" name="bx36"/>
          <p:cNvSpPr txBox="1"/>
          <p:nvPr/>
        </p:nvSpPr>
        <p:spPr>
          <a:xfrm>
            <a:off x="1650000" y="226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2E6DA4"/>
                </a:solidFill>
                <a:effectLst/>
                <a:uLnTx/>
                <a:uFillTx/>
                <a:latin typeface="Calibri"/>
                <a:ea typeface="+mn-ea"/>
                <a:cs typeface="+mn-cs"/>
              </a:rPr>
              <a:t>M3 — Calificaciones</a:t>
            </a:r>
          </a:p>
        </p:txBody>
      </p:sp>
      <p:sp>
        <p:nvSpPr>
          <p:cNvPr id="37" name="bx37"/>
          <p:cNvSpPr txBox="1"/>
          <p:nvPr/>
        </p:nvSpPr>
        <p:spPr>
          <a:xfrm>
            <a:off x="3800000" y="2260000"/>
            <a:ext cx="11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Escenario:</a:t>
            </a:r>
          </a:p>
        </p:txBody>
      </p:sp>
      <p:sp>
        <p:nvSpPr>
          <p:cNvPr id="38" name="bx38"/>
          <p:cNvSpPr txBox="1"/>
          <p:nvPr/>
        </p:nvSpPr>
        <p:spPr>
          <a:xfrm>
            <a:off x="5000000" y="226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E3 — Aula / Plataforma Docente</a:t>
            </a:r>
          </a:p>
        </p:txBody>
      </p:sp>
      <p:sp>
        <p:nvSpPr>
          <p:cNvPr id="39" name="bx39"/>
          <p:cNvSpPr txBox="1"/>
          <p:nvPr/>
        </p:nvSpPr>
        <p:spPr>
          <a:xfrm>
            <a:off x="7150000" y="2260000"/>
            <a:ext cx="13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Elaborado:</a:t>
            </a:r>
          </a:p>
        </p:txBody>
      </p:sp>
      <p:sp>
        <p:nvSpPr>
          <p:cNvPr id="40" name="bx40"/>
          <p:cNvSpPr txBox="1"/>
          <p:nvPr/>
        </p:nvSpPr>
        <p:spPr>
          <a:xfrm>
            <a:off x="8550000" y="2260000"/>
            <a:ext cx="33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Ing. Ricardo Torres</a:t>
            </a:r>
          </a:p>
        </p:txBody>
      </p:sp>
      <p:sp>
        <p:nvSpPr>
          <p:cNvPr id="41" name="bx41"/>
          <p:cNvSpPr txBox="1"/>
          <p:nvPr/>
        </p:nvSpPr>
        <p:spPr>
          <a:xfrm>
            <a:off x="430000" y="262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Fecha elab.:</a:t>
            </a:r>
          </a:p>
        </p:txBody>
      </p:sp>
      <p:sp>
        <p:nvSpPr>
          <p:cNvPr id="42" name="bx42"/>
          <p:cNvSpPr txBox="1"/>
          <p:nvPr/>
        </p:nvSpPr>
        <p:spPr>
          <a:xfrm>
            <a:off x="1650000" y="262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25/06/2025</a:t>
            </a:r>
          </a:p>
        </p:txBody>
      </p:sp>
      <p:sp>
        <p:nvSpPr>
          <p:cNvPr id="43" name="bx43"/>
          <p:cNvSpPr txBox="1"/>
          <p:nvPr/>
        </p:nvSpPr>
        <p:spPr>
          <a:xfrm>
            <a:off x="3800000" y="2620000"/>
            <a:ext cx="11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Revisado:</a:t>
            </a:r>
          </a:p>
        </p:txBody>
      </p:sp>
      <p:sp>
        <p:nvSpPr>
          <p:cNvPr id="44" name="bx44"/>
          <p:cNvSpPr txBox="1"/>
          <p:nvPr/>
        </p:nvSpPr>
        <p:spPr>
          <a:xfrm>
            <a:off x="5000000" y="262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Ing. Paola Méndez / Ing. Laura Ospina</a:t>
            </a:r>
          </a:p>
        </p:txBody>
      </p:sp>
      <p:sp>
        <p:nvSpPr>
          <p:cNvPr id="45" name="bx45"/>
          <p:cNvSpPr txBox="1"/>
          <p:nvPr/>
        </p:nvSpPr>
        <p:spPr>
          <a:xfrm>
            <a:off x="7150000" y="2620000"/>
            <a:ext cx="13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Fecha rev.:</a:t>
            </a:r>
          </a:p>
        </p:txBody>
      </p:sp>
      <p:sp>
        <p:nvSpPr>
          <p:cNvPr id="46" name="bx46"/>
          <p:cNvSpPr txBox="1"/>
          <p:nvPr/>
        </p:nvSpPr>
        <p:spPr>
          <a:xfrm>
            <a:off x="8550000" y="2620000"/>
            <a:ext cx="33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28/06/2025</a:t>
            </a:r>
          </a:p>
        </p:txBody>
      </p:sp>
      <p:sp>
        <p:nvSpPr>
          <p:cNvPr id="50" name="h50"/>
          <p:cNvSpPr/>
          <p:nvPr/>
        </p:nvSpPr>
        <p:spPr>
          <a:xfrm>
            <a:off x="430000" y="2990000"/>
            <a:ext cx="11350000" cy="340000"/>
          </a:xfrm>
          <a:prstGeom prst="rect">
            <a:avLst/>
          </a:prstGeom>
          <a:solidFill>
            <a:srgbClr val="2E6DA4"/>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1. DESCRIPCIÓN DEL REQUISITO</a:t>
            </a:r>
          </a:p>
        </p:txBody>
      </p:sp>
      <p:sp>
        <p:nvSpPr>
          <p:cNvPr id="51" name="bx51"/>
          <p:cNvSpPr txBox="1"/>
          <p:nvPr/>
        </p:nvSpPr>
        <p:spPr>
          <a:xfrm>
            <a:off x="430000" y="3380000"/>
            <a:ext cx="11350000" cy="43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El sistema debe permitir al docente registrar las calificaciones parciales de cada estudiante matriculado en su grupo, para cada actividad evaluativa definida en el programa de la asignatura. El registro debe estar disponible durante el periodo lectivo activo, con validación de rangos (0–5.0), soporte para observaciones por estudiante y trazabilidad del usuario que realizó cada entrada.</a:t>
            </a:r>
          </a:p>
        </p:txBody>
      </p:sp>
      <p:sp>
        <p:nvSpPr>
          <p:cNvPr id="60" name="h60"/>
          <p:cNvSpPr/>
          <p:nvPr/>
        </p:nvSpPr>
        <p:spPr>
          <a:xfrm>
            <a:off x="430000" y="3870000"/>
            <a:ext cx="560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2. PRECONDICIONES</a:t>
            </a:r>
          </a:p>
        </p:txBody>
      </p:sp>
      <p:sp>
        <p:nvSpPr>
          <p:cNvPr id="61" name="h61"/>
          <p:cNvSpPr/>
          <p:nvPr/>
        </p:nvSpPr>
        <p:spPr>
          <a:xfrm>
            <a:off x="6130000" y="3870000"/>
            <a:ext cx="5650000" cy="330000"/>
          </a:xfrm>
          <a:prstGeom prst="rect">
            <a:avLst/>
          </a:prstGeom>
          <a:solidFill>
            <a:srgbClr val="1C7A2E"/>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3. POSTCONDICIONES</a:t>
            </a:r>
          </a:p>
        </p:txBody>
      </p:sp>
      <p:sp>
        <p:nvSpPr>
          <p:cNvPr id="62" name="bx62"/>
          <p:cNvSpPr txBox="1"/>
          <p:nvPr/>
        </p:nvSpPr>
        <p:spPr>
          <a:xfrm>
            <a:off x="430000" y="4260000"/>
            <a:ext cx="5600000" cy="50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El docente está autenticado en el sistema. El periodo lectivo está activo. El docente tiene al menos un grupo asignado en el escenario E3. La asignatura tiene al menos una actividad evaluativa configurada con nombre, ponderación y fecha límite de ingreso.</a:t>
            </a:r>
          </a:p>
        </p:txBody>
      </p:sp>
      <p:sp>
        <p:nvSpPr>
          <p:cNvPr id="63" name="bx63"/>
          <p:cNvSpPr txBox="1"/>
          <p:nvPr/>
        </p:nvSpPr>
        <p:spPr>
          <a:xfrm>
            <a:off x="6130000" y="4260000"/>
            <a:ext cx="5650000" cy="500000"/>
          </a:xfrm>
          <a:prstGeom prst="rect">
            <a:avLst/>
          </a:prstGeom>
          <a:solidFill>
            <a:srgbClr val="D4FFDD"/>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Las calificaciones quedan registradas en la base de datos con sello de tiempo y autoría del docente. El promedio parcial del estudiante se actualiza automáticamente. El coordinador puede visualizar el avance de registro del grupo en el tablero de seguimiento (E2).</a:t>
            </a:r>
          </a:p>
        </p:txBody>
      </p:sp>
      <p:sp>
        <p:nvSpPr>
          <p:cNvPr id="70" name="h70"/>
          <p:cNvSpPr/>
          <p:nvPr/>
        </p:nvSpPr>
        <p:spPr>
          <a:xfrm>
            <a:off x="430000" y="4820000"/>
            <a:ext cx="560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4. ACCIONES — El Sistema</a:t>
            </a:r>
          </a:p>
        </p:txBody>
      </p:sp>
      <p:sp>
        <p:nvSpPr>
          <p:cNvPr id="71" name="h71"/>
          <p:cNvSpPr/>
          <p:nvPr/>
        </p:nvSpPr>
        <p:spPr>
          <a:xfrm>
            <a:off x="6130000" y="4820000"/>
            <a:ext cx="565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4. ACCIONES — El Usuario</a:t>
            </a:r>
          </a:p>
        </p:txBody>
      </p:sp>
      <p:sp>
        <p:nvSpPr>
          <p:cNvPr id="72" name="bx72"/>
          <p:cNvSpPr txBox="1"/>
          <p:nvPr/>
        </p:nvSpPr>
        <p:spPr>
          <a:xfrm>
            <a:off x="430000" y="5210000"/>
            <a:ext cx="5600000" cy="57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1. Valida que el usuario tiene rol Docente y grupo activo asignado.
2. Despliega el listado oficial de estudiantes matriculados en el grupo seleccionado.
3. Habilita la celda de ingreso de nota por estudiante y actividad evaluativa.
4. Valida que la nota ingresada esté en el rango permitido (0.0 – 5.0).
5. Calcula y muestra en tiempo real el promedio parcial acumulado del estudiante.
6. Registra en la bitácora: usuario, fecha, hora y nota ingresada.</a:t>
            </a:r>
          </a:p>
        </p:txBody>
      </p:sp>
      <p:sp>
        <p:nvSpPr>
          <p:cNvPr id="73" name="bx73"/>
          <p:cNvSpPr txBox="1"/>
          <p:nvPr/>
        </p:nvSpPr>
        <p:spPr>
          <a:xfrm>
            <a:off x="6130000" y="5210000"/>
            <a:ext cx="5650000" cy="57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1. Selecciona el grupo y la actividad evaluativa del periodo.
2. Ingresa la nota de cada estudiante en la celda correspondiente.
3. Puede añadir una observación opcional (máx. 200 caracteres) por estudiante.
4. Confirma el guardado del lote de calificaciones.
5. Puede modificar notas antes del cierre del acta, con registro de cambio.</a:t>
            </a:r>
          </a:p>
        </p:txBody>
      </p:sp>
      <p:sp>
        <p:nvSpPr>
          <p:cNvPr id="80" name="h80"/>
          <p:cNvSpPr/>
          <p:nvPr/>
        </p:nvSpPr>
        <p:spPr>
          <a:xfrm>
            <a:off x="430000" y="5840000"/>
            <a:ext cx="5600000" cy="330000"/>
          </a:xfrm>
          <a:prstGeom prst="rect">
            <a:avLst/>
          </a:prstGeom>
          <a:solidFill>
            <a:srgbClr val="E67E22"/>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5. FLUJO ALTERNATIVO</a:t>
            </a:r>
          </a:p>
        </p:txBody>
      </p:sp>
      <p:sp>
        <p:nvSpPr>
          <p:cNvPr id="81" name="bx81"/>
          <p:cNvSpPr txBox="1"/>
          <p:nvPr/>
        </p:nvSpPr>
        <p:spPr>
          <a:xfrm>
            <a:off x="430000" y="6230000"/>
            <a:ext cx="5600000" cy="420000"/>
          </a:xfrm>
          <a:prstGeom prst="rect">
            <a:avLst/>
          </a:prstGeom>
          <a:solidFill>
            <a:srgbClr val="FFF3E0"/>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555555"/>
                </a:solidFill>
                <a:effectLst/>
                <a:uLnTx/>
                <a:uFillTx/>
                <a:latin typeface="Calibri"/>
                <a:ea typeface="+mn-ea"/>
                <a:cs typeface="+mn-cs"/>
              </a:rPr>
              <a:t>FA-01: Si la nota está fuera de rango (&lt; 0 o &gt; 5.0) → el sistema muestra alerta de validación y bloquea el guardado hasta corrección.
FA-02: Si el docente intenta registrar después de la fecha límite de la actividad → el sistema notifica que el plazo está cerrado y habilita solicitud de apertura extraordinaria.
FA-03: Si hay pérdida de conexión durante el ingreso → el sistema guarda localmente en caché y sincroniza al restablecer la conexión.</a:t>
            </a:r>
          </a:p>
        </p:txBody>
      </p:sp>
      <p:sp>
        <p:nvSpPr>
          <p:cNvPr id="82" name="h82"/>
          <p:cNvSpPr/>
          <p:nvPr/>
        </p:nvSpPr>
        <p:spPr>
          <a:xfrm>
            <a:off x="6130000" y="5840000"/>
            <a:ext cx="565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6. CRITERIOS DE ACEPTACIÓN</a:t>
            </a:r>
          </a:p>
        </p:txBody>
      </p:sp>
      <p:sp>
        <p:nvSpPr>
          <p:cNvPr id="83" name="bx83"/>
          <p:cNvSpPr txBox="1"/>
          <p:nvPr/>
        </p:nvSpPr>
        <p:spPr>
          <a:xfrm>
            <a:off x="6130000" y="6230000"/>
            <a:ext cx="5650000" cy="42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CA-01: El sistema acepta notas en escala 0.0–5.0 con un decimal de precisión.
CA-02: El promedio parcial se recalcula en menos de 1 segundo tras cada ingreso.
CA-03: La bitácora registra correctamente usuario, fecha, hora y valor anterior/nuevo.
CA-04: El coordinador visualiza el % de avance de registro dentro de los 30 segundos de cada guardado.</a:t>
            </a:r>
          </a:p>
        </p:txBody>
      </p:sp>
      <p:sp>
        <p:nvSpPr>
          <p:cNvPr id="84" name="h84"/>
          <p:cNvSpPr/>
          <p:nvPr/>
        </p:nvSpPr>
        <p:spPr>
          <a:xfrm>
            <a:off x="430000" y="6710000"/>
            <a:ext cx="5600000" cy="330000"/>
          </a:xfrm>
          <a:prstGeom prst="rect">
            <a:avLst/>
          </a:prstGeom>
          <a:solidFill>
            <a:srgbClr val="7D3C98"/>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7. RESTRICCIONES TÉCNICAS</a:t>
            </a:r>
          </a:p>
        </p:txBody>
      </p:sp>
      <p:sp>
        <p:nvSpPr>
          <p:cNvPr id="85" name="bx85"/>
          <p:cNvSpPr txBox="1"/>
          <p:nvPr/>
        </p:nvSpPr>
        <p:spPr>
          <a:xfrm>
            <a:off x="430000" y="7100000"/>
            <a:ext cx="5600000" cy="350000"/>
          </a:xfrm>
          <a:prstGeom prst="rect">
            <a:avLst/>
          </a:prstGeom>
          <a:solidFill>
            <a:srgbClr val="F3E8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El registro de notas solo está habilitado durante el periodo lectivo activo. Solo el docente asignado al grupo puede ingresar calificaciones. La modificación de notas genera una entrada obligatoria en la bitácura de cambios. Los datos deben persistir aunque el usuario cierre la sesión sin guardar (caché local).</a:t>
            </a:r>
          </a:p>
        </p:txBody>
      </p:sp>
      <p:sp>
        <p:nvSpPr>
          <p:cNvPr id="86" name="h86"/>
          <p:cNvSpPr/>
          <p:nvPr/>
        </p:nvSpPr>
        <p:spPr>
          <a:xfrm>
            <a:off x="6130000" y="6710000"/>
            <a:ext cx="565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8. TRAZABILIDAD</a:t>
            </a:r>
          </a:p>
        </p:txBody>
      </p:sp>
      <p:sp>
        <p:nvSpPr>
          <p:cNvPr id="87" name="bx87"/>
          <p:cNvSpPr txBox="1"/>
          <p:nvPr/>
        </p:nvSpPr>
        <p:spPr>
          <a:xfrm>
            <a:off x="6130000" y="7100000"/>
            <a:ext cx="5650000" cy="3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1" u="none" strike="noStrike" kern="1200" cap="none" spc="0" normalizeH="0" baseline="0" noProof="0" dirty="0">
                <a:ln>
                  <a:noFill/>
                </a:ln>
                <a:solidFill>
                  <a:srgbClr val="1C4E8A"/>
                </a:solidFill>
                <a:effectLst/>
                <a:uLnTx/>
                <a:uFillTx/>
                <a:latin typeface="Calibri"/>
                <a:ea typeface="+mn-ea"/>
                <a:cs typeface="+mn-cs"/>
              </a:rPr>
              <a:t>Catálogo: RF-08 v1.0 | Ficha de caracterización: FC-002 (F2.1, F2.2) | Actas de entrevista: A-003 (v1.1), A-004 (v1.0) | Objetivo: O3 — Control de calificaciones | Escenario: E3 — Aula / Docente | Módulo: M3</a:t>
            </a:r>
          </a:p>
        </p:txBody>
      </p:sp>
      <p:sp>
        <p:nvSpPr>
          <p:cNvPr id="3" name="h90"/>
          <p:cNvSpPr/>
          <p:nvPr/>
        </p:nvSpPr>
        <p:spPr>
          <a:xfrm>
            <a:off x="430000" y="7510000"/>
            <a:ext cx="1135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9. ATRIBUTOS DE CALIDAD IEEE-STD-830 VERIFICADOS</a:t>
            </a:r>
          </a:p>
        </p:txBody>
      </p:sp>
      <p:sp>
        <p:nvSpPr>
          <p:cNvPr id="200" name="bdg200"/>
          <p:cNvSpPr/>
          <p:nvPr/>
        </p:nvSpPr>
        <p:spPr>
          <a:xfrm>
            <a:off x="430000" y="7900000"/>
            <a:ext cx="1620000" cy="310000"/>
          </a:xfrm>
          <a:prstGeom prst="roundRect">
            <a:avLst>
              <a:gd name="adj" fmla="val 25000"/>
            </a:avLst>
          </a:prstGeom>
          <a:solidFill>
            <a:srgbClr val="1C7A2E"/>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Corrección</a:t>
            </a:r>
          </a:p>
        </p:txBody>
      </p:sp>
      <p:sp>
        <p:nvSpPr>
          <p:cNvPr id="201" name="bdg201"/>
          <p:cNvSpPr/>
          <p:nvPr/>
        </p:nvSpPr>
        <p:spPr>
          <a:xfrm>
            <a:off x="2180000" y="7900000"/>
            <a:ext cx="1620000" cy="310000"/>
          </a:xfrm>
          <a:prstGeom prst="roundRect">
            <a:avLst>
              <a:gd name="adj" fmla="val 25000"/>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Completitud</a:t>
            </a:r>
          </a:p>
        </p:txBody>
      </p:sp>
      <p:sp>
        <p:nvSpPr>
          <p:cNvPr id="202" name="bdg202"/>
          <p:cNvSpPr/>
          <p:nvPr/>
        </p:nvSpPr>
        <p:spPr>
          <a:xfrm>
            <a:off x="3930000" y="7900000"/>
            <a:ext cx="1620000" cy="310000"/>
          </a:xfrm>
          <a:prstGeom prst="roundRect">
            <a:avLst>
              <a:gd name="adj" fmla="val 25000"/>
            </a:avLst>
          </a:prstGeom>
          <a:solidFill>
            <a:srgbClr val="2E6DA4"/>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No ambigüedad</a:t>
            </a:r>
          </a:p>
        </p:txBody>
      </p:sp>
      <p:sp>
        <p:nvSpPr>
          <p:cNvPr id="203" name="bdg203"/>
          <p:cNvSpPr/>
          <p:nvPr/>
        </p:nvSpPr>
        <p:spPr>
          <a:xfrm>
            <a:off x="5680000" y="7900000"/>
            <a:ext cx="1620000" cy="310000"/>
          </a:xfrm>
          <a:prstGeom prst="roundRect">
            <a:avLst>
              <a:gd name="adj" fmla="val 25000"/>
            </a:avLst>
          </a:prstGeom>
          <a:solidFill>
            <a:srgbClr val="7D3C98"/>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Verificabilidad</a:t>
            </a:r>
          </a:p>
        </p:txBody>
      </p:sp>
      <p:sp>
        <p:nvSpPr>
          <p:cNvPr id="204" name="bdg204"/>
          <p:cNvSpPr/>
          <p:nvPr/>
        </p:nvSpPr>
        <p:spPr>
          <a:xfrm>
            <a:off x="7430000" y="7900000"/>
            <a:ext cx="1620000" cy="310000"/>
          </a:xfrm>
          <a:prstGeom prst="roundRect">
            <a:avLst>
              <a:gd name="adj" fmla="val 25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Consistencia</a:t>
            </a:r>
          </a:p>
        </p:txBody>
      </p:sp>
      <p:sp>
        <p:nvSpPr>
          <p:cNvPr id="205" name="bdg205"/>
          <p:cNvSpPr/>
          <p:nvPr/>
        </p:nvSpPr>
        <p:spPr>
          <a:xfrm>
            <a:off x="9180000" y="7900000"/>
            <a:ext cx="1620000" cy="310000"/>
          </a:xfrm>
          <a:prstGeom prst="roundRect">
            <a:avLst>
              <a:gd name="adj" fmla="val 25000"/>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Trazabilidad</a:t>
            </a:r>
          </a:p>
        </p:txBody>
      </p:sp>
      <p:sp>
        <p:nvSpPr>
          <p:cNvPr id="206" name="bdg206"/>
          <p:cNvSpPr/>
          <p:nvPr/>
        </p:nvSpPr>
        <p:spPr>
          <a:xfrm>
            <a:off x="10930000" y="7900000"/>
            <a:ext cx="1620000" cy="310000"/>
          </a:xfrm>
          <a:prstGeom prst="roundRect">
            <a:avLst>
              <a:gd name="adj" fmla="val 25000"/>
            </a:avLst>
          </a:prstGeom>
          <a:solidFill>
            <a:srgbClr val="1C7A2E"/>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Modificabilidad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nner"/>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900000"/>
            <a:ext cx="11500000" cy="430000"/>
          </a:xfrm>
          <a:prstGeom prst="rect">
            <a:avLst/>
          </a:prstGeom>
        </p:spPr>
        <p:txBody>
          <a:bodyPr vert="horz" wrap="square" lIns="0" tIns="0" rIns="0" bIns="0" rtlCol="0">
            <a:spAutoFit/>
          </a:bodyPr>
          <a:lstStyle/>
          <a:p>
            <a:pPr marL="12700">
              <a:lnSpc>
                <a:spcPct val="100000"/>
              </a:lnSpc>
            </a:pPr>
            <a:r>
              <a:rPr lang="es-CO" sz="2200" b="1" spc="-10" dirty="0">
                <a:solidFill>
                  <a:srgbClr val="003366"/>
                </a:solidFill>
                <a:latin typeface="Calibri"/>
              </a:rPr>
              <a:t>Figura 11 — Ficha SRS: RF-11 | Asignación Docente a Grupos y Horarios</a:t>
            </a:r>
          </a:p>
        </p:txBody>
      </p:sp>
      <p:sp>
        <p:nvSpPr>
          <p:cNvPr id="20" name="FormBG"/>
          <p:cNvSpPr/>
          <p:nvPr/>
        </p:nvSpPr>
        <p:spPr>
          <a:xfrm>
            <a:off x="300000" y="1440000"/>
            <a:ext cx="11600000" cy="5010000"/>
          </a:xfrm>
          <a:prstGeom prst="rect">
            <a:avLst/>
          </a:prstGeom>
          <a:solidFill>
            <a:srgbClr val="F5F8FC"/>
          </a:solidFill>
          <a:ln w="28575">
            <a:solidFill>
              <a:srgbClr val="1C4E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ccent"/>
          <p:cNvSpPr/>
          <p:nvPr/>
        </p:nvSpPr>
        <p:spPr>
          <a:xfrm>
            <a:off x="300000" y="1440000"/>
            <a:ext cx="120000" cy="5010000"/>
          </a:xfrm>
          <a:prstGeom prst="rect">
            <a:avLst/>
          </a:prstGeom>
          <a:solidFill>
            <a:srgbClr val="1C4E8A"/>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h21"/>
          <p:cNvSpPr/>
          <p:nvPr/>
        </p:nvSpPr>
        <p:spPr>
          <a:xfrm>
            <a:off x="300000" y="1440000"/>
            <a:ext cx="11600000" cy="400000"/>
          </a:xfrm>
          <a:prstGeom prst="rect">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350" b="1" i="0" u="none" strike="noStrike" kern="1200" cap="none" spc="0" normalizeH="0" baseline="0" noProof="0" dirty="0">
                <a:ln>
                  <a:noFill/>
                </a:ln>
                <a:solidFill>
                  <a:srgbClr val="FFFFFF"/>
                </a:solidFill>
                <a:effectLst/>
                <a:uLnTx/>
                <a:uFillTx/>
                <a:latin typeface="Calibri"/>
                <a:ea typeface="+mn-ea"/>
                <a:cs typeface="+mn-cs"/>
              </a:rPr>
              <a:t>FICHA DE ESPECIFICACIÓN DE REQUISITOS FUNCIONALES  |  IEEE-STD-830</a:t>
            </a:r>
          </a:p>
        </p:txBody>
      </p:sp>
      <p:sp>
        <p:nvSpPr>
          <p:cNvPr id="90" name="bdg90"/>
          <p:cNvSpPr/>
          <p:nvPr/>
        </p:nvSpPr>
        <p:spPr>
          <a:xfrm>
            <a:off x="9900000" y="1490000"/>
            <a:ext cx="1800000" cy="310000"/>
          </a:xfrm>
          <a:prstGeom prst="roundRect">
            <a:avLst>
              <a:gd name="adj" fmla="val 25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En revisión</a:t>
            </a:r>
          </a:p>
        </p:txBody>
      </p:sp>
      <p:sp>
        <p:nvSpPr>
          <p:cNvPr id="30" name="bx30"/>
          <p:cNvSpPr txBox="1"/>
          <p:nvPr/>
        </p:nvSpPr>
        <p:spPr>
          <a:xfrm>
            <a:off x="430000" y="190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Código RF:</a:t>
            </a:r>
          </a:p>
        </p:txBody>
      </p:sp>
      <p:sp>
        <p:nvSpPr>
          <p:cNvPr id="31" name="bx31"/>
          <p:cNvSpPr txBox="1"/>
          <p:nvPr/>
        </p:nvSpPr>
        <p:spPr>
          <a:xfrm>
            <a:off x="1650000" y="1900000"/>
            <a:ext cx="14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300" b="1" i="0" u="none" strike="noStrike" kern="1200" cap="none" spc="0" normalizeH="0" baseline="0" noProof="0" dirty="0">
                <a:ln>
                  <a:noFill/>
                </a:ln>
                <a:solidFill>
                  <a:srgbClr val="1C4E8A"/>
                </a:solidFill>
                <a:effectLst/>
                <a:uLnTx/>
                <a:uFillTx/>
                <a:latin typeface="Calibri"/>
                <a:ea typeface="+mn-ea"/>
                <a:cs typeface="+mn-cs"/>
              </a:rPr>
              <a:t>RF-11</a:t>
            </a:r>
          </a:p>
        </p:txBody>
      </p:sp>
      <p:sp>
        <p:nvSpPr>
          <p:cNvPr id="32" name="bx32"/>
          <p:cNvSpPr txBox="1"/>
          <p:nvPr/>
        </p:nvSpPr>
        <p:spPr>
          <a:xfrm>
            <a:off x="3100000" y="1900000"/>
            <a:ext cx="57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50" b="1" i="0" u="none" strike="noStrike" kern="1200" cap="none" spc="0" normalizeH="0" baseline="0" noProof="0" dirty="0">
                <a:ln>
                  <a:noFill/>
                </a:ln>
                <a:solidFill>
                  <a:srgbClr val="003366"/>
                </a:solidFill>
                <a:effectLst/>
                <a:uLnTx/>
                <a:uFillTx/>
                <a:latin typeface="Calibri"/>
                <a:ea typeface="+mn-ea"/>
                <a:cs typeface="+mn-cs"/>
              </a:rPr>
              <a:t>Asignación Docente a Grupos y Horarios</a:t>
            </a:r>
          </a:p>
        </p:txBody>
      </p:sp>
      <p:sp>
        <p:nvSpPr>
          <p:cNvPr id="33" name="bx33"/>
          <p:cNvSpPr txBox="1"/>
          <p:nvPr/>
        </p:nvSpPr>
        <p:spPr>
          <a:xfrm>
            <a:off x="8850000" y="1900000"/>
            <a:ext cx="15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003366"/>
                </a:solidFill>
                <a:effectLst/>
                <a:uLnTx/>
                <a:uFillTx/>
                <a:latin typeface="Calibri"/>
                <a:ea typeface="+mn-ea"/>
                <a:cs typeface="+mn-cs"/>
              </a:rPr>
              <a:t>Versión:</a:t>
            </a:r>
          </a:p>
        </p:txBody>
      </p:sp>
      <p:sp>
        <p:nvSpPr>
          <p:cNvPr id="34" name="bx34"/>
          <p:cNvSpPr txBox="1"/>
          <p:nvPr/>
        </p:nvSpPr>
        <p:spPr>
          <a:xfrm>
            <a:off x="10400000" y="1900000"/>
            <a:ext cx="14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50" b="1" i="0" u="none" strike="noStrike" kern="1200" cap="none" spc="0" normalizeH="0" baseline="0" noProof="0" dirty="0">
                <a:ln>
                  <a:noFill/>
                </a:ln>
                <a:solidFill>
                  <a:srgbClr val="555555"/>
                </a:solidFill>
                <a:effectLst/>
                <a:uLnTx/>
                <a:uFillTx/>
                <a:latin typeface="Calibri"/>
                <a:ea typeface="+mn-ea"/>
                <a:cs typeface="+mn-cs"/>
              </a:rPr>
              <a:t>1.1</a:t>
            </a:r>
          </a:p>
        </p:txBody>
      </p:sp>
      <p:sp>
        <p:nvSpPr>
          <p:cNvPr id="35" name="bx35"/>
          <p:cNvSpPr txBox="1"/>
          <p:nvPr/>
        </p:nvSpPr>
        <p:spPr>
          <a:xfrm>
            <a:off x="430000" y="226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Módulo:</a:t>
            </a:r>
          </a:p>
        </p:txBody>
      </p:sp>
      <p:sp>
        <p:nvSpPr>
          <p:cNvPr id="36" name="bx36"/>
          <p:cNvSpPr txBox="1"/>
          <p:nvPr/>
        </p:nvSpPr>
        <p:spPr>
          <a:xfrm>
            <a:off x="1650000" y="226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1C4E8A"/>
                </a:solidFill>
                <a:effectLst/>
                <a:uLnTx/>
                <a:uFillTx/>
                <a:latin typeface="Calibri"/>
                <a:ea typeface="+mn-ea"/>
                <a:cs typeface="+mn-cs"/>
              </a:rPr>
              <a:t>M3 — Calificaciones</a:t>
            </a:r>
          </a:p>
        </p:txBody>
      </p:sp>
      <p:sp>
        <p:nvSpPr>
          <p:cNvPr id="37" name="bx37"/>
          <p:cNvSpPr txBox="1"/>
          <p:nvPr/>
        </p:nvSpPr>
        <p:spPr>
          <a:xfrm>
            <a:off x="3800000" y="2260000"/>
            <a:ext cx="11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Escenario:</a:t>
            </a:r>
          </a:p>
        </p:txBody>
      </p:sp>
      <p:sp>
        <p:nvSpPr>
          <p:cNvPr id="38" name="bx38"/>
          <p:cNvSpPr txBox="1"/>
          <p:nvPr/>
        </p:nvSpPr>
        <p:spPr>
          <a:xfrm>
            <a:off x="5000000" y="226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E2 — Coord. Programa / E3 — Aula</a:t>
            </a:r>
          </a:p>
        </p:txBody>
      </p:sp>
      <p:sp>
        <p:nvSpPr>
          <p:cNvPr id="39" name="bx39"/>
          <p:cNvSpPr txBox="1"/>
          <p:nvPr/>
        </p:nvSpPr>
        <p:spPr>
          <a:xfrm>
            <a:off x="7150000" y="2260000"/>
            <a:ext cx="13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Elaborado:</a:t>
            </a:r>
          </a:p>
        </p:txBody>
      </p:sp>
      <p:sp>
        <p:nvSpPr>
          <p:cNvPr id="40" name="bx40"/>
          <p:cNvSpPr txBox="1"/>
          <p:nvPr/>
        </p:nvSpPr>
        <p:spPr>
          <a:xfrm>
            <a:off x="8550000" y="2260000"/>
            <a:ext cx="33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Ing. Paola Méndez</a:t>
            </a:r>
          </a:p>
        </p:txBody>
      </p:sp>
      <p:sp>
        <p:nvSpPr>
          <p:cNvPr id="41" name="bx41"/>
          <p:cNvSpPr txBox="1"/>
          <p:nvPr/>
        </p:nvSpPr>
        <p:spPr>
          <a:xfrm>
            <a:off x="430000" y="2620000"/>
            <a:ext cx="120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Fecha elab.:</a:t>
            </a:r>
          </a:p>
        </p:txBody>
      </p:sp>
      <p:sp>
        <p:nvSpPr>
          <p:cNvPr id="42" name="bx42"/>
          <p:cNvSpPr txBox="1"/>
          <p:nvPr/>
        </p:nvSpPr>
        <p:spPr>
          <a:xfrm>
            <a:off x="1650000" y="262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26/06/2025</a:t>
            </a:r>
          </a:p>
        </p:txBody>
      </p:sp>
      <p:sp>
        <p:nvSpPr>
          <p:cNvPr id="43" name="bx43"/>
          <p:cNvSpPr txBox="1"/>
          <p:nvPr/>
        </p:nvSpPr>
        <p:spPr>
          <a:xfrm>
            <a:off x="3800000" y="2620000"/>
            <a:ext cx="11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Revisado:</a:t>
            </a:r>
          </a:p>
        </p:txBody>
      </p:sp>
      <p:sp>
        <p:nvSpPr>
          <p:cNvPr id="44" name="bx44"/>
          <p:cNvSpPr txBox="1"/>
          <p:nvPr/>
        </p:nvSpPr>
        <p:spPr>
          <a:xfrm>
            <a:off x="5000000" y="2620000"/>
            <a:ext cx="2100000" cy="31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Ing. Laura Ospina</a:t>
            </a:r>
          </a:p>
        </p:txBody>
      </p:sp>
      <p:sp>
        <p:nvSpPr>
          <p:cNvPr id="45" name="bx45"/>
          <p:cNvSpPr txBox="1"/>
          <p:nvPr/>
        </p:nvSpPr>
        <p:spPr>
          <a:xfrm>
            <a:off x="7150000" y="2620000"/>
            <a:ext cx="1350000" cy="31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003366"/>
                </a:solidFill>
                <a:effectLst/>
                <a:uLnTx/>
                <a:uFillTx/>
                <a:latin typeface="Calibri"/>
                <a:ea typeface="+mn-ea"/>
                <a:cs typeface="+mn-cs"/>
              </a:rPr>
              <a:t>Fecha rev.:</a:t>
            </a:r>
          </a:p>
        </p:txBody>
      </p:sp>
      <p:sp>
        <p:nvSpPr>
          <p:cNvPr id="46" name="bx46"/>
          <p:cNvSpPr txBox="1"/>
          <p:nvPr/>
        </p:nvSpPr>
        <p:spPr>
          <a:xfrm>
            <a:off x="8550000" y="2620000"/>
            <a:ext cx="3300000" cy="310000"/>
          </a:xfrm>
          <a:prstGeom prst="rect">
            <a:avLst/>
          </a:prstGeom>
          <a:solidFill>
            <a:srgbClr val="FFF3E0"/>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E67E22"/>
                </a:solidFill>
                <a:effectLst/>
                <a:uLnTx/>
                <a:uFillTx/>
                <a:latin typeface="Calibri"/>
                <a:ea typeface="+mn-ea"/>
                <a:cs typeface="+mn-cs"/>
              </a:rPr>
              <a:t>28/06/2025 — Pendiente aprobación</a:t>
            </a:r>
          </a:p>
        </p:txBody>
      </p:sp>
      <p:sp>
        <p:nvSpPr>
          <p:cNvPr id="50" name="h50"/>
          <p:cNvSpPr/>
          <p:nvPr/>
        </p:nvSpPr>
        <p:spPr>
          <a:xfrm>
            <a:off x="430000" y="2990000"/>
            <a:ext cx="11350000" cy="34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1" i="0" u="none" strike="noStrike" kern="1200" cap="none" spc="0" normalizeH="0" baseline="0" noProof="0" dirty="0">
                <a:ln>
                  <a:noFill/>
                </a:ln>
                <a:solidFill>
                  <a:srgbClr val="FFFFFF"/>
                </a:solidFill>
                <a:effectLst/>
                <a:uLnTx/>
                <a:uFillTx/>
                <a:latin typeface="Calibri"/>
                <a:ea typeface="+mn-ea"/>
                <a:cs typeface="+mn-cs"/>
              </a:rPr>
              <a:t>1. DESCRIPCIÓN DEL REQUISITO</a:t>
            </a:r>
          </a:p>
        </p:txBody>
      </p:sp>
      <p:sp>
        <p:nvSpPr>
          <p:cNvPr id="51" name="bx51"/>
          <p:cNvSpPr txBox="1"/>
          <p:nvPr/>
        </p:nvSpPr>
        <p:spPr>
          <a:xfrm>
            <a:off x="430000" y="3380000"/>
            <a:ext cx="11350000" cy="42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200" b="0" i="0" u="none" strike="noStrike" kern="1200" cap="none" spc="0" normalizeH="0" baseline="0" noProof="0" dirty="0">
                <a:ln>
                  <a:noFill/>
                </a:ln>
                <a:solidFill>
                  <a:srgbClr val="333333"/>
                </a:solidFill>
                <a:effectLst/>
                <a:uLnTx/>
                <a:uFillTx/>
                <a:latin typeface="Calibri"/>
                <a:ea typeface="+mn-ea"/>
                <a:cs typeface="+mn-cs"/>
              </a:rPr>
              <a:t>El sistema debe permitir al coordinador de programa (E2) asignar uno o más docentes a cada grupo de una asignatura para el periodo lectivo activo, especificando el bloque horario. El sistema debe validar en tiempo real que no existan conflictos horarios (mismo docente, mismo bloque) antes de confirmar la asignación. Una vez confirmada, el docente debe visualizar el grupo en su plataforma de aula (E3) sin necesidad de ninguna acción adicional.</a:t>
            </a:r>
          </a:p>
        </p:txBody>
      </p:sp>
      <p:sp>
        <p:nvSpPr>
          <p:cNvPr id="60" name="h60"/>
          <p:cNvSpPr/>
          <p:nvPr/>
        </p:nvSpPr>
        <p:spPr>
          <a:xfrm>
            <a:off x="430000" y="3860000"/>
            <a:ext cx="560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2. PRECONDICIONES</a:t>
            </a:r>
          </a:p>
        </p:txBody>
      </p:sp>
      <p:sp>
        <p:nvSpPr>
          <p:cNvPr id="61" name="h61"/>
          <p:cNvSpPr/>
          <p:nvPr/>
        </p:nvSpPr>
        <p:spPr>
          <a:xfrm>
            <a:off x="6130000" y="3860000"/>
            <a:ext cx="5650000" cy="330000"/>
          </a:xfrm>
          <a:prstGeom prst="rect">
            <a:avLst/>
          </a:prstGeom>
          <a:solidFill>
            <a:srgbClr val="1C7A2E"/>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3. POSTCONDICIONES</a:t>
            </a:r>
          </a:p>
        </p:txBody>
      </p:sp>
      <p:sp>
        <p:nvSpPr>
          <p:cNvPr id="62" name="bx62"/>
          <p:cNvSpPr txBox="1"/>
          <p:nvPr/>
        </p:nvSpPr>
        <p:spPr>
          <a:xfrm>
            <a:off x="430000" y="4250000"/>
            <a:ext cx="5600000" cy="49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El periodo lectivo está activo y en fase de programación. El coordinador está autenticado con rol 'Coordinador de Programa'. Los docentes a asignar están registrados en el sistema como usuarios activos con rol 'Docente'. Los bloques horarios del periodo están parametrizados en el sistema.</a:t>
            </a:r>
          </a:p>
        </p:txBody>
      </p:sp>
      <p:sp>
        <p:nvSpPr>
          <p:cNvPr id="63" name="bx63"/>
          <p:cNvSpPr txBox="1"/>
          <p:nvPr/>
        </p:nvSpPr>
        <p:spPr>
          <a:xfrm>
            <a:off x="6130000" y="4250000"/>
            <a:ext cx="5650000" cy="490000"/>
          </a:xfrm>
          <a:prstGeom prst="rect">
            <a:avLst/>
          </a:prstGeom>
          <a:solidFill>
            <a:srgbClr val="D4FFDD"/>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La asignación queda registrada con sello de tiempo y autoría del coordinador. El docente visualiza el grupo asignado en su plataforma (E3) de forma inmediata. El sistema bloquea cualquier asignación posterior que genere conflicto horario con el mismo docente. El coordinador puede ver la asignación reflejada en el tablero de seguimiento (RF-14).</a:t>
            </a:r>
          </a:p>
        </p:txBody>
      </p:sp>
      <p:sp>
        <p:nvSpPr>
          <p:cNvPr id="70" name="h70"/>
          <p:cNvSpPr/>
          <p:nvPr/>
        </p:nvSpPr>
        <p:spPr>
          <a:xfrm>
            <a:off x="430000" y="4800000"/>
            <a:ext cx="560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4. ACCIONES — El Sistema</a:t>
            </a:r>
          </a:p>
        </p:txBody>
      </p:sp>
      <p:sp>
        <p:nvSpPr>
          <p:cNvPr id="71" name="h71"/>
          <p:cNvSpPr/>
          <p:nvPr/>
        </p:nvSpPr>
        <p:spPr>
          <a:xfrm>
            <a:off x="6130000" y="4800000"/>
            <a:ext cx="565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4. ACCIONES — El Coordinador</a:t>
            </a:r>
          </a:p>
        </p:txBody>
      </p:sp>
      <p:sp>
        <p:nvSpPr>
          <p:cNvPr id="72" name="bx72"/>
          <p:cNvSpPr txBox="1"/>
          <p:nvPr/>
        </p:nvSpPr>
        <p:spPr>
          <a:xfrm>
            <a:off x="430000" y="5190000"/>
            <a:ext cx="5600000" cy="5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1. Muestra la grilla de asignaturas y grupos del periodo activo.
2. Verifica disponibilidad horaria del docente seleccionado en tiempo real.
3. Si hay conflicto: alerta visual y bloqueo de confirmación (FA-01).
4. Confirma la asignación y actualiza la plataforma del docente (E3).
5. Registra en bitácora: usuario coordinador, docente asignado, grupo y bloque.</a:t>
            </a:r>
          </a:p>
        </p:txBody>
      </p:sp>
      <p:sp>
        <p:nvSpPr>
          <p:cNvPr id="73" name="bx73"/>
          <p:cNvSpPr txBox="1"/>
          <p:nvPr/>
        </p:nvSpPr>
        <p:spPr>
          <a:xfrm>
            <a:off x="6130000" y="5190000"/>
            <a:ext cx="5650000" cy="560000"/>
          </a:xfrm>
          <a:prstGeom prst="rect">
            <a:avLst/>
          </a:prstGeom>
          <a:solidFill>
            <a:srgbClr val="FFFF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1. Selecciona la asignatura y el grupo a asignar.
2. Busca y elige al docente por nombre o código.
3. Selecciona el bloque horario de la asignación.
4. Confirma la asignación.
5. Puede reasignar o liberar un docente antes del inicio del periodo.</a:t>
            </a:r>
          </a:p>
        </p:txBody>
      </p:sp>
      <p:sp>
        <p:nvSpPr>
          <p:cNvPr id="80" name="h80"/>
          <p:cNvSpPr/>
          <p:nvPr/>
        </p:nvSpPr>
        <p:spPr>
          <a:xfrm>
            <a:off x="430000" y="5810000"/>
            <a:ext cx="5600000" cy="330000"/>
          </a:xfrm>
          <a:prstGeom prst="rect">
            <a:avLst/>
          </a:prstGeom>
          <a:solidFill>
            <a:srgbClr val="E67E22"/>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5. FLUJO ALTERNATIVO</a:t>
            </a:r>
          </a:p>
        </p:txBody>
      </p:sp>
      <p:sp>
        <p:nvSpPr>
          <p:cNvPr id="81" name="bx81"/>
          <p:cNvSpPr txBox="1"/>
          <p:nvPr/>
        </p:nvSpPr>
        <p:spPr>
          <a:xfrm>
            <a:off x="430000" y="6200000"/>
            <a:ext cx="5600000" cy="450000"/>
          </a:xfrm>
          <a:prstGeom prst="rect">
            <a:avLst/>
          </a:prstGeom>
          <a:solidFill>
            <a:srgbClr val="FFF3E0"/>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555555"/>
                </a:solidFill>
                <a:effectLst/>
                <a:uLnTx/>
                <a:uFillTx/>
                <a:latin typeface="Calibri"/>
                <a:ea typeface="+mn-ea"/>
                <a:cs typeface="+mn-cs"/>
              </a:rPr>
              <a:t>FA-01: Conflicto horario detectado → el sistema muestra alerta con detalle del conflicto (grupo afectado y bloque). Bloquea la asignación hasta corrección.
FA-02: El docente no está disponible (licencia o baja) → el sistema lo indica y sugiere docentes alternativos del mismo área.
FA-03: El coordinador intenta asignar después del cierre de programación → solicitud de autorización extraordinaria al director.</a:t>
            </a:r>
          </a:p>
        </p:txBody>
      </p:sp>
      <p:sp>
        <p:nvSpPr>
          <p:cNvPr id="82" name="h82"/>
          <p:cNvSpPr/>
          <p:nvPr/>
        </p:nvSpPr>
        <p:spPr>
          <a:xfrm>
            <a:off x="6130000" y="5810000"/>
            <a:ext cx="5650000" cy="330000"/>
          </a:xfrm>
          <a:prstGeom prst="rect">
            <a:avLst/>
          </a:prstGeom>
          <a:solidFill>
            <a:srgbClr val="1C4E8A"/>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6. CRITERIOS DE ACEPTACIÓN</a:t>
            </a:r>
          </a:p>
        </p:txBody>
      </p:sp>
      <p:sp>
        <p:nvSpPr>
          <p:cNvPr id="83" name="bx83"/>
          <p:cNvSpPr txBox="1"/>
          <p:nvPr/>
        </p:nvSpPr>
        <p:spPr>
          <a:xfrm>
            <a:off x="6130000" y="6200000"/>
            <a:ext cx="5650000" cy="45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CA-01: El sistema detecta y bloquea conflictos horarios en menos de 2 segundos.
CA-02: El grupo asignado aparece en la plataforma del docente (E3) en menos de 30 segundos.
CA-03: La bitácora registra correctamente todos los campos de la asignación.
CA-04: El 100% de las asignaciones confirmadas son sin conflicto horario verificado.</a:t>
            </a:r>
          </a:p>
        </p:txBody>
      </p:sp>
      <p:sp>
        <p:nvSpPr>
          <p:cNvPr id="84" name="h84"/>
          <p:cNvSpPr/>
          <p:nvPr/>
        </p:nvSpPr>
        <p:spPr>
          <a:xfrm>
            <a:off x="430000" y="6710000"/>
            <a:ext cx="5600000" cy="330000"/>
          </a:xfrm>
          <a:prstGeom prst="rect">
            <a:avLst/>
          </a:prstGeom>
          <a:solidFill>
            <a:srgbClr val="7D3C98"/>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7. RESTRICCIONES TÉCNICAS</a:t>
            </a:r>
          </a:p>
        </p:txBody>
      </p:sp>
      <p:sp>
        <p:nvSpPr>
          <p:cNvPr id="85" name="bx85"/>
          <p:cNvSpPr txBox="1"/>
          <p:nvPr/>
        </p:nvSpPr>
        <p:spPr>
          <a:xfrm>
            <a:off x="430000" y="7100000"/>
            <a:ext cx="5600000" cy="340000"/>
          </a:xfrm>
          <a:prstGeom prst="rect">
            <a:avLst/>
          </a:prstGeom>
          <a:solidFill>
            <a:srgbClr val="F3E8FF"/>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0" u="none" strike="noStrike" kern="1200" cap="none" spc="0" normalizeH="0" baseline="0" noProof="0" dirty="0">
                <a:ln>
                  <a:noFill/>
                </a:ln>
                <a:solidFill>
                  <a:srgbClr val="333333"/>
                </a:solidFill>
                <a:effectLst/>
                <a:uLnTx/>
                <a:uFillTx/>
                <a:latin typeface="Calibri"/>
                <a:ea typeface="+mn-ea"/>
                <a:cs typeface="+mn-cs"/>
              </a:rPr>
              <a:t>Solo el coordinador con rol activo puede realizar asignaciones. La validación de conflicto es obligatoria y no puede desactivarse. Cambios después del inicio del periodo requieren autorización del director académico (E5).</a:t>
            </a:r>
          </a:p>
        </p:txBody>
      </p:sp>
      <p:sp>
        <p:nvSpPr>
          <p:cNvPr id="86" name="h86"/>
          <p:cNvSpPr/>
          <p:nvPr/>
        </p:nvSpPr>
        <p:spPr>
          <a:xfrm>
            <a:off x="6130000" y="6710000"/>
            <a:ext cx="565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8. TRAZABILIDAD</a:t>
            </a:r>
          </a:p>
        </p:txBody>
      </p:sp>
      <p:sp>
        <p:nvSpPr>
          <p:cNvPr id="87" name="bx87"/>
          <p:cNvSpPr txBox="1"/>
          <p:nvPr/>
        </p:nvSpPr>
        <p:spPr>
          <a:xfrm>
            <a:off x="6130000" y="7100000"/>
            <a:ext cx="5650000" cy="340000"/>
          </a:xfrm>
          <a:prstGeom prst="rect">
            <a:avLst/>
          </a:prstGeom>
          <a:solidFill>
            <a:srgbClr val="EDF2FA"/>
          </a:solid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0" i="1" u="none" strike="noStrike" kern="1200" cap="none" spc="0" normalizeH="0" baseline="0" noProof="0" dirty="0">
                <a:ln>
                  <a:noFill/>
                </a:ln>
                <a:solidFill>
                  <a:srgbClr val="1C4E8A"/>
                </a:solidFill>
                <a:effectLst/>
                <a:uLnTx/>
                <a:uFillTx/>
                <a:latin typeface="Calibri"/>
                <a:ea typeface="+mn-ea"/>
                <a:cs typeface="+mn-cs"/>
              </a:rPr>
              <a:t>RF-11 v1.1 | FC-002 (F2.1, F2.2) | Actas: A-002 (v1.0), A-003 (v1.1) | O2 — Plan de estudios, O3 — Calificaciones | E2 — Coordinación / E3 — Aula | M3 | Solapamiento con RF-14 (tablero): unificado en motor de seguimiento</a:t>
            </a:r>
          </a:p>
        </p:txBody>
      </p:sp>
      <p:sp>
        <p:nvSpPr>
          <p:cNvPr id="3" name="h90"/>
          <p:cNvSpPr/>
          <p:nvPr/>
        </p:nvSpPr>
        <p:spPr>
          <a:xfrm>
            <a:off x="430000" y="7500000"/>
            <a:ext cx="11350000" cy="330000"/>
          </a:xfrm>
          <a:prstGeom prst="rect">
            <a:avLst/>
          </a:prstGeom>
          <a:solidFill>
            <a:srgbClr val="003366"/>
          </a:solidFill>
        </p:spPr>
        <p:txBody>
          <a:bodyPr wrap="square" lIns="91440" tIns="45720" rIns="9144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150" b="1" i="0" u="none" strike="noStrike" kern="1200" cap="none" spc="0" normalizeH="0" baseline="0" noProof="0" dirty="0">
                <a:ln>
                  <a:noFill/>
                </a:ln>
                <a:solidFill>
                  <a:srgbClr val="FFFFFF"/>
                </a:solidFill>
                <a:effectLst/>
                <a:uLnTx/>
                <a:uFillTx/>
                <a:latin typeface="Calibri"/>
                <a:ea typeface="+mn-ea"/>
                <a:cs typeface="+mn-cs"/>
              </a:rPr>
              <a:t>9. ATRIBUTOS DE CALIDAD IEEE-STD-830 VERIFICADOS</a:t>
            </a:r>
          </a:p>
        </p:txBody>
      </p:sp>
      <p:sp>
        <p:nvSpPr>
          <p:cNvPr id="200" name="bdg200"/>
          <p:cNvSpPr/>
          <p:nvPr/>
        </p:nvSpPr>
        <p:spPr>
          <a:xfrm>
            <a:off x="430000" y="7890000"/>
            <a:ext cx="1700000" cy="330000"/>
          </a:xfrm>
          <a:prstGeom prst="roundRect">
            <a:avLst>
              <a:gd name="adj" fmla="val 25000"/>
            </a:avLst>
          </a:prstGeom>
          <a:solidFill>
            <a:srgbClr val="1C7A2E"/>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Corrección</a:t>
            </a:r>
          </a:p>
        </p:txBody>
      </p:sp>
      <p:sp>
        <p:nvSpPr>
          <p:cNvPr id="201" name="bdg201"/>
          <p:cNvSpPr/>
          <p:nvPr/>
        </p:nvSpPr>
        <p:spPr>
          <a:xfrm>
            <a:off x="2050000" y="7890000"/>
            <a:ext cx="1700000" cy="330000"/>
          </a:xfrm>
          <a:prstGeom prst="roundRect">
            <a:avLst>
              <a:gd name="adj" fmla="val 25000"/>
            </a:avLst>
          </a:prstGeom>
          <a:solidFill>
            <a:srgbClr val="1C4E8A"/>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Completitud</a:t>
            </a:r>
          </a:p>
        </p:txBody>
      </p:sp>
      <p:sp>
        <p:nvSpPr>
          <p:cNvPr id="202" name="bdg202"/>
          <p:cNvSpPr/>
          <p:nvPr/>
        </p:nvSpPr>
        <p:spPr>
          <a:xfrm>
            <a:off x="3670000" y="7890000"/>
            <a:ext cx="1700000" cy="330000"/>
          </a:xfrm>
          <a:prstGeom prst="roundRect">
            <a:avLst>
              <a:gd name="adj" fmla="val 25000"/>
            </a:avLst>
          </a:prstGeom>
          <a:solidFill>
            <a:srgbClr val="2E6DA4"/>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No ambigüedad</a:t>
            </a:r>
          </a:p>
        </p:txBody>
      </p:sp>
      <p:sp>
        <p:nvSpPr>
          <p:cNvPr id="203" name="bdg203"/>
          <p:cNvSpPr/>
          <p:nvPr/>
        </p:nvSpPr>
        <p:spPr>
          <a:xfrm>
            <a:off x="5290000" y="7890000"/>
            <a:ext cx="1700000" cy="330000"/>
          </a:xfrm>
          <a:prstGeom prst="roundRect">
            <a:avLst>
              <a:gd name="adj" fmla="val 25000"/>
            </a:avLst>
          </a:prstGeom>
          <a:solidFill>
            <a:srgbClr val="7D3C98"/>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Verificabilidad</a:t>
            </a:r>
          </a:p>
        </p:txBody>
      </p:sp>
      <p:sp>
        <p:nvSpPr>
          <p:cNvPr id="204" name="bdg204"/>
          <p:cNvSpPr/>
          <p:nvPr/>
        </p:nvSpPr>
        <p:spPr>
          <a:xfrm>
            <a:off x="6910000" y="7890000"/>
            <a:ext cx="1700000" cy="330000"/>
          </a:xfrm>
          <a:prstGeom prst="roundRect">
            <a:avLst>
              <a:gd name="adj" fmla="val 25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Consistencia</a:t>
            </a:r>
          </a:p>
        </p:txBody>
      </p:sp>
      <p:sp>
        <p:nvSpPr>
          <p:cNvPr id="205" name="bdg205"/>
          <p:cNvSpPr/>
          <p:nvPr/>
        </p:nvSpPr>
        <p:spPr>
          <a:xfrm>
            <a:off x="8530000" y="7890000"/>
            <a:ext cx="1700000" cy="330000"/>
          </a:xfrm>
          <a:prstGeom prst="roundRect">
            <a:avLst>
              <a:gd name="adj" fmla="val 25000"/>
            </a:avLst>
          </a:prstGeom>
          <a:solidFill>
            <a:srgbClr val="003366"/>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&amp;#x2714; Trazabilidad</a:t>
            </a:r>
          </a:p>
        </p:txBody>
      </p:sp>
      <p:sp>
        <p:nvSpPr>
          <p:cNvPr id="206" name="bdg206"/>
          <p:cNvSpPr/>
          <p:nvPr/>
        </p:nvSpPr>
        <p:spPr>
          <a:xfrm>
            <a:off x="10150000" y="7890000"/>
            <a:ext cx="1700000" cy="330000"/>
          </a:xfrm>
          <a:prstGeom prst="roundRect">
            <a:avLst>
              <a:gd name="adj" fmla="val 25000"/>
            </a:avLst>
          </a:prstGeom>
          <a:solidFill>
            <a:srgbClr val="E67E22"/>
          </a:solidFill>
        </p:spPr>
        <p:txBody>
          <a:bodyPr wrap="square" lIns="91440" tIns="45720" rIns="91440" bIns="4572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1050" b="1" i="0" u="none" strike="noStrike" kern="1200" cap="none" spc="0" normalizeH="0" baseline="0" noProof="0" dirty="0">
                <a:ln>
                  <a:noFill/>
                </a:ln>
                <a:solidFill>
                  <a:srgbClr val="FFFFFF"/>
                </a:solidFill>
                <a:effectLst/>
                <a:uLnTx/>
                <a:uFillTx/>
                <a:latin typeface="Calibri"/>
                <a:ea typeface="+mn-ea"/>
                <a:cs typeface="+mn-cs"/>
              </a:rPr>
              <a:t>&amp;#x231B; Modificabilidad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450000"/>
          </a:xfrm>
          <a:prstGeom prst="rect">
            <a:avLst/>
          </a:prstGeom>
        </p:spPr>
        <p:txBody>
          <a:bodyPr vert="horz" wrap="square" lIns="0" tIns="12700" rIns="0" bIns="0" rtlCol="0">
            <a:spAutoFit/>
          </a:bodyPr>
          <a:lstStyle/>
          <a:p>
            <a:pPr marL="12700">
              <a:lnSpc>
                <a:spcPct val="100000"/>
              </a:lnSpc>
            </a:pPr>
            <a:r>
              <a:rPr lang="es-CO" sz="2400" b="1" spc="-10" dirty="0">
                <a:solidFill>
                  <a:srgbClr val="003366"/>
                </a:solidFill>
                <a:latin typeface="Calibri"/>
              </a:rPr>
              <a:t>Criterios de Calidad Medibles por Paso (ISO/IEC 25010 / IEEE-830)</a:t>
            </a:r>
          </a:p>
        </p:txBody>
      </p:sp>
      <p:graphicFrame>
        <p:nvGraphicFramePr>
          <p:cNvPr id="10" name="Tabla 9">
            <a:extLst>
              <a:ext uri="{FF2B5EF4-FFF2-40B4-BE49-F238E27FC236}">
                <a16:creationId xmlns:a16="http://schemas.microsoft.com/office/drawing/2014/main" id="{5CFBC07A-57AD-58FC-9B92-883D9F2D8B93}"/>
              </a:ext>
            </a:extLst>
          </p:cNvPr>
          <p:cNvGraphicFramePr>
            <a:graphicFrameLocks noGrp="1"/>
          </p:cNvGraphicFramePr>
          <p:nvPr>
            <p:extLst>
              <p:ext uri="{D42A27DB-BD31-4B8C-83A1-F6EECF244321}">
                <p14:modId xmlns:p14="http://schemas.microsoft.com/office/powerpoint/2010/main" val="300986382"/>
              </p:ext>
            </p:extLst>
          </p:nvPr>
        </p:nvGraphicFramePr>
        <p:xfrm>
          <a:off x="732305" y="1670693"/>
          <a:ext cx="9952074" cy="3767104"/>
        </p:xfrm>
        <a:graphic>
          <a:graphicData uri="http://schemas.openxmlformats.org/drawingml/2006/table">
            <a:tbl>
              <a:tblPr>
                <a:tableStyleId>{775DCB02-9BB8-47FD-8907-85C794F793BA}</a:tableStyleId>
              </a:tblPr>
              <a:tblGrid>
                <a:gridCol w="2191648">
                  <a:extLst>
                    <a:ext uri="{9D8B030D-6E8A-4147-A177-3AD203B41FA5}">
                      <a16:colId xmlns:a16="http://schemas.microsoft.com/office/drawing/2014/main" val="1196059442"/>
                    </a:ext>
                  </a:extLst>
                </a:gridCol>
                <a:gridCol w="2998382">
                  <a:extLst>
                    <a:ext uri="{9D8B030D-6E8A-4147-A177-3AD203B41FA5}">
                      <a16:colId xmlns:a16="http://schemas.microsoft.com/office/drawing/2014/main" val="3099382760"/>
                    </a:ext>
                  </a:extLst>
                </a:gridCol>
                <a:gridCol w="4762044">
                  <a:extLst>
                    <a:ext uri="{9D8B030D-6E8A-4147-A177-3AD203B41FA5}">
                      <a16:colId xmlns:a16="http://schemas.microsoft.com/office/drawing/2014/main" val="2249432680"/>
                    </a:ext>
                  </a:extLst>
                </a:gridCol>
              </a:tblGrid>
              <a:tr h="382170">
                <a:tc>
                  <a:txBody>
                    <a:bodyPr/>
                    <a:lstStyle/>
                    <a:p>
                      <a:pPr>
                        <a:buNone/>
                      </a:pPr>
                      <a:r>
                        <a:rPr lang="es-CO" sz="1200" b="1" dirty="0"/>
                        <a:t>Paso</a:t>
                      </a:r>
                      <a:endParaRPr lang="es-CO" sz="1200" dirty="0"/>
                    </a:p>
                  </a:txBody>
                  <a:tcPr marL="63063" marR="63063" marT="31531" marB="31531" anchor="ctr"/>
                </a:tc>
                <a:tc>
                  <a:txBody>
                    <a:bodyPr/>
                    <a:lstStyle/>
                    <a:p>
                      <a:pPr>
                        <a:buNone/>
                      </a:pPr>
                      <a:r>
                        <a:rPr lang="es-CO" sz="1200" b="1"/>
                        <a:t>Criterio de calidad (ISO/IEC 25010 / IEEE‑830)</a:t>
                      </a:r>
                      <a:endParaRPr lang="es-CO" sz="1200"/>
                    </a:p>
                  </a:txBody>
                  <a:tcPr marL="63063" marR="63063" marT="31531" marB="31531" anchor="ctr"/>
                </a:tc>
                <a:tc>
                  <a:txBody>
                    <a:bodyPr/>
                    <a:lstStyle/>
                    <a:p>
                      <a:pPr>
                        <a:buNone/>
                      </a:pPr>
                      <a:r>
                        <a:rPr lang="es-CO" sz="1200" b="1"/>
                        <a:t>Métrica aplicable</a:t>
                      </a:r>
                      <a:endParaRPr lang="es-CO" sz="1200"/>
                    </a:p>
                  </a:txBody>
                  <a:tcPr marL="63063" marR="63063" marT="31531" marB="31531" anchor="ctr"/>
                </a:tc>
                <a:extLst>
                  <a:ext uri="{0D108BD9-81ED-4DB2-BD59-A6C34878D82A}">
                    <a16:rowId xmlns:a16="http://schemas.microsoft.com/office/drawing/2014/main" val="2829547664"/>
                  </a:ext>
                </a:extLst>
              </a:tr>
              <a:tr h="545957">
                <a:tc>
                  <a:txBody>
                    <a:bodyPr/>
                    <a:lstStyle/>
                    <a:p>
                      <a:pPr>
                        <a:buNone/>
                      </a:pPr>
                      <a:r>
                        <a:rPr lang="es-CO" sz="1200" b="1" dirty="0"/>
                        <a:t>1 – Contexto</a:t>
                      </a:r>
                      <a:endParaRPr lang="es-CO" sz="1200" dirty="0"/>
                    </a:p>
                  </a:txBody>
                  <a:tcPr marL="63063" marR="63063" marT="31531" marB="31531" anchor="ctr"/>
                </a:tc>
                <a:tc>
                  <a:txBody>
                    <a:bodyPr/>
                    <a:lstStyle/>
                    <a:p>
                      <a:pPr>
                        <a:buNone/>
                      </a:pPr>
                      <a:r>
                        <a:rPr lang="es-CO" sz="1200"/>
                        <a:t>Completitud del alcance</a:t>
                      </a:r>
                    </a:p>
                  </a:txBody>
                  <a:tcPr marL="63063" marR="63063" marT="31531" marB="31531" anchor="ctr"/>
                </a:tc>
                <a:tc>
                  <a:txBody>
                    <a:bodyPr/>
                    <a:lstStyle/>
                    <a:p>
                      <a:pPr>
                        <a:buNone/>
                      </a:pPr>
                      <a:r>
                        <a:rPr lang="es-CO" sz="1200"/>
                        <a:t>% de dimensiones del contexto documentadas (propósito, escenarios, usuarios)</a:t>
                      </a:r>
                    </a:p>
                  </a:txBody>
                  <a:tcPr marL="63063" marR="63063" marT="31531" marB="31531" anchor="ctr"/>
                </a:tc>
                <a:extLst>
                  <a:ext uri="{0D108BD9-81ED-4DB2-BD59-A6C34878D82A}">
                    <a16:rowId xmlns:a16="http://schemas.microsoft.com/office/drawing/2014/main" val="1068224001"/>
                  </a:ext>
                </a:extLst>
              </a:tr>
              <a:tr h="382170">
                <a:tc>
                  <a:txBody>
                    <a:bodyPr/>
                    <a:lstStyle/>
                    <a:p>
                      <a:pPr>
                        <a:buNone/>
                      </a:pPr>
                      <a:r>
                        <a:rPr lang="es-CO" sz="1200" b="1" dirty="0"/>
                        <a:t>2 – </a:t>
                      </a:r>
                      <a:r>
                        <a:rPr lang="es-CO" sz="1200" b="1" dirty="0" err="1"/>
                        <a:t>Stakeholders</a:t>
                      </a:r>
                      <a:endParaRPr lang="es-CO" sz="1200" dirty="0"/>
                    </a:p>
                  </a:txBody>
                  <a:tcPr marL="63063" marR="63063" marT="31531" marB="31531" anchor="ctr"/>
                </a:tc>
                <a:tc>
                  <a:txBody>
                    <a:bodyPr/>
                    <a:lstStyle/>
                    <a:p>
                      <a:pPr>
                        <a:buNone/>
                      </a:pPr>
                      <a:r>
                        <a:rPr lang="es-CO" sz="1200"/>
                        <a:t>Trazabilidad de fuentes</a:t>
                      </a:r>
                    </a:p>
                  </a:txBody>
                  <a:tcPr marL="63063" marR="63063" marT="31531" marB="31531" anchor="ctr"/>
                </a:tc>
                <a:tc>
                  <a:txBody>
                    <a:bodyPr/>
                    <a:lstStyle/>
                    <a:p>
                      <a:pPr>
                        <a:buNone/>
                      </a:pPr>
                      <a:r>
                        <a:rPr lang="es-CO" sz="1200"/>
                        <a:t>Nº de stakeholders registrados vs. identificados en el organigrama</a:t>
                      </a:r>
                    </a:p>
                  </a:txBody>
                  <a:tcPr marL="63063" marR="63063" marT="31531" marB="31531" anchor="ctr"/>
                </a:tc>
                <a:extLst>
                  <a:ext uri="{0D108BD9-81ED-4DB2-BD59-A6C34878D82A}">
                    <a16:rowId xmlns:a16="http://schemas.microsoft.com/office/drawing/2014/main" val="897737662"/>
                  </a:ext>
                </a:extLst>
              </a:tr>
              <a:tr h="382170">
                <a:tc>
                  <a:txBody>
                    <a:bodyPr/>
                    <a:lstStyle/>
                    <a:p>
                      <a:pPr>
                        <a:buNone/>
                      </a:pPr>
                      <a:r>
                        <a:rPr lang="es-CO" sz="1200" b="1" dirty="0"/>
                        <a:t>3 – Matriz usuario‑escenario</a:t>
                      </a:r>
                      <a:endParaRPr lang="es-CO" sz="1200" dirty="0"/>
                    </a:p>
                  </a:txBody>
                  <a:tcPr marL="63063" marR="63063" marT="31531" marB="31531" anchor="ctr"/>
                </a:tc>
                <a:tc>
                  <a:txBody>
                    <a:bodyPr/>
                    <a:lstStyle/>
                    <a:p>
                      <a:pPr>
                        <a:buNone/>
                      </a:pPr>
                      <a:r>
                        <a:rPr lang="es-CO" sz="1200"/>
                        <a:t>Cobertura funcional</a:t>
                      </a:r>
                    </a:p>
                  </a:txBody>
                  <a:tcPr marL="63063" marR="63063" marT="31531" marB="31531" anchor="ctr"/>
                </a:tc>
                <a:tc>
                  <a:txBody>
                    <a:bodyPr/>
                    <a:lstStyle/>
                    <a:p>
                      <a:pPr>
                        <a:buNone/>
                      </a:pPr>
                      <a:r>
                        <a:rPr lang="es-CO" sz="1200"/>
                        <a:t>% de objetivos cubiertos por al menos un par usuario‑escenario</a:t>
                      </a:r>
                    </a:p>
                  </a:txBody>
                  <a:tcPr marL="63063" marR="63063" marT="31531" marB="31531" anchor="ctr"/>
                </a:tc>
                <a:extLst>
                  <a:ext uri="{0D108BD9-81ED-4DB2-BD59-A6C34878D82A}">
                    <a16:rowId xmlns:a16="http://schemas.microsoft.com/office/drawing/2014/main" val="2076604866"/>
                  </a:ext>
                </a:extLst>
              </a:tr>
              <a:tr h="382170">
                <a:tc>
                  <a:txBody>
                    <a:bodyPr/>
                    <a:lstStyle/>
                    <a:p>
                      <a:pPr>
                        <a:buNone/>
                      </a:pPr>
                      <a:r>
                        <a:rPr lang="es-CO" sz="1200" b="1"/>
                        <a:t>4 – Entrevistas</a:t>
                      </a:r>
                      <a:endParaRPr lang="es-CO" sz="1200"/>
                    </a:p>
                  </a:txBody>
                  <a:tcPr marL="63063" marR="63063" marT="31531" marB="31531" anchor="ctr"/>
                </a:tc>
                <a:tc>
                  <a:txBody>
                    <a:bodyPr/>
                    <a:lstStyle/>
                    <a:p>
                      <a:pPr>
                        <a:buNone/>
                      </a:pPr>
                      <a:r>
                        <a:rPr lang="es-CO" sz="1200" dirty="0"/>
                        <a:t>Adecuación del instrumento</a:t>
                      </a:r>
                    </a:p>
                  </a:txBody>
                  <a:tcPr marL="63063" marR="63063" marT="31531" marB="31531" anchor="ctr"/>
                </a:tc>
                <a:tc>
                  <a:txBody>
                    <a:bodyPr/>
                    <a:lstStyle/>
                    <a:p>
                      <a:pPr>
                        <a:buNone/>
                      </a:pPr>
                      <a:r>
                        <a:rPr lang="es-CO" sz="1200"/>
                        <a:t>% de cuestionarios validados vs. total de perfiles de usuario</a:t>
                      </a:r>
                    </a:p>
                  </a:txBody>
                  <a:tcPr marL="63063" marR="63063" marT="31531" marB="31531" anchor="ctr"/>
                </a:tc>
                <a:extLst>
                  <a:ext uri="{0D108BD9-81ED-4DB2-BD59-A6C34878D82A}">
                    <a16:rowId xmlns:a16="http://schemas.microsoft.com/office/drawing/2014/main" val="2722579670"/>
                  </a:ext>
                </a:extLst>
              </a:tr>
              <a:tr h="382170">
                <a:tc>
                  <a:txBody>
                    <a:bodyPr/>
                    <a:lstStyle/>
                    <a:p>
                      <a:pPr>
                        <a:buNone/>
                      </a:pPr>
                      <a:r>
                        <a:rPr lang="es-CO" sz="1200" b="1"/>
                        <a:t>5 – Actas validadas</a:t>
                      </a:r>
                      <a:endParaRPr lang="es-CO" sz="1200"/>
                    </a:p>
                  </a:txBody>
                  <a:tcPr marL="63063" marR="63063" marT="31531" marB="31531" anchor="ctr"/>
                </a:tc>
                <a:tc>
                  <a:txBody>
                    <a:bodyPr/>
                    <a:lstStyle/>
                    <a:p>
                      <a:pPr>
                        <a:buNone/>
                      </a:pPr>
                      <a:r>
                        <a:rPr lang="es-CO" sz="1200" dirty="0"/>
                        <a:t>Verificabilidad</a:t>
                      </a:r>
                    </a:p>
                  </a:txBody>
                  <a:tcPr marL="63063" marR="63063" marT="31531" marB="31531" anchor="ctr"/>
                </a:tc>
                <a:tc>
                  <a:txBody>
                    <a:bodyPr/>
                    <a:lstStyle/>
                    <a:p>
                      <a:pPr>
                        <a:buNone/>
                      </a:pPr>
                      <a:r>
                        <a:rPr lang="es-CO" sz="1200"/>
                        <a:t>% de actas firmadas por el usuario / total de entrevistas realizadas</a:t>
                      </a:r>
                    </a:p>
                  </a:txBody>
                  <a:tcPr marL="63063" marR="63063" marT="31531" marB="31531" anchor="ctr"/>
                </a:tc>
                <a:extLst>
                  <a:ext uri="{0D108BD9-81ED-4DB2-BD59-A6C34878D82A}">
                    <a16:rowId xmlns:a16="http://schemas.microsoft.com/office/drawing/2014/main" val="734822882"/>
                  </a:ext>
                </a:extLst>
              </a:tr>
              <a:tr h="382170">
                <a:tc>
                  <a:txBody>
                    <a:bodyPr/>
                    <a:lstStyle/>
                    <a:p>
                      <a:pPr>
                        <a:buNone/>
                      </a:pPr>
                      <a:r>
                        <a:rPr lang="es-CO" sz="1200" b="1"/>
                        <a:t>6 – Caracterización</a:t>
                      </a:r>
                      <a:endParaRPr lang="es-CO" sz="1200"/>
                    </a:p>
                  </a:txBody>
                  <a:tcPr marL="63063" marR="63063" marT="31531" marB="31531" anchor="ctr"/>
                </a:tc>
                <a:tc>
                  <a:txBody>
                    <a:bodyPr/>
                    <a:lstStyle/>
                    <a:p>
                      <a:pPr>
                        <a:buNone/>
                      </a:pPr>
                      <a:r>
                        <a:rPr lang="es-CO" sz="1200" dirty="0"/>
                        <a:t>No ambigüedad</a:t>
                      </a:r>
                    </a:p>
                  </a:txBody>
                  <a:tcPr marL="63063" marR="63063" marT="31531" marB="31531" anchor="ctr"/>
                </a:tc>
                <a:tc>
                  <a:txBody>
                    <a:bodyPr/>
                    <a:lstStyle/>
                    <a:p>
                      <a:pPr>
                        <a:buNone/>
                      </a:pPr>
                      <a:r>
                        <a:rPr lang="es-CO" sz="1200" dirty="0" err="1"/>
                        <a:t>Nº</a:t>
                      </a:r>
                      <a:r>
                        <a:rPr lang="es-CO" sz="1200" dirty="0"/>
                        <a:t> de incomprendidos resueltos antes de avanzar a especificación</a:t>
                      </a:r>
                    </a:p>
                  </a:txBody>
                  <a:tcPr marL="63063" marR="63063" marT="31531" marB="31531" anchor="ctr"/>
                </a:tc>
                <a:extLst>
                  <a:ext uri="{0D108BD9-81ED-4DB2-BD59-A6C34878D82A}">
                    <a16:rowId xmlns:a16="http://schemas.microsoft.com/office/drawing/2014/main" val="683777654"/>
                  </a:ext>
                </a:extLst>
              </a:tr>
              <a:tr h="382170">
                <a:tc>
                  <a:txBody>
                    <a:bodyPr/>
                    <a:lstStyle/>
                    <a:p>
                      <a:pPr>
                        <a:buNone/>
                      </a:pPr>
                      <a:r>
                        <a:rPr lang="es-CO" sz="1200" b="1"/>
                        <a:t>7 – Catálogo</a:t>
                      </a:r>
                      <a:endParaRPr lang="es-CO" sz="1200"/>
                    </a:p>
                  </a:txBody>
                  <a:tcPr marL="63063" marR="63063" marT="31531" marB="31531" anchor="ctr"/>
                </a:tc>
                <a:tc>
                  <a:txBody>
                    <a:bodyPr/>
                    <a:lstStyle/>
                    <a:p>
                      <a:pPr>
                        <a:buNone/>
                      </a:pPr>
                      <a:r>
                        <a:rPr lang="es-CO" sz="1200"/>
                        <a:t>Completitud y consistencia</a:t>
                      </a:r>
                    </a:p>
                  </a:txBody>
                  <a:tcPr marL="63063" marR="63063" marT="31531" marB="31531" anchor="ctr"/>
                </a:tc>
                <a:tc>
                  <a:txBody>
                    <a:bodyPr/>
                    <a:lstStyle/>
                    <a:p>
                      <a:pPr>
                        <a:buNone/>
                      </a:pPr>
                      <a:r>
                        <a:rPr lang="es-CO" sz="1200" dirty="0" err="1"/>
                        <a:t>Nº</a:t>
                      </a:r>
                      <a:r>
                        <a:rPr lang="es-CO" sz="1200" dirty="0"/>
                        <a:t> de requisitos sin identificador único o sin trazabilidad a escenario</a:t>
                      </a:r>
                    </a:p>
                  </a:txBody>
                  <a:tcPr marL="63063" marR="63063" marT="31531" marB="31531" anchor="ctr"/>
                </a:tc>
                <a:extLst>
                  <a:ext uri="{0D108BD9-81ED-4DB2-BD59-A6C34878D82A}">
                    <a16:rowId xmlns:a16="http://schemas.microsoft.com/office/drawing/2014/main" val="2983817594"/>
                  </a:ext>
                </a:extLst>
              </a:tr>
              <a:tr h="545957">
                <a:tc>
                  <a:txBody>
                    <a:bodyPr/>
                    <a:lstStyle/>
                    <a:p>
                      <a:pPr>
                        <a:buNone/>
                      </a:pPr>
                      <a:r>
                        <a:rPr lang="es-CO" sz="1200" b="1"/>
                        <a:t>8 – Especificación</a:t>
                      </a:r>
                      <a:endParaRPr lang="es-CO" sz="1200"/>
                    </a:p>
                  </a:txBody>
                  <a:tcPr marL="63063" marR="63063" marT="31531" marB="31531" anchor="ctr"/>
                </a:tc>
                <a:tc>
                  <a:txBody>
                    <a:bodyPr/>
                    <a:lstStyle/>
                    <a:p>
                      <a:pPr>
                        <a:buNone/>
                      </a:pPr>
                      <a:r>
                        <a:rPr lang="es-CO" sz="1200"/>
                        <a:t>Corrección y modificabilidad</a:t>
                      </a:r>
                    </a:p>
                  </a:txBody>
                  <a:tcPr marL="63063" marR="63063" marT="31531" marB="31531" anchor="ctr"/>
                </a:tc>
                <a:tc>
                  <a:txBody>
                    <a:bodyPr/>
                    <a:lstStyle/>
                    <a:p>
                      <a:pPr>
                        <a:buNone/>
                      </a:pPr>
                      <a:r>
                        <a:rPr lang="es-CO" sz="1200" dirty="0" err="1"/>
                        <a:t>Nº</a:t>
                      </a:r>
                      <a:r>
                        <a:rPr lang="es-CO" sz="1200" dirty="0"/>
                        <a:t> de versiones por requisito; densidad de términos ambiguos por ficha</a:t>
                      </a:r>
                    </a:p>
                  </a:txBody>
                  <a:tcPr marL="63063" marR="63063" marT="31531" marB="31531" anchor="ctr"/>
                </a:tc>
                <a:extLst>
                  <a:ext uri="{0D108BD9-81ED-4DB2-BD59-A6C34878D82A}">
                    <a16:rowId xmlns:a16="http://schemas.microsoft.com/office/drawing/2014/main" val="3551681654"/>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a:solidFill>
                  <a:srgbClr val="003366"/>
                </a:solidFill>
                <a:latin typeface="Calibri"/>
              </a:rPr>
              <a:t>Conclusiones</a:t>
            </a:r>
          </a:p>
        </p:txBody>
      </p:sp>
      <p:sp>
        <p:nvSpPr>
          <p:cNvPr id="7" name="Content"/>
          <p:cNvSpPr/>
          <p:nvPr/>
        </p:nvSpPr>
        <p:spPr>
          <a:xfrm>
            <a:off x="421004" y="1700000"/>
            <a:ext cx="10275571" cy="3433975"/>
          </a:xfrm>
          <a:prstGeom prst="rect">
            <a:avLst/>
          </a:prstGeom>
        </p:spPr>
        <p:txBody>
          <a:bodyPr wrap="square" anchor="t"/>
          <a:lstStyle/>
          <a:p>
            <a:pPr marL="342900" lvl="0" indent="-342900">
              <a:lnSpc>
                <a:spcPct val="107000"/>
              </a:lnSpc>
              <a:spcAft>
                <a:spcPts val="300"/>
              </a:spcAft>
              <a:buAutoNum type="arabicPeriod"/>
            </a:pPr>
            <a:r>
              <a:rPr lang="es-CO" sz="1500" dirty="0">
                <a:solidFill>
                  <a:srgbClr val="333333"/>
                </a:solidFill>
                <a:latin typeface="Calibri"/>
              </a:rPr>
              <a:t>El modelo procedimental ofrece una secuencia replicable y formalizada de actividades que conduce inequívocamente a la especificación de requisitos funcionales, superando la dispersión de enfoques no estructurados.</a:t>
            </a:r>
          </a:p>
          <a:p>
            <a:pPr marL="342900" lvl="0" indent="-342900">
              <a:lnSpc>
                <a:spcPct val="107000"/>
              </a:lnSpc>
              <a:spcAft>
                <a:spcPts val="300"/>
              </a:spcAft>
              <a:buAutoNum type="arabicPeriod"/>
            </a:pPr>
            <a:r>
              <a:rPr lang="es-CO" sz="1500" dirty="0">
                <a:solidFill>
                  <a:srgbClr val="333333"/>
                </a:solidFill>
                <a:latin typeface="Calibri"/>
              </a:rPr>
              <a:t>La progresión iterativa Educción → Elicitación → Especificación garantiza que el conocimiento tácito del dominio se transforme gradualmente en artefactos verificables y auditables.</a:t>
            </a:r>
          </a:p>
          <a:p>
            <a:pPr marL="342900" lvl="0" indent="-342900">
              <a:lnSpc>
                <a:spcPct val="107000"/>
              </a:lnSpc>
              <a:spcAft>
                <a:spcPts val="300"/>
              </a:spcAft>
              <a:buAutoNum type="arabicPeriod"/>
            </a:pPr>
            <a:r>
              <a:rPr lang="es-CO" sz="1500" dirty="0">
                <a:solidFill>
                  <a:srgbClr val="333333"/>
                </a:solidFill>
                <a:latin typeface="Calibri"/>
              </a:rPr>
              <a:t>Los instrumentos formalizados (actas, matrices, fichas) permiten controlar la versionalidad del proceso y asegurar la trazabilidad entre fuentes de información y requisitos finales.</a:t>
            </a:r>
          </a:p>
          <a:p>
            <a:pPr marL="342900" lvl="0" indent="-342900">
              <a:lnSpc>
                <a:spcPct val="107000"/>
              </a:lnSpc>
              <a:spcAft>
                <a:spcPts val="300"/>
              </a:spcAft>
              <a:buAutoNum type="arabicPeriod"/>
            </a:pPr>
            <a:r>
              <a:rPr lang="es-CO" sz="1500" dirty="0">
                <a:solidFill>
                  <a:srgbClr val="333333"/>
                </a:solidFill>
                <a:latin typeface="Calibri"/>
              </a:rPr>
              <a:t>La alineación con IEEE-STD-830, ISO/IEC 25010 e ISO/IEC 29110 confiere al modelo un carácter normativo, facilitando su uso en contextos de auditoría y aseguramiento de la calidad.</a:t>
            </a:r>
          </a:p>
          <a:p>
            <a:pPr marL="342900" lvl="0" indent="-342900">
              <a:lnSpc>
                <a:spcPct val="107000"/>
              </a:lnSpc>
              <a:spcAft>
                <a:spcPts val="300"/>
              </a:spcAft>
              <a:buAutoNum type="arabicPeriod"/>
            </a:pPr>
            <a:r>
              <a:rPr lang="es-CO" sz="1500" dirty="0">
                <a:solidFill>
                  <a:srgbClr val="333333"/>
                </a:solidFill>
                <a:latin typeface="Calibri"/>
              </a:rPr>
              <a:t>La evaluación empírica del modelo demostró resultados uniformes y positivos (rango de 3 puntos en escala vigesimal), validando su eficacia pedagógica y operativa en entornos de formación avanzada.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218734" y="2800000"/>
            <a:ext cx="10967131" cy="2000000"/>
          </a:xfrm>
          <a:prstGeom prst="rect">
            <a:avLst/>
          </a:prstGeom>
          <a:noFill/>
        </p:spPr>
        <p:txBody>
          <a:bodyPr wrap="square">
            <a:spAutoFit/>
          </a:bodyPr>
          <a:lstStyle/>
          <a:p>
            <a:r>
              <a:rPr lang="es-CO" sz="3200" dirty="0">
                <a:solidFill>
                  <a:schemeClr val="bg1"/>
                </a:solidFill>
                <a:latin typeface="Century Gothic" panose="020B0502020202020204" pitchFamily="34" charset="0"/>
              </a:rPr>
              <a:t>Estándares y Métricas de Calidad</a:t>
            </a:r>
          </a:p>
          <a:p>
            <a:r>
              <a:rPr lang="es-CO" sz="2200" b="1" dirty="0">
                <a:solidFill>
                  <a:srgbClr val="7BEEFD"/>
                </a:solidFill>
                <a:latin typeface="Century Gothic" panose="020B0502020202020204" pitchFamily="34" charset="0"/>
              </a:rPr>
              <a:t>Especialización en Desarrollo de Software — UNIMINUTO</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92AB3A-5148-4B88-9986-AF973895D773}">
  <we:reference id="wa200010001" version="1.0.0.1" store="en-US" storeType="OMEX"/>
  <we:alternateReferences>
    <we:reference id="wa200010001" version="1.0.0.1" store="en-US" storeType="OMEX"/>
  </we:alternateReferences>
  <we:properties>
    <we:property name="claude.fileId" value="&quot;2297305d-163b-454f-98a7-34a93de0110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591</TotalTime>
  <Words>8185</Words>
  <Application>Microsoft Office PowerPoint</Application>
  <PresentationFormat>Panorámica</PresentationFormat>
  <Paragraphs>1097</Paragraphs>
  <Slides>52</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52</vt:i4>
      </vt:variant>
    </vt:vector>
  </HeadingPairs>
  <TitlesOfParts>
    <vt:vector size="58" baseType="lpstr">
      <vt:lpstr>Arial</vt:lpstr>
      <vt:lpstr>Calibri</vt:lpstr>
      <vt:lpstr>Calibri Light</vt:lpstr>
      <vt:lpstr>Century Gothic</vt:lpstr>
      <vt:lpstr>Wingdings</vt:lpstr>
      <vt:lpstr>Tema de Office</vt:lpstr>
      <vt:lpstr>Presentación de PowerPoint</vt:lpstr>
      <vt:lpstr>Modelo Procedimental para la Especificación de Requisitos</vt:lpstr>
      <vt:lpstr>Contenido</vt:lpstr>
      <vt:lpstr>Presentación de PowerPoint</vt:lpstr>
      <vt:lpstr>Paso 1 — Definición del Contexto de Uso y Propósito del Software</vt:lpstr>
      <vt:lpstr>Tabla 1 — Definición de Escenarios | Sistema de Gestión Académica</vt:lpstr>
      <vt:lpstr>Tabla 2 — Estereotipos de Usuario | Sistema de Gestión Académica</vt:lpstr>
      <vt:lpstr>Figura 3 — Acta de Definición de Objetivos del Software | CONOCIMIENTO</vt:lpstr>
      <vt:lpstr>Presentación de PowerPoint</vt:lpstr>
      <vt:lpstr>Paso 2 — Identificación y Registro de Stakeholders</vt:lpstr>
      <vt:lpstr>Tabla 3 — Definición de Stakeholders | Sistema de Gestión Académica</vt:lpstr>
      <vt:lpstr>Figura 4 — Relación Operativa de Personal a Participar | UCONOCIMIENTO</vt:lpstr>
      <vt:lpstr>Figura 4 — Tabla de contraste usuarios – escenarios (Continuación…)</vt:lpstr>
      <vt:lpstr>Presentación de PowerPoint</vt:lpstr>
      <vt:lpstr>Figura 5. Etapas de la especificación de requisitos funcionales del software</vt:lpstr>
      <vt:lpstr>Presentación de PowerPoint</vt:lpstr>
      <vt:lpstr>Paso 3 — Construcción de la Matriz Usuario-Escenario (Educción — Fase Preparatoria)</vt:lpstr>
      <vt:lpstr>Tabla 4 — Matriz Usuario × Escenario | Sistema de Gestión Académica</vt:lpstr>
      <vt:lpstr>Tabla 5 — Matriz Objetivo × Escenario | Sistema de Gestión Académica</vt:lpstr>
      <vt:lpstr>Presentación de PowerPoint</vt:lpstr>
      <vt:lpstr>Paso 4 — Análisis y agrupación de características por funcionalidad (Elicitación)</vt:lpstr>
      <vt:lpstr>Ficha de Entrevista — Cuestionario U001 | Auxiliar de Secretaría Académica</vt:lpstr>
      <vt:lpstr>Ficha de Entrevista FE-001</vt:lpstr>
      <vt:lpstr>Figura 6 — Lista de Chequeo de Entrevistas | Sistema de Gestión Académica</vt:lpstr>
      <vt:lpstr>Figura 6 — Lista de Chequeo</vt:lpstr>
      <vt:lpstr>Figura 7 — Acta de Entrevista N° 001 | Sistema de Gestión Académica</vt:lpstr>
      <vt:lpstr>Figura 7 — Acta de Entrevista N° 001</vt:lpstr>
      <vt:lpstr>Presentación de PowerPoint</vt:lpstr>
      <vt:lpstr>Paso 5 — Consolidación y Validación mediante Actas de Entrevista (Educción — Cierre)</vt:lpstr>
      <vt:lpstr>Figura 8 — Registro Consolidado de Actas de Entrevista Validadas | CONOCIMIENTO</vt:lpstr>
      <vt:lpstr>Explicación - Figura 8 – Registro Consolidado</vt:lpstr>
      <vt:lpstr>Figura 8 — Acta de Entrevista Validada A-003 | Escenario E2 — Coordinación de Programa</vt:lpstr>
      <vt:lpstr>Explicación - Figura 8  – Acta Validada A-003 | Continuación…</vt:lpstr>
      <vt:lpstr>Presentación de PowerPoint</vt:lpstr>
      <vt:lpstr>Paso 6 — Análisis, Agrupación y Caracterización de Escenarios (Elicitación)</vt:lpstr>
      <vt:lpstr>Figura 9 — Ficha de Caracterización | Escenario E2 — Coordinación de Programa</vt:lpstr>
      <vt:lpstr>Figura 9 — Panel A: Aspectos funcionales</vt:lpstr>
      <vt:lpstr>Figura 9 (cont.) — Satisfacción Estimada, Solapamientos y Vacíos | Escenario E2</vt:lpstr>
      <vt:lpstr>Figura 9 — Panel B: Satisfacción + análisis de calidad</vt:lpstr>
      <vt:lpstr>Presentación de PowerPoint</vt:lpstr>
      <vt:lpstr>Paso 7 — Elaboración del Catálogo de Requisitos Funcionales (Especificación — Inventario)</vt:lpstr>
      <vt:lpstr>Figura 10 — Catálogo de Requisitos Funcionales | Sistema de Gestión Académica</vt:lpstr>
      <vt:lpstr>Figura 10 — Catálogo completo</vt:lpstr>
      <vt:lpstr>Figura 10 (cont.) — Panel de Métricas y Versionalidad del Catálogo RF | CONOCIMIENTO</vt:lpstr>
      <vt:lpstr>Figura 10 (cont.) — Panel de Métricas</vt:lpstr>
      <vt:lpstr>Presentación de PowerPoint</vt:lpstr>
      <vt:lpstr>Paso 8 — Especificación Detallada de Requisitos Funcionales (Especificación — Formalización)</vt:lpstr>
      <vt:lpstr>Figura 11 — Ficha SRS: RF-08 | Registro de Calificaciones Parciales</vt:lpstr>
      <vt:lpstr>Figura 11 — Ficha SRS: RF-11 | Asignación Docente a Grupos y Horarios</vt:lpstr>
      <vt:lpstr>Criterios de Calidad Medibles por Paso (ISO/IEC 25010 / IEEE-830)</vt:lpstr>
      <vt:lpstr>Conclusiones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LINA MARCELA NIETO ALBA</dc:creator>
  <cp:lastModifiedBy>Cesar Alfonso</cp:lastModifiedBy>
  <cp:revision>207</cp:revision>
  <dcterms:created xsi:type="dcterms:W3CDTF">2024-01-22T15:06:30Z</dcterms:created>
  <dcterms:modified xsi:type="dcterms:W3CDTF">2026-06-07T13:21:17Z</dcterms:modified>
</cp:coreProperties>
</file>